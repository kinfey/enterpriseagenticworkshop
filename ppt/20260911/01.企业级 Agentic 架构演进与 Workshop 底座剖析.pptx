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单任务模型调用次数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Chat 应用</c:v>
                </c:pt>
                <c:pt idx="1">
                  <c:v>简单 Agent</c:v>
                </c:pt>
                <c:pt idx="2">
                  <c:v>4-Agent(低)</c:v>
                </c:pt>
                <c:pt idx="3">
                  <c:v>4-Agent(高)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15</c:v>
                </c:pt>
                <c:pt idx="2">
                  <c:v>30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47-294A-925D-BB5C14B0E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-hero-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F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500000"/>
            <a:ext cx="12192000" cy="3358000"/>
          </a:xfrm>
          <a:prstGeom prst="rect">
            <a:avLst/>
          </a:prstGeom>
          <a:solidFill>
            <a:srgbClr val="06121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00000"/>
            <a:ext cx="150000" cy="17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0000" y="1420000"/>
            <a:ext cx="10200000" cy="4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ENTERPRISE AGENTIC AI · 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000" y="1830000"/>
            <a:ext cx="10600000" cy="17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企业级 Agentic AI 落地与 Harness 架构实战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230000"/>
            <a:ext cx="10400000" cy="6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模块一 · 企业级 Agentic 架构演进与 Workshop 底座剖析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720000"/>
            <a:ext cx="10600000" cy="5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从 RAG 单轮到自主 ReAct 闭环　·　基于 EnterpriseAgenticWorkshop　·　时长 40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880000"/>
            <a:ext cx="150000" cy="120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000" y="820000"/>
            <a:ext cx="10600000" cy="4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本模块要解决的问题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000" y="1200000"/>
            <a:ext cx="10700000" cy="10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30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三个问题，定义本模块的边界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2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2817740"/>
            <a:ext cx="3195320" cy="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3075740"/>
            <a:ext cx="3195320" cy="57912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传统 AI 应用为何撑不起“自主完成任务”？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262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2817740"/>
            <a:ext cx="3195320" cy="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3075740"/>
            <a:ext cx="3195320" cy="57912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多个智能体之间到底如何分工与协作？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262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2817740"/>
            <a:ext cx="3195320" cy="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3075740"/>
            <a:ext cx="3195320" cy="57912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Workshop 这套企业级代码底座长什么样？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6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426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结论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本模块用 40 分钟把“架构演进 + 工程底座”一次讲透。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模块导览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四站式路线图：本模块是第一站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Pentagon 4"/>
          <p:cNvSpPr/>
          <p:nvPr/>
        </p:nvSpPr>
        <p:spPr>
          <a:xfrm>
            <a:off x="457200" y="2350000"/>
            <a:ext cx="2549400" cy="125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2350000"/>
            <a:ext cx="2469400" cy="12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① 架构演进与底座</a:t>
            </a:r>
          </a:p>
          <a:p>
            <a:pPr algn="ctr"/>
            <a:r>
              <a:rPr sz="1250" b="0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40min · 本模块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6600" y="2880000"/>
            <a:ext cx="260000" cy="19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Pentagon 7"/>
          <p:cNvSpPr/>
          <p:nvPr/>
        </p:nvSpPr>
        <p:spPr>
          <a:xfrm>
            <a:off x="3366600" y="2350000"/>
            <a:ext cx="2549400" cy="1250000"/>
          </a:xfrm>
          <a:prstGeom prst="homePlate">
            <a:avLst/>
          </a:prstGeom>
          <a:solidFill>
            <a:srgbClr val="15304A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06600" y="2350000"/>
            <a:ext cx="2469400" cy="12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② Harness 运行时与治理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50min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6000" y="2880000"/>
            <a:ext cx="260000" cy="19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Pentagon 10"/>
          <p:cNvSpPr/>
          <p:nvPr/>
        </p:nvSpPr>
        <p:spPr>
          <a:xfrm>
            <a:off x="6276000" y="2350000"/>
            <a:ext cx="2549400" cy="1250000"/>
          </a:xfrm>
          <a:prstGeom prst="homePlate">
            <a:avLst/>
          </a:prstGeom>
          <a:solidFill>
            <a:srgbClr val="15304A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6000" y="2350000"/>
            <a:ext cx="2469400" cy="12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③ 动手实战 Lab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60min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75400" y="2880000"/>
            <a:ext cx="260000" cy="19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Pentagon 13"/>
          <p:cNvSpPr/>
          <p:nvPr/>
        </p:nvSpPr>
        <p:spPr>
          <a:xfrm>
            <a:off x="9185400" y="2350000"/>
            <a:ext cx="2549400" cy="1250000"/>
          </a:xfrm>
          <a:prstGeom prst="homePlate">
            <a:avLst/>
          </a:prstGeom>
          <a:solidFill>
            <a:srgbClr val="15304A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25400" y="2350000"/>
            <a:ext cx="2469400" cy="12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④ Eval 评估与生产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30min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8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" y="418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全景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全系列共 180 分钟，围绕“多智能体编排 + Agent Harness 治理 + 评测上线”。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模块导览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三个目标：看懂演进、拓扑与底座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53161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31089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演进认知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38636"/>
            <a:ext cx="3195320" cy="7772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讲清 RAG / 单轮 → ReAct 自主闭环的技术跨越，看懂能力边界的迁移。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53161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31089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拓扑范式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38636"/>
            <a:ext cx="3195320" cy="7772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掌握 Supervisor 与 Peer-to-Peer 两种多智能体协作模式及取舍。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53161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31089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工程底座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238636"/>
            <a:ext cx="3195320" cy="7772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读懂 Workshop 目录结构、6 大模块与 MCP 通信协议如何落地。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61616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3461616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路径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先建立概念地图，再逐层落到可运行的工程实现。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80000"/>
            <a:ext cx="140000" cy="172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000" y="2120000"/>
            <a:ext cx="10600000" cy="4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PART 01　·　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000" y="2560000"/>
            <a:ext cx="10700000" cy="1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从传统 AI 到自主 Agent —— 一次执行范式的跃迁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传统 AI 的三种范式仍是一问一答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50113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单轮对话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08156"/>
            <a:ext cx="3195320" cy="7772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一次用户输入 → 一次模型调用 → 一次回答；无状态、无工具。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27253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RAG 检索增强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08156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先检索知识、再生成，缓解幻觉，但仍是“一问一答”。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51637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52425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工具增强 Function 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451996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能调外部函数，但缺乏多步规划与自我纠错闭环。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0000"/>
            <a:ext cx="3606800" cy="151637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单轮对话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2208156"/>
            <a:ext cx="3195320" cy="7772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一次用户输入 → 一次模型调用 → 一次回答；无状态、无工具。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1690000"/>
            <a:ext cx="3606800" cy="151637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RAG 检索增强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2208156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先检索知识、再生成，缓解幻觉，但仍是“一问一答”。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690000"/>
            <a:ext cx="3606800" cy="1516376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1895740"/>
            <a:ext cx="3195320" cy="52425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工具增强 Function Calling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2451996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能调外部函数，但缺乏多步规划与自我纠错闭环。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46376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" y="3446376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共性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三者都无法自主拆解目标、闭环使用工具并自我纠错。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单轮与 RAG 撑不起复杂任务闭环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187696" cy="306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7200" y="1890000"/>
            <a:ext cx="4747696" cy="27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三处结构性缺口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复杂目标需要拆解、排序、条件分支，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而一次性生成无法完成这些动作。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3496" y="1810000"/>
            <a:ext cx="5861304" cy="137922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缺乏多步规划：复杂目标需拆解、排序与条件分支。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无工具反馈闭环：拿到结果后不能重新决策、重试、修复。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6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无持久状态：长流程一断即失，无法断点续跑。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9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" y="499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结论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企业级复杂任务需要“会规划、会用工具、会反思”的自主体。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Agentic AI 是会自主决策的执行体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0591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自主性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23395"/>
            <a:ext cx="3195320" cy="3200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面向目标自行决定下一步做什么。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2877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工具使用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23395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 LLM 当“大脑”，通过工具与真实系统交互。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2877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反思与修复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223395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观察结果、发现错误、自我纠正后继续。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0000"/>
            <a:ext cx="3606800" cy="12877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自主性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2223395"/>
            <a:ext cx="3195320" cy="3200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面向目标自行决定下一步做什么。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1690000"/>
            <a:ext cx="3606800" cy="12877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工具使用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2223395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 LLM 当“大脑”，通过工具与真实系统交互。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690000"/>
            <a:ext cx="3606800" cy="128777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1895740"/>
            <a:ext cx="31953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反思与修复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2223395"/>
            <a:ext cx="31953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观察结果、发现错误、自我纠正后继续。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17775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" y="3217775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一句话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Agent = 目标 + 规划 + 工具 + 记忆 + 反思 的循环。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ReAct 用思考-行动-观测构成闭环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11277600" cy="88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0000"/>
            <a:ext cx="150000" cy="88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7200" y="1690000"/>
            <a:ext cx="34000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Reasoning　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7200" y="1690000"/>
            <a:ext cx="73776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基于目标与上下文推理下一步该做什么。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20000"/>
            <a:ext cx="11277600" cy="88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720000"/>
            <a:ext cx="150000" cy="880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200" y="2720000"/>
            <a:ext cx="34000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Acting　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7200" y="2720000"/>
            <a:ext cx="73776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选择并调用合适的工具或子任务。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50000"/>
            <a:ext cx="11277600" cy="88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750000"/>
            <a:ext cx="150000" cy="88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200" y="3750000"/>
            <a:ext cx="34000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Observing　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200" y="3750000"/>
            <a:ext cx="7377600" cy="8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读取工具返回、更新认知，再进入下一轮。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60000"/>
            <a:ext cx="11277600" cy="4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循环直到目标达成或触发终止条件——这是自主执行的最小闭环。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每一轮观测都可能触发新一次推理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2600000" y="3000000"/>
            <a:ext cx="1800000" cy="1800000"/>
          </a:xfrm>
          <a:prstGeom prst="donut">
            <a:avLst/>
          </a:prstGeom>
          <a:solidFill>
            <a:srgbClr val="16456B"/>
          </a:solidFill>
          <a:ln w="1905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80000" y="3540000"/>
            <a:ext cx="1640000" cy="72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ReAct</a:t>
            </a:r>
          </a:p>
          <a:p>
            <a:pPr algn="ctr"/>
            <a:r>
              <a:rPr sz="13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自主闭环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0000" y="1980000"/>
            <a:ext cx="1400000" cy="76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40000" y="1980000"/>
            <a:ext cx="1320000" cy="7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目标 Goal</a:t>
            </a:r>
          </a:p>
          <a:p>
            <a:pPr algn="ctr"/>
            <a:r>
              <a:rPr sz="11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锁定要达成的任务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0" y="3060000"/>
            <a:ext cx="1400000" cy="76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40000" y="3060000"/>
            <a:ext cx="1320000" cy="7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思考 Thought</a:t>
            </a:r>
          </a:p>
          <a:p>
            <a:pPr algn="ctr"/>
            <a:r>
              <a:rPr sz="11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推理下一步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000" y="4850000"/>
            <a:ext cx="1400000" cy="76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0000" y="4850000"/>
            <a:ext cx="1320000" cy="7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行动 Action</a:t>
            </a:r>
          </a:p>
          <a:p>
            <a:pPr algn="ctr"/>
            <a:r>
              <a:rPr sz="11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调用工具/子任务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" y="3060000"/>
            <a:ext cx="1400000" cy="76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00" y="3060000"/>
            <a:ext cx="1320000" cy="7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观测 Observation</a:t>
            </a:r>
          </a:p>
          <a:p>
            <a:pPr algn="ctr"/>
            <a:r>
              <a:rPr sz="11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读取返回并更新</a:t>
            </a:r>
          </a:p>
        </p:txBody>
      </p:sp>
      <p:sp>
        <p:nvSpPr>
          <p:cNvPr id="15" name="Curved Right Arrow 14"/>
          <p:cNvSpPr/>
          <p:nvPr/>
        </p:nvSpPr>
        <p:spPr>
          <a:xfrm>
            <a:off x="3240000" y="1900000"/>
            <a:ext cx="520000" cy="300000"/>
          </a:xfrm>
          <a:prstGeom prst="curved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00000" y="2050000"/>
            <a:ext cx="3834800" cy="290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0000" y="2230000"/>
            <a:ext cx="3434800" cy="2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侧注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目标 → 思考 → 行动 → 观测 → 回到思考…… 直至完成。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每一轮都可能触发一次或多次模型调用——为后续“Token 经济学”埋下伏笔。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规划、工具、记忆、反思四支柱缺一不可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规划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23395"/>
            <a:ext cx="5113020" cy="3200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任务拆解、排序与条件分支。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工具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040" y="2223395"/>
            <a:ext cx="5113020" cy="5486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Function Calling / MCP 接入外部能力。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353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记忆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3863395"/>
            <a:ext cx="5113020" cy="3200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短期工作记忆 + 长期知识沉淀。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333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6040" y="353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反思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040" y="3863395"/>
            <a:ext cx="5113020" cy="32004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自检、纠错与自愈。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2E6CA6"/>
                </a:solidFill>
                <a:latin typeface="Trebuchet MS"/>
                <a:ea typeface="Microsoft YaHei"/>
                <a:cs typeface="Microsoft YaHei"/>
              </a:rPr>
              <a:t>第一部分 · 从传统 AI 到自主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00"/>
            <a:ext cx="11277600" cy="7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12283C"/>
                </a:solidFill>
                <a:latin typeface="Trebuchet MS"/>
                <a:ea typeface="Microsoft YaHei"/>
                <a:cs typeface="Microsoft YaHei"/>
              </a:rPr>
              <a:t>从 Chat 到 Agent，调用量级陡增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40000"/>
            <a:ext cx="1500000" cy="54000"/>
          </a:xfrm>
          <a:prstGeom prst="rect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60000"/>
          <a:ext cx="676656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83760" y="1660000"/>
            <a:ext cx="4251040" cy="3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3760" y="1840000"/>
            <a:ext cx="3851040" cy="3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E6CA6"/>
                </a:solidFill>
                <a:latin typeface="Trebuchet MS"/>
                <a:ea typeface="Microsoft YaHei"/>
                <a:cs typeface="Microsoft YaHei"/>
              </a:rPr>
              <a:t>数量级（示意）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2283C"/>
                </a:solidFill>
                <a:latin typeface="Calibri"/>
                <a:ea typeface="Microsoft YaHei"/>
                <a:cs typeface="Microsoft YaHei"/>
              </a:rPr>
              <a:t>Chat：1 次输入 ≈ 1 次调用。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2283C"/>
                </a:solidFill>
                <a:latin typeface="Calibri"/>
                <a:ea typeface="Microsoft YaHei"/>
                <a:cs typeface="Microsoft YaHei"/>
              </a:rPr>
              <a:t>Agentic：规划→检索→选工具→执行→解读→反思→修复→总结，幕后可达数十次调用。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 i="0">
                <a:solidFill>
                  <a:srgbClr val="2E6CA6"/>
                </a:solidFill>
                <a:latin typeface="Calibri"/>
                <a:ea typeface="Microsoft YaHei"/>
                <a:cs typeface="Microsoft YaHei"/>
              </a:rPr>
              <a:t>典型区间：30–200 次/任务。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44586E"/>
                </a:solidFill>
                <a:latin typeface="Calibri"/>
                <a:ea typeface="Microsoft YaHei"/>
                <a:cs typeface="Microsoft YaHei"/>
              </a:rPr>
              <a:t>这既是能力也是成本——模块四将展开 Token 经济学。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企业场景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代码审查从人工返工变自动闭环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810000"/>
            <a:ext cx="2095520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810000"/>
            <a:ext cx="2015520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01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读取仓库与规范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7720" y="2315000"/>
            <a:ext cx="150000" cy="14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52720" y="1810000"/>
            <a:ext cx="2095520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92720" y="1810000"/>
            <a:ext cx="2015520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02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定位坏味道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73240" y="2315000"/>
            <a:ext cx="150000" cy="14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48240" y="1810000"/>
            <a:ext cx="2095520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88240" y="1810000"/>
            <a:ext cx="2015520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03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提出补丁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68760" y="2315000"/>
            <a:ext cx="150000" cy="14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43760" y="1810000"/>
            <a:ext cx="2095520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3760" y="1810000"/>
            <a:ext cx="2015520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04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跑测试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64280" y="2315000"/>
            <a:ext cx="150000" cy="14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39280" y="1810000"/>
            <a:ext cx="2095520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9280" y="1810000"/>
            <a:ext cx="2015520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05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自我修正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6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" y="326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场景一 · 价值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把“评审 + 返工”从人工循环变为可治理的自动循环。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企业场景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DevOps 诊断把 SRE 经验沉淀为技能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Pentagon 4"/>
          <p:cNvSpPr/>
          <p:nvPr/>
        </p:nvSpPr>
        <p:spPr>
          <a:xfrm>
            <a:off x="457200" y="1870000"/>
            <a:ext cx="2143520" cy="124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870000"/>
            <a:ext cx="2063520" cy="124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步骤 1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采集日志/指标</a:t>
            </a:r>
          </a:p>
        </p:txBody>
      </p:sp>
      <p:sp>
        <p:nvSpPr>
          <p:cNvPr id="7" name="Pentagon 6"/>
          <p:cNvSpPr/>
          <p:nvPr/>
        </p:nvSpPr>
        <p:spPr>
          <a:xfrm>
            <a:off x="2740720" y="1870000"/>
            <a:ext cx="2143520" cy="124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0720" y="1870000"/>
            <a:ext cx="2063520" cy="124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步骤 2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假设根因</a:t>
            </a:r>
          </a:p>
        </p:txBody>
      </p:sp>
      <p:sp>
        <p:nvSpPr>
          <p:cNvPr id="9" name="Pentagon 8"/>
          <p:cNvSpPr/>
          <p:nvPr/>
        </p:nvSpPr>
        <p:spPr>
          <a:xfrm>
            <a:off x="5024240" y="1870000"/>
            <a:ext cx="2143520" cy="124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64240" y="1870000"/>
            <a:ext cx="2063520" cy="124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步骤 3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调用诊断工具</a:t>
            </a:r>
          </a:p>
        </p:txBody>
      </p:sp>
      <p:sp>
        <p:nvSpPr>
          <p:cNvPr id="11" name="Pentagon 10"/>
          <p:cNvSpPr/>
          <p:nvPr/>
        </p:nvSpPr>
        <p:spPr>
          <a:xfrm>
            <a:off x="7307760" y="1870000"/>
            <a:ext cx="2143520" cy="124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47760" y="1870000"/>
            <a:ext cx="2063520" cy="124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步骤 4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3" name="Pentagon 12"/>
          <p:cNvSpPr/>
          <p:nvPr/>
        </p:nvSpPr>
        <p:spPr>
          <a:xfrm>
            <a:off x="9591280" y="1870000"/>
            <a:ext cx="2143520" cy="1240000"/>
          </a:xfrm>
          <a:prstGeom prst="homePlate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31280" y="1870000"/>
            <a:ext cx="2063520" cy="124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步骤 5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给出修复建议或执行（受审批约束）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3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" y="343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场景二 · 价值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缩短 MTTR，把 SRE 的排障经验沉淀为可复用技能。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企业场景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复杂分析从一问一答升级为多步推理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524500" cy="265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多步检索 + 交叉验证 + 结构化归纳，回答“需要多份文档、多轮推理”的复杂问题。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0000"/>
            <a:ext cx="5524500" cy="265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从“一问一答”升级为“可追溯的多步分析”，让结论有据可查。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0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460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场景三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知识库分析师：把零散检索整合为一条可复现的推理链。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第一部分 · 单体 vs 多体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多智能体用角色拆分换取可治理性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0000"/>
          <a:ext cx="11277600" cy="41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单智能体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多智能体系统 (MAS)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一体承担全部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按专长拆分角色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可控性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简单但易失控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角色 + 白名单更可治理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扩展性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受单体上下文限制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可并行 / 分工 / 最小权限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适用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简单任务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复杂业务流水线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80000"/>
            <a:ext cx="140000" cy="172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000" y="2120000"/>
            <a:ext cx="10600000" cy="4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PART 02　·　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000" y="2560000"/>
            <a:ext cx="10700000" cy="1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多智能体协作拓扑：Supervisor 与 Peer-to-Peer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多智能体协作拓扑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Supervisor 以中心协调换取可审计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3487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一个 Supervisor / Planner 拆解目标。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把子任务分发给专门 Agent，再汇总结果。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编排清晰、易审计、易加护栏。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Supervisor 既是控制点也是瓶颈——需防单点故障与上下文膨胀。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3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3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取舍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适合强流程、强治理场景：所有决策都经过中心可被审计。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拓扑图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中心协调者拆解并双向分发子任务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96000" y="1820000"/>
            <a:ext cx="1800000" cy="82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6000" y="1820000"/>
            <a:ext cx="1720000" cy="82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Supervisor</a:t>
            </a:r>
          </a:p>
          <a:p>
            <a:pPr algn="ctr"/>
            <a:r>
              <a:rPr sz="12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拆解 · 分发 · 汇总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50000"/>
            <a:ext cx="3519200" cy="9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200" y="4050000"/>
            <a:ext cx="3439200" cy="9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需求 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产出结构化 spec</a:t>
            </a:r>
          </a:p>
        </p:txBody>
      </p:sp>
      <p:sp>
        <p:nvSpPr>
          <p:cNvPr id="9" name="Up-Down Arrow 8"/>
          <p:cNvSpPr/>
          <p:nvPr/>
        </p:nvSpPr>
        <p:spPr>
          <a:xfrm>
            <a:off x="2106800" y="2760000"/>
            <a:ext cx="220000" cy="1240000"/>
          </a:xfrm>
          <a:prstGeom prst="up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6400" y="4050000"/>
            <a:ext cx="3519200" cy="9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6400" y="4050000"/>
            <a:ext cx="3439200" cy="9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编码 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生成 solution</a:t>
            </a:r>
          </a:p>
        </p:txBody>
      </p:sp>
      <p:sp>
        <p:nvSpPr>
          <p:cNvPr id="12" name="Up-Down Arrow 11"/>
          <p:cNvSpPr/>
          <p:nvPr/>
        </p:nvSpPr>
        <p:spPr>
          <a:xfrm>
            <a:off x="5986000" y="2760000"/>
            <a:ext cx="220000" cy="1240000"/>
          </a:xfrm>
          <a:prstGeom prst="up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15600" y="4050000"/>
            <a:ext cx="3519200" cy="9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5600" y="4050000"/>
            <a:ext cx="3439200" cy="9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测试 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验证可测产物</a:t>
            </a:r>
          </a:p>
        </p:txBody>
      </p:sp>
      <p:sp>
        <p:nvSpPr>
          <p:cNvPr id="15" name="Up-Down Arrow 14"/>
          <p:cNvSpPr/>
          <p:nvPr/>
        </p:nvSpPr>
        <p:spPr>
          <a:xfrm>
            <a:off x="9865200" y="2760000"/>
            <a:ext cx="220000" cy="1240000"/>
          </a:xfrm>
          <a:prstGeom prst="upDown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150000"/>
            <a:ext cx="11277600" cy="5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箭头双向：向下分发子任务，向上回报结果与状态。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多智能体协作拓扑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Peer-to-Peer 以消息总线自适应交接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3487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智能体间通过事件 / 消息总线交接（Handoff）。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无强中心，交接自适应触发。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灵活、可扩展、去中心。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需要明确的交接契约与可观测性，否则链路难以追踪与调试。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3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3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取舍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适合高动态、松耦合场景：以契约与可观测性换取灵活度。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拓扑图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对等节点在总线上完成 Handoff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7200" y="3560000"/>
            <a:ext cx="10677600" cy="150000"/>
          </a:xfrm>
          <a:prstGeom prst="rect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76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/>
            <a:r>
              <a:rPr sz="135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事件 / 消息总线 (Message Bus)</a:t>
            </a:r>
          </a:p>
        </p:txBody>
      </p:sp>
      <p:sp>
        <p:nvSpPr>
          <p:cNvPr id="7" name="Hexagon 6"/>
          <p:cNvSpPr/>
          <p:nvPr/>
        </p:nvSpPr>
        <p:spPr>
          <a:xfrm>
            <a:off x="457200" y="2180000"/>
            <a:ext cx="2594400" cy="860000"/>
          </a:xfrm>
          <a:prstGeom prst="hexagon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200" y="2180000"/>
            <a:ext cx="2514400" cy="8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Agent A</a:t>
            </a:r>
          </a:p>
          <a:p>
            <a:pPr algn="ctr"/>
            <a:r>
              <a:rPr sz="12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对等协作 · Handoff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6400" y="3040000"/>
            <a:ext cx="36000" cy="520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3351600" y="4080000"/>
            <a:ext cx="2594400" cy="860000"/>
          </a:xfrm>
          <a:prstGeom prst="hexagon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1600" y="4080000"/>
            <a:ext cx="2514400" cy="8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Agent B</a:t>
            </a:r>
          </a:p>
          <a:p>
            <a:pPr algn="ctr"/>
            <a:r>
              <a:rPr sz="12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对等协作 · Handoff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0800" y="3710000"/>
            <a:ext cx="36000" cy="370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6246000" y="2180000"/>
            <a:ext cx="2594400" cy="860000"/>
          </a:xfrm>
          <a:prstGeom prst="hexagon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6000" y="2180000"/>
            <a:ext cx="2514400" cy="8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Agent C</a:t>
            </a:r>
          </a:p>
          <a:p>
            <a:pPr algn="ctr"/>
            <a:r>
              <a:rPr sz="12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对等协作 · Handoff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5200" y="3040000"/>
            <a:ext cx="36000" cy="520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Hexagon 15"/>
          <p:cNvSpPr/>
          <p:nvPr/>
        </p:nvSpPr>
        <p:spPr>
          <a:xfrm>
            <a:off x="9140400" y="4080000"/>
            <a:ext cx="2594400" cy="860000"/>
          </a:xfrm>
          <a:prstGeom prst="hexagon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400" y="4080000"/>
            <a:ext cx="2514400" cy="8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Agent D</a:t>
            </a:r>
          </a:p>
          <a:p>
            <a:pPr algn="ctr"/>
            <a:r>
              <a:rPr sz="12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对等协作 · Handoff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19600" y="3710000"/>
            <a:ext cx="36000" cy="370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两种拓扑在控制与弹性间各有取舍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0000"/>
          <a:ext cx="11277600" cy="41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Supervisor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Peer-to-Peer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控制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中心协调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去中心自适应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审计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天然集中易审计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需额外追踪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弹性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中心为瓶颈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无单点但更难调试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适用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强流程 / 强治理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高动态 / 松耦合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第二部分 · 交接契约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交接结构化契约而非整段对话历史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524500" cy="256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F5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F5B08A"/>
                </a:solidFill>
                <a:latin typeface="Trebuchet MS"/>
                <a:ea typeface="Microsoft YaHei"/>
                <a:cs typeface="Microsoft YaHei"/>
              </a:rPr>
              <a:t>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把整段对话历史塞给下一个 Agent → 上下文膨胀、成本飙升。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0000"/>
            <a:ext cx="5524500" cy="256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040" y="2223395"/>
            <a:ext cx="5113020" cy="800097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需求 Agent 交出结构化 spec；编码 Agent 只读 spec；测试 Agent 只消费可测产物。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0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450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结论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交接的是“契约 / 产物”，不是“聊天记录”。（模块二 / 四深入）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80000"/>
            <a:ext cx="140000" cy="172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000" y="2120000"/>
            <a:ext cx="10600000" cy="4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PART 03　·　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000" y="2560000"/>
            <a:ext cx="10700000" cy="1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EnterpriseAgenticWorkshop 底座剖析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Workshop 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Workshop 用可运行代码承载每个概念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478273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08156"/>
            <a:ext cx="3195320" cy="754377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面向工程团队、构建生产级企业 Agent 的动手工作坊（约 6–8 小时 代码 + 幻灯片）。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699252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08156"/>
            <a:ext cx="3195320" cy="97535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从单进程技能测试原型 → 多智能体沙箱流水线 → Foundry 托管 Agent（完整 Azure 基础设施）。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257294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特点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20815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代码优先：幻灯片里的每个概念都有可运行的对应代码。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0000"/>
            <a:ext cx="3606800" cy="1699252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2208156"/>
            <a:ext cx="3195320" cy="754377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面向工程团队、构建生产级企业 Agent 的动手工作坊（约 6–8 小时 代码 + 幻灯片）。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1690000"/>
            <a:ext cx="3606800" cy="1699252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2208156"/>
            <a:ext cx="3195320" cy="97535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从单进程技能测试原型 → 多智能体沙箱流水线 → Foundry 托管 Agent（完整 Azure 基础设施）。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690000"/>
            <a:ext cx="3606800" cy="1699252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特点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220815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代码优先：幻灯片里的每个概念都有可运行的对应代码。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9252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" y="3619252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主线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一条主线：把架构概念逐步落成生产级、可运行的工程实现。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四大工程关切点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四大工程关切点覆盖定义到部署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51130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技能定义与对抗测试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15776"/>
            <a:ext cx="5113020" cy="5181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Skill_Testing_Agent / AgentHarness_HostedAgent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6040" y="1895740"/>
            <a:ext cx="51130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沙箱化多智能体编排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040" y="2215776"/>
            <a:ext cx="5113020" cy="5181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OpenClaw_AgentHarness / CodingAgent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3535740"/>
            <a:ext cx="51130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托管运行时与 Harness 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3855776"/>
            <a:ext cx="5113020" cy="5181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Brain / Hands / Session /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3330000"/>
            <a:ext cx="5524500" cy="14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6040" y="3535740"/>
            <a:ext cx="51130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云端部署到 Microsoft Foundry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040" y="3855776"/>
            <a:ext cx="5113020" cy="5181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skill-testing-harness-deploy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仓库总览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六个顶层目录对应六个可运行模块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69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Skill_Testing_Agent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对抗式技能测试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600" y="169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32600" y="169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OpenClaw_AgentHarness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多智能体沙箱流水线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0" y="169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8000" y="169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CodingAgent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上下文优化 + 纠错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1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7200" y="311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AgentHarness_HostedAgent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Foundry 托管四层架构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600" y="311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2600" y="311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skill-testing-harness-deploy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azd 上云部署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3110000"/>
            <a:ext cx="3606800" cy="118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8000" y="3110000"/>
            <a:ext cx="35268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ppt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配套讲义幻灯片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90000"/>
            <a:ext cx="11277600" cy="4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/>
            <a:r>
              <a:rPr sz="14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每个目录对应一个可运行模块 + 配套幻灯片。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模块 · Skill_Testing_Agent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Skill Testing 用对抗测试打磨技能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20040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最小化 Microsoft Agent Framework + GitHub Copilot SDK（Python）。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业务 Agent：教育短视频脚本生成器，带严格输出模板。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对抗测试 Agent：构造边界用例挑战业务 Agent。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2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并行对比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两个模型（Claude Opus 4.7 与 GPT-5.5）并行运行，在控制台直接对比表现。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5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5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定位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对抗式技能测试 101：先把“技能是否可靠”问清楚。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Skill Testing 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先想清技能、评测与模型差异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业务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带确定性输出契约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对抗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构造单轮/多轮边界用例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确定性校验器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2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不用 LLM 即可校验契约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32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LLM-as-judge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36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按 5 个维度打分评审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30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32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边界用例集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36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10 个精选边界知识用例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3090000"/>
            <a:ext cx="36068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3295740"/>
            <a:ext cx="31953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先想清再落地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3600535"/>
            <a:ext cx="3195320" cy="29718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先定义评测，再谈基础设施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模块 · OpenClaw_AgentHarness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OpenClaw 以沙箱托起多智能体协作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7754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一个 Docker-Compose 栈，引入 OpenClaw 作为沙箱 / 网关。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三个最小权限 Agent 在共享工作区内“自闭环”协作。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模型经 GitHub Copilot 内置 provider（Claude Opus 4.7）。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56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沙箱隔离 · 最小权限 · 共享工作区 · 网关凭据。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0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0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进阶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从单进程原型迈向真正的多智能体沙箱流水线。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三角色与白名单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只有 Runner 持有受约束的执行权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0000"/>
          <a:ext cx="11277600" cy="30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工具白名单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— Coder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读 SPEC.md，写 solution.py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read · write · edit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 — Tester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读 spec+solution，写 test_solution.py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read · write · edit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 — Runner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沙箱内跑 pytest，写 RUN_REPORT.md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read · write · exec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96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" y="496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关键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只有 C 持有 exec，且被 tools.exec.allowedPaths 约束到单一子目录。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自闭环与最小权限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把能力写死，越权在架构上不可能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教什么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工具白名单 · 工作区隔离 · 基于网关的凭据轮换 · 自纠错循环。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核心直觉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把“谁能做什么”写死成能力清单，越权在架构层面就不可能发生。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理念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安全不是运行时补丁，而是架构级的能力边界。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模块 · CodingAgent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CodingAgent 聚焦上下文与自愈纠错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5468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更进阶的 OpenClaw 流水线，聚焦两项生产技术。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三角色：coder · runner · diagnoser，各自严格白名单。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在控制 Token 花费的前提下扩展自愈式编码循环。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两项生产技术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① 上下文优化（按需加载）　② 错误纠正（diagnoser 驱动）。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目标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目标：更省 Token、更能自愈的可扩展编码循环。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上下文优化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按需加载技能文档，压缩上下文窗口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7754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coder 只加载 spec 用 @FILE.md 语法显式引用的技能文档。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如 PYTHON_STYLE.md、ALGO_PATTERNS.md、ERROR_HANDLING.md、TESTING.md。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让 prompt 窗口精简、可预测。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承前启后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这正是模块四“上下文压缩”的工程雏形——把窗口当成需要治理的预算。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效果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显式引用 + 按需加载 = 更小、更稳定的上下文。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错误纠正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失败即修复：diagnoser 驱动纠错循环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870000"/>
            <a:ext cx="2631900" cy="12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870000"/>
            <a:ext cx="2551900" cy="12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Python traceback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捕获运行失败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4100" y="2395000"/>
            <a:ext cx="160000" cy="15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9100" y="1870000"/>
            <a:ext cx="2631900" cy="12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79100" y="1870000"/>
            <a:ext cx="2551900" cy="12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diagnoser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翻译为机器可读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6000" y="2395000"/>
            <a:ext cx="160000" cy="15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21000" y="1870000"/>
            <a:ext cx="2631900" cy="12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1000" y="1870000"/>
            <a:ext cx="2551900" cy="12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Patch Plan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写入 DIAGNOSIS.md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97900" y="2395000"/>
            <a:ext cx="160000" cy="15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02900" y="1870000"/>
            <a:ext cx="2631900" cy="12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2900" y="1870000"/>
            <a:ext cx="2551900" cy="12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下一轮 coder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消费并修复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773150" y="3220000"/>
            <a:ext cx="8645700" cy="150000"/>
          </a:xfrm>
          <a:prstGeom prst="leftArrow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50000"/>
            <a:ext cx="11277600" cy="4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/>
            <a:r>
              <a:rPr sz="1450" b="1" i="0">
                <a:solidFill>
                  <a:srgbClr val="5EEAD4"/>
                </a:solidFill>
                <a:latin typeface="Calibri"/>
                <a:ea typeface="Microsoft YaHei"/>
                <a:cs typeface="Microsoft YaHei"/>
              </a:rPr>
              <a:t>闭环回流：一个“失败即修复”的可扩展自愈循环。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AgentHarness_HostedAgent（预览）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Foundry 托管四层：Brain 与 Hands 分离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50000"/>
            <a:ext cx="4962144" cy="115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750000"/>
            <a:ext cx="4882144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Brain　Orchestrator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Foundry 托管 · 默认 gpt-5.5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99344" y="2230000"/>
            <a:ext cx="360000" cy="19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39344" y="1750000"/>
            <a:ext cx="5795456" cy="115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79344" y="1750000"/>
            <a:ext cx="5715456" cy="115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Hands　Sandbox Worker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一次性 · 无状态执行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60000"/>
            <a:ext cx="55245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" y="3365740"/>
            <a:ext cx="51130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Session（旁挂）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" y="3670535"/>
            <a:ext cx="5113020" cy="3048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append-only 日志，记录每一步执行轨迹。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3160000"/>
            <a:ext cx="5524500" cy="118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6040" y="3365740"/>
            <a:ext cx="5113020" cy="27279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55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Vault（旁挂）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6040" y="3670535"/>
            <a:ext cx="5113020" cy="3048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集中托管凭据，隔离敏感信息。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60000"/>
            <a:ext cx="11277600" cy="38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/>
            <a:r>
              <a:rPr sz="14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旗舰模块：在托管 harness 上重写 Skill Testing 逻辑；细节留给模块二深入。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部署 · skill-testing-harness-deploy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一条 azd up 把 Harness 部署上云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5468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azure.yaml + Bicep，把 harness 作为 hosted agent 部署。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host: azure.ai.agent，用 azd up 一键上云。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展示完整 IaC 与远程构建流程。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IaC 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容器资源 · 启动命令 · 远程构建 · azure.ai.agents 扩展。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收益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从本地到云端：基础设施即代码，可复现、可审计。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第三部分 · 建议学习路径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一天议程：从概念到部署逐层递进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970000"/>
            <a:ext cx="2143520" cy="182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70000"/>
            <a:ext cx="2143520" cy="1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7200" y="2190000"/>
            <a:ext cx="2083520" cy="1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上午 · 概念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Skill_Testing_Agent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幻灯 00 · 03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10720" y="2820000"/>
            <a:ext cx="120000" cy="12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0720" y="1970000"/>
            <a:ext cx="2143520" cy="182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0720" y="1970000"/>
            <a:ext cx="2143520" cy="1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720" y="2190000"/>
            <a:ext cx="2083520" cy="1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上午晚些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OpenClaw_AgentHarness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幻灯 01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4240" y="2820000"/>
            <a:ext cx="120000" cy="12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4240" y="1970000"/>
            <a:ext cx="2143520" cy="182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4240" y="1970000"/>
            <a:ext cx="2143520" cy="1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4240" y="2190000"/>
            <a:ext cx="2083520" cy="1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下午 · 实践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CodingAgent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幻灯 02 · 04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77760" y="2820000"/>
            <a:ext cx="120000" cy="12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07760" y="1970000"/>
            <a:ext cx="2143520" cy="182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07760" y="1970000"/>
            <a:ext cx="2143520" cy="1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37760" y="2190000"/>
            <a:ext cx="2083520" cy="1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下午晚些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AgentHarness_HostedAgent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幻灯 05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61280" y="2820000"/>
            <a:ext cx="120000" cy="12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91280" y="1970000"/>
            <a:ext cx="2143520" cy="1820000"/>
          </a:xfrm>
          <a:prstGeom prst="roundRect">
            <a:avLst/>
          </a:prstGeom>
          <a:solidFill>
            <a:srgbClr val="15304A"/>
          </a:solidFill>
          <a:ln w="1397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91280" y="1970000"/>
            <a:ext cx="2143520" cy="15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21280" y="2190000"/>
            <a:ext cx="2083520" cy="15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收尾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skill-testing-harness-deploy</a:t>
            </a:r>
          </a:p>
          <a:p>
            <a:pPr algn="ctr"/>
            <a:r>
              <a:rPr sz="125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azd up 发布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" y="411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节奏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概念 → 沙箱 → 实践 → 托管 → 部署：一天走完从原型到上云的全链路。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180000"/>
            <a:ext cx="140000" cy="172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0000" y="2120000"/>
            <a:ext cx="10600000" cy="4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PART 04　·　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000" y="2560000"/>
            <a:ext cx="10700000" cy="13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企业级基础设施与通信协议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第四部分 · 模型端点接入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把用哪个模型变成可配置项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7754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Azure AI Foundry / Azure OpenAI 与私有化模型（如本地 Ollama）异构整合。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推荐端点：gpt-5.5 / phi-4 / Claude，名称通过环境变量可配。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把“用哪个模型”变成配置项，而非硬编码。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承前启后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327659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异构可配的端点抽象，为模块四“按需路由”打下铺垫。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收益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配置驱动的模型选择：切换与灰度都不必改代码。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第四部分 · MCP 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MCP 让编排器把子任务交给廉价 worker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0000"/>
            <a:ext cx="5524500" cy="177546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MCP 是主流 Agentic IDE 与远程工具服务器对话的标准协议。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让昂贵的编排器（大脑）把子任务交给便宜的 worker，且不产生锁定。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35C4F0"/>
                </a:solidFill>
                <a:latin typeface="Calibri"/>
                <a:ea typeface="Microsoft YaHei"/>
                <a:cs typeface="Microsoft YaHei"/>
              </a:rPr>
              <a:t>▍ 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Workshop 中每个角色用 FastMCP over Streamable HTTP 暴露工具集。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690000"/>
            <a:ext cx="5524500" cy="2600000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6040" y="1895740"/>
            <a:ext cx="5113020" cy="295655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6040" y="2223395"/>
            <a:ext cx="5113020" cy="56387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标准化 = 可替换、可组合、不锁定，是多智能体的“通用接口”。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40000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" y="4540000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价值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用标准协议解耦“大脑”与“工具”，成本与灵活度兼得。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第四部分 · 控制平面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MCP 成为可加固的标准控制平面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810000"/>
            <a:ext cx="3383280" cy="110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0" y="1810000"/>
            <a:ext cx="3303280" cy="11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MCP 客户端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如 Teams 机器人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60480" y="2260000"/>
            <a:ext cx="520000" cy="200000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00480" y="1810000"/>
            <a:ext cx="7134320" cy="1100000"/>
          </a:xfrm>
          <a:prstGeom prst="roundRect">
            <a:avLst/>
          </a:prstGeom>
          <a:solidFill>
            <a:srgbClr val="15304A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0480" y="1810000"/>
            <a:ext cx="7054320" cy="110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Agent 工厂</a:t>
            </a:r>
          </a:p>
          <a:p>
            <a:pPr algn="ctr"/>
            <a:r>
              <a:rPr sz="13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Azure Container Apps · OpenClaw 沙箱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90000"/>
            <a:ext cx="11277600" cy="1180000"/>
          </a:xfrm>
          <a:prstGeom prst="roundRect">
            <a:avLst/>
          </a:prstGeom>
          <a:solidFill>
            <a:srgbClr val="16456B"/>
          </a:solidFill>
          <a:ln w="15875">
            <a:solidFill>
              <a:srgbClr val="2E6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7200" y="3190000"/>
            <a:ext cx="10837600" cy="118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加固三件套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认证 (Auth)　+　严格 allowlist　+　最小权限</a:t>
            </a:r>
          </a:p>
          <a:p>
            <a:pPr algn="l"/>
            <a:r>
              <a:rPr sz="14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任何 MCP 客户端都能与 Agent 工厂交互，安全边界由架构保证。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第四部分 · Tool Call 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强类型、语义化、最小暴露三原则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0000"/>
            <a:ext cx="3606800" cy="1036315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强类型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208156"/>
            <a:ext cx="3195320" cy="312419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入参出参有契约，便于校验与审计。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690000"/>
            <a:ext cx="3606800" cy="1257294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语义插件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20815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把能力封装成可复用、可组合的语义函数。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690000"/>
            <a:ext cx="3606800" cy="1478273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最小暴露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208156"/>
            <a:ext cx="3195320" cy="754377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只给 Agent 暴露必要工具（如 Brain 仅 5 个），越权面最小化。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0000"/>
            <a:ext cx="3606800" cy="1478273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强类型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2208156"/>
            <a:ext cx="3195320" cy="312419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入参出参有契约，便于校验与审计。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1690000"/>
            <a:ext cx="3606800" cy="1478273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语义插件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220815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把能力封装成可复用、可组合的语义函数。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690000"/>
            <a:ext cx="3606800" cy="1478273"/>
          </a:xfrm>
          <a:prstGeom prst="roundRect">
            <a:avLst/>
          </a:prstGeom>
          <a:solidFill>
            <a:srgbClr val="15304A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1895740"/>
            <a:ext cx="3195320" cy="28041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最小暴露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2208156"/>
            <a:ext cx="3195320" cy="754377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只给 Agent 暴露必要工具（如 Brain 仅 5 个），越权面最小化。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08273"/>
            <a:ext cx="11277600" cy="560000"/>
          </a:xfrm>
          <a:prstGeom prst="roundRect">
            <a:avLst/>
          </a:prstGeom>
          <a:solidFill>
            <a:srgbClr val="22405E"/>
          </a:solidFill>
          <a:ln w="1587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" y="3408273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原则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契约化 + 语义化 + 最小暴露：让工具调用可控、可审计。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第四部分 · 前置要求与实验环境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6000"/>
            <a:ext cx="11277600" cy="8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前置环境：Python、Docker 与 Foundry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7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0000"/>
          <a:ext cx="11277600" cy="4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100584" marT="36576" marB="36576" anchor="ctr">
                    <a:solidFill>
                      <a:srgbClr val="2E6C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语言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Python 3.12+（或 .NET 8.0+）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VS Code / Cursor · Git · Docker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账号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GitHub Copilot 订阅 + Copilot CLI 登录 · Microsoft Foundry 项目端点</a:t>
                      </a:r>
                    </a:p>
                  </a:txBody>
                  <a:tcPr marL="100584" marT="36576" marB="36576" anchor="ctr">
                    <a:solidFill>
                      <a:srgbClr val="15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模型部署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1F6FB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DeepSeek-V4-Flash 与 gpt-5.5（名称可用环境变量配置）</a:t>
                      </a:r>
                    </a:p>
                  </a:txBody>
                  <a:tcPr marL="100584" marT="36576" marB="36576" anchor="ctr"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0000"/>
            <a:ext cx="11277600" cy="3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小结 · 下一站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0000"/>
            <a:ext cx="11277600" cy="76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26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三条带走，下一站进入 Harness 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20000"/>
            <a:ext cx="1500000" cy="54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① 自主闭环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Agentic = ReAct 的思考-行动-观测自主闭环。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6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3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② 两种拓扑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3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Supervisor 与 P2P 各有取舍，按治理与动态性选择。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37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③ 可运行底座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37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Workshop 6 模块把概念落成可运行代码。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① 自主闭环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Agentic = ReAct 的思考-行动-观测自主闭环。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6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3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② 两种拓扑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3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Supervisor 与 P2P 各有取舍，按治理与动态性选择。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1780000"/>
            <a:ext cx="3606800" cy="1264914"/>
          </a:xfrm>
          <a:prstGeom prst="roundRect">
            <a:avLst/>
          </a:prstGeom>
          <a:solidFill>
            <a:srgbClr val="12293F"/>
          </a:solidFill>
          <a:ln w="12700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3740" y="1985740"/>
            <a:ext cx="3195320" cy="288036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650" b="1" i="0">
                <a:solidFill>
                  <a:srgbClr val="35C4F0"/>
                </a:solidFill>
                <a:latin typeface="Trebuchet MS"/>
                <a:ea typeface="Microsoft YaHei"/>
                <a:cs typeface="Microsoft YaHei"/>
              </a:rPr>
              <a:t>③ 可运行底座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3740" y="2305776"/>
            <a:ext cx="3195320" cy="533398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Workshop 6 模块把概念落成可运行代码。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44914"/>
            <a:ext cx="11277600" cy="560000"/>
          </a:xfrm>
          <a:prstGeom prst="roundRect">
            <a:avLst/>
          </a:prstGeom>
          <a:solidFill>
            <a:srgbClr val="12293F"/>
          </a:solidFill>
          <a:ln w="15875">
            <a:solidFill>
              <a:srgbClr val="35C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" y="3344914"/>
            <a:ext cx="10866120" cy="560000"/>
          </a:xfrm>
          <a:prstGeom prst="rect">
            <a:avLst/>
          </a:prstGeom>
          <a:noFill/>
        </p:spPr>
        <p:txBody>
          <a:bodyPr wrap="square" lIns="64008" tIns="22860" rIns="64008" bIns="22860" anchor="ctr">
            <a:no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预告　</a:t>
            </a:r>
            <a:r>
              <a:rPr sz="1500" b="0" i="0">
                <a:solidFill>
                  <a:srgbClr val="F1F6FB"/>
                </a:solidFill>
                <a:latin typeface="Calibri"/>
                <a:ea typeface="Microsoft YaHei"/>
                <a:cs typeface="Microsoft YaHei"/>
              </a:rPr>
              <a:t>下一站 · 模块二：深入 Agent Harness 运行时与五大治理支柱。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-hero-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F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500000"/>
            <a:ext cx="150000" cy="1500000"/>
          </a:xfrm>
          <a:prstGeom prst="rect">
            <a:avLst/>
          </a:prstGeom>
          <a:solidFill>
            <a:srgbClr val="35C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0000" y="2520000"/>
            <a:ext cx="10600000" cy="110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3200" b="1" i="0">
                <a:solidFill>
                  <a:srgbClr val="F1F6FB"/>
                </a:solidFill>
                <a:latin typeface="Trebuchet MS"/>
                <a:ea typeface="Microsoft YaHei"/>
                <a:cs typeface="Microsoft YaHei"/>
              </a:rPr>
              <a:t>谢谢　·　模块一结束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560000"/>
            <a:ext cx="10600000" cy="64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800" b="1" i="0">
                <a:solidFill>
                  <a:srgbClr val="5EEAD4"/>
                </a:solidFill>
                <a:latin typeface="Trebuchet MS"/>
                <a:ea typeface="Microsoft YaHei"/>
                <a:cs typeface="Microsoft YaHei"/>
              </a:rPr>
              <a:t>进入实操前，先想清楚“大脑之外的骨架”。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260000"/>
            <a:ext cx="10600000" cy="520000"/>
          </a:xfrm>
          <a:prstGeom prst="rect">
            <a:avLst/>
          </a:prstGeom>
          <a:noFill/>
        </p:spPr>
        <p:txBody>
          <a:bodyPr wrap="square" lIns="64008" tIns="22860" rIns="64008" bIns="22860" anchor="t">
            <a:noAutofit/>
          </a:bodyPr>
          <a:lstStyle/>
          <a:p>
            <a:pPr algn="l"/>
            <a:r>
              <a:rPr sz="1400" b="0" i="0">
                <a:solidFill>
                  <a:srgbClr val="A6B8CD"/>
                </a:solidFill>
                <a:latin typeface="Calibri"/>
                <a:ea typeface="Microsoft YaHei"/>
                <a:cs typeface="Microsoft YaHei"/>
              </a:rPr>
              <a:t>下一站 · 模块二 —— Agent Harness 运行时与治理中枢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fbde396-1a24-4c79-8edf-9254a0f35055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1917</Words>
  <Application>Microsoft Macintosh PowerPoint</Application>
  <PresentationFormat>Widescreen</PresentationFormat>
  <Paragraphs>458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kinfeylo (BAMI)</cp:lastModifiedBy>
  <cp:revision>2</cp:revision>
  <dcterms:created xsi:type="dcterms:W3CDTF">2013-01-27T09:14:16Z</dcterms:created>
  <dcterms:modified xsi:type="dcterms:W3CDTF">2026-09-09T07:24:53Z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1-bc88714345d2_Enabled">
    <vt:lpwstr>true</vt:lpwstr>
  </property>
  <property fmtid="{D5CDD505-2E9C-101B-9397-08002B2CF9AE}" pid="3" name="MSIP_Label_defa4170-0d19-0005-0001-bc88714345d2_SetDate">
    <vt:lpwstr>2026-09-09T07:24:46Z</vt:lpwstr>
  </property>
  <property fmtid="{D5CDD505-2E9C-101B-9397-08002B2CF9AE}" pid="4" name="MSIP_Label_defa4170-0d19-0005-0001-bc88714345d2_Method">
    <vt:lpwstr>Privileged</vt:lpwstr>
  </property>
  <property fmtid="{D5CDD505-2E9C-101B-9397-08002B2CF9AE}" pid="5" name="MSIP_Label_defa4170-0d19-0005-0001-bc88714345d2_Name">
    <vt:lpwstr>defa4170-0d19-0005-0001-bc88714345d2</vt:lpwstr>
  </property>
  <property fmtid="{D5CDD505-2E9C-101B-9397-08002B2CF9AE}" pid="6" name="MSIP_Label_defa4170-0d19-0005-0001-bc88714345d2_SiteId">
    <vt:lpwstr>498cf826-3254-4eb7-8e43-8cf263c1a3f7</vt:lpwstr>
  </property>
  <property fmtid="{D5CDD505-2E9C-101B-9397-08002B2CF9AE}" pid="7" name="MSIP_Label_defa4170-0d19-0005-0001-bc88714345d2_ActionId">
    <vt:lpwstr>6ace1e6c-5aad-4498-acf1-fee557ed823c</vt:lpwstr>
  </property>
  <property fmtid="{D5CDD505-2E9C-101B-9397-08002B2CF9AE}" pid="8" name="MSIP_Label_defa4170-0d19-0005-0001-bc88714345d2_ContentBits">
    <vt:lpwstr>0</vt:lpwstr>
  </property>
  <property fmtid="{D5CDD505-2E9C-101B-9397-08002B2CF9AE}" pid="9" name="MSIP_Label_defa4170-0d19-0005-0001-bc88714345d2_Tag">
    <vt:lpwstr>50, 0, 1, 1</vt:lpwstr>
  </property>
</Properties>
</file>