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B0F18A-321C-E040-B1B0-6B6194F96100}" type="datetimeFigureOut">
              <a:rPr lang="en-CN" smtClean="0"/>
              <a:t>2026/5/6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C6F0A-97E7-7349-B71C-21F1A94BF893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63412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824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3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3657600"/>
            <a:ext cx="8229600" cy="8229600"/>
          </a:xfrm>
          <a:prstGeom prst="ellipse">
            <a:avLst/>
          </a:prstGeom>
          <a:solidFill>
            <a:srgbClr val="5C2D91">
              <a:alpha val="4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3920" y="3200400"/>
            <a:ext cx="7315200" cy="7315200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675120" y="-1828800"/>
            <a:ext cx="3657600" cy="3657600"/>
          </a:xfrm>
          <a:prstGeom prst="ellipse">
            <a:avLst/>
          </a:prstGeom>
          <a:solidFill>
            <a:srgbClr val="50E6FF">
              <a:alpha val="25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548640"/>
            <a:ext cx="201168" cy="20116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377440"/>
            <a:ext cx="1463040" cy="329184"/>
          </a:xfrm>
          <a:prstGeom prst="rect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 ·  2026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Agent 进化史</a:t>
            </a:r>
            <a:endParaRPr kumimoji="0" lang="en-US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Copilot to Multi-Agent · 从一问一答到 Harness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46634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一份关于企业级 AI Agent 架构演进的全景研究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31520" y="5852160"/>
            <a:ext cx="10698480" cy="0"/>
          </a:xfrm>
          <a:prstGeom prst="line">
            <a:avLst/>
          </a:prstGeom>
          <a:noFill/>
          <a:ln w="1270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Kinfey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Senior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Cloud</a:t>
            </a:r>
            <a:r>
              <a:rPr kumimoji="0" lang="zh-CN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kumimoji="0" lang="en-US" altLang="zh-CN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Advocate</a:t>
            </a:r>
          </a:p>
        </p:txBody>
      </p:sp>
      <p:sp>
        <p:nvSpPr>
          <p:cNvPr id="14" name="Text 12"/>
          <p:cNvSpPr/>
          <p:nvPr/>
        </p:nvSpPr>
        <p:spPr>
          <a:xfrm>
            <a:off x="10332720" y="5989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Vol. 01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  ·  Agenda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本次内容概览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三个时代 · 三种范式 · 一条进化主线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73152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4592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进化的起点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459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Agent？AI 如何重塑企业生产力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1945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263640" y="2194560"/>
            <a:ext cx="73152" cy="11887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23317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6092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6092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一问一答的助手范式 · 人在回路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35661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73152" cy="1188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64592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6459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工作流驱动 · 任务自动闭环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35661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263640" y="3566160"/>
            <a:ext cx="73152" cy="118872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37033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60920" y="3749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6092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编排 · 多智能体协同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9377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937760"/>
            <a:ext cx="73152" cy="1188720"/>
          </a:xfrm>
          <a:prstGeom prst="rect">
            <a:avLst/>
          </a:prstGeom>
          <a:solidFill>
            <a:srgbClr val="30C58F"/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164592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对比与洞察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64592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三代架构能力对照 · 企业落地路径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6263640" y="4937760"/>
            <a:ext cx="544068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1016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263640" y="4937760"/>
            <a:ext cx="73152" cy="1188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37960" y="507492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360920" y="5120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未来展望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360920" y="5577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从工具到员工 · 自进化组织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·  进化的起点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为什么企业需要 Agent？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不再只是回答问题，而是完成工作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120640" cy="3840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91440" cy="384048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194560"/>
            <a:ext cx="914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</a:t>
            </a:r>
            <a:endParaRPr kumimoji="0" lang="en-US" sz="9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22960" y="310896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的价值，正从「生成内容」 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升级为「完成业务」。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663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企业关心的从来不是模型大小，而是：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谁来执行任务？谁来承担流程？谁来对结果负责？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035040" y="219456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73152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263640" y="233172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生产力诉求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274320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知识工作者期待 AI 接管重复、跨系统的多步任务，而不是只回答问题。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352044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035040" y="3520440"/>
            <a:ext cx="73152" cy="118872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63640" y="36576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数据与上下文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63640" y="406908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企业内部数据已就绪（M365、ERP、CRM），需要能「读懂」这些上下文的执行体。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35040" y="4846320"/>
            <a:ext cx="5577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035040" y="4846320"/>
            <a:ext cx="73152" cy="1188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263640" y="498348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组织复杂度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263640" y="53949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单一模型难以覆盖端到端流程，需要多角色协同的「数字员工网络」。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·  三代演进总览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三个时代  ·  三种范式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从「辅助人」到「替代人」再到「组织人」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14400" y="4114800"/>
            <a:ext cx="10332720" cy="0"/>
          </a:xfrm>
          <a:prstGeom prst="line">
            <a:avLst/>
          </a:prstGeom>
          <a:noFill/>
          <a:ln w="3810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194560" y="3931920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86000" y="4023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14400" y="2331720"/>
            <a:ext cx="2926080" cy="1463040"/>
          </a:xfrm>
          <a:prstGeom prst="rect">
            <a:avLst/>
          </a:prstGeom>
          <a:solidFill>
            <a:srgbClr val="13183A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0972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6032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 →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9728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0972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人发问 / AI 答 / 人决策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035040" y="3931920"/>
            <a:ext cx="365760" cy="365760"/>
          </a:xfrm>
          <a:prstGeom prst="ellipse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26480" y="4023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54880" y="2331720"/>
            <a:ext cx="2926080" cy="1463040"/>
          </a:xfrm>
          <a:prstGeom prst="rect">
            <a:avLst/>
          </a:prstGeom>
          <a:solidFill>
            <a:srgbClr val="13183A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93776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 →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93776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93776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规划 / AI 执行 / AI 反思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875520" y="3931920"/>
            <a:ext cx="365760" cy="365760"/>
          </a:xfrm>
          <a:prstGeom prst="ellipse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966960" y="402336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595360" y="2331720"/>
            <a:ext cx="2926080" cy="1463040"/>
          </a:xfrm>
          <a:prstGeom prst="rect">
            <a:avLst/>
          </a:prstGeom>
          <a:solidFill>
            <a:srgbClr val="13183A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77824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241280" y="24688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 →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778240" y="2834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77824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编排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95360" y="45262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协同 / 角色分工 / 持续运行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5532120"/>
            <a:ext cx="11064240" cy="777240"/>
          </a:xfrm>
          <a:prstGeom prst="rect">
            <a:avLst/>
          </a:prstGeom>
          <a:solidFill>
            <a:srgbClr val="13183A"/>
          </a:solidFill>
          <a:ln w="12700">
            <a:solidFill>
              <a:srgbClr val="13183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演进主线：</a:t>
            </a:r>
            <a:r>
              <a:rPr kumimoji="0" lang="en-US" sz="1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自动化程度 ↑   ·   人的介入 ↓   ·   任务复杂度 ↑   ·   架构边界 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914400"/>
            <a:ext cx="6400800" cy="6400800"/>
          </a:xfrm>
          <a:prstGeom prst="ellipse">
            <a:avLst/>
          </a:prstGeom>
          <a:solidFill>
            <a:srgbClr val="0078D4">
              <a:alpha val="3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9520" y="-1828800"/>
            <a:ext cx="5486400" cy="5486400"/>
          </a:xfrm>
          <a:prstGeom prst="ellipse">
            <a:avLst/>
          </a:prstGeom>
          <a:solidFill>
            <a:srgbClr val="5C2D91">
              <a:alpha val="2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01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 · 人在回路 · AI 作为副驾驶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当我们说 Copilot，意味着 AI 还在「辅助」位置。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它强在内容生成与单点回答，但流程的方向盘仍在人手中。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  ·  范式定义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Copilot：AI 作为「副驾驶」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用户提出请求 / Copilot 给出建议 / 用户执行决策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3657600" cy="4572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USER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874520" y="3017520"/>
            <a:ext cx="1188720" cy="1188720"/>
          </a:xfrm>
          <a:prstGeom prst="ellipse">
            <a:avLst/>
          </a:prstGeom>
          <a:solidFill>
            <a:srgbClr val="0078D4">
              <a:alpha val="20000"/>
            </a:srgbClr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874520" y="30175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发起意图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 · 起草 · 审阅 · 决策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人始终在控制流程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526280" y="3200400"/>
            <a:ext cx="1280160" cy="274320"/>
          </a:xfrm>
          <a:prstGeom prst="rightArrow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434840" y="28803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提问 / Prompt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26280" y="4160520"/>
            <a:ext cx="1280160" cy="2743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434840" y="44805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 / Reply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6035040" y="2286000"/>
            <a:ext cx="36576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035040" y="2286000"/>
            <a:ext cx="3657600" cy="4572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035040" y="2331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269480" y="3017520"/>
            <a:ext cx="1188720" cy="1188720"/>
          </a:xfrm>
          <a:prstGeom prst="ellipse">
            <a:avLst/>
          </a:prstGeom>
          <a:solidFill>
            <a:srgbClr val="5C2D91">
              <a:alpha val="20000"/>
            </a:srgbClr>
          </a:solidFill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69480" y="3017520"/>
            <a:ext cx="1188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217920" y="43891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生成回答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17920" y="47548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 · 翻译 · 起草 · 解释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217920" y="52120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不主动行动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0058400" y="2286000"/>
            <a:ext cx="1554480" cy="36576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058400" y="329184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一答</a:t>
            </a:r>
            <a:endParaRPr kumimoji="0" lang="en-US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0058400" y="5120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3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Q&amp;A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  ·  典型场景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一问一答的能力边界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在做的事：内容生成 + 信息查询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✉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60020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撰写邮件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60020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根据上下文起草专业邮件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22960" y="36118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2960" y="3584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343400" y="22860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617720" y="25603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6177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▤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39496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会议纪要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539496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总结会议要点与待办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617720" y="36118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617720" y="3584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8138160" y="22860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412480" y="25603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41248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▦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89720" y="25603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数据查询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89720" y="29992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基于自然语言查表问数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412480" y="36118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412480" y="35844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1148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22960" y="43891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2296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✎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60020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文档摘要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1600200" y="4828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提取长文档的核心信息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22960" y="54406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22960" y="5413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343400" y="41148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617720" y="43891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61772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⌨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39496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代码补全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394960" y="4828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为开发者生成代码片段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617720" y="54406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617720" y="5413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38160" y="4114800"/>
            <a:ext cx="3611880" cy="1600200"/>
          </a:xfrm>
          <a:prstGeom prst="rect">
            <a:avLst/>
          </a:prstGeom>
          <a:solidFill>
            <a:srgbClr val="FFFFFF"/>
          </a:solidFill>
          <a:ln w="9525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412480" y="4389120"/>
            <a:ext cx="640080" cy="640080"/>
          </a:xfrm>
          <a:prstGeom prst="ellipse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41248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9189720" y="43891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翻译润色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189720" y="48280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跨语言改写与表达优化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8412480" y="5440680"/>
            <a:ext cx="2286000" cy="164592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412480" y="5413248"/>
            <a:ext cx="3108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20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→ REPLY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本质：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AI 是「工具」，不是「执行体」。每一步都需要人来发起、确认、采纳。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  ·  局限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 Copilot 不够？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当任务跨步骤、跨系统、跨时间时，单点对话遇到天花板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2860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无状态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377440" y="228600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对话结束 → 上下文丢失，无法跨任务延续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48640" y="315468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48640" y="315468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77240" y="32461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无行动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377440" y="32461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只产出建议，不操作系统、不调 API、不落库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77240" y="4206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无规划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2377440" y="42062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缺少任务拆解与目标导向的多步推理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54864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074920"/>
            <a:ext cx="73152" cy="868680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77240" y="51663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× 依赖人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2377440" y="51663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每一步都需要用户驱动，难以异步运行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2194560"/>
            <a:ext cx="5212080" cy="42062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2331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1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用户视角的真实体验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583680" y="2834640"/>
            <a:ext cx="3931920" cy="68580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675120" y="28803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67512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帮我整理客户 A 的所有交易并发送给销售总监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498080" y="3703320"/>
            <a:ext cx="3931920" cy="685800"/>
          </a:xfrm>
          <a:prstGeom prst="rect">
            <a:avLst/>
          </a:prstGeom>
          <a:solidFill>
            <a:srgbClr val="5C2D91">
              <a:alpha val="25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589520" y="3749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89520" y="39776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这是整理后的内容草稿……（仍需你点发送）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83680" y="4572000"/>
            <a:ext cx="3931920" cy="685800"/>
          </a:xfrm>
          <a:prstGeom prst="rect">
            <a:avLst/>
          </a:prstGeom>
          <a:solidFill>
            <a:srgbClr val="0078D4">
              <a:alpha val="2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75120" y="4617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675120" y="4846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B 也一起处理，并按月份分组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498080" y="5440680"/>
            <a:ext cx="3931920" cy="685800"/>
          </a:xfrm>
          <a:prstGeom prst="rect">
            <a:avLst/>
          </a:prstGeom>
          <a:solidFill>
            <a:srgbClr val="E74694">
              <a:alpha val="25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58952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AI：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89520" y="5715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请重新提供 B 的数据，因为上下文已超出。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83680" y="619963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痛点：每次都要重新喂数据、重新点发送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5C2D91">
              <a:alpha val="35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3920" y="2286000"/>
            <a:ext cx="6400800" cy="6400800"/>
          </a:xfrm>
          <a:prstGeom prst="ellipse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02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65176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从「问答」到「工作流」 · AI 接管多步任务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拥有目标、记忆、工具、反思能力。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它不再只是回答，而是规划、调用、执行、再判断——一个完整的任务闭环。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  ·  范式定义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 Agent？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+ 记忆 + 工具 + 推理 = 能自主完成任务的智能体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166360" y="3383280"/>
            <a:ext cx="1828800" cy="1828800"/>
          </a:xfrm>
          <a:prstGeom prst="ellipse">
            <a:avLst/>
          </a:prstGeom>
          <a:solidFill>
            <a:srgbClr val="5C2D91"/>
          </a:solidFill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66360" y="3840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0" cap="none" spc="4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66360" y="42519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自主执行体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965960" y="2834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65960" y="2834640"/>
            <a:ext cx="73152" cy="118872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4884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 / Goal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488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理解用户意图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拆解任务子目标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452360" y="283464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52360" y="2834640"/>
            <a:ext cx="73152" cy="118872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635240" y="29260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/ Tools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635240" y="333756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调用外部 API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操作业务系统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196596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1965960" y="4572000"/>
            <a:ext cx="73152" cy="1188720"/>
          </a:xfrm>
          <a:prstGeom prst="rect">
            <a:avLst/>
          </a:prstGeom>
          <a:solidFill>
            <a:srgbClr val="30C58F"/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14884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 / Memory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48840" y="5074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持久化上下文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累积经验与知识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452360" y="4572000"/>
            <a:ext cx="27432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52360" y="4572000"/>
            <a:ext cx="73152" cy="118872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35240" y="46634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 / Reasoning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635240" y="507492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规划路径、反思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自我纠错与重试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4709160" y="342900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995160" y="342900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709160" y="516636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995160" y="5166360"/>
            <a:ext cx="457200" cy="0"/>
          </a:xfrm>
          <a:prstGeom prst="line">
            <a:avLst/>
          </a:prstGeom>
          <a:noFill/>
          <a:ln w="19050">
            <a:solidFill>
              <a:srgbClr val="2A2F5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548640" y="5943600"/>
            <a:ext cx="11064240" cy="411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77240" y="594360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 ≠  更聪明的 Copilot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937760" y="59436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它是一个具备「行动权限」与「闭环能力」的数字执行体。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  ·  工作流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从「一问一答」到「工作流」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把多步动作串成一条可执行的链路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11064240" cy="45720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BEFORE  ·  Copilot 一问一答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0" y="2148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0" cap="none" spc="20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AFTER  ·  Agent 工作流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48640" y="274320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▸ 查一下本周新签合同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" y="3246120"/>
            <a:ext cx="4937760" cy="411480"/>
          </a:xfrm>
          <a:prstGeom prst="rect">
            <a:avLst/>
          </a:prstGeom>
          <a:solidFill>
            <a:srgbClr val="EFE5F7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005840" y="32461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▸ （提供 SQL）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0080" y="37490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▸ （人工执行 → 复制结果）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▸ 再帮我做成图表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" y="4754880"/>
            <a:ext cx="4937760" cy="411480"/>
          </a:xfrm>
          <a:prstGeom prst="rect">
            <a:avLst/>
          </a:prstGeom>
          <a:solidFill>
            <a:srgbClr val="EFE5F7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005840" y="47548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▸ （输出建议步骤）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5257800"/>
            <a:ext cx="49377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 ▸ （人工执行 → 发邮件）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400800" y="274320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400800" y="274320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836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接收目标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229600" y="278892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「整理本周新签合同并通报销售总监」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0" y="338328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00800" y="338328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583680" y="34290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规划任务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29600" y="34290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拆解为：查询 → 汇总 → 制图 → 发邮件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400800" y="402336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400800" y="402336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583680" y="4069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调用工具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29600" y="40690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 API · BI 引擎 · 邮件系统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6400800" y="466344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0" y="466344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583680" y="4709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反思校验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29600" y="470916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检查数据完整性，必要时重试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400800" y="5303520"/>
            <a:ext cx="5212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6400800" y="5303520"/>
            <a:ext cx="73152" cy="5486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583680" y="5349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完成交付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8229600" y="534924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邮件发送，回报执行结果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48640" y="612648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人不再驱动每一步——人只负责「下达目标」与「确认结果」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  ·  架构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的标准架构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→ Tool Use → Memory → Reflect 的循环引擎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064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4688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777240" y="2468880"/>
            <a:ext cx="164592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156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感知层 / Perception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97680" y="25603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用户意图 · 系统事件 · 文档输入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144000" y="2670048"/>
            <a:ext cx="2103120" cy="365760"/>
          </a:xfrm>
          <a:prstGeom prst="rect">
            <a:avLst/>
          </a:prstGeom>
          <a:solidFill>
            <a:srgbClr val="0078D4">
              <a:alpha val="2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144000" y="26700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3832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77240" y="3383280"/>
            <a:ext cx="164592" cy="7772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051560" y="3474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 / Planning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97680" y="34747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目标拆解 · 任务路径 · 反思机制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144000" y="3584448"/>
            <a:ext cx="2103120" cy="365760"/>
          </a:xfrm>
          <a:prstGeom prst="rect">
            <a:avLst/>
          </a:prstGeom>
          <a:solidFill>
            <a:srgbClr val="5C2D91">
              <a:alpha val="2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0" y="35844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BRAIN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7240" y="42976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777240" y="4297680"/>
            <a:ext cx="164592" cy="7772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1560" y="4389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执行层 / Execution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97680" y="43891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 · API 操作 · 系统集成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0" y="4498848"/>
            <a:ext cx="2103120" cy="365760"/>
          </a:xfrm>
          <a:prstGeom prst="rect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44000" y="44988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ACTION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5212080"/>
            <a:ext cx="10607040" cy="77724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77240" y="5212080"/>
            <a:ext cx="164592" cy="777240"/>
          </a:xfrm>
          <a:prstGeom prst="rect">
            <a:avLst/>
          </a:prstGeom>
          <a:solidFill>
            <a:srgbClr val="30C58F"/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051560" y="5303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记忆层 / Memory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97680" y="530352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短期上下文 · 长期知识 · 经验沉淀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144000" y="5413248"/>
            <a:ext cx="2103120" cy="365760"/>
          </a:xfrm>
          <a:prstGeom prst="rect">
            <a:avLst/>
          </a:prstGeom>
          <a:solidFill>
            <a:srgbClr val="30C58F">
              <a:alpha val="20000"/>
            </a:srgbClr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144000" y="5413248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30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  ·  局限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的边界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Agent 干所有事，最终也会撞上「能力天花板」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2296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78308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上下文爆炸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78308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任务越长，Token 越多。一个 Agent 难以同时持有所有领域上下文。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63640" y="22860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537960" y="25603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25603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98080" y="2606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角色冲突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98080" y="31089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既要写邮件，又要审合同，还要跑财务——单点 Prompt 难以承载多专业。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548640" y="41148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43891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296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?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78308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调试黑盒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783080" y="4937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一条长链失败，难以定位是规划错了、工具坏了还是记忆错位。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263640" y="4114800"/>
            <a:ext cx="544068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537960" y="4389120"/>
            <a:ext cx="777240" cy="777240"/>
          </a:xfrm>
          <a:prstGeom prst="ellipse">
            <a:avLst/>
          </a:prstGeom>
          <a:solidFill>
            <a:srgbClr val="E74694">
              <a:alpha val="20000"/>
            </a:srgbClr>
          </a:solidFill>
          <a:ln w="254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537960" y="43891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▭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98080" y="4434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弹性不足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498080" y="493776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无法并行处理，无法热替换组件，难以横向扩展业务复杂度。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5989320"/>
            <a:ext cx="11064240" cy="41148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单 Agent 仍是「单兵作战」。要解决组织级问题，必须从「个人」走向「团队」。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E74694">
              <a:alpha val="30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589520" y="3200400"/>
            <a:ext cx="6400800" cy="6400800"/>
          </a:xfrm>
          <a:prstGeom prst="ellipse">
            <a:avLst/>
          </a:prstGeom>
          <a:solidFill>
            <a:srgbClr val="5C2D91">
              <a:alpha val="3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66360" y="2514600"/>
            <a:ext cx="2743200" cy="2743200"/>
          </a:xfrm>
          <a:prstGeom prst="ellipse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03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</a:t>
            </a:r>
            <a:endParaRPr kumimoji="0" lang="en-US" sz="7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4114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从「工作流」到「Harness」 · Agent 组成数字团队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846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 Harness 像组织架构图：每个 Agent 是一个角色，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它们各司其职，被统一调度、统一观测、统一对齐目标。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  ·  范式定义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Agent：数字员工网络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由若干专精 Agent 协同完成端到端业务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617720" y="3977640"/>
            <a:ext cx="2926080" cy="82296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617720" y="3977640"/>
            <a:ext cx="29260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17720" y="409651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0" cap="none" spc="4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ORCHESTRATOR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17720" y="43891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协调者 / Harness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83080" y="2560320"/>
            <a:ext cx="731520" cy="731520"/>
          </a:xfrm>
          <a:prstGeom prst="ellipse">
            <a:avLst/>
          </a:prstGeom>
          <a:solidFill>
            <a:srgbClr val="0078D4">
              <a:alpha val="25000"/>
            </a:srgbClr>
          </a:solidFill>
          <a:ln w="254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78308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91440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 · 调数据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148840" y="3749040"/>
            <a:ext cx="393192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1188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480560" y="2560320"/>
            <a:ext cx="731520" cy="731520"/>
          </a:xfrm>
          <a:prstGeom prst="ellipse">
            <a:avLst/>
          </a:prstGeom>
          <a:solidFill>
            <a:srgbClr val="5C2D91">
              <a:alpha val="25000"/>
            </a:srgbClr>
          </a:solidFill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8056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361188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撰稿员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361188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起草 · 改写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846320" y="3749040"/>
            <a:ext cx="123444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30936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78040" y="2560320"/>
            <a:ext cx="731520" cy="731520"/>
          </a:xfrm>
          <a:prstGeom prst="ellipse">
            <a:avLst/>
          </a:prstGeom>
          <a:solidFill>
            <a:srgbClr val="30C58F">
              <a:alpha val="25000"/>
            </a:srgbClr>
          </a:solidFill>
          <a:ln w="254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17804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30936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0936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 · 合规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543800" y="3749040"/>
            <a:ext cx="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006840" y="2377440"/>
            <a:ext cx="246888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875520" y="2560320"/>
            <a:ext cx="731520" cy="731520"/>
          </a:xfrm>
          <a:prstGeom prst="ellipse">
            <a:avLst/>
          </a:prstGeom>
          <a:solidFill>
            <a:srgbClr val="FFB900">
              <a:alpha val="25000"/>
            </a:srgbClr>
          </a:solidFill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87552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006840" y="32918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执行员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006840" y="352044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 · 投递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10241280" y="3749040"/>
            <a:ext cx="0" cy="22860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1371600" y="5623560"/>
            <a:ext cx="2926080" cy="502920"/>
          </a:xfrm>
          <a:prstGeom prst="rect">
            <a:avLst/>
          </a:prstGeom>
          <a:solidFill>
            <a:srgbClr val="30C58F">
              <a:alpha val="20000"/>
            </a:srgbClr>
          </a:solidFill>
          <a:ln w="12700">
            <a:solidFill>
              <a:srgbClr val="30C58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137160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30C58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 Bus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080760" y="4800600"/>
            <a:ext cx="0" cy="82296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663440" y="5623560"/>
            <a:ext cx="2926080" cy="502920"/>
          </a:xfrm>
          <a:prstGeom prst="rect">
            <a:avLst/>
          </a:prstGeom>
          <a:solidFill>
            <a:srgbClr val="50E6FF">
              <a:alpha val="2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66344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Tool Registry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080760" y="4800600"/>
            <a:ext cx="45720" cy="82296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955280" y="5623560"/>
            <a:ext cx="2926080" cy="502920"/>
          </a:xfrm>
          <a:prstGeom prst="rect">
            <a:avLst/>
          </a:prstGeom>
          <a:solidFill>
            <a:srgbClr val="E74694">
              <a:alpha val="20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955280" y="562356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/ Trace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080760" y="4800600"/>
            <a:ext cx="3337560" cy="822960"/>
          </a:xfrm>
          <a:prstGeom prst="line">
            <a:avLst/>
          </a:prstGeom>
          <a:noFill/>
          <a:ln w="12700">
            <a:solidFill>
              <a:srgbClr val="2A2F55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  ·  Harness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Harness：Agent 的「操作系统」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不是更多 Agent，而是更好地把 Agent 串起来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5029200" cy="42062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91440" cy="42062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7724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7240" y="2788920"/>
            <a:ext cx="4663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一种约束、调度并放大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能力的运行框架。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它定义了：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68680" y="443484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43000" y="43708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如何路由任务到合适的 Agent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68680" y="484632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47823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如何共享状态、记忆与工具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68680" y="525780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143000" y="519379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如何观测、回放、纠错每一次执行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8680" y="5669280"/>
            <a:ext cx="164592" cy="164592"/>
          </a:xfrm>
          <a:prstGeom prst="ellipse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1143000" y="56052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如何对外提供安全可控的接口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852160" y="21945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52160" y="2194560"/>
            <a:ext cx="2788920" cy="109728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03504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Orchestration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035040" y="29718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决定谁来做、做什么、何时做。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基于目标自动路由与编排。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778240" y="219456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78240" y="2194560"/>
            <a:ext cx="2788920" cy="109728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961120" y="24688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Shared Context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961120" y="297180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记忆、文件、变量在 Agent 间共享，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避免重复对话与上下文丢失。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852160" y="43434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52160" y="4343400"/>
            <a:ext cx="2788920" cy="10972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03504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Observability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035040" y="5120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每一步可追踪、可回放、可审计，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让黑盒变白盒。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778240" y="4343400"/>
            <a:ext cx="278892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778240" y="4343400"/>
            <a:ext cx="2788920" cy="109728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961120" y="46177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Governance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8961120" y="512064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权限、配额、合规策略统一注入，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让企业敢于把 Agent 投产。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  ·  协作模式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之间，怎么「配合」？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四种被验证有效的协作拓扑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109728" cy="182880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001768" y="2651760"/>
            <a:ext cx="329184" cy="329184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480560" y="3419856"/>
            <a:ext cx="329184" cy="329184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166360" y="2980944"/>
            <a:ext cx="0" cy="438912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983480" y="3419856"/>
            <a:ext cx="329184" cy="329184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166360" y="2980944"/>
            <a:ext cx="0" cy="438912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486400" y="3419856"/>
            <a:ext cx="329184" cy="329184"/>
          </a:xfrm>
          <a:prstGeom prst="ellipse">
            <a:avLst/>
          </a:prstGeom>
          <a:solidFill>
            <a:srgbClr val="0078D4">
              <a:alpha val="40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166360" y="2980944"/>
            <a:ext cx="484632" cy="438912"/>
          </a:xfrm>
          <a:prstGeom prst="line">
            <a:avLst/>
          </a:prstGeom>
          <a:noFill/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2296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层级式 / Hierarchical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2296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一位「经理 Agent」分派任务给下属 Agent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22960" y="3611880"/>
            <a:ext cx="3474720" cy="365760"/>
          </a:xfrm>
          <a:prstGeom prst="rect">
            <a:avLst/>
          </a:prstGeom>
          <a:solidFill>
            <a:srgbClr val="0078D4">
              <a:alpha val="12000"/>
            </a:srgbClr>
          </a:solidFill>
          <a:ln w="12700">
            <a:solidFill>
              <a:srgbClr val="0078D4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144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 · 复杂业务流程 · 需要决策权限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263640" y="228600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263640" y="2286000"/>
            <a:ext cx="109728" cy="182880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10195560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10469880" y="3154680"/>
            <a:ext cx="54864" cy="0"/>
          </a:xfrm>
          <a:prstGeom prst="line">
            <a:avLst/>
          </a:prstGeom>
          <a:noFill/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0524744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0799064" y="3154680"/>
            <a:ext cx="54864" cy="0"/>
          </a:xfrm>
          <a:prstGeom prst="line">
            <a:avLst/>
          </a:prstGeom>
          <a:noFill/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10853928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11128248" y="3154680"/>
            <a:ext cx="54864" cy="0"/>
          </a:xfrm>
          <a:prstGeom prst="line">
            <a:avLst/>
          </a:prstGeom>
          <a:noFill/>
          <a:ln w="254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1183112" y="3017520"/>
            <a:ext cx="274320" cy="274320"/>
          </a:xfrm>
          <a:prstGeom prst="ellipse">
            <a:avLst/>
          </a:prstGeom>
          <a:solidFill>
            <a:srgbClr val="5C2D91">
              <a:alpha val="5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537960" y="2514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流水线 / Pipeline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537960" y="297180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按顺序串接，前一步输出 = 下一步输入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6537960" y="3611880"/>
            <a:ext cx="3474720" cy="365760"/>
          </a:xfrm>
          <a:prstGeom prst="rect">
            <a:avLst/>
          </a:prstGeom>
          <a:solidFill>
            <a:srgbClr val="5C2D91">
              <a:alpha val="12000"/>
            </a:srgbClr>
          </a:solidFill>
          <a:ln w="12700">
            <a:solidFill>
              <a:srgbClr val="5C2D91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629400" y="361188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 · 数据处理 · 内容生产 · 审批链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48640" y="42519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48640" y="4251960"/>
            <a:ext cx="109728" cy="182880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4480560" y="4892040"/>
            <a:ext cx="457200" cy="457200"/>
          </a:xfrm>
          <a:prstGeom prst="ellipse">
            <a:avLst/>
          </a:prstGeom>
          <a:solidFill>
            <a:srgbClr val="50E6FF">
              <a:alpha val="5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394960" y="4892040"/>
            <a:ext cx="457200" cy="457200"/>
          </a:xfrm>
          <a:prstGeom prst="ellipse">
            <a:avLst/>
          </a:prstGeom>
          <a:solidFill>
            <a:srgbClr val="50E6FF">
              <a:alpha val="50000"/>
            </a:srgbClr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937760" y="5120640"/>
            <a:ext cx="457200" cy="0"/>
          </a:xfrm>
          <a:prstGeom prst="line">
            <a:avLst/>
          </a:prstGeom>
          <a:noFill/>
          <a:ln w="12700">
            <a:solidFill>
              <a:srgbClr val="50E6FF"/>
            </a:solidFill>
            <a:prstDash val="dash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4480560" y="4892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⇄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296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辩论式 / Debate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2296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 Agent 给出不同视角并互相质询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22960" y="5577840"/>
            <a:ext cx="3474720" cy="365760"/>
          </a:xfrm>
          <a:prstGeom prst="rect">
            <a:avLst/>
          </a:prstGeom>
          <a:solidFill>
            <a:srgbClr val="50E6FF">
              <a:alpha val="12000"/>
            </a:srgbClr>
          </a:solidFill>
          <a:ln w="12700">
            <a:solidFill>
              <a:srgbClr val="50E6FF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14400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 · 策略评估 · 投资决策 · 高风险审查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263640" y="4251960"/>
            <a:ext cx="54406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263640" y="4251960"/>
            <a:ext cx="109728" cy="182880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0195560" y="461772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0643616" y="470916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10387584" y="489204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0771632" y="493776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0259568" y="5029200"/>
            <a:ext cx="256032" cy="256032"/>
          </a:xfrm>
          <a:prstGeom prst="ellipse">
            <a:avLst/>
          </a:prstGeom>
          <a:solidFill>
            <a:srgbClr val="FFB900">
              <a:alpha val="60000"/>
            </a:srgbClr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537960" y="44805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市集式 / Market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6537960" y="49377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任务被广播，Agent 自主竞标 / 认领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537960" y="5577840"/>
            <a:ext cx="3474720" cy="365760"/>
          </a:xfrm>
          <a:prstGeom prst="rect">
            <a:avLst/>
          </a:prstGeom>
          <a:solidFill>
            <a:srgbClr val="FFB900">
              <a:alpha val="12000"/>
            </a:srgbClr>
          </a:solidFill>
          <a:ln w="12700">
            <a:solidFill>
              <a:srgbClr val="FFB900">
                <a:alpha val="12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629400" y="5577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 · 弹性扩展 · 异构能力 · 即时响应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三代演进  ·  能力对照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三个时代的能力对照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看一张表，把整个进化过程串起来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219456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2194560" cy="73152"/>
          </a:xfrm>
          <a:prstGeom prst="rect">
            <a:avLst/>
          </a:prstGeom>
          <a:solidFill>
            <a:srgbClr val="1B1B30"/>
          </a:solidFill>
          <a:ln w="12700">
            <a:solidFill>
              <a:srgbClr val="1B1B3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103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926080" y="2103120"/>
            <a:ext cx="274320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926080" y="2103120"/>
            <a:ext cx="2743200" cy="73152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92608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时代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760720" y="2103120"/>
            <a:ext cx="2743200" cy="73152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6072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时代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595360" y="2103120"/>
            <a:ext cx="2743200" cy="548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595360" y="2103120"/>
            <a:ext cx="2743200" cy="73152"/>
          </a:xfrm>
          <a:prstGeom prst="rect">
            <a:avLst/>
          </a:prstGeom>
          <a:solidFill>
            <a:srgbClr val="E74694"/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595360" y="21031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时代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8640" y="265176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080" y="2651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交互形态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926080" y="26517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01752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一问一答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60720" y="26517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85216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工作流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595360" y="265176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86800" y="26517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编排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3200400"/>
            <a:ext cx="219456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926080" y="320040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301752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被动响应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760720" y="320040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85216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目标驱动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595360" y="320040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686800" y="32004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持续在岗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48640" y="374904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640080" y="37490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执行权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2926080" y="37490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01752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760720" y="37490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5216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可调用工具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595360" y="374904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686800" y="3749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可协同决策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48640" y="4297680"/>
            <a:ext cx="219456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40080" y="42976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2926080" y="429768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301752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对话级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760720" y="429768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85216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任务级 + 记忆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595360" y="429768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686800" y="42976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组织级 + 共享总线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8640" y="4846320"/>
            <a:ext cx="21945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0080" y="4846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运行边界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2926080" y="48463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301752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单点回答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760720" y="48463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5216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 Agent 闭环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595360" y="4846320"/>
            <a:ext cx="274320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868680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协同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548640" y="5394960"/>
            <a:ext cx="219456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640080" y="5394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人的角色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926080" y="539496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301752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驾驶员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5760720" y="539496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585216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项目经理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8595360" y="5394960"/>
            <a:ext cx="2743200" cy="548640"/>
          </a:xfrm>
          <a:prstGeom prst="rect">
            <a:avLst/>
          </a:prstGeom>
          <a:solidFill>
            <a:srgbClr val="F8F8FB"/>
          </a:solidFill>
          <a:ln w="6350">
            <a:solidFill>
              <a:srgbClr val="E1E1E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8" name="Text 66"/>
          <p:cNvSpPr/>
          <p:nvPr/>
        </p:nvSpPr>
        <p:spPr>
          <a:xfrm>
            <a:off x="8686800" y="5394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E7469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组织设计者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从「问 AI」 →「让 AI 做」 →「让一群 AI 一起做」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F4F4F8"/>
          </a:solidFill>
          <a:ln w="12700">
            <a:solidFill>
              <a:srgbClr val="F4F4F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48640" y="192024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137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704088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企业视角  ·  价值主线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777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对企业意味着什么？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457200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不是替换工具，而是重塑组织运作方式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2697480" cy="914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78D4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10×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任务自动化覆盖度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0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从单点辅助 → 端到端流程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410712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410712" y="2194560"/>
            <a:ext cx="2697480" cy="91440"/>
          </a:xfrm>
          <a:prstGeom prst="rect">
            <a:avLst/>
          </a:prstGeom>
          <a:solidFill>
            <a:srgbClr val="5C2D91"/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10712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5C2D91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547872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重复工作减少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547872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接管协作粘合层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272784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72784" y="2194560"/>
            <a:ext cx="26974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72784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24/7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09944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持续在岗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409944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让 Agent 不下班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34856" y="2194560"/>
            <a:ext cx="269748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1EA"/>
            </a:solidFill>
            <a:prstDash val="solid"/>
          </a:ln>
          <a:effectLst>
            <a:outerShdw blurRad="76200" dist="12700" dir="54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9134856" y="2194560"/>
            <a:ext cx="2697480" cy="91440"/>
          </a:xfrm>
          <a:prstGeom prst="rect">
            <a:avLst/>
          </a:prstGeom>
          <a:solidFill>
            <a:srgbClr val="FFB900"/>
          </a:solidFill>
          <a:ln w="12700">
            <a:solidFill>
              <a:srgbClr val="FFB90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134856" y="2331720"/>
            <a:ext cx="2697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B90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N→1</a:t>
            </a:r>
            <a:endParaRPr kumimoji="0" 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272016" y="3291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1B1B30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工具入口收敛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272016" y="37033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用户面对 Agent，而非系统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3611880" cy="1691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434840"/>
            <a:ext cx="36118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7724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  ·  风控审查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77240" y="5074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 Agent + 合规 Agent + 报告 Agent，从材料到结论闭环。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4343400" y="4434840"/>
            <a:ext cx="3611880" cy="1691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343400" y="4434840"/>
            <a:ext cx="36118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57200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制造  ·  供应链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4572000" y="5074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采购 Agent + 物流 Agent + 风险 Agent 实时协同，跨系统响应异常。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38160" y="4434840"/>
            <a:ext cx="3611880" cy="1691640"/>
          </a:xfrm>
          <a:prstGeom prst="rect">
            <a:avLst/>
          </a:prstGeom>
          <a:solidFill>
            <a:srgbClr val="0A0E27"/>
          </a:solidFill>
          <a:ln w="12700">
            <a:solidFill>
              <a:srgbClr val="0A0E27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38160" y="4434840"/>
            <a:ext cx="3611880" cy="91440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36676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零售  ·  客户运营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366760" y="50749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 Agent + 营销 Agent + 数据 Agent 共担用户旅程。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28016" cy="128016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77240" y="640080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44465B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  |  Enterprise Agent Evolution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/ 20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6400800" cy="6400800"/>
          </a:xfrm>
          <a:prstGeom prst="ellipse">
            <a:avLst/>
          </a:prstGeom>
          <a:solidFill>
            <a:srgbClr val="0078D4">
              <a:alpha val="35000"/>
            </a:srgbClr>
          </a:solidFill>
          <a:ln w="12700">
            <a:solidFill>
              <a:srgbClr val="0078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503920" y="-2743200"/>
            <a:ext cx="6400800" cy="6400800"/>
          </a:xfrm>
          <a:prstGeom prst="ellipse">
            <a:avLst/>
          </a:prstGeom>
          <a:solidFill>
            <a:srgbClr val="5C2D91">
              <a:alpha val="30000"/>
            </a:srgbClr>
          </a:solidFill>
          <a:ln w="12700">
            <a:solidFill>
              <a:srgbClr val="5C2D91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589520" y="4114800"/>
            <a:ext cx="3657600" cy="3657600"/>
          </a:xfrm>
          <a:prstGeom prst="ellipse">
            <a:avLst/>
          </a:prstGeom>
          <a:solidFill>
            <a:srgbClr val="E74694">
              <a:alpha val="20000"/>
            </a:srgbClr>
          </a:solidFill>
          <a:ln w="12700">
            <a:solidFill>
              <a:srgbClr val="E7469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548640"/>
            <a:ext cx="201168" cy="201168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05840" y="457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Microsoft Foundry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0" cap="none" spc="50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ONE LINE TO REMEMBER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Copilot 让 AI 进入企业，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让 AI 完成工作，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让 AI 成为组织。</a:t>
            </a:r>
            <a:endParaRPr kumimoji="0" lang="en-US" sz="4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731520" y="5212080"/>
            <a:ext cx="548640" cy="54864"/>
          </a:xfrm>
          <a:prstGeom prst="rect">
            <a:avLst/>
          </a:prstGeom>
          <a:solidFill>
            <a:srgbClr val="50E6FF"/>
          </a:solidFill>
          <a:ln w="12700">
            <a:solidFill>
              <a:srgbClr val="50E6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CN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5349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8A8DA8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 Agent 进化史  ·  Microsoft Foundry Research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698480" y="5989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50E6FF"/>
                </a:solidFill>
                <a:effectLst/>
                <a:uLnTx/>
                <a:uFillTx/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/ 20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1354</Words>
  <Application>Microsoft Macintosh PowerPoint</Application>
  <PresentationFormat>Widescreen</PresentationFormat>
  <Paragraphs>403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Microsoft YaHei</vt:lpstr>
      <vt:lpstr>Aptos</vt:lpstr>
      <vt:lpstr>Arial</vt:lpstr>
      <vt:lpstr>Calibri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Kinfey Lo</dc:creator>
  <cp:lastModifiedBy>Kinfey Lo</cp:lastModifiedBy>
  <cp:revision>1</cp:revision>
  <dcterms:created xsi:type="dcterms:W3CDTF">2026-05-06T05:19:55Z</dcterms:created>
  <dcterms:modified xsi:type="dcterms:W3CDTF">2026-05-06T05:20:25Z</dcterms:modified>
</cp:coreProperties>
</file>