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FF40DC-560E-1A4A-A5C3-94E8E30E2597}" type="datetimeFigureOut">
              <a:rPr lang="en-CN" smtClean="0"/>
              <a:t>2026/5/6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83C31-ED3D-5140-9571-CB86FB30FCB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5948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1951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9526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00160" y="-1828800"/>
            <a:ext cx="5486400" cy="5486400"/>
          </a:xfrm>
          <a:prstGeom prst="ellipse">
            <a:avLst/>
          </a:prstGeom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265920" y="-1463040"/>
            <a:ext cx="4754880" cy="4754880"/>
          </a:xfrm>
          <a:prstGeom prst="ellipse">
            <a:avLst/>
          </a:prstGeom>
          <a:ln w="12700">
            <a:solidFill>
              <a:srgbClr val="D94A1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753600" y="-975360"/>
            <a:ext cx="3779520" cy="3779520"/>
          </a:xfrm>
          <a:prstGeom prst="ellipse">
            <a:avLst/>
          </a:prstGeom>
          <a:ln w="9525">
            <a:solidFill>
              <a:srgbClr val="4A6FA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600" y="731520"/>
            <a:ext cx="487680" cy="4876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1920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8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TALK  ·  60 MIN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9600" y="1828800"/>
            <a:ext cx="1097280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746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编排</a:t>
            </a:r>
            <a:endParaRPr lang="en-US" sz="7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2926080"/>
            <a:ext cx="1097280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7466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深度实践</a:t>
            </a:r>
            <a:endParaRPr lang="en-US" sz="7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426720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轻量化容器化 Agent · 配置驱动的多智能体路由 · 自循环测试链路 · Copilot 协同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" y="5242560"/>
            <a:ext cx="48768" cy="8534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53440" y="5242560"/>
            <a:ext cx="60960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53440" y="563270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r>
              <a:rPr lang="zh-CN" altLang="en-US" sz="1467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67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</a:t>
            </a:r>
            <a:r>
              <a:rPr lang="zh-CN" altLang="en-US" sz="1467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67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Advocate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53440" y="5925312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本场议程  ·  Five Acts in 60 Minutes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600" y="1889760"/>
            <a:ext cx="609600" cy="60960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188976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63040" y="1914144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解构 OpenClaw</a:t>
            </a:r>
            <a:endParaRPr lang="en-US" sz="2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63040" y="225552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轻量化、容器化的 Agent 运行机制与三层架构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463040" y="2682240"/>
            <a:ext cx="10119360" cy="0"/>
          </a:xfrm>
          <a:prstGeom prst="line">
            <a:avLst/>
          </a:prstGeom>
          <a:noFill/>
          <a:ln w="635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" y="2743200"/>
            <a:ext cx="609600" cy="60960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" y="27432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63040" y="2767584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状态机与拓扑设计</a:t>
            </a:r>
            <a:endParaRPr lang="en-US" sz="2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63040" y="310896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不靠大型框架，仅用配置文件实现多 Agent 路由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463040" y="3535680"/>
            <a:ext cx="10119360" cy="0"/>
          </a:xfrm>
          <a:prstGeom prst="line">
            <a:avLst/>
          </a:prstGeom>
          <a:noFill/>
          <a:ln w="635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9600" y="3596640"/>
            <a:ext cx="609600" cy="60960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9600" y="359664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63040" y="3621024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自循环测试链路</a:t>
            </a:r>
            <a:endParaRPr lang="en-US" sz="2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63040" y="396240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 → Tester → Executor 三智能体闭环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463040" y="4389120"/>
            <a:ext cx="10119360" cy="0"/>
          </a:xfrm>
          <a:prstGeom prst="line">
            <a:avLst/>
          </a:prstGeom>
          <a:noFill/>
          <a:ln w="635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9600" y="4450080"/>
            <a:ext cx="609600" cy="60960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09600" y="445008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463040" y="4474464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Snippet 驱动</a:t>
            </a:r>
            <a:endParaRPr lang="en-US" sz="2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463040" y="481584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快速生成 agent.yaml 与 tool_definition.json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463040" y="5242560"/>
            <a:ext cx="10119360" cy="0"/>
          </a:xfrm>
          <a:prstGeom prst="line">
            <a:avLst/>
          </a:prstGeom>
          <a:noFill/>
          <a:ln w="635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09600" y="5303520"/>
            <a:ext cx="609600" cy="60960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09600" y="530352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463040" y="5327904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 Prompt 注入</a:t>
            </a:r>
            <a:endParaRPr lang="en-US" sz="2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463040" y="566928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 Copilot 生成复杂思维链模板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编排深度实践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2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解构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是什么？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1889760"/>
            <a:ext cx="560832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1889760"/>
            <a:ext cx="73152" cy="43891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3440" y="2072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一句话定义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3440" y="2499360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一个跨通道的 AI Agent 网关运行时：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3440" y="3108960"/>
            <a:ext cx="512064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</a:t>
            </a: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JSON5 配置文件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定义 Agent、模型、工具、通道、Skills 与沙箱；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所有运行单元都跑在 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本地容器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中，按最小权限加载工具。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开箱支持 WhatsApp / Telegram / Discord / Slack 等通道接入。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39840" y="1889760"/>
            <a:ext cx="5364480" cy="755904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59296" y="1962912"/>
            <a:ext cx="4998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267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59296" y="2255520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默认本地 Gateway，端口 18789，loopback 绑定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339840" y="2767584"/>
            <a:ext cx="5364480" cy="755904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59296" y="2840736"/>
            <a:ext cx="4998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267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59296" y="3133344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openclaw.json 即真理之源，热重载支持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339840" y="3645408"/>
            <a:ext cx="5364480" cy="755904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59296" y="3718560"/>
            <a:ext cx="4998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267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by Default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59296" y="4011168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镜像 openclaw-sandbox · 只读根 · network: none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39840" y="4523232"/>
            <a:ext cx="5364480" cy="755904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59296" y="4596384"/>
            <a:ext cx="4998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267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Multi-Runtime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59296" y="4888992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(内置) · codex · claude-cli 三种 Harness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39840" y="5401056"/>
            <a:ext cx="5364480" cy="755904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59296" y="5474208"/>
            <a:ext cx="4998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267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System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59296" y="5766816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可插拔技能：github、weather、peekaboo …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编排深度实践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3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运行机制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轻量化 + 容器化：默认就开启的最小权限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1828800"/>
            <a:ext cx="6339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的 sandbox 不是可选项 — 它是 agent 的默认外壳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2499360"/>
            <a:ext cx="48768" cy="4876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670560" y="2438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scope: session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2926080" y="2438400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每个会话独立容器，会话结束销毁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7680" y="3169920"/>
            <a:ext cx="48768" cy="4876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7056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readOnlyRoot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926080" y="3108960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根文件系统只读，写入仅限 tmpfs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7680" y="3840480"/>
            <a:ext cx="48768" cy="4876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0560" y="3779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network: none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926080" y="3779520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默认无网络，工具显式启用才放行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4511040"/>
            <a:ext cx="48768" cy="4876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0560" y="4450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1000:1000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926080" y="4450080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 root 运行，特权被剥离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7680" y="5181600"/>
            <a:ext cx="48768" cy="4876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70560" y="5120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tmpfs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926080" y="5120640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/tmp · /var/tmp · /run 内存级临时盘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315200" y="1828800"/>
            <a:ext cx="4511040" cy="451104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315200" y="1828800"/>
            <a:ext cx="73152" cy="4511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534656" y="1950720"/>
            <a:ext cx="4169664" cy="426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openclaw.json (excerpt)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agents.defaults.sandbox = {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mode: "non-main",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scope: "session",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workspaceRoot: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"~/.openclaw/sandboxes",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docker: {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"openclaw-sandbox:bookworm",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workdir: "/workspace",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readOnlyRoot: true,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tmpfs: ["/tmp","/run"],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network: "none",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user: "1000:1000",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browser: { enabled: false },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编排深度实践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4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架构分层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/ Model / Runtime / Channel — 四层职责清晰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600" y="1950720"/>
            <a:ext cx="10972800" cy="829056"/>
          </a:xfrm>
          <a:prstGeom prst="rect">
            <a:avLst/>
          </a:prstGeom>
          <a:solidFill>
            <a:srgbClr val="1A2B4D"/>
          </a:solidFill>
          <a:ln w="15240">
            <a:solidFill>
              <a:srgbClr val="4A6FA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1950720"/>
            <a:ext cx="146304" cy="829056"/>
          </a:xfrm>
          <a:prstGeom prst="rect">
            <a:avLst/>
          </a:prstGeom>
          <a:solidFill>
            <a:srgbClr val="4A6FA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5360" y="2048256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975360" y="2389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消息进出 OpenClaw 的入口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0" y="2145792"/>
            <a:ext cx="6583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4A6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Telegram · Slack · Discord · WhatsApp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" y="2901696"/>
            <a:ext cx="10972800" cy="829056"/>
          </a:xfrm>
          <a:prstGeom prst="rect">
            <a:avLst/>
          </a:prstGeom>
          <a:solidFill>
            <a:srgbClr val="1A2B4D"/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9600" y="2901696"/>
            <a:ext cx="146304" cy="8290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75360" y="2999232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Runtime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75360" y="3340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驱动模型循环、处理原生 Tool Calls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76800" y="3096768"/>
            <a:ext cx="6583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(内置) · codex · claude-cli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9600" y="3852672"/>
            <a:ext cx="10972800" cy="829056"/>
          </a:xfrm>
          <a:prstGeom prst="rect">
            <a:avLst/>
          </a:prstGeom>
          <a:solidFill>
            <a:srgbClr val="1A2B4D"/>
          </a:solidFill>
          <a:ln w="15240">
            <a:solidFill>
              <a:srgbClr val="5EEAD4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9600" y="3852672"/>
            <a:ext cx="146304" cy="829056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75360" y="3950208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75360" y="42915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 Agent Turn 选用的模型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76800" y="4047744"/>
            <a:ext cx="6583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claude-opus-4-6 · gpt-5.4 · llama-3.1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9600" y="4803648"/>
            <a:ext cx="10972800" cy="829056"/>
          </a:xfrm>
          <a:prstGeom prst="rect">
            <a:avLst/>
          </a:prstGeom>
          <a:solidFill>
            <a:srgbClr val="1A2B4D"/>
          </a:solidFill>
          <a:ln w="15240">
            <a:solidFill>
              <a:srgbClr val="F2B544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9600" y="4803648"/>
            <a:ext cx="146304" cy="829056"/>
          </a:xfrm>
          <a:prstGeom prst="rect">
            <a:avLst/>
          </a:prstGeom>
          <a:solidFill>
            <a:srgbClr val="F2B54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75360" y="4901184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75360" y="5242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鉴权、模型发现、模型引用命名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76800" y="4998720"/>
            <a:ext cx="6583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F2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 · openai · openai-codex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09600" y="591312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≠ Provider —— Runtime 是低层执行循环；Provider 是鉴权与目录服务。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编排深度实践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5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配置即一切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openclaw.json — 一个文件描述整个 Agent 系统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1889760"/>
            <a:ext cx="6705600" cy="451104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1889760"/>
            <a:ext cx="73152" cy="4511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07136" y="2011680"/>
            <a:ext cx="6364224" cy="426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identity: { name: "Clawd", emoji: "🦞" },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agents: {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defaults: {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workspace: "~/.openclaw/workspace",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model: { primary: "anthropic/claude-opus-4-6" },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skills: ["github", "weather"],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sandbox: { mode: "non-main", … },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list: [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id: "main",  default: true,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thinkingDefault: "high" },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id: "quick", fastModeDefault: true,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skills: [] },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tools: { allow: ["exec","read","write",…],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deny:  ["browser","canvas"] }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37120" y="2072640"/>
            <a:ext cx="43891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437120" y="2072640"/>
            <a:ext cx="73152" cy="87782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20000" y="2170176"/>
            <a:ext cx="4145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20000" y="2511552"/>
            <a:ext cx="41452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品牌人格 · 决定回复语气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437120" y="3108960"/>
            <a:ext cx="43891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37120" y="3108960"/>
            <a:ext cx="73152" cy="87782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20000" y="3206496"/>
            <a:ext cx="4145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agents.defaults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20000" y="3547872"/>
            <a:ext cx="41452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 Agent 的基线配置（继承）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37120" y="4145280"/>
            <a:ext cx="43891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437120" y="4145280"/>
            <a:ext cx="73152" cy="87782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620000" y="4242816"/>
            <a:ext cx="4145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agents.list[]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20000" y="4584192"/>
            <a:ext cx="41452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具名 Agent · 可单独覆盖默认值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37120" y="5181600"/>
            <a:ext cx="43891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437120" y="5181600"/>
            <a:ext cx="73152" cy="87782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620000" y="5279136"/>
            <a:ext cx="4145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20000" y="5620512"/>
            <a:ext cx="41452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全局白/黑名单 · 工具可见性总开关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编排深度实践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6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拓扑设计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Agent 路由 — 由 Orchestrator 居中调度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0" y="2194560"/>
            <a:ext cx="2438400" cy="1097280"/>
          </a:xfrm>
          <a:prstGeom prst="rect">
            <a:avLst/>
          </a:prstGeom>
          <a:solidFill>
            <a:srgbClr val="0F1B2D"/>
          </a:solidFill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0" y="2255520"/>
            <a:ext cx="2438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76800" y="2682240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Planner · 无工具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6800" y="2950464"/>
            <a:ext cx="24384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 · 不执行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600" y="4511040"/>
            <a:ext cx="2072640" cy="1158240"/>
          </a:xfrm>
          <a:prstGeom prst="rect">
            <a:avLst/>
          </a:prstGeom>
          <a:solidFill>
            <a:srgbClr val="FFFFFF"/>
          </a:solidFill>
          <a:ln w="15240">
            <a:solidFill>
              <a:srgbClr val="4A6FA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" y="4511040"/>
            <a:ext cx="2072640" cy="73152"/>
          </a:xfrm>
          <a:prstGeom prst="rect">
            <a:avLst/>
          </a:prstGeom>
          <a:solidFill>
            <a:srgbClr val="4A6FA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" y="4657344"/>
            <a:ext cx="2072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researcher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0560" y="5120640"/>
            <a:ext cx="1950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web-search, browser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 flipH="1">
            <a:off x="1698885" y="3291840"/>
            <a:ext cx="4397115" cy="1207008"/>
          </a:xfrm>
          <a:prstGeom prst="line">
            <a:avLst/>
          </a:prstGeom>
          <a:noFill/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57600" y="4511040"/>
            <a:ext cx="2072640" cy="1158240"/>
          </a:xfrm>
          <a:prstGeom prst="rect">
            <a:avLst/>
          </a:prstGeom>
          <a:solidFill>
            <a:srgbClr val="FFFFFF"/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0" y="4511040"/>
            <a:ext cx="207264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0" y="4657344"/>
            <a:ext cx="2072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coder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718560" y="5120640"/>
            <a:ext cx="1950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bash, file-ops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 flipH="1">
            <a:off x="4726901" y="3291840"/>
            <a:ext cx="1369100" cy="1207008"/>
          </a:xfrm>
          <a:prstGeom prst="line">
            <a:avLst/>
          </a:prstGeom>
          <a:noFill/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705600" y="4511040"/>
            <a:ext cx="2072640" cy="1158240"/>
          </a:xfrm>
          <a:prstGeom prst="rect">
            <a:avLst/>
          </a:prstGeom>
          <a:solidFill>
            <a:srgbClr val="FFFFFF"/>
          </a:solidFill>
          <a:ln w="15240">
            <a:solidFill>
              <a:srgbClr val="5EEAD4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705600" y="4511040"/>
            <a:ext cx="2072640" cy="73152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705600" y="4657344"/>
            <a:ext cx="2072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66560" y="5120640"/>
            <a:ext cx="1950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(reasoning only)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96000" y="3291840"/>
            <a:ext cx="1645920" cy="1219200"/>
          </a:xfrm>
          <a:prstGeom prst="line">
            <a:avLst/>
          </a:prstGeom>
          <a:noFill/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753600" y="4511040"/>
            <a:ext cx="2072640" cy="1158240"/>
          </a:xfrm>
          <a:prstGeom prst="rect">
            <a:avLst/>
          </a:prstGeom>
          <a:solidFill>
            <a:srgbClr val="FFFFFF"/>
          </a:solidFill>
          <a:ln w="15240">
            <a:solidFill>
              <a:srgbClr val="F2B544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753600" y="4511040"/>
            <a:ext cx="2072640" cy="73152"/>
          </a:xfrm>
          <a:prstGeom prst="rect">
            <a:avLst/>
          </a:prstGeom>
          <a:solidFill>
            <a:srgbClr val="F2B54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753600" y="4657344"/>
            <a:ext cx="2072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814560" y="5120640"/>
            <a:ext cx="1950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fallback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096000" y="3291840"/>
            <a:ext cx="4693920" cy="1219200"/>
          </a:xfrm>
          <a:prstGeom prst="line">
            <a:avLst/>
          </a:prstGeom>
          <a:noFill/>
          <a:ln w="12700">
            <a:solidFill>
              <a:srgbClr val="F2B544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7680" y="5913120"/>
            <a:ext cx="11216640" cy="60960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7680" y="5913120"/>
            <a:ext cx="11216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互不感知 · 仅接收任务并返回结果。Orchestrator 通过 name 或 capability 路由。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编排深度实践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7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状态机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→ Execute → Result · 自适应循环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600" y="2072640"/>
            <a:ext cx="3291840" cy="1950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889760" y="2255520"/>
            <a:ext cx="731520" cy="7315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889760" y="2255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3108960"/>
            <a:ext cx="32918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133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2480" y="351129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看到 Goal + 累积结果 ↓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 action: execute | finish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901440" y="3048000"/>
            <a:ext cx="609600" cy="0"/>
          </a:xfrm>
          <a:prstGeom prst="line">
            <a:avLst/>
          </a:prstGeom>
          <a:noFill/>
          <a:ln w="19050">
            <a:solidFill>
              <a:srgbClr val="5A6478"/>
            </a:solidFill>
            <a:prstDash val="solid"/>
            <a:tailEnd type="triangle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11040" y="2072640"/>
            <a:ext cx="3291840" cy="1950720"/>
          </a:xfrm>
          <a:prstGeom prst="rect">
            <a:avLst/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791200" y="2255520"/>
            <a:ext cx="731520" cy="731520"/>
          </a:xfrm>
          <a:prstGeom prst="ellipse">
            <a:avLst/>
          </a:prstGeom>
          <a:solidFill>
            <a:srgbClr val="4A6FA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791200" y="2255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11040" y="3108960"/>
            <a:ext cx="32918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133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93920" y="351129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并行派发任务给具名 Agent ↓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 name 或 capability 匹配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802880" y="3048000"/>
            <a:ext cx="609600" cy="0"/>
          </a:xfrm>
          <a:prstGeom prst="line">
            <a:avLst/>
          </a:prstGeom>
          <a:noFill/>
          <a:ln w="19050">
            <a:solidFill>
              <a:srgbClr val="5A6478"/>
            </a:solidFill>
            <a:prstDash val="solid"/>
            <a:tailEnd type="triangle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412480" y="2072640"/>
            <a:ext cx="3291840" cy="1950720"/>
          </a:xfrm>
          <a:prstGeom prst="rect">
            <a:avLst/>
          </a:prstGeom>
          <a:solidFill>
            <a:srgbClr val="FFFFFF"/>
          </a:solidFill>
          <a:ln w="19050">
            <a:solidFill>
              <a:srgbClr val="5EEAD4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692640" y="2255520"/>
            <a:ext cx="731520" cy="73152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692640" y="2255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412480" y="3108960"/>
            <a:ext cx="32918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133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595360" y="351129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结果回灌 Think 步骤 ↓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直到 finish 或步数耗尽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828800" y="4328160"/>
            <a:ext cx="91440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dash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828800" y="4328160"/>
            <a:ext cx="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  <a:tailEnd type="triangle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0972800" y="4328160"/>
            <a:ext cx="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267200" y="438912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回灌 → 下一次 Think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09600" y="4937760"/>
            <a:ext cx="10972800" cy="152400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09600" y="4937760"/>
            <a:ext cx="73152" cy="15240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29056" y="5059680"/>
            <a:ext cx="10631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LLM Planner 输出格式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"action": "execute",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"tasks": [ { "agent": "coder", "task": "实现 URL shortener" },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{ "agent": "researcher", "task": "对比 Redis 与 SQLite" } ] }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"action": "finish", "answer": "..." }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编排深度实践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8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反框架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为什么不用 LangGraph / AutoGen？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1889760"/>
            <a:ext cx="5364480" cy="426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1889760"/>
            <a:ext cx="5364480" cy="60960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7680" y="1889760"/>
            <a:ext cx="5364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Framework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70560" y="2682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268224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 Python 环境 + 多个依赖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70560" y="3230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97280" y="323088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拓扑硬编码在代码里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0560" y="3779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97280" y="377952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改路由 = 改源码 + 重启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70560" y="4328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97280" y="432816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调试需要进 IDE 单步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0560" y="4876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97280" y="487680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每个新工具都要写 Tool 类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39840" y="1889760"/>
            <a:ext cx="5364480" cy="426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39840" y="1889760"/>
            <a:ext cx="5364480" cy="6096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39840" y="1889760"/>
            <a:ext cx="5364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Way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22720" y="2682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949440" y="268224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单二进制 + 一个 JSON5 文件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22720" y="3230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949440" y="323088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拓扑写在 agents.list[]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522720" y="3779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949440" y="377952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改路由 = 编辑 JSON + 热重载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522720" y="4328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949440" y="432816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上看 SSE 流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522720" y="4876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949440" y="487680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工具走 allow/deny 名单声明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编排深度实践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9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深度解析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agent.yaml — 一个 Agent 的全部基因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1889760"/>
            <a:ext cx="6583680" cy="451104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1889760"/>
            <a:ext cx="73152" cy="4511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07136" y="2011680"/>
            <a:ext cx="6242304" cy="426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coder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default: false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workspace: ~/.openclaw/workspace-coder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primary: anthropic/claude-opus-4-6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fallbacks: [openai/gpt-5.4]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skills: [github, shell-utils]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thinkingDefault: high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reasoningDefault: 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fastModeDefault: false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elevatedDefault: 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timeoutSeconds: 600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maxConcurrent: 3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soul: |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你是资深 Coder，遵循 SOLID，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写出可被 Tester 直接调用的纯函数。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{ allow: [exec, read, write, edit] }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0" y="1950720"/>
            <a:ext cx="4511040" cy="60960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37120" y="1999488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/ default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37120" y="2255520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唯一标识 · default Agent 接管未路由请求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15200" y="2682240"/>
            <a:ext cx="4511040" cy="60960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37120" y="2731008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37120" y="2987040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+ fallbacks · 模型不可用时自动降级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315200" y="3413760"/>
            <a:ext cx="4511040" cy="60960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37120" y="3462528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37120" y="3718560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可插拔技能集 · 决定能调用哪些外部能力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315200" y="4145280"/>
            <a:ext cx="4511040" cy="60960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37120" y="4194048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thinking / reasoning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437120" y="4450080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思考链可见性与深度（off / low / high）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315200" y="4876800"/>
            <a:ext cx="4511040" cy="60960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437120" y="4925568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soul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437120" y="5181600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来源 · 角色定义的灵魂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315200" y="5608320"/>
            <a:ext cx="4511040" cy="60960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437120" y="5657088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tools.allow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437120" y="5913120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工具白名单 · 覆盖全局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编排深度实践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10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工具声明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tool_definition.json — 最小权限的契约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1889760"/>
            <a:ext cx="6583680" cy="451104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1889760"/>
            <a:ext cx="73152" cy="4511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07136" y="2011680"/>
            <a:ext cx="6242304" cy="426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"run_pytest",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"description":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"在沙箱内执行 pytest 并返回结构化结果",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"inputSchema": {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"object",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"properties": {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"path":  { "type": "string" },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"marker":{ "type": "string" }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"required": ["path"]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"runtime": {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"command": "pytest",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"args": ["{{path}}", "-m","{{marker}}"],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"timeoutSec": 600,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"sandbox": true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0" y="1950720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三条铁律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0" y="2499360"/>
            <a:ext cx="4511040" cy="109728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0" y="2499360"/>
            <a:ext cx="73152" cy="10972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98080" y="2572512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168640" y="2596896"/>
            <a:ext cx="3657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First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98080" y="2987040"/>
            <a:ext cx="426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工具的输入参数必须是 JSON Schema · LLM 才能正确填槽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315200" y="3718560"/>
            <a:ext cx="4511040" cy="109728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315200" y="3718560"/>
            <a:ext cx="73152" cy="10972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98080" y="3791712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168640" y="3816096"/>
            <a:ext cx="3657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by Default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98080" y="4206240"/>
            <a:ext cx="426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runtime.sandbox: true · 不显式开沙箱 = 默认拒绝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315200" y="4937760"/>
            <a:ext cx="4511040" cy="109728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315200" y="4937760"/>
            <a:ext cx="73152" cy="10972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498080" y="5010912"/>
            <a:ext cx="60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168640" y="5035296"/>
            <a:ext cx="3657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Timeout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498080" y="5425440"/>
            <a:ext cx="426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timeoutSec 必填 · 防止失控工具吃完资源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编排深度实践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11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安全模型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of Least Privilege — 应用到每一个 Agent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2072640"/>
            <a:ext cx="10728960" cy="950976"/>
          </a:xfrm>
          <a:prstGeom prst="rect">
            <a:avLst/>
          </a:prstGeom>
          <a:solidFill>
            <a:srgbClr val="1A2B4D"/>
          </a:solidFill>
          <a:ln w="15240">
            <a:solidFill>
              <a:srgbClr val="4A6FA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2072640"/>
            <a:ext cx="1828800" cy="950976"/>
          </a:xfrm>
          <a:prstGeom prst="rect">
            <a:avLst/>
          </a:prstGeom>
          <a:solidFill>
            <a:srgbClr val="4A6FA5">
              <a:alpha val="20000"/>
            </a:srgbClr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3440" y="2292096"/>
            <a:ext cx="1706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层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2804160" y="2292096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4A6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auth.token + Tailscale + loopback 绑定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3230880"/>
            <a:ext cx="10728960" cy="950976"/>
          </a:xfrm>
          <a:prstGeom prst="rect">
            <a:avLst/>
          </a:prstGeom>
          <a:solidFill>
            <a:srgbClr val="1A2B4D"/>
          </a:solidFill>
          <a:ln w="15240">
            <a:solidFill>
              <a:srgbClr val="5EEAD4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" y="3230880"/>
            <a:ext cx="1828800" cy="950976"/>
          </a:xfrm>
          <a:prstGeom prst="rect">
            <a:avLst/>
          </a:prstGeom>
          <a:solidFill>
            <a:srgbClr val="5EEAD4">
              <a:alpha val="20000"/>
            </a:srgbClr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53440" y="3450336"/>
            <a:ext cx="1706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层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804160" y="3450336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tools.allow / deny + skills 白名单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1520" y="4389120"/>
            <a:ext cx="10728960" cy="950976"/>
          </a:xfrm>
          <a:prstGeom prst="rect">
            <a:avLst/>
          </a:prstGeom>
          <a:solidFill>
            <a:srgbClr val="1A2B4D"/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31520" y="4389120"/>
            <a:ext cx="1828800" cy="950976"/>
          </a:xfrm>
          <a:prstGeom prst="rect">
            <a:avLst/>
          </a:prstGeom>
          <a:solidFill>
            <a:srgbClr val="FF6B35">
              <a:alpha val="20000"/>
            </a:srgbClr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3440" y="4608576"/>
            <a:ext cx="1706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运行层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804160" y="4608576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sandbox + readOnlyRoot + network: none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5730240"/>
            <a:ext cx="1072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 prompt injection · 最多吃掉一个会话级容器，不污染主机。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编排深度实践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12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自循环测试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 → Tester → Executor — 三智能体闭环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2011680"/>
            <a:ext cx="3596640" cy="2438400"/>
          </a:xfrm>
          <a:prstGeom prst="rect">
            <a:avLst/>
          </a:prstGeom>
          <a:solidFill>
            <a:srgbClr val="FFFFFF"/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2011680"/>
            <a:ext cx="3596640" cy="6096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7680" y="2011680"/>
            <a:ext cx="3596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680" y="2767584"/>
            <a:ext cx="3596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3255264"/>
            <a:ext cx="359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写代码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19200" y="3718560"/>
            <a:ext cx="2133600" cy="0"/>
          </a:xfrm>
          <a:prstGeom prst="line">
            <a:avLst/>
          </a:prstGeom>
          <a:noFill/>
          <a:ln w="635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3779520"/>
            <a:ext cx="3596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· write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084320" y="3230880"/>
            <a:ext cx="36576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450080" y="2011680"/>
            <a:ext cx="3596640" cy="2438400"/>
          </a:xfrm>
          <a:prstGeom prst="rect">
            <a:avLst/>
          </a:prstGeom>
          <a:solidFill>
            <a:srgbClr val="FFFFFF"/>
          </a:solidFill>
          <a:ln w="15240">
            <a:solidFill>
              <a:srgbClr val="4A6FA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450080" y="2011680"/>
            <a:ext cx="3596640" cy="609600"/>
          </a:xfrm>
          <a:prstGeom prst="rect">
            <a:avLst/>
          </a:prstGeom>
          <a:solidFill>
            <a:srgbClr val="4A6FA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450080" y="2011680"/>
            <a:ext cx="3596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450080" y="2767584"/>
            <a:ext cx="3596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450080" y="3255264"/>
            <a:ext cx="359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写测试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181600" y="3718560"/>
            <a:ext cx="2133600" cy="0"/>
          </a:xfrm>
          <a:prstGeom prst="line">
            <a:avLst/>
          </a:prstGeom>
          <a:noFill/>
          <a:ln w="635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450080" y="3779520"/>
            <a:ext cx="3596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dirty="0">
                <a:solidFill>
                  <a:srgbClr val="4A6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· pytest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046720" y="3230880"/>
            <a:ext cx="36576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412480" y="2011680"/>
            <a:ext cx="3596640" cy="2438400"/>
          </a:xfrm>
          <a:prstGeom prst="rect">
            <a:avLst/>
          </a:prstGeom>
          <a:solidFill>
            <a:srgbClr val="FFFFFF"/>
          </a:solidFill>
          <a:ln w="15240">
            <a:solidFill>
              <a:srgbClr val="5EEAD4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412480" y="2011680"/>
            <a:ext cx="3596640" cy="609600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412480" y="2011680"/>
            <a:ext cx="3596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412480" y="2767584"/>
            <a:ext cx="3596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412480" y="3255264"/>
            <a:ext cx="359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 + 反馈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144000" y="3718560"/>
            <a:ext cx="2133600" cy="0"/>
          </a:xfrm>
          <a:prstGeom prst="line">
            <a:avLst/>
          </a:prstGeom>
          <a:noFill/>
          <a:ln w="635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412480" y="3779520"/>
            <a:ext cx="3596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(sandboxed)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1704320" y="4023360"/>
            <a:ext cx="0" cy="103632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09600" y="5059680"/>
            <a:ext cx="1109472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dash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09600" y="5059680"/>
            <a:ext cx="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  <a:tailEnd type="triangle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657600" y="512064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 → 反馈给 Coder · 进入下一轮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87680" y="5730240"/>
            <a:ext cx="11216640" cy="60960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7680" y="5730240"/>
            <a:ext cx="11216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仅维护任务队列与终止条件 — 三个 Agent 互不调用，仅交换文件与结果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编排深度实践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13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Agent A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 — 把意图变成可读、可测的代码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1889760"/>
            <a:ext cx="633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267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SOUL.md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2255520"/>
            <a:ext cx="6339840" cy="402336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2255520"/>
            <a:ext cx="73152" cy="40233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07136" y="2377440"/>
            <a:ext cx="5998464" cy="3779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你是高级 Python 工程师。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约束：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一次只写一个函数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必须有完整 type hints 与 docstring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不写 try/except 兜底，让错误暴露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输出必须是纯文件（无 main 块）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输出格式：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1) 文件名：src/xxx.py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2) 完整源代码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3) 一句话说明该函数的输入/输出契约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拒绝：解释、教程、与代码无关的对话。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93280" y="1889760"/>
            <a:ext cx="451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267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193280" y="2255520"/>
            <a:ext cx="1402080" cy="5486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193280" y="2255520"/>
            <a:ext cx="140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717280" y="2255520"/>
            <a:ext cx="1402080" cy="5486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717280" y="2255520"/>
            <a:ext cx="140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241280" y="2255520"/>
            <a:ext cx="1402080" cy="5486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241280" y="2255520"/>
            <a:ext cx="140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193280" y="3048000"/>
            <a:ext cx="451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267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失败信号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193280" y="3474720"/>
            <a:ext cx="451104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0" y="3547872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syntax_error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15200" y="3840480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解析失败 → 重写文件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193280" y="4328160"/>
            <a:ext cx="451104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15200" y="4401312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test_failed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15200" y="4693920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反馈 trace → 修补该函数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193280" y="5181600"/>
            <a:ext cx="451104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15200" y="5254752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type_mismatch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15200" y="5547360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检测到契约不符 → 调整签名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编排深度实践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14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Agent B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— 只写测试，不允许碰实现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1889760"/>
            <a:ext cx="11216640" cy="73152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1889760"/>
            <a:ext cx="73152" cy="7315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1950720"/>
            <a:ext cx="1828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kern="0" spc="267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职责契约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读取 src/*.py 中的函数签名 → 生成 tests/test_*.py · 不允许修改 src/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2804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267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CoT Prompt 模板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3169920"/>
            <a:ext cx="5486400" cy="316992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3169920"/>
            <a:ext cx="73152" cy="31699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07136" y="3291840"/>
            <a:ext cx="514502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阅读 {{file}}，列出所有公开函数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对每个函数，列举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· 正常路径输入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· 边界值（空、None、极大、极小）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· 非法输入（错误类型）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3: 用 pytest.parametrize 生成测试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4: 输出文件 tests/test_&lt;module&gt;.py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· 不要包含 fixture 之外的代码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· 每个测试都要 assert，不许 print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17920" y="2804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267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生成示例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0" y="3169920"/>
            <a:ext cx="5486400" cy="316992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17920" y="3169920"/>
            <a:ext cx="73152" cy="31699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37376" y="3291840"/>
            <a:ext cx="514502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pytest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src.calc import safe_div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@pytest.mark.parametrize("a,b,exp", [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(10, 2, 5),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(-9, 3, -3),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(0, 5, 0),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test_safe_div_ok(a,b,exp):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safe_div(a,b) == exp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test_safe_div_zero():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pytest.raises(ValueError):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safe_div(1, 0)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编排深度实践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15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Agent C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— 在 OpenClaw 沙箱中执行并反馈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1889760"/>
            <a:ext cx="670560" cy="67056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188976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41120" y="19141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拉起沙箱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41120" y="2279904"/>
            <a:ext cx="5486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openclaw-sandbox:bookworm-slim · scope: session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7680" y="2926080"/>
            <a:ext cx="670560" cy="67056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7680" y="292608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41120" y="295046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挂载产物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41120" y="3316224"/>
            <a:ext cx="5486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 + tests/ 进入 /workspace 只读复制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3962400"/>
            <a:ext cx="670560" cy="67056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7680" y="396240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41120" y="398678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 pytest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41120" y="4352544"/>
            <a:ext cx="5486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-q --json-report --tb=short --timeout=60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7680" y="4998720"/>
            <a:ext cx="670560" cy="67056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7680" y="499872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41120" y="502310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结构化回灌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41120" y="5388864"/>
            <a:ext cx="5486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status / failed / trace 喂给 Orchestrator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949440" y="1889760"/>
            <a:ext cx="4876800" cy="451104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949440" y="1889760"/>
            <a:ext cx="73152" cy="4511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168896" y="2011680"/>
            <a:ext cx="4535424" cy="426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"failed",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"summary": {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"total": 8,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"passed": 6,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"failed": 2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"failures": [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"test":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"test_safe_div_zero",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"trace":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"DID NOT RAISE …",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"hint_for_coder":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"修补 b==0 路径"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编排深度实践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16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Copilot Snippet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用注释驱动 Copilot 直出 agent.yaml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1889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267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写下注释 ↓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2255520"/>
            <a:ext cx="5486400" cy="182880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2255520"/>
            <a:ext cx="73152" cy="18288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07136" y="2377440"/>
            <a:ext cx="5145024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OpenClaw agent definition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role: tester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allowed tools: write, read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model: claude-opus-4-6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cot: parametrize edge cases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426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267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直接补全 ↓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7680" y="4632960"/>
            <a:ext cx="5486400" cy="1767840"/>
          </a:xfrm>
          <a:prstGeom prst="rect">
            <a:avLst/>
          </a:prstGeom>
          <a:solidFill>
            <a:srgbClr val="1A2B4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4632960"/>
            <a:ext cx="73152" cy="17678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07136" y="4754880"/>
            <a:ext cx="5145024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tester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default: false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primary: anthropic/claude-opus-4-6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{ allow: [write, read] }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thinkingDefault: high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339840" y="1889760"/>
            <a:ext cx="5364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提示词工程的三个杠杆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39840" y="2438400"/>
            <a:ext cx="5364480" cy="85344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39840" y="2438400"/>
            <a:ext cx="73152" cy="8534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22720" y="2535936"/>
            <a:ext cx="5120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上下文锚点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22720" y="285292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首行写明「OpenClaw agent definition」让 Copilot 锁定 schema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39840" y="3389376"/>
            <a:ext cx="5364480" cy="85344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39840" y="3389376"/>
            <a:ext cx="73152" cy="8534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22720" y="3486912"/>
            <a:ext cx="5120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字段提示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22720" y="3803904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用注释列出 role / tools / model 三件套，缺一不可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39840" y="4340352"/>
            <a:ext cx="5364480" cy="85344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339840" y="4340352"/>
            <a:ext cx="73152" cy="8534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22720" y="4437888"/>
            <a:ext cx="5120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分隔符 ---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522720" y="475488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结尾 --- 触发 Copilot 进入「补全 YAML 文档」模式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39840" y="5291328"/>
            <a:ext cx="5364480" cy="853440"/>
          </a:xfrm>
          <a:prstGeom prst="rect">
            <a:avLst/>
          </a:prstGeom>
          <a:solidFill>
            <a:srgbClr val="FFFFFF"/>
          </a:solidFill>
          <a:ln w="5080">
            <a:solidFill>
              <a:srgbClr val="D5D0C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339840" y="5291328"/>
            <a:ext cx="73152" cy="8534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522720" y="5388864"/>
            <a:ext cx="5120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版本注释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522720" y="5705856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加一行 # schema: openclaw v1 锁定字段命名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编排深度实践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17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Copilot Snippet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tool_definition.json — 让 Copilot 写 JSON Schema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1889760"/>
            <a:ext cx="2682240" cy="1584960"/>
          </a:xfrm>
          <a:prstGeom prst="rect">
            <a:avLst/>
          </a:prstGeom>
          <a:solidFill>
            <a:srgbClr val="FFFFFF"/>
          </a:solidFill>
          <a:ln w="1016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524000" y="2072640"/>
            <a:ext cx="609600" cy="6096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24000" y="207264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680" y="2743200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选定函数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3084576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IDE 中高亮 Python/TS 函数签名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413760" y="1889760"/>
            <a:ext cx="2682240" cy="1584960"/>
          </a:xfrm>
          <a:prstGeom prst="rect">
            <a:avLst/>
          </a:prstGeom>
          <a:solidFill>
            <a:srgbClr val="FFFFFF"/>
          </a:solidFill>
          <a:ln w="1016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50080" y="2072640"/>
            <a:ext cx="609600" cy="6096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450080" y="207264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13760" y="2743200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触发提示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535680" y="3084576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/* generate openclaw tool def */ 注释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39840" y="1889760"/>
            <a:ext cx="2682240" cy="1584960"/>
          </a:xfrm>
          <a:prstGeom prst="rect">
            <a:avLst/>
          </a:prstGeom>
          <a:solidFill>
            <a:srgbClr val="FFFFFF"/>
          </a:solidFill>
          <a:ln w="1016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376160" y="2072640"/>
            <a:ext cx="609600" cy="6096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76160" y="207264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39840" y="2743200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校对 schema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61760" y="3084576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自动从类型注解推断 JSON Schema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265920" y="1889760"/>
            <a:ext cx="2682240" cy="1584960"/>
          </a:xfrm>
          <a:prstGeom prst="rect">
            <a:avLst/>
          </a:prstGeom>
          <a:solidFill>
            <a:srgbClr val="FFFFFF"/>
          </a:solidFill>
          <a:ln w="1016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0302240" y="2072640"/>
            <a:ext cx="609600" cy="6096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302240" y="207264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265920" y="2743200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加沙箱字段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387840" y="3084576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67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手动补 timeoutSec、sandbox: true 两项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7680" y="3657600"/>
            <a:ext cx="11216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267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源函数  →  生成 schema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87680" y="4023360"/>
            <a:ext cx="5486400" cy="237744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87680" y="4023360"/>
            <a:ext cx="73152" cy="23774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07136" y="4145280"/>
            <a:ext cx="5145024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run_pytest(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path: str,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marker: str | None = None,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timeout: int = 60,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PytestResult: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'''run pytest in sandbox'''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17920" y="4023360"/>
            <a:ext cx="5486400" cy="2377440"/>
          </a:xfrm>
          <a:prstGeom prst="rect">
            <a:avLst/>
          </a:prstGeom>
          <a:solidFill>
            <a:srgbClr val="1A2B4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217920" y="4023360"/>
            <a:ext cx="73152" cy="23774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37376" y="4145280"/>
            <a:ext cx="5145024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"name": "run_pytest",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"inputSchema": {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"object",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"properties": {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"path":   { "type": "string" },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"marker": { "type":["string","null"]},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"timeout":{ "type": "integer"} },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"required": ["path"] } }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编排深度实践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18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CoT 注入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Copilot 生成可复用的思维链模板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1889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267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给 Copilot 的 Meta-Prompt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2255520"/>
            <a:ext cx="5486400" cy="414528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2255520"/>
            <a:ext cx="73152" cy="41452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07136" y="2377440"/>
            <a:ext cx="5145024" cy="390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帮我生成 Chain-of-Thought 模板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角色: {{ role }}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输入: {{ input_shape }}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输出: {{ output_shape }}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必须包含步骤: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  1) Restate the goal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  2) List unknowns / assumptions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  3) Decompose into ≤3 sub-tasks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  4) Solve each (with verification)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  5) Synthesize · Self-check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禁止: 直接给答案、跳步、隐式假设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*/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339840" y="188976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267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生成的 Prompt 模板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39840" y="2255520"/>
            <a:ext cx="5364480" cy="4145280"/>
          </a:xfrm>
          <a:prstGeom prst="rect">
            <a:avLst/>
          </a:prstGeom>
          <a:solidFill>
            <a:srgbClr val="1A2B4D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39840" y="2255520"/>
            <a:ext cx="73152" cy="41452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59296" y="2377440"/>
            <a:ext cx="5023104" cy="390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你是 {{role}}。请按以下步骤思考：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用一句话复述目标。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列出已知 / 未知 / 假设。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拆成不超过 3 个子任务。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逐个解决：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给出方案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给出验证方法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标注置信度（0-100）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综合结论 · 自检矛盾点。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若任意步骤置信度 &lt; 75 →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E8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调用 ask_user 工具求证，禁止猜测。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D5D0C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编排深度实践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19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048000" y="3048000"/>
            <a:ext cx="6096000" cy="6096000"/>
          </a:xfrm>
          <a:prstGeom prst="ellipse">
            <a:avLst/>
          </a:prstGeom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2438400" y="3657600"/>
            <a:ext cx="4876800" cy="4876800"/>
          </a:xfrm>
          <a:prstGeom prst="ellipse">
            <a:avLst/>
          </a:prstGeom>
          <a:ln w="12700">
            <a:solidFill>
              <a:srgbClr val="D94A1F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87680" y="426720"/>
            <a:ext cx="219456" cy="21945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853440" y="390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kern="0" spc="533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收束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731520"/>
            <a:ext cx="11216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三个带回家的钩子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89120" y="2072640"/>
            <a:ext cx="7315200" cy="914400"/>
          </a:xfrm>
          <a:prstGeom prst="rect">
            <a:avLst/>
          </a:prstGeom>
          <a:solidFill>
            <a:srgbClr val="1A2B4D"/>
          </a:solidFill>
          <a:ln w="1016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0" y="2194560"/>
            <a:ext cx="731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933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5364480" y="2145792"/>
            <a:ext cx="62179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配置文件就是拓扑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364480" y="2560320"/>
            <a:ext cx="62179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改路由不要写代码，改 agents.list[]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89120" y="3108960"/>
            <a:ext cx="7315200" cy="914400"/>
          </a:xfrm>
          <a:prstGeom prst="rect">
            <a:avLst/>
          </a:prstGeom>
          <a:solidFill>
            <a:srgbClr val="1A2B4D"/>
          </a:solidFill>
          <a:ln w="1016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0" y="3230880"/>
            <a:ext cx="731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933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364480" y="3182112"/>
            <a:ext cx="62179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不是奢侈品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364480" y="3596640"/>
            <a:ext cx="62179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默认开启就是默认安全，最小爆炸半径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89120" y="4145280"/>
            <a:ext cx="7315200" cy="914400"/>
          </a:xfrm>
          <a:prstGeom prst="rect">
            <a:avLst/>
          </a:prstGeom>
          <a:solidFill>
            <a:srgbClr val="1A2B4D"/>
          </a:solidFill>
          <a:ln w="10160">
            <a:solidFill>
              <a:srgbClr val="FF6B35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0" y="4267200"/>
            <a:ext cx="731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933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364480" y="4218432"/>
            <a:ext cx="62179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是 schema 引擎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364480" y="4632960"/>
            <a:ext cx="62179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用注释锚点 + 类型签名让它写出可信 YAML/JSON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7680" y="5364480"/>
            <a:ext cx="11216640" cy="10363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1520" y="542544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1520" y="5913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docs.openclaw.ai  ·  github.com/zeynepyorulmaz/openclaw-orchestrator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924800" y="5425440"/>
            <a:ext cx="3657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kinfeylo@microsoft.com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0" y="6644640"/>
            <a:ext cx="12192000" cy="2438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7680" y="6681216"/>
            <a:ext cx="60960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编排深度实践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705600" y="6681216"/>
            <a:ext cx="499872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 ·  20 / 20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2250</Words>
  <Application>Microsoft Macintosh PowerPoint</Application>
  <PresentationFormat>Widescreen</PresentationFormat>
  <Paragraphs>508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Consolas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Kinfey Lo</dc:creator>
  <cp:lastModifiedBy>Kinfey Lo</cp:lastModifiedBy>
  <cp:revision>2</cp:revision>
  <dcterms:created xsi:type="dcterms:W3CDTF">2026-05-06T05:20:36Z</dcterms:created>
  <dcterms:modified xsi:type="dcterms:W3CDTF">2026-05-06T05:21:24Z</dcterms:modified>
</cp:coreProperties>
</file>