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876ED-0896-B544-B073-2FA0A81B8B45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676FEB-60A7-E64A-AE16-91BF25A1E5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0242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41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71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◤ OpenClaw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3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SERIES  ·  VOL.07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0" y="640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COST_CONTROL.PRESENTATION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0" y="914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v2026.05 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经济学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与消耗管控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精准打击策略实战  ·  从压缩、调度到熔断的三层防线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5486400"/>
            <a:ext cx="164592" cy="731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5486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PROMPT 压缩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结构化提取  减少冗余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0" y="5486400"/>
            <a:ext cx="164592" cy="73152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5486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按需调用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多 Endpoint  Token 节食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21040" y="5486400"/>
            <a:ext cx="164592" cy="7315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95360" y="5486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监控熔断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9536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阈值告警  自动回滚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Kinfey</a:t>
            </a:r>
            <a:r>
              <a:rPr kumimoji="0" lang="zh-CN" altLang="en-US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altLang="zh-CN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</a:t>
            </a:r>
            <a:r>
              <a:rPr kumimoji="0" lang="zh-CN" altLang="en-US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altLang="zh-CN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</a:t>
            </a:r>
            <a:r>
              <a:rPr kumimoji="0" lang="zh-CN" altLang="en-US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altLang="zh-CN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Senior</a:t>
            </a:r>
            <a:r>
              <a:rPr kumimoji="0" lang="zh-CN" altLang="en-US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altLang="zh-CN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r>
              <a:rPr kumimoji="0" lang="zh-CN" altLang="en-US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altLang="zh-CN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Advocate</a:t>
            </a:r>
            <a:r>
              <a:rPr kumimoji="0" lang="zh-CN" altLang="en-US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900" b="0" i="0" u="none" strike="noStrike" kern="0" cap="none" spc="5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·  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AGENDA  ·  目录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本次议程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从背景到落地，四个章节看懂 Token 成本治理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7772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73152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20240" y="2377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背景与挑战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202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消耗失控的真实场景与成本结构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89920" y="22860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1247120" cy="7772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73152" cy="77724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2461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920240" y="3337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三大精准打击策略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2024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Prompt 压缩 · 按需调用 · 监控熔断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89920" y="32461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11247120" cy="7772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73152" cy="77724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42062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20240" y="4297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工程实践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2024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代码层 Token 计数器与多 Endpoint 调度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789920" y="42062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5166360"/>
            <a:ext cx="11247120" cy="7772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5166360"/>
            <a:ext cx="73152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7240" y="51663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920240" y="5257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效果复盘与行动清单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92024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ROI 数据与团队落地的 5 个关键步骤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789920" y="51663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02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·  背景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为什么 Token 是新的 "水电煤"？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大模型时代，每一次推理调用都是一次精确计费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32918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项目成本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调用费用占 AI 应用总成本比例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43400" y="2377440"/>
            <a:ext cx="3657600" cy="32918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43400" y="2377440"/>
            <a:ext cx="3657600" cy="109728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6280" y="26974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1772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调用量增长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17720" y="4709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过去 12 个月企业 LLM API 调用量翻番速度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0" y="2377440"/>
            <a:ext cx="3657600" cy="32918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0" y="2377440"/>
            <a:ext cx="3657600" cy="10972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12480" y="26974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0392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可优化冗余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03920" y="4709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典型 Prompt 中无效或重复上下文占比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数据来源：OpenClaw 内部基线测量 + 行业平均（n=120 项目）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03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 ·  痛点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失控的三种典型场景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财务季度对账时，最常见的三类 Token 账单刺客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356616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PROMPT BLOAT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上下文膨胀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用户每次提问都把整段教育背景、PDF 全文塞进 Prompt，单次请求轻易突破 8K Token。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43400" y="2377440"/>
            <a:ext cx="3657600" cy="356616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09160" y="2606040"/>
            <a:ext cx="640080" cy="6400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1772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OVER-MODEL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1772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模型错配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17720" y="42062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简单 if-else 判定也调用 GPT-4 级模型，单价是同等效果小模型的 30 倍以上。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0" y="2377440"/>
            <a:ext cx="3657600" cy="356616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95360" y="2606040"/>
            <a:ext cx="640080" cy="6400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953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0392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RUNAWAY LOOP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0392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失败重试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03920" y="42062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异常分支无限重试，没有熔断机制，一次 Bug 半小时烧掉单日预算。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04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D9501F"/>
          </a:solidFill>
          <a:ln w="12700">
            <a:solidFill>
              <a:srgbClr val="D950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 ·  成本剖析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一笔 Token 账单是怎么算出来的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拆解一次智能体调用，看每一分钱花在哪里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典型调用成本构成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上下文 / Prompt 输入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58%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035808"/>
            <a:ext cx="4846320" cy="16459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2810866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模型推理输出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24%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4846320" cy="16459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1163117" cy="164592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重试与失败请求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4023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315968"/>
            <a:ext cx="4846320" cy="16459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315968"/>
            <a:ext cx="581558" cy="16459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嵌入 / 向量化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6%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4846320" cy="16459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956048"/>
            <a:ext cx="290779" cy="16459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2286000"/>
            <a:ext cx="5486400" cy="365760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2286000"/>
            <a:ext cx="109728" cy="3657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46520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INSIGHT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46520" y="2743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$ 0.47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4652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单次智能体任务平均成本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46520" y="4206240"/>
            <a:ext cx="5029200" cy="0"/>
          </a:xfrm>
          <a:prstGeom prst="line">
            <a:avLst/>
          </a:prstGeom>
          <a:noFill/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46520" y="43891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其中约 70% 是可压缩的输入上下文与无效重试 — 即 OpenClaw 三大策略的攻击面。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05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方法论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的精准打击思想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不做粗暴限流，而是在每一层都建立可观测、可干预、可回滚的护栏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1247120" cy="1645920"/>
          </a:xfrm>
          <a:prstGeom prst="rect">
            <a:avLst/>
          </a:prstGeom>
          <a:solidFill>
            <a:srgbClr val="1B2240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63040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不是限制，而是预算。把每一次调用都当成一次有意识的支出，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304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而不是默认的免费操作。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3794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— OpenClaw  Engineering  Principles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3657600" cy="141732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每一笔 Token 必须可被计量与追踪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43400" y="4526280"/>
            <a:ext cx="3657600" cy="141732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1772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1772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可干预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1772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在调用前后都可注入策略与压缩逻辑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0" y="4526280"/>
            <a:ext cx="3657600" cy="141732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0392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0392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可回滚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0392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单任务超额自动熔断，不污染下游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06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OVERVIEW  ·  策略总览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三大精准打击策略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从输入端、调度层到运行时，构建立体的 Token 防御体系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37490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INPUT 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Prompt 压缩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 Copilot 对冗长教育背景资料做结构化提取，减少上下文冗余。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43400" y="2377440"/>
            <a:ext cx="3657600" cy="37490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43400" y="2377440"/>
            <a:ext cx="3657600" cy="45720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434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 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177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1772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按需调用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1772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7720" y="4160520"/>
            <a:ext cx="3108960" cy="0"/>
          </a:xfrm>
          <a:prstGeom prst="line">
            <a:avLst/>
          </a:prstGeom>
          <a:noFill/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17720" y="43434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配置不同 Model Endpoint，简单逻辑走小模型 "Token 节食"。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0" y="2377440"/>
            <a:ext cx="3657600" cy="37490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29600" y="2377440"/>
            <a:ext cx="3657600" cy="4572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039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300" normalizeH="0" baseline="0" noProof="0" dirty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0392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监控与熔断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0392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Circuit-Break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03920" y="4160520"/>
            <a:ext cx="3108960" cy="0"/>
          </a:xfrm>
          <a:prstGeom prst="line">
            <a:avLst/>
          </a:prstGeom>
          <a:noFill/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03920" y="43434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代码层实现 Token 计数器，单次任务超阈值自动触发回滚。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01  ·  PROMPT COMPRESSION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策略一  ·  Prompt 压缩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Copilot 把冗长背景资料压成结构化片段，从源头切掉无效 Token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核心动作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识别冗余  —  教育经历、产品手册、合同模板等长尾文本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结构化抽取  —  Copilot 转 JSON/字段，丢掉自然语言修饰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动态注入  —  Prompt 只携带任务真正需要的字段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缓存复用  —  相同实体的结构化结果 24h 内复用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压缩漏斗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0" y="2834640"/>
            <a:ext cx="4846320" cy="594360"/>
          </a:xfrm>
          <a:prstGeom prst="rect">
            <a:avLst/>
          </a:prstGeom>
          <a:solidFill>
            <a:srgbClr val="1B2240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0" y="2834640"/>
            <a:ext cx="26654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原始文档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281160" y="2834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12,400 tokens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69480" y="3520440"/>
            <a:ext cx="4023360" cy="59436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69480" y="352044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Copilot 抽取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81160" y="3520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3,200 tokens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26680" y="4206240"/>
            <a:ext cx="3108960" cy="594360"/>
          </a:xfrm>
          <a:prstGeom prst="rect">
            <a:avLst/>
          </a:prstGeom>
          <a:solidFill>
            <a:srgbClr val="D9501F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26680" y="420624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字段筛选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281160" y="4206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1,100 tokens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83880" y="4892040"/>
            <a:ext cx="2194560" cy="594360"/>
          </a:xfrm>
          <a:prstGeom prst="rect">
            <a:avLst/>
          </a:prstGeom>
          <a:solidFill>
            <a:srgbClr val="FF6B35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83880" y="489204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最终 Prompt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281160" y="48920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420 tokens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58000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 -96.6%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D9501F"/>
          </a:solidFill>
          <a:ln w="12700">
            <a:solidFill>
              <a:srgbClr val="D950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01  ·  WORKFLOW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Copilot 结构化提取流程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个步骤把一份非结构化材料变成可被 Prompt 直接消费的字段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19456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原文输入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PDF / Doc / 网页文本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137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88920" y="246888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88920" y="2468880"/>
            <a:ext cx="219456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63240" y="2697480"/>
            <a:ext cx="640080" cy="640080"/>
          </a:xfrm>
          <a:prstGeom prst="ellipse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632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97180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Schema 定义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718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声明所需字段 (JSON)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83480" y="2468880"/>
            <a:ext cx="137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20640" y="246888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20640" y="2468880"/>
            <a:ext cx="219456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94960" y="2697480"/>
            <a:ext cx="640080" cy="640080"/>
          </a:xfrm>
          <a:prstGeom prst="ellipse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9496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035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Copilot 抽取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035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调用结构化提取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0" y="2468880"/>
            <a:ext cx="137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52360" y="246888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52360" y="2468880"/>
            <a:ext cx="219456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726680" y="2697480"/>
            <a:ext cx="640080" cy="640080"/>
          </a:xfrm>
          <a:prstGeom prst="ellipse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266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3524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字段裁剪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63524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按任务挑选必要字段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646920" y="2468880"/>
            <a:ext cx="137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784080" y="246888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784080" y="2468880"/>
            <a:ext cx="219456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058400" y="2697480"/>
            <a:ext cx="640080" cy="640080"/>
          </a:xfrm>
          <a:prstGeom prst="ellipse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0584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6696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注入 Prompt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96696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拼装最终请求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11247120" cy="146304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31520" y="4709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Copilot extract schema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31520" y="4983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str, "degree": str, "school": str, "major": str, "year": int, "achievements": str[3] }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152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仅保留任务匹配所需 6 个字段，剔除 90% 自然语言修饰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Schema 化字段可被多任务复用，避免重复抽取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09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D9501F"/>
          </a:solidFill>
          <a:ln w="12700">
            <a:solidFill>
              <a:srgbClr val="D950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01  ·  CASE STUDY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案例  ·  教育背景资料压缩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招聘场景下，候选人简历从 2,800 → 180 tokens 的真实对比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·  原始 Prompt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2,800 tokens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"张三于 2018 年 9 月就读于清华大学计算机科学与技术系，主修人工智能方向，期间获得国家奖学金，参与了 ACM 比赛并获得亚洲区铜牌……（接 2,500 字背景叙述、社团经历、获奖详情、推荐信摘录）"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5486400" cy="4572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AFTER  ·  Copilot 抽取后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180 tokens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"张三",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"degree": "本科",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"school": "清华大学",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"major": "计算机·AI 方向",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"year": 2022,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"achievements": [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"国家奖学金",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"ACM 亚洲区铜牌"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01  ·  RESULTS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策略一的真实效果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 周内的 12 个生产工作流，统一替换为 Copilot 结构化注入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029200" cy="37490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09728" cy="3749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PROMPT REDUCTION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-78%</a:t>
            </a:r>
            <a:endParaRPr kumimoji="0" lang="en-US" sz="1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跨 12 个工作流的平均 Prompt 体积下降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最高单流降幅 96.6%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760720" y="2377440"/>
            <a:ext cx="5943600" cy="822960"/>
          </a:xfrm>
          <a:prstGeom prst="rect">
            <a:avLst/>
          </a:prstGeom>
          <a:solidFill>
            <a:srgbClr val="1B2240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0" y="23774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月度 Token 账单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0" y="2377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64%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60720" y="3337560"/>
            <a:ext cx="5943600" cy="822960"/>
          </a:xfrm>
          <a:prstGeom prst="rect">
            <a:avLst/>
          </a:prstGeom>
          <a:solidFill>
            <a:srgbClr val="1B2240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0" y="33375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平均响应延迟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0" y="33375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41%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60720" y="4297680"/>
            <a:ext cx="5943600" cy="822960"/>
          </a:xfrm>
          <a:prstGeom prst="rect">
            <a:avLst/>
          </a:prstGeom>
          <a:solidFill>
            <a:srgbClr val="1B2240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0" y="4297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可缓存命中率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0" y="4297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↑ 3.2×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60720" y="5257800"/>
            <a:ext cx="5943600" cy="822960"/>
          </a:xfrm>
          <a:prstGeom prst="rect">
            <a:avLst/>
          </a:prstGeom>
          <a:solidFill>
            <a:srgbClr val="1B2240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0" y="5257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线上首响时间 (P95)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058400" y="5257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 38%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02  ·  ON-DEMAND ROUTING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策略二  ·  按需调用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内多 Endpoint 路由，让 "杀鸡的活别用宰牛刀"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为什么要 Token 节食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5486400" cy="82296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73152" cy="82296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成本敏感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GPT-4 vs 7B 小模型单价相差 30×，简单分类无须高阶模型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486400" cy="82296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73152" cy="82296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延迟敏感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本地小模型 200ms 内响应，云端大模型平均 1.8 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5486400" cy="82296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73152" cy="82296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可控性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5120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结构化抽取、关键词匹配、规则判断完全可由小模型胜任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路由示意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0" y="3200400"/>
            <a:ext cx="1463040" cy="9144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2004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0" y="3200400"/>
            <a:ext cx="1463040" cy="914400"/>
          </a:xfrm>
          <a:prstGeom prst="rect">
            <a:avLst/>
          </a:prstGeom>
          <a:solidFill>
            <a:srgbClr val="1B2240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0" y="32004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058400" y="2468880"/>
            <a:ext cx="1645920" cy="822960"/>
          </a:xfrm>
          <a:prstGeom prst="rect">
            <a:avLst/>
          </a:prstGeom>
          <a:solidFill>
            <a:srgbClr val="141A2E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05840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  7B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5840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$0.001 / 1K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058400" y="3520440"/>
            <a:ext cx="1645920" cy="822960"/>
          </a:xfrm>
          <a:prstGeom prst="rect">
            <a:avLst/>
          </a:prstGeom>
          <a:solidFill>
            <a:srgbClr val="141A2E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5840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MID  70B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05840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$0.012 / 1K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058400" y="4572000"/>
            <a:ext cx="1645920" cy="822960"/>
          </a:xfrm>
          <a:prstGeom prst="rect">
            <a:avLst/>
          </a:prstGeom>
          <a:solidFill>
            <a:srgbClr val="141A2E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58400" y="4663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 GPT-4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058400" y="4983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$0.030 / 1K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63840" y="320040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692640" y="3657600"/>
            <a:ext cx="365760" cy="0"/>
          </a:xfrm>
          <a:prstGeom prst="line">
            <a:avLst/>
          </a:prstGeom>
          <a:noFill/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92640" y="3657600"/>
            <a:ext cx="365760" cy="274320"/>
          </a:xfrm>
          <a:prstGeom prst="line">
            <a:avLst/>
          </a:prstGeom>
          <a:noFill/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692640" y="3657600"/>
            <a:ext cx="365760" cy="1325880"/>
          </a:xfrm>
          <a:prstGeom prst="line">
            <a:avLst/>
          </a:prstGeom>
          <a:noFill/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0" y="5532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依据复杂度评分自动选路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D9501F"/>
          </a:solidFill>
          <a:ln w="12700">
            <a:solidFill>
              <a:srgbClr val="D950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02  ·  ENDPOINT MATRIX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Endpoint 配置矩阵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中按任务复杂度划分四档 Endpoint，明码实价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377440" cy="54864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任务类型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34640" y="2468880"/>
            <a:ext cx="2377440" cy="54864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71800" y="2468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推荐 Endpoint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12080" y="2468880"/>
            <a:ext cx="2926080" cy="54864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49240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2468880"/>
            <a:ext cx="1828800" cy="54864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75320" y="2468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单价 / 1K Token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966960" y="2468880"/>
            <a:ext cx="1737360" cy="54864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04120" y="2468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预算占比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分类 / 路由判定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34640" y="301752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71800" y="3017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Tiny  · 1.5B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212080" y="301752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49240" y="3017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意图识别、敏感词过滤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38160" y="301752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75320" y="30175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$0.0004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966960" y="301752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104120" y="30175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237744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" y="3611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结构化抽取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834640" y="3611880"/>
            <a:ext cx="237744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971800" y="3611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 · 7B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212080" y="3611880"/>
            <a:ext cx="292608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49240" y="3611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简历字段、合同条款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38160" y="3611880"/>
            <a:ext cx="182880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75320" y="3611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$0.0010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966960" y="3611880"/>
            <a:ext cx="173736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104120" y="3611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420624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" y="4206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对话与摘要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834640" y="420624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971800" y="4206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Mid   · 70B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212080" y="420624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349240" y="4206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客服对话、文档摘要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38160" y="420624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275320" y="4206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$0.0120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966960" y="420624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104120" y="4206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57200" y="4800600"/>
            <a:ext cx="237744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4800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复杂推理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834640" y="4800600"/>
            <a:ext cx="237744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971800" y="4800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· GPT-4 级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212080" y="4800600"/>
            <a:ext cx="292608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349240" y="4800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多步代码生成、Agent 决策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138160" y="4800600"/>
            <a:ext cx="182880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275320" y="48006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$0.0300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966960" y="4800600"/>
            <a:ext cx="1737360" cy="594360"/>
          </a:xfrm>
          <a:prstGeom prst="rect">
            <a:avLst/>
          </a:prstGeom>
          <a:solidFill>
            <a:srgbClr val="EEF1F7"/>
          </a:solidFill>
          <a:ln w="6350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104120" y="4800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规则：每个 Workflow 显式声明 endpoint_tag，未声明默认走 Tiny → 强制开发者主动选择档位。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D9501F"/>
          </a:solidFill>
          <a:ln w="12700">
            <a:solidFill>
              <a:srgbClr val="D950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02  ·  DECISION TREE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节食决策树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调用前的 30 毫秒判定，决定这次请求该 "吃多少卡路里"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2377440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REQUEST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3383280"/>
            <a:ext cx="2468880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Prompt &lt; 500 tokens?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80760" y="4023360"/>
            <a:ext cx="0" cy="36576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88720" y="4434840"/>
            <a:ext cx="2926080" cy="86868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TINY / SMALL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4892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分类 / 抽取场景  ·  $0.001/K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89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80760" y="4023360"/>
            <a:ext cx="2743200" cy="36576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55280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0" y="4434840"/>
            <a:ext cx="2926080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0" y="4434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需要多步推理?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0" y="5074920"/>
            <a:ext cx="0" cy="36576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5486400"/>
            <a:ext cx="2468880" cy="77724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5532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MID  · 70B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5852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对话/摘要  ·  $0.012/K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241280" y="5074920"/>
            <a:ext cx="0" cy="36576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78240" y="5486400"/>
            <a:ext cx="2926080" cy="7772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78240" y="5532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LARGE  · GPT-4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Agent / 代码  ·  $0.030/K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26480" y="5212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332720" y="5212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4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80760" y="3108960"/>
            <a:ext cx="0" cy="274320"/>
          </a:xfrm>
          <a:prstGeom prst="line">
            <a:avLst/>
          </a:prstGeom>
          <a:noFill/>
          <a:ln w="1905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02  ·  COST IMPACT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节食带来的成本曲线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同一个工作流：默认全大模型 vs OpenClaw 智能调度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1371600" cy="3108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47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$ 4,820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默认  ·  全大模型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40480" y="4813690"/>
            <a:ext cx="1371600" cy="103847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40480" y="2743200"/>
            <a:ext cx="1371600" cy="2070490"/>
          </a:xfrm>
          <a:prstGeom prst="rect">
            <a:avLst/>
          </a:prstGeom>
          <a:solidFill>
            <a:srgbClr val="1B2240"/>
          </a:solidFill>
          <a:ln w="12700">
            <a:solidFill>
              <a:srgbClr val="1B22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431077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$ 1,610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智能调度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5852160"/>
            <a:ext cx="5029200" cy="0"/>
          </a:xfrm>
          <a:prstGeom prst="line">
            <a:avLst/>
          </a:prstGeom>
          <a:noFill/>
          <a:ln w="9525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0" y="2377440"/>
            <a:ext cx="4846320" cy="37490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0" y="2377440"/>
            <a:ext cx="109728" cy="374904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7804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 SAVING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78040" y="29260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-66.6%</a:t>
            </a:r>
            <a:endParaRPr kumimoji="0" lang="en-US" sz="8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78040" y="4663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月度账单从 $4,820 降至 $1,610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78040" y="5120640"/>
            <a:ext cx="4297680" cy="0"/>
          </a:xfrm>
          <a:prstGeom prst="line">
            <a:avLst/>
          </a:prstGeom>
          <a:noFill/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178040" y="5349240"/>
            <a:ext cx="109728" cy="109728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60920" y="5285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62% 流量被路由到 Tiny / Small 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78040" y="5623560"/>
            <a:ext cx="109728" cy="109728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0920" y="5559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仅 8% 复杂任务保留 GPT-4 级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78040" y="5897880"/>
            <a:ext cx="109728" cy="109728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60920" y="5833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P95 延迟同时下降 41%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03  ·  CIRCUIT BREAKER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策略三  ·  监控与熔断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代码层 Token 计数器  ·  阈值告警  ·  自动回滚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00" cy="37490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LIVE  TOKEN  METER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当前任务消耗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8,420  /  10,000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120640" cy="320040"/>
          </a:xfrm>
          <a:prstGeom prst="rect">
            <a:avLst/>
          </a:prstGeom>
          <a:solidFill>
            <a:srgbClr val="1B2240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4311579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36592" y="3886200"/>
            <a:ext cx="0" cy="502920"/>
          </a:xfrm>
          <a:prstGeom prst="line">
            <a:avLst/>
          </a:prstGeom>
          <a:noFill/>
          <a:ln w="19050">
            <a:solidFill>
              <a:srgbClr val="FF4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87952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4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80% 阈值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状态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54480" y="4937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WARN  ·  接近阈值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动作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54480" y="5349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降级到 Mid 档 + 中止后续推理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回滚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54480" y="5760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@step3 已就位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熔断的三层动作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2834640"/>
            <a:ext cx="5303520" cy="91440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2834640"/>
            <a:ext cx="73152" cy="91440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75120" y="2926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Throttle  ·  限速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75120" y="3291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60% 阈值后降低并发，逐步收紧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3886200"/>
            <a:ext cx="5303520" cy="91440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73152" cy="9144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Downgrade  ·  降级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75120" y="4343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80% 阈值后强制路由到更小模型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4937760"/>
            <a:ext cx="5303520" cy="91440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0" y="4937760"/>
            <a:ext cx="73152" cy="9144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7512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Rollback  ·  回滚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75120" y="5394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100% 阈值后中止任务并回放快照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D9501F"/>
          </a:solidFill>
          <a:ln w="12700">
            <a:solidFill>
              <a:srgbClr val="D950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D950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03  ·  ARCHITECTURE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计数器架构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代码层非侵入式接入：装饰器 + 中间件 + 旁路指标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5029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请求拦截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@token_meter 装饰器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挂在每个 LLM 调用上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237744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97680" y="2377440"/>
            <a:ext cx="365760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CORE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计数核心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记账 → 阈值评估 → 触发动作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基于内存 + Redis 双写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38160" y="237744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38160" y="2377440"/>
            <a:ext cx="3657600" cy="5029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2104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ACTION HUB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1248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A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动作总线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12480" y="3611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Throttle / Downgrade / Rollback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输出到日志 + Prometheus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0" y="2377440"/>
            <a:ext cx="182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55280" y="2377440"/>
            <a:ext cx="182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solidFill>
            <a:srgbClr val="0A0E1F"/>
          </a:solidFill>
          <a:ln w="12700">
            <a:solidFill>
              <a:srgbClr val="0A0E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@token_meter(budget=10_000, on_exceed="rollback")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5623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run_agent(task): ...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03  ·  RUNTIME FLOW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阈值触发与回滚时序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从计数到回滚，毫秒级响应防止单任务"烧穿"预算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0972800" cy="0"/>
          </a:xfrm>
          <a:prstGeom prst="line">
            <a:avLst/>
          </a:prstGeom>
          <a:noFill/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43000" y="3657600"/>
            <a:ext cx="365760" cy="365760"/>
          </a:xfrm>
          <a:prstGeom prst="ellipse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T+0ms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调用开始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记录 baseline checkpoint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37560" y="3657600"/>
            <a:ext cx="365760" cy="365760"/>
          </a:xfrm>
          <a:prstGeom prst="ellipse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3464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T+1.2s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3464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60% 阈值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触发 Throttle，下游限速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532120" y="3657600"/>
            <a:ext cx="365760" cy="36576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T+2.8s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80% 阈值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Downgrade 到 Mid 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26680" y="3657600"/>
            <a:ext cx="365760" cy="36576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2376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FF475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T+4.1s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2376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100% 阈值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Rollback：中止 + 回放快照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921240" y="365760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41832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T+4.3s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1832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Slack 告警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566928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熔断触发后：本次任务不计入用户结果，但完整事件链路写入 Trace，供事后回放调参。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综合 ROI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三策叠加之后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试点 8 周，覆盖 23 个生产工作流的合成数据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00" cy="3749040"/>
          </a:xfrm>
          <a:prstGeom prst="rect">
            <a:avLst/>
          </a:prstGeom>
          <a:solidFill>
            <a:srgbClr val="1B2240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 TOKEN  SPEND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$ 187K  →  $ 41K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-78%</a:t>
            </a:r>
            <a:endParaRPr kumimoji="0" lang="en-US" sz="1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周内完成迁移，团队 0 加班、0 线上故障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697480" cy="178308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-78%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月度 Token 账单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06840" y="2377440"/>
            <a:ext cx="2697480" cy="178308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89720" y="2560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-41%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897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P95 响应延迟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4251960"/>
            <a:ext cx="2697480" cy="178308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4434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+3.2×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5486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缓存命中率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006840" y="4251960"/>
            <a:ext cx="2697480" cy="1783080"/>
          </a:xfrm>
          <a:prstGeom prst="rect">
            <a:avLst/>
          </a:prstGeom>
          <a:solidFill>
            <a:srgbClr val="141A2E"/>
          </a:solidFill>
          <a:ln w="635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89720" y="4434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89720" y="5486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因超额导致的故障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OpenClaw  ·  Token Economics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887200" y="0"/>
            <a:ext cx="73152" cy="685800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◤ OpenClaw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3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CLOSING  ·  ACTION  CHECKLIST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把策略变成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下周一就能开工的 5 件事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solidFill>
            <a:srgbClr val="0A0E1F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为每个 Workflow 标注 endpoint_tag，默认值收紧到 Tiny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274320" cy="274320"/>
          </a:xfrm>
          <a:prstGeom prst="rect">
            <a:avLst/>
          </a:prstGeom>
          <a:solidFill>
            <a:srgbClr val="0A0E1F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40416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把最长的 3 份背景资料用 Copilot 抽成 JSON Schema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274320" cy="274320"/>
          </a:xfrm>
          <a:prstGeom prst="rect">
            <a:avLst/>
          </a:prstGeom>
          <a:solidFill>
            <a:srgbClr val="0A0E1F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4453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在 LLM 客户端套上 @token_meter 装饰器与 budget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274320" cy="274320"/>
          </a:xfrm>
          <a:prstGeom prst="rect">
            <a:avLst/>
          </a:prstGeom>
          <a:solidFill>
            <a:srgbClr val="0A0E1F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48646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接入 token_used / threshold / rollback 三指标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274320" cy="274320"/>
          </a:xfrm>
          <a:prstGeom prst="rect">
            <a:avLst/>
          </a:prstGeom>
          <a:solidFill>
            <a:srgbClr val="0A0E1F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5303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E5C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52760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每周成本评审：按 Workflow 看 P95 Token 与单价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5943600"/>
            <a:ext cx="11247120" cy="0"/>
          </a:xfrm>
          <a:prstGeom prst="line">
            <a:avLst/>
          </a:prstGeom>
          <a:noFill/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谢谢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0" y="6263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 AI  Infra  ·  cost-control@openclaw.ai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1367</Words>
  <Application>Microsoft Macintosh PowerPoint</Application>
  <PresentationFormat>Widescreen</PresentationFormat>
  <Paragraphs>431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Consolas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2</cp:revision>
  <dcterms:created xsi:type="dcterms:W3CDTF">2026-05-06T05:21:32Z</dcterms:created>
  <dcterms:modified xsi:type="dcterms:W3CDTF">2026-05-06T05:28:13Z</dcterms:modified>
</cp:coreProperties>
</file>