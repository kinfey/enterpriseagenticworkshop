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1FF90-EB0D-7F45-A048-CE0D530ECBD6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C283E-D695-FE44-9B5E-AEB2D567A29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849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82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36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4800" y="20887"/>
            <a:ext cx="4267200" cy="685800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24800" y="0"/>
            <a:ext cx="48768" cy="6858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609600"/>
            <a:ext cx="268224" cy="26822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0976" y="609600"/>
            <a:ext cx="85344" cy="26822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58240" y="560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kern="0" spc="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072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White Paper · V1.0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499360"/>
            <a:ext cx="934247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</a:t>
            </a:r>
            <a:endParaRPr lang="en-US" sz="50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Testing Standards</a:t>
            </a:r>
            <a:endParaRPr lang="en-US" sz="5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4876800"/>
            <a:ext cx="7071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atomic capabilities of Coding Agents —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3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the testing methods that keep them stable and reliable.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51520" y="219456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51520" y="249936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51520" y="2987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lang="zh-CN" alt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Senior</a:t>
            </a:r>
            <a:r>
              <a:rPr lang="zh-CN" alt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</a:t>
            </a:r>
            <a:r>
              <a:rPr lang="zh-CN" alt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Advocate</a:t>
            </a:r>
          </a:p>
        </p:txBody>
      </p:sp>
      <p:sp>
        <p:nvSpPr>
          <p:cNvPr id="13" name="Text 11"/>
          <p:cNvSpPr/>
          <p:nvPr/>
        </p:nvSpPr>
        <p:spPr>
          <a:xfrm>
            <a:off x="8351520" y="36576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51520" y="3962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 2026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51520" y="451104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Audience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51520" y="4815840"/>
            <a:ext cx="3657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Builders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&amp; DevTools Engineers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644640"/>
            <a:ext cx="12192000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600" y="66446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40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DOC-ID  /  SKL-STD-2026-001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we'll cover today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29870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02080" y="30114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 of a Skill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02080" y="3450336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a Skill means in the Coding Agent context.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298704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0" y="30114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&amp; Design Principles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3450336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functions, contracts, testability.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680" y="4108704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02080" y="4133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test?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02080" y="4572000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every Skill needs its own testing loop.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4108704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32320" y="4133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Test-Agent Pattern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0" y="4572000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an adversarial Agent to attack the business Agent's edges.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5230368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02080" y="52547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Building Edge Test Sets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02080" y="5693664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edge knowledge points for the educational-video scenario.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17920" y="5230368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0" y="52547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 Consistency Validation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32320" y="5693664"/>
            <a:ext cx="4693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 format &amp; structural stability across runs.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One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87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1999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19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64480" y="2499360"/>
            <a:ext cx="60960" cy="18288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0" y="24384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0" y="2828544"/>
            <a:ext cx="60960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 Skill?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40233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4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the Coding Agent paradigm, a Skill is the smallest unit of capability — clearly named, single-purpose, and independently verifiable.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 Skill?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60832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3291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2480" y="35356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5000"/>
              </a:lnSpc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 is an atomic function the Agent can call — it does one well-defined thing, with contracts on both input and output.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" y="55473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responsibility · Naming convention · Versioned · Independently testable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26080"/>
            <a:ext cx="5364480" cy="3291840"/>
          </a:xfrm>
          <a:prstGeom prst="rect">
            <a:avLst/>
          </a:prstGeom>
          <a:solidFill>
            <a:srgbClr val="060819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22720" y="3108960"/>
            <a:ext cx="158496" cy="15849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66560" y="3108960"/>
            <a:ext cx="158496" cy="1584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10400" y="3108960"/>
            <a:ext cx="158496" cy="158496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0" y="30480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6E7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skill.spec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3596640"/>
            <a:ext cx="48768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67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generate_ffmpeg_script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{ source, target_format, bitrate }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shell_script  </a:t>
            </a:r>
            <a:r>
              <a:rPr lang="en-US" sz="1467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(deterministic)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side_effects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none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1.2.0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DISTINCTION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Skill, Tool, and Agent — How They Relate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3596640" cy="29260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3596640" cy="97536"/>
          </a:xfrm>
          <a:prstGeom prst="rect">
            <a:avLst/>
          </a:prstGeom>
          <a:solidFill>
            <a:srgbClr val="6E7896"/>
          </a:solidFill>
          <a:ln w="12700">
            <a:solidFill>
              <a:srgbClr val="6E789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3169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2480" y="359664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Low-level capability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2480" y="4328160"/>
            <a:ext cx="487680" cy="48768"/>
          </a:xfrm>
          <a:prstGeom prst="rect">
            <a:avLst/>
          </a:prstGeom>
          <a:solidFill>
            <a:srgbClr val="6E7896"/>
          </a:solidFill>
          <a:ln w="12700">
            <a:solidFill>
              <a:srgbClr val="6E789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480" y="451104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lowest-level binding — HTTP calls, shell execution, file reads. Stateless, intent-unaware.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28160" y="2926080"/>
            <a:ext cx="3596640" cy="29260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28160" y="2926080"/>
            <a:ext cx="3596640" cy="9753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32960" y="3169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32960" y="359664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function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32960" y="4328160"/>
            <a:ext cx="48768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32960" y="451104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named, contract-clear action; composes several Tools to fulfill one explicit intent.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68640" y="2926080"/>
            <a:ext cx="3596640" cy="292608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68640" y="2926080"/>
            <a:ext cx="3596640" cy="975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73440" y="3169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73440" y="359664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73440" y="4328160"/>
            <a:ext cx="487680" cy="48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73440" y="451104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Makes decisions, plans, and retries; decides when to invoke which Skill.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597408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 sits between Tool and Agent — the "smallest yet independently testable" unit of capability.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makes up a Skill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308457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62102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Typed inputs, typed outputs, declared side effects.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286512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47616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62016" y="308457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362102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pure function or tool composition — no scheduling logic.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286512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63712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78112" y="308457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Preconditions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63712" y="362102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States that must hold true before invocation.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57200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75488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5920" y="479145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Postconditions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532790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 the caller can rely on after success.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3776" y="457200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47616" y="475488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62016" y="479145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Modes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47616" y="532790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Explicit error taxonomy: recoverable vs. fatal.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19872" y="4572000"/>
            <a:ext cx="3572256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63712" y="475488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278112" y="4791456"/>
            <a:ext cx="225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Set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63712" y="5327904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Co-located, co-versioned with the Skill — a release gate.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Principles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PRINCIPLES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 Design Principles for Skills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86512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2962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21280" y="296265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62400" y="296265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one thing only. If your description contains "and", split it.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353568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353568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3633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21280" y="363321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62400" y="363321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input yields same output; randomness must be made explicit as a parameter.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20624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420624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4303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21280" y="430377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Declarative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962400" y="430377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Inputs and outputs are typed — the contract is the source of truth.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487680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680" y="487680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4974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21280" y="49743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962400" y="497433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Latency, cost, and side effects all stay within documented bounds.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7680" y="5547360"/>
            <a:ext cx="11216640" cy="5486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7680" y="5547360"/>
            <a:ext cx="6096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1520" y="5644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621280" y="564489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62400" y="5644896"/>
            <a:ext cx="762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execution trace: input, decisions, output, failure reason.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SKILL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example: generate_ffmpeg_script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36448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signature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4876800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ct val="110000"/>
              </a:lnSpc>
            </a:pPr>
            <a:r>
              <a:rPr lang="en-US" sz="1333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source_path: str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target_format: enum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bitrate_kbps: int?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resolution: 'hd'|'sd'?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333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shell_script: str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est_runtime_sec: int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0" y="2926080"/>
            <a:ext cx="5608320" cy="329184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84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constraints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3535680"/>
            <a:ext cx="5242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Pure function — never writes to the filesystem.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is a single-line ffmpeg command string.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pipes; the command stays single-line and replayable.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Quote paths to handle spaces and non-ASCII characters.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target formats raise InvalidFormat.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5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Bitrates below 64 kbps raise BitrateOutOfRange.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More Skills, same shape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86512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7680" y="319430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06880" y="301142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generate_ffmpeg_script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06880" y="338937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shell script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286512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286512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319430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37120" y="301142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extract_pdf_tables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37120" y="338937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JSON array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02336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402336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435254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06880" y="416966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build_sql_query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06880" y="454761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SQL string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402336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17920" y="435254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Visualization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37120" y="416966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render_chart_spec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454761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Vega-Lite JSON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7680" y="518160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7680" y="518160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7680" y="551078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706880" y="532790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lint_python_snippet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706880" y="570585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diagnostic-object array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17920" y="5181600"/>
            <a:ext cx="5486400" cy="9753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7920" y="5181600"/>
            <a:ext cx="1036320" cy="97536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17920" y="5510784"/>
            <a:ext cx="103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37120" y="5327904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summarise_transcript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37120" y="5705856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structured Markdown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Two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87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1999" b="1" dirty="0">
                <a:solidFill>
                  <a:srgbClr val="11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19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64480" y="2499360"/>
            <a:ext cx="60960" cy="1828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0" y="24384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0" y="2828544"/>
            <a:ext cx="60960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0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Automated Skill Evaluation</a:t>
            </a:r>
            <a:endParaRPr lang="en-US" sz="5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0" y="40233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40000"/>
              </a:lnSpc>
            </a:pPr>
            <a:r>
              <a:rPr lang="en-US" sz="17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Skill's reliability is decided at the edges. We need an "attacker", not an "inspector".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Skill testing is hard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299923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combinatorial explosion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62400" y="2999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 parameter dimensions pile up; unit tests only cover samples humans think of.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371856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371856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480" y="379171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Hidden-assumption drift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62400" y="37917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LLM-driven Skills carry implicit constraints from prompt and model version.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51104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51104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2480" y="458419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Silent format drift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62400" y="45841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Functional cases pass while output structure quietly mutates version by version.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5303520"/>
            <a:ext cx="11216640" cy="67056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7680" y="5303520"/>
            <a:ext cx="60960" cy="6705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92480" y="5376672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human safety net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962400" y="53766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invoke Skills autonomously — no human in the loop to catch errors at runtime.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Test-Agent Pattern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11216640" cy="8534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8534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440" y="3048000"/>
            <a:ext cx="10789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an adversarial "Test Agent" dedicated to attacking the business Agent's edge cases.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7680" y="4023360"/>
            <a:ext cx="5364480" cy="225552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4023360"/>
            <a:ext cx="536448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Agent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608576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Holds the Skill under test.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Treats every request as production traffic.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Returns typed output that matches the contract.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39840" y="4023360"/>
            <a:ext cx="5364480" cy="225552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4023360"/>
            <a:ext cx="5364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42062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Agent (attacker)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Builds probing inputs from a strategy library.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Validates outputs against contract and format.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5000"/>
              </a:lnSpc>
              <a:spcAft>
                <a:spcPts val="533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Records every failure with a reproducible seed.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Test Agent's working loop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 strategy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 an attack mode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72512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55392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5392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38272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938272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input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38272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Synthesize test sample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0224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3104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3104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05984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05984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Invoke Skill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05984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 to business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07936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90816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90816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73696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473696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 output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73696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+ format check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375648" y="4053840"/>
            <a:ext cx="170688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558528" y="3291840"/>
            <a:ext cx="2072640" cy="152400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558528" y="3291840"/>
            <a:ext cx="20726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741408" y="3474720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741408" y="384048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 score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41408" y="4291584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 and score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1216640" y="4937760"/>
            <a:ext cx="0" cy="60960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09600" y="5547360"/>
            <a:ext cx="1060704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9600" y="4937760"/>
            <a:ext cx="0" cy="60960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657600" y="560832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 cases feed the next strategy round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 LIBRARY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Agent attack strategies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41376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87705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Min, max, empty, oversized, Unicode edge characters.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3776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47616" y="31089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47616" y="341376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47616" y="387705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Swap, drop, duplicate fields; fuzz and shuffle parameters.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19872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63712" y="31089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341376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Adversarial prompts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63712" y="387705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Malicious intent inputs that lure the Skill off-contract.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57200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75488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 replay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" y="5522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input run N times — output must be byte-identical.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3776" y="457200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47616" y="475488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47616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 language / encoding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47616" y="5522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Non-ASCII filenames, RTL text, unusual encodings.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19872" y="457200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63712" y="475488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363712" y="5059680"/>
            <a:ext cx="3169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 envelope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63712" y="5522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Oversized input, deep nesting, time and cost probes.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Set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build a Skill test set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36448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Test-set principles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535680"/>
            <a:ext cx="4876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Curated, not random — every case verifies one hypothesis.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Short, fast, repeatable.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 checks rely on frozen golden outputs.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Versioned alongside the Skill, in the same repo.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ct val="120000"/>
              </a:lnSpc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gate: must pass 100%.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0" y="2926080"/>
            <a:ext cx="5608320" cy="329184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84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Recommended case mix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359664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Happy path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95360" y="368198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95360" y="3681984"/>
            <a:ext cx="2255520" cy="219456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11840" y="359664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39840" y="408432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cases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95360" y="416966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95360" y="4169664"/>
            <a:ext cx="2255520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11840" y="408432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39840" y="45720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Adversarial cases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95360" y="465734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95360" y="4657344"/>
            <a:ext cx="15036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911840" y="457200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39840" y="505968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 replay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595360" y="514502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595360" y="5145024"/>
            <a:ext cx="751840" cy="219456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11840" y="505968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39840" y="55473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 / encoding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95360" y="5632704"/>
            <a:ext cx="2255520" cy="219456"/>
          </a:xfrm>
          <a:prstGeom prst="rect">
            <a:avLst/>
          </a:prstGeom>
          <a:solidFill>
            <a:srgbClr val="2A3158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595360" y="5632704"/>
            <a:ext cx="751840" cy="21945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11840" y="5547360"/>
            <a:ext cx="67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Case: education-video script Skill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5364480" cy="32918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32918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2480" y="3535680"/>
            <a:ext cx="49377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0000"/>
              </a:lnSpc>
            </a:pPr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Skill that turns one knowledge point into a 60-second educational video script.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" y="481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3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must follow a fixed structure: Hook → Explanation → Example → Recap, each with a timestamp.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0" y="2926080"/>
            <a:ext cx="5608320" cy="3291840"/>
          </a:xfrm>
          <a:prstGeom prst="rect">
            <a:avLst/>
          </a:prstGeom>
          <a:solidFill>
            <a:srgbClr val="060819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310896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4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SCHEMA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39840" y="3474720"/>
            <a:ext cx="524256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B8C5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topic: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string,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duration_sec: </a:t>
            </a:r>
            <a:r>
              <a:rPr lang="en-US" sz="1467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60,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sections: [
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hook,       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0,  text },
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explanation,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8,  text },
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example,    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30, text },
    { name: </a:t>
            </a:r>
            <a:r>
              <a:rPr lang="en-US" sz="1467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recap,       </a:t>
            </a:r>
            <a:r>
              <a:rPr lang="en-US" sz="146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 50, text }
</a:t>
            </a:r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Set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SET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preset edge knowledge points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04160"/>
            <a:ext cx="11216640" cy="329184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5216" y="28529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55776" y="2852928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81856" y="28529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8496" y="2852928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purpose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3133344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5216" y="3133344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55776" y="3133344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Single-symbol topic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81856" y="3133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(π)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8496" y="3133344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 tiny input must fill the schema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5216" y="3462528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55776" y="3462528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 topic input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81856" y="34625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(blank)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8496" y="3462528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reject with InvalidTopic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7680" y="3791712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5216" y="3791712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55776" y="3791712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Ambiguous term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81856" y="3791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"Set" (Math vs. CS)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8496" y="3791712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disambiguate before generating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5216" y="4120896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5776" y="4120896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Highly technical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81856" y="41208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Riemann zeta function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8496" y="4120896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difficulty suitable for general audience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7680" y="4450080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5216" y="4450080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55776" y="4450080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Cross-disciplinary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181856" y="4450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Biophysics of vision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778496" y="4450080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topic drift between sections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5216" y="4779264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55776" y="4779264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Non-Latin input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181856" y="47792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"线性代数" (Chinese for "linear algebra")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778496" y="4779264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language must match input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87680" y="5108448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5216" y="5108448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255776" y="5108448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Outdated facts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181856" y="51084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 Pluto a planet?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778496" y="5108448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reference the updated scientific consensus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85216" y="5437632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55776" y="5437632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Sensitive topic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181856" y="54376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ethics trade-offs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778496" y="5437632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maintain a neutral framing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87680" y="5766816"/>
            <a:ext cx="11216640" cy="329184"/>
          </a:xfrm>
          <a:prstGeom prst="rect">
            <a:avLst/>
          </a:prstGeom>
          <a:solidFill>
            <a:srgbClr val="11162E">
              <a:alpha val="50000"/>
            </a:srgbClr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85216" y="5766816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255776" y="5766816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Number-heavy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181856" y="57668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Fibonacci mod prime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778496" y="5766816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fabricated numbers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85216" y="6096000"/>
            <a:ext cx="60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255776" y="6096000"/>
            <a:ext cx="280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Procedural knowledge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181856" y="609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DNS resolves a domain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778496" y="6096000"/>
            <a:ext cx="390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Strictly preserve step order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format consistency validation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11216640" cy="7315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26080"/>
            <a:ext cx="73152" cy="731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440" y="3048000"/>
            <a:ext cx="1078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input → same structure. Across runs, across models, across prompt versions.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7680" y="384048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98678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592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45920" y="435254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must strictly match the frozen schema — no extra or missing keys.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61760" y="398678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616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76160" y="435254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Sections must appear in contract order — no reordering.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512064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526694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45920" y="5266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Length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5920" y="563270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section's narration time fits within the declared time budget.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5120640"/>
            <a:ext cx="5486400" cy="1158240"/>
          </a:xfrm>
          <a:prstGeom prst="rect">
            <a:avLst/>
          </a:prstGeom>
          <a:solidFill>
            <a:srgbClr val="11162E"/>
          </a:solidFill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61760" y="5266944"/>
            <a:ext cx="853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76160" y="5266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check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76160" y="5632704"/>
            <a:ext cx="4145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Repeat calls on the same input must yield identical structured output.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 and Release Gates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535936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680" y="3048000"/>
            <a:ext cx="357225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7680" y="3901440"/>
            <a:ext cx="357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pass rate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3776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03776" y="3048000"/>
            <a:ext cx="357225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03776" y="3901440"/>
            <a:ext cx="357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Edge-case pass rate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19872" y="2926080"/>
            <a:ext cx="3572256" cy="146304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19872" y="3048000"/>
            <a:ext cx="357225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19872" y="3901440"/>
            <a:ext cx="3572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kern="0" spc="133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Structural diffs across 5 replays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693920"/>
            <a:ext cx="11216640" cy="1524000"/>
          </a:xfrm>
          <a:prstGeom prst="rect">
            <a:avLst/>
          </a:prstGeom>
          <a:solidFill>
            <a:srgbClr val="11162E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81584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gate flow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 Skill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82240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901696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901696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Test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52416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71872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71872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failures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22592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242048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42048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Freeze golden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192768" y="53644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12224" y="5303520"/>
            <a:ext cx="1950720" cy="67056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412224" y="536448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 to production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268224"/>
            <a:ext cx="219456" cy="21945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268224"/>
            <a:ext cx="73152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0976" y="21945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61760" y="21945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kern="0" spc="267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0" y="219456"/>
            <a:ext cx="9753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333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6461760"/>
            <a:ext cx="11216640" cy="0"/>
          </a:xfrm>
          <a:prstGeom prst="line">
            <a:avLst/>
          </a:prstGeom>
          <a:noFill/>
          <a:ln w="9525">
            <a:solidFill>
              <a:srgbClr val="2A315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6534912"/>
            <a:ext cx="7315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Definition &amp; Testing Standards ·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27520" y="6534912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b="1" kern="0" spc="133" dirty="0">
                <a:solidFill>
                  <a:srgbClr val="6E7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Engineering Notes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85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128016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small · Test hard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2377440"/>
            <a:ext cx="60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2865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3084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are atoms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3621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name, one contract, one thing; if it says "and", split it.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2865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760" y="3048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76160" y="3084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is truth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1760" y="3621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Inputs, outputs, side effects, and failure modes must all be declared explicitly.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389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45920" y="4608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Agents to test Agents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5145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Adversarial Agents find edges human authors miss.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4389120"/>
            <a:ext cx="5486400" cy="1341120"/>
          </a:xfrm>
          <a:prstGeom prst="rect">
            <a:avLst/>
          </a:prstGeom>
          <a:solidFill>
            <a:srgbClr val="1A1F3A"/>
          </a:solidFill>
          <a:ln w="12700">
            <a:solidFill>
              <a:srgbClr val="242B4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61760" y="4572000"/>
            <a:ext cx="975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76160" y="4608576"/>
            <a:ext cx="4145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 the format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61760" y="5145024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1467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Schema, golden, and diff checks — three gates guard every release.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6156960"/>
            <a:ext cx="12192000" cy="304800"/>
          </a:xfrm>
          <a:prstGeom prst="rect">
            <a:avLst/>
          </a:prstGeom>
          <a:solidFill>
            <a:srgbClr val="11162E"/>
          </a:solidFill>
          <a:ln w="12700">
            <a:solidFill>
              <a:srgbClr val="11162E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680" y="6181344"/>
            <a:ext cx="1121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kern="0" spc="667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OPENCLAW 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1832</Words>
  <Application>Microsoft Macintosh PowerPoint</Application>
  <PresentationFormat>Widescreen</PresentationFormat>
  <Paragraphs>432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Microsoft YaHei</vt:lpstr>
      <vt:lpstr>Aptos</vt:lpstr>
      <vt:lpstr>Arial</vt:lpstr>
      <vt:lpstr>Calibri</vt:lpstr>
      <vt:lpstr>Courier New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3</cp:revision>
  <dcterms:created xsi:type="dcterms:W3CDTF">2026-05-06T05:22:06Z</dcterms:created>
  <dcterms:modified xsi:type="dcterms:W3CDTF">2026-05-08T07:20:55Z</dcterms:modified>
</cp:coreProperties>
</file>