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倍数</c:v>
                </c:pt>
              </c:strCache>
            </c:strRef>
          </c:tx>
          <c:spPr>
            <a:solidFill>
              <a:srgbClr val="E874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Gemini 2.0 Flash</c:v>
                </c:pt>
                <c:pt idx="1">
                  <c:v>默认模型</c:v>
                </c:pt>
                <c:pt idx="2">
                  <c:v>Sonnet 4</c:v>
                </c:pt>
                <c:pt idx="3">
                  <c:v>GPT-4.5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0.25</c:v>
                </c:pt>
                <c:pt idx="1">
                  <c:v>1</c:v>
                </c:pt>
                <c:pt idx="2">
                  <c:v>1</c:v>
                </c:pt>
                <c:pt idx="3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14-C649-9396-C46DCE8BFB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DF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86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8C9E9-840E-C743-8031-F76146D96D9B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37828-3100-394D-8DA7-2DD205200AC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76453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76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765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768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kern="0" spc="8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0" y="48768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kern="0" spc="4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 REPORT · 2026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036320"/>
            <a:ext cx="10728960" cy="0"/>
          </a:xfrm>
          <a:prstGeom prst="line">
            <a:avLst/>
          </a:prstGeom>
          <a:noFill/>
          <a:ln w="1270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72896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7200" b="1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Agent 时代</a:t>
            </a:r>
            <a:endParaRPr lang="en-US" sz="7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72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733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 · </a:t>
            </a:r>
            <a:r>
              <a:rPr lang="en-US" sz="3733" b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</a:t>
            </a:r>
            <a:r>
              <a:rPr lang="en-US" sz="3733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GitHub Copilot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107289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i="1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三大平台的 Token 经济观察与开发者实战指南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5364480"/>
            <a:ext cx="487680" cy="6096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554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</a:t>
            </a:r>
            <a:r>
              <a:rPr lang="en-US" altLang="zh-CN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r>
              <a:rPr lang="zh-CN" altLang="en-US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Cloud Advocat</a:t>
            </a:r>
            <a:r>
              <a:rPr lang="en-US" altLang="zh-CN" sz="16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24800" y="554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6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5 月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议  程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今天我们聊什么?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438400"/>
            <a:ext cx="10972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2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11680" y="2560320"/>
            <a:ext cx="0" cy="48768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255520" y="2438400"/>
            <a:ext cx="48768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Agent 简介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255520" y="282854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 2026 年开发流程被重塑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3316224"/>
            <a:ext cx="10972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2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011680" y="3438144"/>
            <a:ext cx="0" cy="48768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255520" y="3316224"/>
            <a:ext cx="48768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三大平台横向解构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255520" y="3706368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· OpenClaw · GitHub Copilot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4194048"/>
            <a:ext cx="10972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2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011680" y="4315968"/>
            <a:ext cx="0" cy="48768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255520" y="4194048"/>
            <a:ext cx="48768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消耗特征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255520" y="458419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计费模型、放大器、可优化空间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" y="5071872"/>
            <a:ext cx="10972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2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011680" y="5193792"/>
            <a:ext cx="0" cy="48768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255520" y="5071872"/>
            <a:ext cx="48768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选型与成本优化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255520" y="5462016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场景匹配 + 实战建议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现场分享 — Coding Agent 与 Token 经济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一 章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什么是 Coding Agent?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377440"/>
            <a:ext cx="60960" cy="195072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2316480"/>
            <a:ext cx="60960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不再是 「补全」, 而是 「代理」.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60960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spcAft>
                <a:spcPts val="800"/>
              </a:spcAft>
            </a:pPr>
            <a:r>
              <a:rPr lang="en-US" sz="17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 能够规划、调用工具、读取文件、运行 shell, 在多步骤循环中独立推进任务 —— 直到目标达成或被人工干预。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193280" y="2255520"/>
            <a:ext cx="438912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160" y="2523744"/>
            <a:ext cx="609600" cy="609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168640" y="2474976"/>
            <a:ext cx="34137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目标驱动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168640" y="2865120"/>
            <a:ext cx="34137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理解高层意图, 自主分解任务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193280" y="3535680"/>
            <a:ext cx="438912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160" y="3803904"/>
            <a:ext cx="609600" cy="609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168640" y="3755136"/>
            <a:ext cx="34137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工具调用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8168640" y="4145280"/>
            <a:ext cx="34137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读写文件、执行命令、检索代码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7193280" y="4815840"/>
            <a:ext cx="438912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6160" y="5084064"/>
            <a:ext cx="609600" cy="6096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68640" y="5035296"/>
            <a:ext cx="34137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多轮循环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8168640" y="5425440"/>
            <a:ext cx="34137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 → 行动 → 观察 → 反思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现场分享 — Coding Agent 与 Token 经济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 景 图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三大平台 · 三种哲学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255520"/>
            <a:ext cx="3596640" cy="3901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2255520"/>
            <a:ext cx="3596640" cy="9753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9936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84960" y="2438400"/>
            <a:ext cx="25603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584960" y="2828544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· 终端优先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14400" y="3291840"/>
            <a:ext cx="298704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14400" y="3438144"/>
            <a:ext cx="310896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 出品, 完全开源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模型无关 (BYOM)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 Plan 双 Agent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914400" y="5547360"/>
            <a:ext cx="2987040" cy="42672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14400" y="5547360"/>
            <a:ext cx="29870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 = 模型直通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328160" y="2255520"/>
            <a:ext cx="3596640" cy="3901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328160" y="2255520"/>
            <a:ext cx="3596640" cy="9753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960" y="2499360"/>
            <a:ext cx="548640" cy="5486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03520" y="2438400"/>
            <a:ext cx="25603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 / Pi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5303520" y="2828544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极简 · 自演进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4632960" y="3291840"/>
            <a:ext cx="298704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4632960" y="3438144"/>
            <a:ext cx="310896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 4 个内置工具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通过自我改写扩展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端到端体验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4632960" y="5547360"/>
            <a:ext cx="2987040" cy="42672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632960" y="5547360"/>
            <a:ext cx="29870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 = 极小内核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8046720" y="2255520"/>
            <a:ext cx="3596640" cy="3901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8046720" y="2255520"/>
            <a:ext cx="3596640" cy="9753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1520" y="2499360"/>
            <a:ext cx="548640" cy="5486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022080" y="2438400"/>
            <a:ext cx="25603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Copilot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9022080" y="2828544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 · 一体化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8351520" y="3291840"/>
            <a:ext cx="298704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8351520" y="3438144"/>
            <a:ext cx="310896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Agent + Cloud Agent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Request 计费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 Token 限额过渡中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29"/>
          <p:cNvSpPr/>
          <p:nvPr/>
        </p:nvSpPr>
        <p:spPr>
          <a:xfrm>
            <a:off x="8351520" y="5547360"/>
            <a:ext cx="2987040" cy="42672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8351520" y="5547360"/>
            <a:ext cx="29870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 = 套餐 + 额度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1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现场分享 — Coding Agent 与 Token 经济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· 01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二 章 / OpenCode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终端原生的开源 Coding Agent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316480"/>
            <a:ext cx="65836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由 sst 团队开源, </a:t>
            </a:r>
            <a:r>
              <a:rPr lang="en-US" sz="2133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完全开放 · 模型无关.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6583680" cy="1706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spcAft>
                <a:spcPts val="800"/>
              </a:spcAft>
            </a:pPr>
            <a:r>
              <a:rPr lang="en-US" sz="1667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把 Coding Agent 当作一个独立的命令行工具, 直接嵌入开发者既有的终端工作流。它不绑定任何特定模型, 你可以在 Anthropic、OpenAI、本地 Ollama 等多家提供商之间灵活切换。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4876800"/>
            <a:ext cx="121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kern="0" spc="133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代码许可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950720" y="4876800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MIT, 完全开源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23360" y="4876800"/>
            <a:ext cx="121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kern="0" spc="133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运行界面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42560" y="4876800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 / 终端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5486400"/>
            <a:ext cx="121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kern="0" spc="133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模型支持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950720" y="5486400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多家 API + 本地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023360" y="5486400"/>
            <a:ext cx="121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kern="0" spc="133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扩展形态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242560" y="5486400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自定义 Agent / 工具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59040" y="2316480"/>
            <a:ext cx="4023360" cy="3657600"/>
          </a:xfrm>
          <a:prstGeom prst="rect">
            <a:avLst/>
          </a:prstGeom>
          <a:solidFill>
            <a:srgbClr val="0F1419"/>
          </a:solidFill>
          <a:ln w="1270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741920" y="2499360"/>
            <a:ext cx="146304" cy="146304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85760" y="2499360"/>
            <a:ext cx="146304" cy="146304"/>
          </a:xfrm>
          <a:prstGeom prst="ellipse">
            <a:avLst/>
          </a:prstGeom>
          <a:solidFill>
            <a:srgbClr val="F2A26B"/>
          </a:solidFill>
          <a:ln w="12700">
            <a:solidFill>
              <a:srgbClr val="F2A26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29600" y="2499360"/>
            <a:ext cx="146304" cy="146304"/>
          </a:xfrm>
          <a:prstGeom prst="ellipse">
            <a:avLst/>
          </a:prstGeom>
          <a:solidFill>
            <a:srgbClr val="5C7280"/>
          </a:solidFill>
          <a:ln w="12700">
            <a:solidFill>
              <a:srgbClr val="5C7280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559040" y="2438400"/>
            <a:ext cx="40233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dirty="0">
                <a:solidFill>
                  <a:srgbClr val="8B8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741920" y="2865120"/>
            <a:ext cx="3657600" cy="304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spcAft>
                <a:spcPts val="400"/>
              </a:spcAft>
            </a:pPr>
            <a:r>
              <a:rPr lang="en-US" sz="1333" dirty="0">
                <a:solidFill>
                  <a:srgbClr val="E87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opencode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spcAft>
                <a:spcPts val="400"/>
              </a:spcAft>
            </a:pPr>
            <a:r>
              <a:rPr lang="en-US" sz="1333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选择模型: claude-sonnet-4.6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spcAft>
                <a:spcPts val="400"/>
              </a:spcAft>
            </a:pPr>
            <a:r>
              <a:rPr lang="en-US" sz="1333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模式: Build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spcAft>
                <a:spcPts val="400"/>
              </a:spcAft>
            </a:pP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spcAft>
                <a:spcPts val="400"/>
              </a:spcAft>
            </a:pPr>
            <a:r>
              <a:rPr lang="en-US" sz="1333" dirty="0">
                <a:solidFill>
                  <a:srgbClr val="F2A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&gt; 修复 utils 里的边界问题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spcAft>
                <a:spcPts val="400"/>
              </a:spcAft>
            </a:pPr>
            <a:r>
              <a:rPr lang="en-US" sz="1333" dirty="0">
                <a:solidFill>
                  <a:srgbClr val="8B8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▸ 读取 utils.ts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spcAft>
                <a:spcPts val="400"/>
              </a:spcAft>
            </a:pPr>
            <a:r>
              <a:rPr lang="en-US" sz="1333" dirty="0">
                <a:solidFill>
                  <a:srgbClr val="8B8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▸ 运行 npm test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spcAft>
                <a:spcPts val="400"/>
              </a:spcAft>
            </a:pPr>
            <a:r>
              <a:rPr lang="en-US" sz="1333" dirty="0">
                <a:solidFill>
                  <a:srgbClr val="8B8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▸ 提交补丁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spcAft>
                <a:spcPts val="400"/>
              </a:spcAft>
            </a:pPr>
            <a:r>
              <a:rPr lang="en-US" sz="1333" dirty="0">
                <a:solidFill>
                  <a:srgbClr val="6B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完成 · 3 个测试通过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现场分享 — Coding Agent 与 Token 经济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· 02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/ 架构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· Plan · 子代理协同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255520"/>
            <a:ext cx="536448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2255520"/>
            <a:ext cx="73152" cy="134112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2316480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91840" y="2438400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b="1" kern="0" spc="267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· 全工具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2865120"/>
            <a:ext cx="4876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默认开发主代理, 拥有读、写、执行、搜索全部权限。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2255520"/>
            <a:ext cx="5364480" cy="1341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2255520"/>
            <a:ext cx="73152" cy="1341120"/>
          </a:xfrm>
          <a:prstGeom prst="rect">
            <a:avLst/>
          </a:prstGeom>
          <a:solidFill>
            <a:srgbClr val="5C7280"/>
          </a:solidFill>
          <a:ln w="12700">
            <a:solidFill>
              <a:srgbClr val="5C7280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22720" y="2316480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900160" y="2438400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b="1" kern="0" spc="267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· 受限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22720" y="2865120"/>
            <a:ext cx="4876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只读规划代理, 用于审查、设计、避免误操作。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0" y="371856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200" kern="0" spc="4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 · 协作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13120" y="3657600"/>
            <a:ext cx="0" cy="512064"/>
          </a:xfrm>
          <a:prstGeom prst="line">
            <a:avLst/>
          </a:prstGeom>
          <a:noFill/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600" y="4328160"/>
            <a:ext cx="5364480" cy="170688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72000"/>
            <a:ext cx="487680" cy="4876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24000" y="4511040"/>
            <a:ext cx="4267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524000" y="4937760"/>
            <a:ext cx="4267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14400" y="530352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通用研究 + 多步任务委派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217920" y="4328160"/>
            <a:ext cx="5364480" cy="170688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720" y="4572000"/>
            <a:ext cx="487680" cy="4876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132320" y="4511040"/>
            <a:ext cx="4267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7132320" y="4937760"/>
            <a:ext cx="4267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6522720" y="530352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只读探索, 适合大型代码库定位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现场分享 — Coding Agent 与 Token 经济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· 03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/ Token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直通模型: 透明、灵活、可优化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231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kern="0" spc="4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流向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2804160"/>
            <a:ext cx="5364480" cy="85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53440" y="3023616"/>
            <a:ext cx="426720" cy="426720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3440" y="3023616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63040" y="2926080"/>
            <a:ext cx="426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 CLI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63040" y="3291840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仅做编排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2896" y="3681984"/>
            <a:ext cx="0" cy="158496"/>
          </a:xfrm>
          <a:prstGeom prst="line">
            <a:avLst/>
          </a:prstGeom>
          <a:noFill/>
          <a:ln w="1524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9600" y="3840480"/>
            <a:ext cx="5364480" cy="85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53440" y="4059936"/>
            <a:ext cx="426720" cy="426720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3440" y="4059936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463040" y="3962400"/>
            <a:ext cx="426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提供商 API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63040" y="4328160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GPT / Local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72896" y="4718304"/>
            <a:ext cx="0" cy="158496"/>
          </a:xfrm>
          <a:prstGeom prst="line">
            <a:avLst/>
          </a:prstGeom>
          <a:noFill/>
          <a:ln w="1524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09600" y="4876800"/>
            <a:ext cx="5364480" cy="85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53440" y="5096256"/>
            <a:ext cx="426720" cy="426720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53440" y="5096256"/>
            <a:ext cx="426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463040" y="4998720"/>
            <a:ext cx="426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你的钱包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463040" y="5364480"/>
            <a:ext cx="4267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计费按量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83680" y="2316480"/>
            <a:ext cx="499872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584704"/>
            <a:ext cx="548640" cy="5486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498080" y="2499360"/>
            <a:ext cx="39014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完全透明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498080" y="2889504"/>
            <a:ext cx="390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无平台加价, 模型厂商定价直通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583680" y="3657600"/>
            <a:ext cx="499872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925824"/>
            <a:ext cx="548640" cy="54864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498080" y="3840480"/>
            <a:ext cx="39014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可控杠杆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7498080" y="4230624"/>
            <a:ext cx="390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选模型 / 缓存 / 子代理来摊薄成本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1"/>
          <p:cNvSpPr/>
          <p:nvPr/>
        </p:nvSpPr>
        <p:spPr>
          <a:xfrm>
            <a:off x="6583680" y="4998720"/>
            <a:ext cx="4998720" cy="1158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5266944"/>
            <a:ext cx="548640" cy="54864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7498080" y="5181600"/>
            <a:ext cx="390144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数据自主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7498080" y="5571744"/>
            <a:ext cx="390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可走自建网关, 配额、审计统一管理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4"/>
          <p:cNvSpPr/>
          <p:nvPr/>
        </p:nvSpPr>
        <p:spPr>
          <a:xfrm>
            <a:off x="6583680" y="6096000"/>
            <a:ext cx="73152" cy="21945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6766560" y="603504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注意: Agent 多轮循环易在大上下文中放大 Token, 建议配合 Plan 模式与本地缓存。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6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37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现场分享 — Coding Agent 与 Token 经济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38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01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三 章 / OpenClaw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极简之美: WhatsApp 上的 AI, 背后是 Pi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316480"/>
            <a:ext cx="5364480" cy="3901440"/>
          </a:xfrm>
          <a:prstGeom prst="rect">
            <a:avLst/>
          </a:prstGeom>
          <a:solidFill>
            <a:srgbClr val="1A1F26"/>
          </a:solidFill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2804160"/>
            <a:ext cx="731520" cy="731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9600" y="3657600"/>
            <a:ext cx="53644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3733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09600" y="4267200"/>
            <a:ext cx="536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· 个人 AI 助手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072640" y="4815840"/>
            <a:ext cx="2438400" cy="0"/>
          </a:xfrm>
          <a:prstGeom prst="line">
            <a:avLst/>
          </a:prstGeom>
          <a:noFill/>
          <a:ln w="9525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53440" y="4998720"/>
            <a:ext cx="487680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Peter Steinberger 推出, 圣诞期间爆红; 底层是 Mario Zechner 的极简 Coding Agent — Pi。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61760" y="2316480"/>
            <a:ext cx="8534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315200" y="2316480"/>
            <a:ext cx="41452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只 4 个工具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315200" y="2731008"/>
            <a:ext cx="41452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· write · edit · bash, 内核精简到底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461760" y="3474720"/>
            <a:ext cx="4998720" cy="0"/>
          </a:xfrm>
          <a:prstGeom prst="line">
            <a:avLst/>
          </a:prstGeom>
          <a:noFill/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61760" y="3633216"/>
            <a:ext cx="8534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315200" y="3633216"/>
            <a:ext cx="41452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自我改写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315200" y="4047744"/>
            <a:ext cx="41452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需要新功能? 让 Pi 修改 Pi 自己, 非工程师也能扩展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461760" y="4791456"/>
            <a:ext cx="4998720" cy="0"/>
          </a:xfrm>
          <a:prstGeom prst="line">
            <a:avLst/>
          </a:prstGeom>
          <a:noFill/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461760" y="4949952"/>
            <a:ext cx="8534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933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315200" y="4949952"/>
            <a:ext cx="41452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节制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315200" y="5364480"/>
            <a:ext cx="41452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拒绝把所有花哨能力堆进单一二进制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现场分享 — Coding Agent 与 Token 经济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02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/ 哲学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 「少即是多」?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255520"/>
            <a:ext cx="10972800" cy="128016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3440" y="2255520"/>
            <a:ext cx="731520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1219170"/>
            <a:r>
              <a:rPr lang="en-US" sz="8000" b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8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63040" y="237744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000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工具应该克制, 而不是不断膨胀。我们把最复杂的部分交给模型, 把最简单的部分交给用户。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63040" y="3108960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kern="0" spc="267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Mario Zechner, Pi 作者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3840480"/>
            <a:ext cx="536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Agent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0" y="3840480"/>
            <a:ext cx="536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/ Pi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9600" y="4267200"/>
            <a:ext cx="5364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2480" y="42672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数十种内置工具, 学习曲线陡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0" y="4267200"/>
            <a:ext cx="5364480" cy="54864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0" y="42672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个工具 · 5 分钟上手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9600" y="4937760"/>
            <a:ext cx="5364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2480" y="4937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新需求 = 等开发者发版本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17920" y="4937760"/>
            <a:ext cx="5364480" cy="54864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49377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新需求 = 让 Pi 改自己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9600" y="5608320"/>
            <a:ext cx="5364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92480" y="5608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复杂界面、复杂菜单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17920" y="5608320"/>
            <a:ext cx="5364480" cy="54864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0" y="5608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一条消息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现场分享 — Coding Agent 与 Token 经济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03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/ Token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极小内核 = 极小 Token 基线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255520"/>
            <a:ext cx="5364480" cy="396240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2377440"/>
            <a:ext cx="5364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9200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9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4267200"/>
            <a:ext cx="53644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867" kern="0" spc="267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个内置工具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72640" y="4815840"/>
            <a:ext cx="2438400" cy="0"/>
          </a:xfrm>
          <a:prstGeom prst="line">
            <a:avLst/>
          </a:prstGeom>
          <a:noFill/>
          <a:ln w="635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53440" y="4998720"/>
            <a:ext cx="487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67" i="1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更少的工具 schema 注入 prompt → 系统提示词 token 比同类平台显著更低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0" y="231648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kern="0" spc="4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特征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583680" y="2804160"/>
            <a:ext cx="390144" cy="390144"/>
          </a:xfrm>
          <a:prstGeom prst="ellipse">
            <a:avLst/>
          </a:prstGeom>
          <a:solidFill>
            <a:srgbClr val="6B8E5A"/>
          </a:solidFill>
          <a:ln w="12700">
            <a:solidFill>
              <a:srgbClr val="6B8E5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83680" y="2804160"/>
            <a:ext cx="39014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1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32320" y="2743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系统提示词极轻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32320" y="3108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工具描述少, 上下文窗口留给业务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83680" y="3596640"/>
            <a:ext cx="390144" cy="390144"/>
          </a:xfrm>
          <a:prstGeom prst="ellipse">
            <a:avLst/>
          </a:prstGeom>
          <a:solidFill>
            <a:srgbClr val="6B8E5A"/>
          </a:solidFill>
          <a:ln w="12700">
            <a:solidFill>
              <a:srgbClr val="6B8E5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0" y="3596640"/>
            <a:ext cx="39014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1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32320" y="3535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BYOM 自己付账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32320" y="3901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成本完全由用户的 LLM 账户承担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583680" y="4389120"/>
            <a:ext cx="390144" cy="390144"/>
          </a:xfrm>
          <a:prstGeom prst="ellipse">
            <a:avLst/>
          </a:prstGeom>
          <a:solidFill>
            <a:srgbClr val="6B8E5A"/>
          </a:solidFill>
          <a:ln w="12700">
            <a:solidFill>
              <a:srgbClr val="6B8E5A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83680" y="4389120"/>
            <a:ext cx="39014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1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32320" y="4328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可审计、可重写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32320" y="4693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 + 自改写, 哪一段烧 Token 一目了然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83680" y="5181600"/>
            <a:ext cx="390144" cy="39014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83680" y="5181600"/>
            <a:ext cx="39014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1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132320" y="5120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复杂任务多轮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132320" y="5486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工具粒度小, 复杂任务可能多次循环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现场分享 — Coding Agent 与 Token 经济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· 01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四 章 / GitHub Copilot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从代码补全, 走向多形态 Coding Agent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341120" y="3169920"/>
            <a:ext cx="9509760" cy="0"/>
          </a:xfrm>
          <a:prstGeom prst="line">
            <a:avLst/>
          </a:prstGeom>
          <a:noFill/>
          <a:ln w="1270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82624" y="3011424"/>
            <a:ext cx="316992" cy="316992"/>
          </a:xfrm>
          <a:prstGeom prst="ellipse">
            <a:avLst/>
          </a:prstGeom>
          <a:solidFill>
            <a:srgbClr val="F5F1E8"/>
          </a:solidFill>
          <a:ln w="1905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2255520"/>
            <a:ext cx="1706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933" b="1" i="1" dirty="0">
                <a:solidFill>
                  <a:srgbClr val="5C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2021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1920" y="347472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代码补全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1920" y="3877056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起步, 编辑器 ghost text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52544" y="3011424"/>
            <a:ext cx="316992" cy="316992"/>
          </a:xfrm>
          <a:prstGeom prst="ellipse">
            <a:avLst/>
          </a:prstGeom>
          <a:solidFill>
            <a:srgbClr val="F5F1E8"/>
          </a:solidFill>
          <a:ln w="1905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57600" y="2255520"/>
            <a:ext cx="1706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933" b="1" i="1" dirty="0">
                <a:solidFill>
                  <a:srgbClr val="5C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91840" y="347472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与 Spaces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91840" y="3877056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对话式辅助, 多模型选择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522464" y="3011424"/>
            <a:ext cx="316992" cy="316992"/>
          </a:xfrm>
          <a:prstGeom prst="ellipse">
            <a:avLst/>
          </a:prstGeom>
          <a:solidFill>
            <a:srgbClr val="F5F1E8"/>
          </a:solidFill>
          <a:ln w="1905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27520" y="2255520"/>
            <a:ext cx="1706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933" b="1" i="1" dirty="0">
                <a:solidFill>
                  <a:srgbClr val="5C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61760" y="347472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Mode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61760" y="3877056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内多步代理 + Cloud Agent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692384" y="3011424"/>
            <a:ext cx="316992" cy="316992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997440" y="2255520"/>
            <a:ext cx="170688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2933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631680" y="3474720"/>
            <a:ext cx="243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时代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631680" y="3877056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限额从 Request 转向 Token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9600" y="4998720"/>
            <a:ext cx="109728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9600" y="4998720"/>
            <a:ext cx="73152" cy="121920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4400" y="512064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两种 Agent 形态并存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14400" y="5547360"/>
            <a:ext cx="10363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IDE Agent Mode: 编辑器内交互式多步代理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14400" y="5852160"/>
            <a:ext cx="10363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Copilot Cloud Agent: 在 GitHub Actions 上后台运行, 处理 Issue 与 PR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现场分享 — Coding Agent 与 Token 经济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· 02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/ Agent 形态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 内交互 vs Cloud 后台委派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255520"/>
            <a:ext cx="536448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2255520"/>
            <a:ext cx="5364480" cy="9753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2560320"/>
            <a:ext cx="609600" cy="609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67840" y="2560320"/>
            <a:ext cx="40233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Mode (IDE)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767840" y="2950464"/>
            <a:ext cx="40233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75360" y="3474720"/>
            <a:ext cx="463296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75360" y="3596640"/>
            <a:ext cx="4876800" cy="2499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VS Code / Visual Studio / JetBrains 内运行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可读写文件、运行终端、调用 MCP 工具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每次用户发起的请求 = 1 Premium Request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适合实时迭代、视觉验证场景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217920" y="2255520"/>
            <a:ext cx="536448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217920" y="2255520"/>
            <a:ext cx="5364480" cy="9753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560320"/>
            <a:ext cx="609600" cy="609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76160" y="2560320"/>
            <a:ext cx="40233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Agent (远端)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7376160" y="2950464"/>
            <a:ext cx="40233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583680" y="3474720"/>
            <a:ext cx="463296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6583680" y="3596640"/>
            <a:ext cx="4876800" cy="2499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委派给 Issue / PR, 在 Actions 中后台执行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整个 Session = 1 Premium Request (固定)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期间消耗 GitHub Actions 分钟数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800"/>
              </a:spcAft>
              <a:buSzPct val="100000"/>
              <a:buFontTx/>
              <a:buChar char="■"/>
            </a:pPr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适合长任务、批量改、DRI 异步协作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现场分享 — Coding Agent 与 Token 经济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· 03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/ 计费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Request 与模型放大器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2255520"/>
            <a:ext cx="536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kern="0" spc="4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模型放大器 (示例)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10" name="Chart 0"/>
          <p:cNvGraphicFramePr/>
          <p:nvPr/>
        </p:nvGraphicFramePr>
        <p:xfrm>
          <a:off x="609600" y="2621280"/>
          <a:ext cx="5364480" cy="3596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8"/>
          <p:cNvSpPr/>
          <p:nvPr/>
        </p:nvSpPr>
        <p:spPr>
          <a:xfrm>
            <a:off x="6461760" y="2255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kern="0" spc="4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套餐月度 Premium 额度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6461760" y="2621280"/>
          <a:ext cx="5120640" cy="2340864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套餐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5F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月度额度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Pro+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E87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/ 用户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E87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/ 用户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461760" y="5364480"/>
            <a:ext cx="5120640" cy="85344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44640" y="542544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超额: $0.04 / Premium Request — 50× 模型 1 次 = $2.00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644640" y="579120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i="1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6 月起 Copilot 将逐步切换为 Token 限额计量。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现场分享 — Coding Agent 与 Token 经济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· 01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 向 对 比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三种 Token 计费哲学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255520"/>
            <a:ext cx="2682240" cy="487680"/>
          </a:xfrm>
          <a:prstGeom prst="rect">
            <a:avLst/>
          </a:prstGeom>
          <a:solidFill>
            <a:srgbClr val="1A1F26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2255520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kern="0" spc="133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维度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91840" y="2255520"/>
            <a:ext cx="2804160" cy="48768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13760" y="2255520"/>
            <a:ext cx="2560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kern="0" spc="133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6000" y="2255520"/>
            <a:ext cx="2804160" cy="48768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0" y="2255520"/>
            <a:ext cx="2560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kern="0" spc="133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 / Pi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900160" y="2255520"/>
            <a:ext cx="2682240" cy="48768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022080" y="2255520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kern="0" spc="133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Copilot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9600" y="2743200"/>
            <a:ext cx="268224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274320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计费模式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91840" y="2743200"/>
            <a:ext cx="280416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1376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 API 直通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6000" y="2743200"/>
            <a:ext cx="280416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1792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 API 直通 (BYOM)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900160" y="2743200"/>
            <a:ext cx="268224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022080" y="274320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Request → Token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9600" y="3291840"/>
            <a:ext cx="268224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31520" y="329184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透明度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91840" y="3291840"/>
            <a:ext cx="280416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413760" y="3291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 · 看得见每个 token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96000" y="3291840"/>
            <a:ext cx="280416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17920" y="3291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 · 内核小, 易审计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900160" y="3291840"/>
            <a:ext cx="268224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022080" y="329184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 · 倍数与限额需自查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09600" y="3840480"/>
            <a:ext cx="268224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31520" y="384048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平台抽成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91840" y="3840480"/>
            <a:ext cx="280416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413760" y="3840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096000" y="3840480"/>
            <a:ext cx="280416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217920" y="3840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900160" y="3840480"/>
            <a:ext cx="268224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022080" y="384048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 (订阅 + 超额)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09600" y="4389120"/>
            <a:ext cx="268224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1520" y="438912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可优化点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291840" y="4389120"/>
            <a:ext cx="280416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41376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选模型 / 缓存 / 子代理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096000" y="4389120"/>
            <a:ext cx="280416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21792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重写 Pi 自身, 自定义工具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8900160" y="4389120"/>
            <a:ext cx="268224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022080" y="438912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选模型, 控制 Agent 步数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09600" y="4937760"/>
            <a:ext cx="268224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31520" y="493776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典型成本结构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291840" y="4937760"/>
            <a:ext cx="280416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3413760" y="4937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token 双线计 (输入+输出)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096000" y="4937760"/>
            <a:ext cx="280416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217920" y="4937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token 双线计, 基线低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900160" y="4937760"/>
            <a:ext cx="268224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022080" y="493776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套餐固定 + 超额 $0.04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09600" y="5486400"/>
            <a:ext cx="268224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31520" y="548640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大上下文影响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3291840" y="5486400"/>
            <a:ext cx="280416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3413760" y="5486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明显, 直接体现在账单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096000" y="5486400"/>
            <a:ext cx="280416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6217920" y="5486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明显, 但工具上下文小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8900160" y="5486400"/>
            <a:ext cx="2682240" cy="54864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9022080" y="548640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Token 限额体现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现场分享 — Coding Agent 与 Token 经济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· 02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消耗特征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把账单拆开看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255520"/>
            <a:ext cx="359664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3440" y="2377440"/>
            <a:ext cx="31089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3440" y="2767584"/>
            <a:ext cx="3108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i="1" kern="0" spc="1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高自由度 · 高责任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3440" y="3169920"/>
            <a:ext cx="310896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800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5344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直接来自厂商账单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53440" y="4450080"/>
            <a:ext cx="310896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3440" y="4608576"/>
            <a:ext cx="323088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■"/>
            </a:pPr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上下文随项目膨胀, 需要主动剪裁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■"/>
            </a:pPr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模式只读, 减少误动作 Token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■"/>
            </a:pPr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可用 AI 网关做缓存与统一计费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28160" y="2255520"/>
            <a:ext cx="359664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0" y="2377440"/>
            <a:ext cx="31089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 / Pi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0" y="2767584"/>
            <a:ext cx="3108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i="1" kern="0" spc="1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极小内核 · 低基线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0" y="3169920"/>
            <a:ext cx="310896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800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个工具, 极小工具上下文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0" y="4450080"/>
            <a:ext cx="310896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0" y="4608576"/>
            <a:ext cx="323088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■"/>
            </a:pPr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 schema 极少, 系统提示开销最低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■"/>
            </a:pPr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复杂任务通过自我重写, 而非更多工具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■"/>
            </a:pPr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成本结构跟着用户挑的模型走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046720" y="2255520"/>
            <a:ext cx="3596640" cy="3962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90560" y="2377440"/>
            <a:ext cx="31089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Copilot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90560" y="2767584"/>
            <a:ext cx="3108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i="1" kern="0" spc="1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套餐封装 · 倍数放大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90560" y="3169920"/>
            <a:ext cx="310896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800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→ 50×</a:t>
            </a:r>
            <a:endParaRPr lang="en-US" sz="4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9056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模型倍数动态浮动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290560" y="4450080"/>
            <a:ext cx="310896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290560" y="4608576"/>
            <a:ext cx="323088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■"/>
            </a:pPr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Agent 整 Session 计 1 次, 性价比高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■"/>
            </a:pPr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高级模型用倍数 (最高 50×) 控制需求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■"/>
            </a:pPr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限额 (2026) 让长上下文成本可见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现场分享 — Coding Agent 与 Token 经济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 型 矩 阵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什么时候用哪个?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255520"/>
            <a:ext cx="10972800" cy="48768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2480" y="2255520"/>
            <a:ext cx="5486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kern="0" spc="133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场景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39840" y="2255520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kern="0" spc="133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推荐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839200" y="2255520"/>
            <a:ext cx="26822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kern="0" spc="133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理由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9600" y="2743200"/>
            <a:ext cx="10972800" cy="67056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2480" y="2743200"/>
            <a:ext cx="5486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我要在终端里高度可控地协同 LLM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39840" y="2743200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39200" y="2743200"/>
            <a:ext cx="26822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 + BYOM, Plan 模式可审计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9600" y="3413760"/>
            <a:ext cx="10972800" cy="67056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2480" y="3413760"/>
            <a:ext cx="5486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我想要一个轻量、可自我演进的私人 Agent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39840" y="3413760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 / Pi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39200" y="3413760"/>
            <a:ext cx="26822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极简内核 + 自我改写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600" y="4084320"/>
            <a:ext cx="10972800" cy="67056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92480" y="4084320"/>
            <a:ext cx="5486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我需要在 PR / Issue 上委派后台任务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39840" y="4084320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Cloud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839200" y="4084320"/>
            <a:ext cx="26822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计费, 与 GitHub 深度集成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9600" y="4754880"/>
            <a:ext cx="10972800" cy="670560"/>
          </a:xfrm>
          <a:prstGeom prst="rect">
            <a:avLst/>
          </a:prstGeom>
          <a:solidFill>
            <a:srgbClr val="F9F4E8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92480" y="4754880"/>
            <a:ext cx="5486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我需要团队级许可、合规、统一计费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39840" y="4754880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Enterprise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839200" y="4754880"/>
            <a:ext cx="26822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Premium / 用户, IT 友好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9600" y="5425440"/>
            <a:ext cx="10972800" cy="670560"/>
          </a:xfrm>
          <a:prstGeom prst="rect">
            <a:avLst/>
          </a:prstGeom>
          <a:solidFill>
            <a:srgbClr val="FFFFFF"/>
          </a:solidFill>
          <a:ln w="508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92480" y="5425440"/>
            <a:ext cx="5486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我希望离线, 用本地模型跑 Agent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39840" y="5425440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OpenCode + Local LLM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839200" y="5425440"/>
            <a:ext cx="26822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i="1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模型无关, 支持 Ollama 等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现场分享 — Coding Agent 与 Token 经济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 本 优 化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把每个 Token 都花在刀口上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316480"/>
            <a:ext cx="3596640" cy="1706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2535936"/>
            <a:ext cx="487680" cy="4876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74720" y="2499360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8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53440" y="3108960"/>
            <a:ext cx="31699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分层选模型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53440" y="3499104"/>
            <a:ext cx="3169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高频任务用便宜模型, 关键时刻才上 Opus / GPT-5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328160" y="2316480"/>
            <a:ext cx="3596640" cy="1706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535936"/>
            <a:ext cx="487680" cy="4876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93280" y="2499360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8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572000" y="3108960"/>
            <a:ext cx="31699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用好缓存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572000" y="3499104"/>
            <a:ext cx="3169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缓存命中价仅基础价 1/10, 长系统提示尤其受益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8046720" y="2316480"/>
            <a:ext cx="3596640" cy="1706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2535936"/>
            <a:ext cx="487680" cy="4876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911840" y="2499360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8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8290560" y="3108960"/>
            <a:ext cx="31699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优先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8290560" y="3499104"/>
            <a:ext cx="3169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Plan / 任务拆解先做规划, 再切换到 Build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609600" y="4206240"/>
            <a:ext cx="3596640" cy="1706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440" y="4425696"/>
            <a:ext cx="487680" cy="4876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474720" y="4389120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8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853440" y="4998720"/>
            <a:ext cx="31699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网关与配额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853440" y="5388864"/>
            <a:ext cx="3169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 OpenCode / OpenClaw 引入 AI 网关, 做集中配额与审计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4328160" y="4206240"/>
            <a:ext cx="3596640" cy="1706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425696"/>
            <a:ext cx="487680" cy="4876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93280" y="4389120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8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4572000" y="4998720"/>
            <a:ext cx="31699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委派 Cloud Agent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4572000" y="5388864"/>
            <a:ext cx="3169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Cloud 整 Session 1 个 Premium, 长任务最划算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8046720" y="4206240"/>
            <a:ext cx="3596640" cy="1706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0560" y="4425696"/>
            <a:ext cx="487680" cy="4876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911840" y="4389120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8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8290560" y="4998720"/>
            <a:ext cx="316992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限制 Agent 步数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8290560" y="5388864"/>
            <a:ext cx="3169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每步都是 token, 给 Agent 设上限 + 终止条件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现场分享 — Coding Agent 与 Token 经济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 来 趋 势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经济将重塑开发者市场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316480"/>
            <a:ext cx="5364480" cy="1828800"/>
          </a:xfrm>
          <a:prstGeom prst="rect">
            <a:avLst/>
          </a:prstGeom>
          <a:solidFill>
            <a:srgbClr val="1A1F26"/>
          </a:solidFill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2316480"/>
            <a:ext cx="73152" cy="182880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2499360"/>
            <a:ext cx="1219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请求计费 → Token 计费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3438144"/>
            <a:ext cx="4876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等平台逐步用 Token 限额取代固定 Request, 计费精度更接近真实算力。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56960" y="2316480"/>
            <a:ext cx="5364480" cy="1828800"/>
          </a:xfrm>
          <a:prstGeom prst="rect">
            <a:avLst/>
          </a:prstGeom>
          <a:solidFill>
            <a:srgbClr val="1A1F26"/>
          </a:solidFill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56960" y="2316480"/>
            <a:ext cx="73152" cy="182880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61760" y="2499360"/>
            <a:ext cx="1219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61760" y="292608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本地模型回潮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61760" y="3438144"/>
            <a:ext cx="4876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OpenCode、Pi 等 BYOM 工具让本地推理回到选项, 数据合规与成本兼顾。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9600" y="4328160"/>
            <a:ext cx="5364480" cy="1828800"/>
          </a:xfrm>
          <a:prstGeom prst="rect">
            <a:avLst/>
          </a:prstGeom>
          <a:solidFill>
            <a:srgbClr val="1A1F26"/>
          </a:solidFill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9600" y="4328160"/>
            <a:ext cx="73152" cy="182880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4400" y="4511040"/>
            <a:ext cx="1219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4400" y="493776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of Agents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4400" y="5449824"/>
            <a:ext cx="4876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调用 Plan、Plan 调用 Explore — 子代理复用让单次任务被切成多笔小账。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56960" y="4328160"/>
            <a:ext cx="5364480" cy="1828800"/>
          </a:xfrm>
          <a:prstGeom prst="rect">
            <a:avLst/>
          </a:prstGeom>
          <a:solidFill>
            <a:srgbClr val="1A1F26"/>
          </a:solidFill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56960" y="4328160"/>
            <a:ext cx="73152" cy="1828800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61760" y="4511040"/>
            <a:ext cx="1219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61760" y="493776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极简哲学复兴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61760" y="5449824"/>
            <a:ext cx="48768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/ Pi 走红说明: 「四个工具 + 一颗强模型」可能比堆砌工具更可持续。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现场分享 — Coding Agent 与 Token 经济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512064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219456"/>
            <a:ext cx="73152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133" b="1" kern="0" spc="533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0" y="219456"/>
            <a:ext cx="3657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07040" y="219456"/>
            <a:ext cx="9753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1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914400"/>
            <a:ext cx="219456" cy="219456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0976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 句 话 总 结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如果只能记住三件事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2377440"/>
            <a:ext cx="121920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7466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11680" y="2474976"/>
            <a:ext cx="0" cy="103632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255520" y="2438400"/>
            <a:ext cx="9144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理解 Token 流向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255520" y="2926080"/>
            <a:ext cx="91440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无论用哪个平台, 先问: 「这个 token 是谁付钱、谁能看见?」 OpenCode 直通、Pi 直通, Copilot 经过套餐封装。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3657600"/>
            <a:ext cx="121920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7466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011680" y="3755136"/>
            <a:ext cx="0" cy="103632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255520" y="3718560"/>
            <a:ext cx="9144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拥抱极简内核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255520" y="4206240"/>
            <a:ext cx="91440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证明了 4 个工具就够。先用最小集合解决问题, 只在必要时再扩展, 通常更便宜也更稳。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9600" y="4937760"/>
            <a:ext cx="121920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7466" b="1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46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011680" y="5035296"/>
            <a:ext cx="0" cy="1036320"/>
          </a:xfrm>
          <a:prstGeom prst="line">
            <a:avLst/>
          </a:prstGeom>
          <a:noFill/>
          <a:ln w="9525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255520" y="4998720"/>
            <a:ext cx="9144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为成本设计 Agent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255520" y="5486400"/>
            <a:ext cx="91440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5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限制循环步数、引入 Plan 模式、分层选模型、缓存系统提示 — 把 Token 放在工程化的层面去优化。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600" y="6461760"/>
            <a:ext cx="10972800" cy="0"/>
          </a:xfrm>
          <a:prstGeom prst="line">
            <a:avLst/>
          </a:prstGeom>
          <a:noFill/>
          <a:ln w="6350">
            <a:solidFill>
              <a:srgbClr val="D9D2C2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09600" y="6534912"/>
            <a:ext cx="73152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2026 现场分享 — Coding Agent 与 Token 经济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924800" y="6534912"/>
            <a:ext cx="36576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0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8768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b="1" kern="0" spc="8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0" y="48768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219170"/>
            <a:r>
              <a:rPr lang="en-US" sz="1200" kern="0" spc="4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 REPORT · 2026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036320"/>
            <a:ext cx="10728960" cy="0"/>
          </a:xfrm>
          <a:prstGeom prst="line">
            <a:avLst/>
          </a:prstGeom>
          <a:noFill/>
          <a:ln w="12700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706880"/>
            <a:ext cx="1072896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9600" b="1" i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9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7289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i="1" dirty="0">
                <a:solidFill>
                  <a:srgbClr val="E87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「最好的 Agent, 不是工具最多, 而是 Token 用得最准。」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4267200"/>
            <a:ext cx="10728960" cy="0"/>
          </a:xfrm>
          <a:prstGeom prst="line">
            <a:avLst/>
          </a:prstGeom>
          <a:noFill/>
          <a:ln w="9525">
            <a:solidFill>
              <a:srgbClr val="2A2F36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341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5120640"/>
            <a:ext cx="365760" cy="48768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5266944"/>
            <a:ext cx="341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现场提问 / 茶歇继续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0" y="4754880"/>
            <a:ext cx="341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9120" y="5120640"/>
            <a:ext cx="365760" cy="48768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9120" y="5266944"/>
            <a:ext cx="341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三大平台现场对比演示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341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b="1" kern="0" spc="4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46720" y="5120640"/>
            <a:ext cx="365760" cy="48768"/>
          </a:xfrm>
          <a:prstGeom prst="rect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pPr defTabSz="1219170"/>
            <a:endParaRPr lang="en-CN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046720" y="5266944"/>
            <a:ext cx="341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Kinfey Lo · Microsoft Cloud Advocate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6400800"/>
            <a:ext cx="107289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067" kern="0" spc="267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Coding Agent Report · Powered by Copilot Cowork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1631</Words>
  <Application>Microsoft Macintosh PowerPoint</Application>
  <PresentationFormat>Widescreen</PresentationFormat>
  <Paragraphs>440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Calibri</vt:lpstr>
      <vt:lpstr>Consolas</vt:lpstr>
      <vt:lpstr>Georgia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Kinfey Lo</dc:creator>
  <cp:lastModifiedBy>Kinfey Lo</cp:lastModifiedBy>
  <cp:revision>2</cp:revision>
  <dcterms:created xsi:type="dcterms:W3CDTF">2026-05-06T05:22:56Z</dcterms:created>
  <dcterms:modified xsi:type="dcterms:W3CDTF">2026-05-06T05:23:40Z</dcterms:modified>
</cp:coreProperties>
</file>