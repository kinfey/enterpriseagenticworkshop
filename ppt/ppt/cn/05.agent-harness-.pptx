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4B58F-91B4-554E-9E01-65AB6CE6605B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344A-5E81-BF47-A979-409AFDAF684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172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81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80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1945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219456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0" y="0"/>
            <a:ext cx="3048000" cy="219456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0" y="0"/>
            <a:ext cx="3048000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14560" y="1811383"/>
            <a:ext cx="3901440" cy="3901440"/>
          </a:xfrm>
          <a:prstGeom prst="ellipse">
            <a:avLst/>
          </a:prstGeom>
          <a:solidFill>
            <a:srgbClr val="0078D4">
              <a:alpha val="3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68000" y="2577737"/>
            <a:ext cx="2194560" cy="2194560"/>
          </a:xfrm>
          <a:prstGeom prst="ellipse">
            <a:avLst/>
          </a:prstGeom>
          <a:solidFill>
            <a:srgbClr val="FFB900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73152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0726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kern="0" spc="16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743200"/>
            <a:ext cx="977972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构建下一代 AI 智能体的核心架构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9624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Azure Foundry、Anthropic 到 AWS Bedrock 的工程实践与设计哲学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" y="4876800"/>
            <a:ext cx="1463040" cy="0"/>
          </a:xfrm>
          <a:prstGeom prst="line">
            <a:avLst/>
          </a:prstGeom>
          <a:noFill/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505968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Kinfey</a:t>
            </a:r>
            <a:r>
              <a:rPr lang="zh-CN" alt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</a:t>
            </a:r>
            <a:r>
              <a:rPr lang="zh-CN" alt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zh-CN" alt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zh-CN" alt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lang="en-US" sz="1467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67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Advocate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548640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  ·  议程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本次内容议程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本次将分六大主题深入探讨 Agent Harness 的设计与实践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95072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950720"/>
            <a:ext cx="97536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06880" y="201168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概念基础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42560" y="201168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Agent Harness 及其核心组件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68224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682240"/>
            <a:ext cx="97536" cy="67056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06880" y="274320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三大平台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42560" y="274320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Foundry、Anthropic、AWS Bedrock 详解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341376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7680" y="3413760"/>
            <a:ext cx="97536" cy="6705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06880" y="347472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42560" y="347472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隔离模型、协议、身份与安全多维度比较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14528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145280"/>
            <a:ext cx="97536" cy="67056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20624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06880" y="42062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实战指南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42560" y="420624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开发流程、上下文工程与性能优化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487680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7680" y="4876800"/>
            <a:ext cx="97536" cy="67056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493776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706880" y="493776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趋势展望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42560" y="493776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Meta-Harness 与可演进架构的未来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60832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7680" y="5608320"/>
            <a:ext cx="97536" cy="67056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5669280"/>
            <a:ext cx="85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706880" y="566928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242560" y="5669280"/>
            <a:ext cx="633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深入交流与现场答疑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720" cy="685800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kern="0" spc="1333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621280"/>
            <a:ext cx="73152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65120"/>
            <a:ext cx="9753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概念基础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452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Agent Harness:从 Prompt 到工程化的关键跃迁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动机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为什么我们需要 Agent Harness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构建生产级 AI 智能体涉及大量横切关注点,远不止 Prompt 工程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2011680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2011680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68224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镜像构建、Web 服务器配置、运行时编排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42816" y="2011680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42816" y="2011680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6656" y="2194560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268224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身份管理、最小权限、敏感数据保护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97952" y="2011680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97952" y="2011680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41792" y="2194560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41792" y="268224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会话内存、文件存储、跨轮次状态恢复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3633216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3633216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381609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430377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并发会话、空闲回收、冷启动时延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42816" y="3633216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42816" y="3633216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86656" y="381609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86656" y="430377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日志聚合、指标采集、追踪与诊断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997952" y="3633216"/>
            <a:ext cx="359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997952" y="3633216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41792" y="381609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版本回滚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41792" y="430377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金丝雀发布、蓝绿部署、流量切换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913120"/>
            <a:ext cx="11216640" cy="512064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7680" y="5913120"/>
            <a:ext cx="1121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 是一套将这些复杂性收敛到平台层的工程抽象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概念定义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Agent Harness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= 围绕 LLM 的执行环境、循环逻辑与基础设施集合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390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 三层抽象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3440" y="2621280"/>
            <a:ext cx="4876800" cy="853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6320" y="2657856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— 大脑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36320" y="3048000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推理 + Harness 循环逻辑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3440" y="3596640"/>
            <a:ext cx="4876800" cy="8534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6320" y="3633216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Hands — 手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36320" y="4023360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沙箱执行环境 + 工具调用接口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3440" y="4572000"/>
            <a:ext cx="4876800" cy="853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320" y="4608576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— 会话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6320" y="4998720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追加式事件日志 + 状态恢复机制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1889760"/>
            <a:ext cx="536448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9840" y="1889760"/>
            <a:ext cx="97536" cy="3901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207264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83680" y="2499360"/>
            <a:ext cx="487680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078D4"/>
                </a:solidFill>
                <a:latin typeface="Calibri" panose="020F0502020204030204"/>
              </a:rPr>
              <a:t>Agent Harness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1F2937"/>
                </a:solidFill>
                <a:latin typeface="Calibri" panose="020F0502020204030204"/>
              </a:rPr>
              <a:t>是一套围绕 LLM 构建的工程框架,负责调用模型、路由工具调用、维护状态、保障安全。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800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733" b="1" dirty="0">
                <a:solidFill>
                  <a:srgbClr val="0078D4"/>
                </a:solidFill>
                <a:latin typeface="Calibri" panose="020F0502020204030204"/>
              </a:rPr>
              <a:t>类比操作系统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1F2937"/>
                </a:solidFill>
                <a:latin typeface="Calibri" panose="020F0502020204030204"/>
              </a:rPr>
              <a:t>Harness 之于 LLM,如同 OS 之于 CPU——通过虚拟化与抽象,把硬件复杂度收敛到平台层。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800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733" b="1" dirty="0">
                <a:solidFill>
                  <a:srgbClr val="0078D4"/>
                </a:solidFill>
                <a:latin typeface="Calibri" panose="020F0502020204030204"/>
              </a:rPr>
              <a:t>演进规律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1F2937"/>
                </a:solidFill>
                <a:latin typeface="Calibri" panose="020F0502020204030204"/>
              </a:rPr>
              <a:t>Harness 编码了对 LLM 能力的假设。模型变强后,部分假设会过时——因此接口需稳定,实现可演进。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5998464"/>
            <a:ext cx="1121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来源:Anthropic Engineering — Scaling Managed Agents (2026)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核心组件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 的三大核心组件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提出的虚拟化模型:Brain / Hands / Session 解耦设计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3891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3596640" cy="7924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950720"/>
            <a:ext cx="3169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— 大脑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340864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推理与控制循环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31699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Claude / GPT / 自研模型完成推理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解析输出、路由工具调用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Stateless 设计,可水平扩展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失败时通过 wake(sessionId) 重启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3776" y="1889760"/>
            <a:ext cx="3596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97536" cy="438912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1889760"/>
            <a:ext cx="3596640" cy="7924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1950720"/>
            <a:ext cx="3169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Hands — 手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2340864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沙箱与工具执行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2926080"/>
            <a:ext cx="31699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execute(name, input) → string 通用接口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容器、函数、MCP Server、外部 API 均可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可插拔——可换为 Phone、模拟器或外部系统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失败被 Brain 当成普通工具错误处理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1889760"/>
            <a:ext cx="3596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19872" y="1889760"/>
            <a:ext cx="97536" cy="43891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19872" y="1889760"/>
            <a:ext cx="3596640" cy="7924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1950720"/>
            <a:ext cx="3169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— 会话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63712" y="2340864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持久化事件日志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2926080"/>
            <a:ext cx="31699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append-only 事件流,记录所有交互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getEvents() 允许 Brain 回看上下文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独立于 Brain 与容器存活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支持崩溃恢复与跨设备访问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设计哲学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解耦的力量:大脑、手、会话的分离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通过松耦合接口,让任一组件可独立失败、替换与扩展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耦合架构(早期方案)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2560320"/>
            <a:ext cx="5364480" cy="341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4876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Brain、Hands、Session 同处一个容器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容器失败 → 整个会话丢失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无法连接到客户的 VPC 资源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调试困难,失败原因难定位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受容器冷启动严重拖慢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凭据泄漏可被 Prompt Injection 利用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0" y="1889760"/>
            <a:ext cx="5608320" cy="6096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0" y="188976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解耦架构(Managed Agents)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0" y="2560320"/>
            <a:ext cx="5608320" cy="341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0" y="27432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三组件独立部署,各自可失败可重启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无状态,水平扩展极简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Hands 仅按需创建,不挡 TTFT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可连接客户 VPC,Brain 不需 peering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凭据不进沙箱,通过代理访问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TTFT 下降 60%,P95 下降 90%+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6096000"/>
            <a:ext cx="11216640" cy="390144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" y="609600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"Don't adopt a pet" — 把容器当牛而非宠物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演进路径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的三阶段演进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模板到托管运行时,工程化能力逐级递进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36320" y="2255520"/>
            <a:ext cx="0" cy="347472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2480" y="2011680"/>
            <a:ext cx="487680" cy="487680"/>
          </a:xfrm>
          <a:prstGeom prst="ellipse">
            <a:avLst/>
          </a:prstGeom>
          <a:solidFill>
            <a:srgbClr val="5B667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6880" y="1950720"/>
            <a:ext cx="9997440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706880" y="1950720"/>
            <a:ext cx="97536" cy="975360"/>
          </a:xfrm>
          <a:prstGeom prst="rect">
            <a:avLst/>
          </a:prstGeom>
          <a:solidFill>
            <a:srgbClr val="5B667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50720" y="201168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50720" y="231648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0" y="213360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System Prompt + Few-shot 完成单轮任务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2480" y="3169920"/>
            <a:ext cx="487680" cy="487680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06880" y="3108960"/>
            <a:ext cx="9997440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706880" y="3108960"/>
            <a:ext cx="97536" cy="9753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950720" y="316992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50720" y="347472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Agent 框架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/ Semantic Kernel / Agent Framework,自管编排循环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2480" y="4328160"/>
            <a:ext cx="487680" cy="487680"/>
          </a:xfrm>
          <a:prstGeom prst="ellipse">
            <a:avLst/>
          </a:prstGeom>
          <a:solidFill>
            <a:srgbClr val="FFB9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06880" y="4267200"/>
            <a:ext cx="9997440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06880" y="4267200"/>
            <a:ext cx="97536" cy="9753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50720" y="432816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50720" y="463296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 Agent 平台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445008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Foundry / Anthropic / AWS Bedrock 提供 Harness 即服务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73024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5730240"/>
            <a:ext cx="97536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573024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当前焦点:Stage 3 —— 各大云厂商正激烈竞争 Managed Harness 标准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720" cy="685800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kern="0" spc="1333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621280"/>
            <a:ext cx="73152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65120"/>
            <a:ext cx="9753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三大平台详解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452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  ·  Anthropic Managed Agents  ·  AWS Bedrock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全景图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三大托管 Agent 平台总览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代表三种不同的设计哲学和工程取舍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3596640" cy="1219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2072640"/>
            <a:ext cx="853440" cy="853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06880" y="2133600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06880" y="2523744"/>
            <a:ext cx="2255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Hosted Agents (Preview)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316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BYOC:容器即代码,框架不限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+ Invocations 双协议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Per-session VM 隔离沙箱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Entra ID 自动绑定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深度集成 Foundry Toolbox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1889760"/>
            <a:ext cx="3596640" cy="12192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47616" y="2072640"/>
            <a:ext cx="853440" cy="853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22976" y="2133600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Managed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22976" y="2523744"/>
            <a:ext cx="2255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 Agents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47616" y="3291840"/>
            <a:ext cx="316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/ Hands / Session 三层解耦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Meta-Harness 思想,接口稳定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面向长程任务,会话独立持久化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工具与代理凭据隔离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工程博文公开了详细设计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19872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889760"/>
            <a:ext cx="3596640" cy="12192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63712" y="2072640"/>
            <a:ext cx="853440" cy="853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7C1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39072" y="2133600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Bedrock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339072" y="2523744"/>
            <a:ext cx="2255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 Agents (OpenAI)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63712" y="3291840"/>
            <a:ext cx="316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 OpenAI Harness 商用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 AgentCore 默认计算环境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 AWS,身份审计内建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贴近现有 AWS 数据与计算服务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Limited Preview 阶段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</a:t>
            </a:r>
            <a:r>
              <a:rPr lang="en-US" altLang="zh-CN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 Hosted Agents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推出的托管智能体平台,支持自带框架与代码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950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5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Agent 作为容器化应用,运行于 Microsoft 托管的基础设施。开发者保留代码与框架的完全控制,平台负责伸缩、状态、可观测性与生命周期。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889760"/>
            <a:ext cx="536448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97536" cy="19507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249936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自带代码 / 框架(Agent Framework、LangGraph、Semantic Kernel)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需自定义协议接收 Webhook 或非 OpenAI 负载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需控制计算资源(CPU/Memory)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需有状态工作负载(跨轮持久化)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145280"/>
            <a:ext cx="2657856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14528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560" y="43281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BYOC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0560" y="4876800"/>
            <a:ext cx="609600" cy="4876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059680"/>
            <a:ext cx="23164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自带容器镜像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28416" y="4145280"/>
            <a:ext cx="2657856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28416" y="4145280"/>
            <a:ext cx="97536" cy="20726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11296" y="43281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Auto-Scale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511296" y="4876800"/>
            <a:ext cx="609600" cy="48768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11296" y="5059680"/>
            <a:ext cx="23164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 + 空闲零成本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69152" y="4145280"/>
            <a:ext cx="2657856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69152" y="414528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52032" y="43281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 Isolation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2032" y="4876800"/>
            <a:ext cx="60960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52032" y="5059680"/>
            <a:ext cx="23164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每会话独立 VM 沙箱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009888" y="4145280"/>
            <a:ext cx="2657856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09888" y="4145280"/>
            <a:ext cx="97536" cy="20726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192768" y="43281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Entra ID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192768" y="4876800"/>
            <a:ext cx="609600" cy="4876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192768" y="5059680"/>
            <a:ext cx="23164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专属身份与端点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</a:t>
            </a:r>
            <a:r>
              <a:rPr lang="en-US" altLang="zh-CN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Foundry 工作机制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从镜像构建到运行时调用的完整生命周期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75360" y="2072640"/>
            <a:ext cx="853440" cy="8534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构建镜像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72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 Agent 代码为容器镜像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28800" y="2499360"/>
            <a:ext cx="48768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0" y="2072640"/>
            <a:ext cx="853440" cy="853440"/>
          </a:xfrm>
          <a:prstGeom prst="ellipse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3840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 ACR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7744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推送至 Azure Container Registry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79520" y="2499360"/>
            <a:ext cx="48768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0" y="2072640"/>
            <a:ext cx="853440" cy="85344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7680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创建版本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2816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Service 拉取镜像、配置资源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30240" y="2499360"/>
            <a:ext cx="48768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27520" y="2072640"/>
            <a:ext cx="853440" cy="85344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2752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984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分配身份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888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自动绑定 Microsoft Entra ID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80960" y="2499360"/>
            <a:ext cx="48768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78240" y="2072640"/>
            <a:ext cx="853440" cy="853440"/>
          </a:xfrm>
          <a:prstGeom prst="ellipse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7824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9056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暴露端点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Responses 与/或 Invocations 端点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31680" y="2499360"/>
            <a:ext cx="48768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728960" y="2072640"/>
            <a:ext cx="853440" cy="853440"/>
          </a:xfrm>
          <a:prstGeom prst="ellipse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728960" y="207264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241280" y="304800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运行时调用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180320" y="347472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处理客户端请求,平台管理状态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7680" y="4693920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7680" y="4693920"/>
            <a:ext cx="97536" cy="17068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1520" y="4815840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平台自动管理: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5242560"/>
            <a:ext cx="1085088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容器生命周期:活动时按需配置,空闲超时(15 分钟)自动卸载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状态持久化:$HOME 与 /files 内容在会话恢复时自动还原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弹性伸缩:支持 0.25 vCPU / 0.5 GiB 至 2 vCPU / 4 GiB 沙箱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可观测性:OpenTelemetry 集成,日志、追踪与指标内建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</a:t>
            </a:r>
            <a:r>
              <a:rPr lang="en-US" altLang="zh-CN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与 Invocations 双协议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两种协议覆盖对话、Webhook、批处理与定制场景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486400" cy="4145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1452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5486400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88976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协议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对话式机器人、多轮 Q&amp;A、RAG、后台异步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28800" y="329184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兼容的 /responses 协议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28800" y="384048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 OpenAI SDK(Python / JS / C#)即开即用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0" y="438912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平台托管对话历史(conversation ID)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493776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ResponseEventStream,内建生命周期事件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28800" y="54864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background: true + 平台轮询取消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1889760"/>
            <a:ext cx="5486400" cy="4145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1889760"/>
            <a:ext cx="97536" cy="41452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1889760"/>
            <a:ext cx="5486400" cy="6705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61760" y="188976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Invocations 协议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61760" y="274320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59040" y="27432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接收、分类抽取、自定义流式协议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61760" y="329184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59040" y="329184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 JSON 入,任意 JSON 出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61760" y="384048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59040" y="384048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SDK,需自行约定契约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61760" y="438912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59040" y="438912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应用层管理(内存 / Cosmos DB)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1760" y="493776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59040" y="493776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SSE,完全自控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61760" y="5486400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59040" y="54864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需自行追踪任务并实现轮询端点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7680" y="615696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两种协议可同时启用,亦可叠加 Activity(Teams/M365)与 A2A(Agent-to-Agent)协议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Azure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身份与端点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每个托管 Agent 自动获得专属 Entra ID 与端点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432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328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两种身份的角色分工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621280"/>
            <a:ext cx="512064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2621280"/>
            <a:ext cx="97536" cy="1524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Entra ID(Agent 身份)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4754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部署时自动创建,每个 Agent 独立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容器运行时鉴权,调用模型与下游服务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 azd 自动赋予 Azure AI User 角色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4328160"/>
            <a:ext cx="5120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4328160"/>
            <a:ext cx="97536" cy="17068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450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Managed Identity(项目级)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4815840"/>
            <a:ext cx="47548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Foundry 项目系统分配身份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平台基础设施操作专用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例:Container Registry Reader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 Agent 运行时身份分离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1889760"/>
            <a:ext cx="5364480" cy="432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1889760"/>
            <a:ext cx="97536" cy="43281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自动暴露的端点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2621280"/>
            <a:ext cx="4876800" cy="128016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2682240"/>
            <a:ext cx="4632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Endpoint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66560" y="3048000"/>
            <a:ext cx="4632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{project_endpoint}/agents/{name}/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endpoint/protocols/openai/v1/responses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4023360"/>
            <a:ext cx="4876800" cy="128016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66560" y="4084320"/>
            <a:ext cx="4632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Invocations Endpoint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4450080"/>
            <a:ext cx="4632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{project_endpoint}/agents/{name}/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endpoint/protocols/invocations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5547360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OBO(On-Behalf-Of):Teams/M365 集成时可代用户调用下游服务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Azure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会话(Sessions)与对话(Conversations)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两种状态抽象服务于不同协议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2072640" cy="60960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188976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0" y="1889760"/>
            <a:ext cx="4511040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82240" y="188976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Session(会话)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71360" y="1889760"/>
            <a:ext cx="4632960" cy="6096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93280" y="1889760"/>
            <a:ext cx="4389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Conversation(对话)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499360"/>
            <a:ext cx="1121664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2499360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2240" y="2499360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$HOME 与 /files 的逻辑会话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93280" y="2499360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Foundry 中存储的对话历史记录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3035808"/>
            <a:ext cx="11216640" cy="53644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3035808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82240" y="3035808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$HOME 与 /files 跨轮持久化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93280" y="3035808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消息、工具调用与响应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3572256"/>
            <a:ext cx="1121664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3572256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82240" y="3572256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天上限,15 分钟空闲卸载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93280" y="3572256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独立于计算状态长期存储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4108704"/>
            <a:ext cx="11216640" cy="53644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4108704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主导协议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82240" y="4108704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Invocations 协议主控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93280" y="4108704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协议主控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7680" y="4645152"/>
            <a:ext cx="11216640" cy="5364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9600" y="4645152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跨渠道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82240" y="4645152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受会话 ID 绑定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93280" y="4645152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Playground / API / Teams 共享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7680" y="5181600"/>
            <a:ext cx="11216640" cy="53644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09600" y="5181600"/>
            <a:ext cx="18288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 API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682240" y="5181600"/>
            <a:ext cx="4267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 / 终止 / 上传文件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93280" y="5181600"/>
            <a:ext cx="4389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Foundry 自动维护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7680" y="5827776"/>
            <a:ext cx="11216640" cy="390144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7680" y="5827776"/>
            <a:ext cx="97536" cy="39014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5827776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会话计算生命周期:Active → 15 min idle → 状态持久化 → 同 ID 再请求时还原计算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Azure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安全与数据治理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 VM 隔离 + 多重安全边界设计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Per-Session VM Isolation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每个会话独立 VM 沙箱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 $HOME 与 /files 文件系统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Scale-to-zero 同时支持有状态恢复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会话间完全隔离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889760"/>
            <a:ext cx="536448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凭据与密钥管理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2499360"/>
            <a:ext cx="487680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⚠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切勿将密钥写入镜像或环境变量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⚠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Managed Identity 与 Connections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⚠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Secrets 集中存储于 Azure Key Vault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⚠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私网部署需手工 RBAC 授权 Agent ID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145280"/>
            <a:ext cx="560832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145280"/>
            <a:ext cx="97536" cy="20726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32816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私有网络支持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51206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Hosted Agents 可部署于网络隔离的 Foundry 资源中。注意:存放镜像的 Azure Container Registry 目前仍需开放公网端点,私网 ACR 暂不支持。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145280"/>
            <a:ext cx="536448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9840" y="4145280"/>
            <a:ext cx="97536" cy="20726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32816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第三方系统风险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83680" y="4754880"/>
            <a:ext cx="48768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接入非 Azure Direct Models 或第三方 MCP 时,数据可能流出 Azure 合规边界。需逐一审视数据共享、保留与位置政策。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Azure Foundry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Foundry Toolbox 与平台扩展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MCP 端点接入丰富的内建工具集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0" y="3169920"/>
            <a:ext cx="2438400" cy="1706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0" y="3169920"/>
            <a:ext cx="2438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Foundry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Toolbox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0" y="493776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端点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0726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2072640"/>
            <a:ext cx="97536" cy="8534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480" y="20726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Interpreter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91840" y="2499360"/>
            <a:ext cx="1584960" cy="152400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00160" y="20726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00160" y="2072640"/>
            <a:ext cx="97536" cy="853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83040" y="20726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Search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00160" y="2499360"/>
            <a:ext cx="1584960" cy="152400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32918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3291840"/>
            <a:ext cx="97536" cy="853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480" y="32918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Search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91840" y="3718560"/>
            <a:ext cx="1584960" cy="30480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00160" y="32918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00160" y="3291840"/>
            <a:ext cx="97536" cy="85344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83040" y="32918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Tools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900160" y="3718560"/>
            <a:ext cx="1584960" cy="30480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45110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4511040"/>
            <a:ext cx="97536" cy="8534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480" y="45110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 MCP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91840" y="4937760"/>
            <a:ext cx="1584960" cy="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900160" y="4511040"/>
            <a:ext cx="2682240" cy="85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900160" y="4511040"/>
            <a:ext cx="97536" cy="853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3040" y="451104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Delegation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900160" y="4937760"/>
            <a:ext cx="1584960" cy="0"/>
          </a:xfrm>
          <a:prstGeom prst="line">
            <a:avLst/>
          </a:prstGeom>
          <a:noFill/>
          <a:ln w="12700">
            <a:solidFill>
              <a:srgbClr val="E1E5EB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7680" y="5730240"/>
            <a:ext cx="112166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7680" y="5730240"/>
            <a:ext cx="97536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7680" y="573024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代码通过标准 MCP 客户端连接 Toolbox 端点 — 平台不会自动注入工具,开发者拥有完全控制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Anthropic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Managed Agents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Platform 的托管服务,面向长程 Agent 任务而生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11216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8288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i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"Harnesses encode assumptions that go stale as models improve."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621280"/>
            <a:ext cx="10850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5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编码了对模型能力的假设,这些假设会随模型变强而过时。Managed Agents 围绕一组稳定接口构建,让接口跨越具体实现长存。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962400"/>
            <a:ext cx="3596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962400"/>
            <a:ext cx="97536" cy="2377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4145280"/>
            <a:ext cx="609600" cy="6096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452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24000" y="4145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稳定接口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24000" y="451104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 Interfaces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316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 OS 的 read() — 上层接口不变,底层实现自由演进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03776" y="3962400"/>
            <a:ext cx="3596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3776" y="3962400"/>
            <a:ext cx="97536" cy="23774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47616" y="4145280"/>
            <a:ext cx="609600" cy="609600"/>
          </a:xfrm>
          <a:prstGeom prst="ellipse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47616" y="41452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40096" y="4145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组件解耦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40096" y="451104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Decoupled Components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47616" y="4937760"/>
            <a:ext cx="316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/ Hands / Session 三层分离,可独立失败与替换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19872" y="3962400"/>
            <a:ext cx="3596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19872" y="3962400"/>
            <a:ext cx="97536" cy="2377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63712" y="4145280"/>
            <a:ext cx="609600" cy="60960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63712" y="41452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56192" y="4145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Meta-Harness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56192" y="451104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i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Meta-Harness Design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63712" y="4937760"/>
            <a:ext cx="316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对接口有主张,对底层实现保持中立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Anthropic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三大接口的关键 API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通过最小接口集合让组件可独立演化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1706880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1889760"/>
            <a:ext cx="17068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77440" y="2072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wake(sessionId)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77440" y="2560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唤醒新 Harness 进程,从会话恢复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0" y="2072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execute(name, input) → string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0" y="2560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调用任意 Hand,工具调用统一抽象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0" y="2072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emitEvent(id, event)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0" y="2560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向会话日志写入持久事件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3413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7680" y="3413760"/>
            <a:ext cx="97536" cy="14020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3413760"/>
            <a:ext cx="1706880" cy="14020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7680" y="3413760"/>
            <a:ext cx="17068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77440" y="3596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execute(name, input) → string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377440" y="4084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看不见底层实现细节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0" y="3596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provision({resources})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0" y="4084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按需配置容器/计算资源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95360" y="3596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失败 → tool-call error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95360" y="4084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容器死亡被 Brain 重试或路由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4937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7680" y="4937760"/>
            <a:ext cx="97536" cy="14020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7680" y="4937760"/>
            <a:ext cx="1706880" cy="14020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680" y="4937760"/>
            <a:ext cx="17068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377440" y="5120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emitEvent(id, event)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377440" y="5608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append-only 事件追加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0" y="5120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getEvents()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0" y="5608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按位置切片回看上下文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595360" y="51206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getSession(id)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95360" y="560832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崩溃后重建 Brain 的执行上下文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7680" y="6156960"/>
            <a:ext cx="11216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Anthropic Engineering Blog, "Scaling Managed Agents" (2026-04-08)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Anthropic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结构化的安全边界设计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凭据永不进入沙箱:Resource-Bundled Auth + Vault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48640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95072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风险:凭据与代码同处沙箱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Injection 只需说服 Claude 读取自己的环境,即可拿到凭据。一旦攻击者持有 Token,可衍生不受限的会话,并将工作委派给它们。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889760"/>
            <a:ext cx="548640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1889760"/>
            <a:ext cx="97536" cy="19507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76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修复:凭据物理隔离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0" y="2499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结构性修复保证 Token 永不可达沙箱。即便 Claude 越来越聪明,也无法从沙箱内访问到任何凭据。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023360"/>
            <a:ext cx="5486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023360"/>
            <a:ext cx="97536" cy="2377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Resource-Bundled Auth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凭据与资源捆绑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49987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例:在沙箱初始化阶段使用仓库 Token 完成 clone,并将 Token 注入本地 git remote。沙箱内的 push/pull 工作正常,Agent 不需直接处理 Token。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486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97536" cy="2377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61760" y="42062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Vault + MCP Proxy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1760" y="4572000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凭据存于沙箱外的金库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937760"/>
            <a:ext cx="49987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Token 存于安全 Vault。Claude 通过专用代理调用 MCP 工具,代理凭会话 Token 取出对应凭据,再调下游服务。Harness 全程不知凭据。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Anthropic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Many Brains, Many Hands 架构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解耦带来的扩展红利:延迟降低 + VPC 自由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2377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Many Brains — 多大脑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与容器解耦后,大量 Brain 仅是无状态进程,启动多 Brain 即开多进程。容器仅按需通过 execute() 工具调用配置,不再为永远不接触沙箱的会话支付容器启动成本。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889760"/>
            <a:ext cx="5364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97536" cy="23774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Many Hands — 多手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2499360"/>
            <a:ext cx="4876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execute(name, input) → string 接口可承载任何工具:容器、MCP Server、自研工具。Hand 不绑定特定 Brain,因此 Brain 可以将 Hand 互相传递。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450080"/>
            <a:ext cx="1121664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450080"/>
            <a:ext cx="97536" cy="19507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632960"/>
            <a:ext cx="1085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性能成果:Time-To-First-Token 显著优化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" y="5120640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440" y="579120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TTFT 下降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11040" y="5120640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90%+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11040" y="579120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TTFT 下降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68640" y="5120640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68640" y="579120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无谓容器启动等待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Anthropic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≠ Claude 的上下文窗口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可恢复的上下文存储 + 可定制的上下文工程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426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26720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传统做法的瓶颈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359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长程任务超出 Claude 上下文窗口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Compaction(压缩)做不可逆决策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trimming 会丢弃可能再用的 Token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如果未存储,被压缩消息无法恢复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✕"/>
            </a:pPr>
            <a:r>
              <a:rPr lang="en-US" sz="1467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 中保存上下文但绑定沙箱寿命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889760"/>
            <a:ext cx="5364480" cy="426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97536" cy="42672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 Agents 的解法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2499360"/>
            <a:ext cx="4876800" cy="359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= 持久化事件流,生存期独立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getEvents() 提供位置切片接口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可回看任意历史片段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可在写入 context 前自由变换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存储与上下文工程关注点彻底分离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✓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 Prompt Cache 命中率优化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AWS Bedrock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Bedrock Managed Agents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搭载 OpenAI Harness 的 AWS 托管智能体平台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11216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28016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1085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Managed Agents, powered by OpenAI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1085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5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将前沿 AI 模型与可信的 AWS 基础设施结合,使客户能在云中快速构建生产级、由 OpenAI 驱动的智能体。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35280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352800"/>
            <a:ext cx="97536" cy="14630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前沿智能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90144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OpenAI Harness 释放前沿模型潜力,执行更快、推理更准、长任务可控。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335280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352800"/>
            <a:ext cx="97536" cy="14630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760" y="347472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默认安全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390144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拥有自己身份并审计每次行动。运行于客户环境,数据从不离开 AWS。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93776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937760"/>
            <a:ext cx="97536" cy="14630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50596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规模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548640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可直连 AWS 计算与数据服务,贴近企业级数据与系统部署。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93776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4937760"/>
            <a:ext cx="97536" cy="146304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61760" y="50596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集成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61760" y="5486400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AgentCore 是默认计算环境,提供策略、发现、可观测性能力。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6461760"/>
            <a:ext cx="11216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 Limited Preview 阶段。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AWS Bedrock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Bedrock 关键能力详解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Harness + AgentCore 双引擎驱动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3891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Harness 内核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621280"/>
            <a:ext cx="73152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" y="262128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推理速度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0976" y="3011424"/>
            <a:ext cx="47548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针对前沿模型深度优化执行路径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3152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" y="347472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推理质量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0976" y="3864864"/>
            <a:ext cx="47548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释放模型的更锐利推理能力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4328160"/>
            <a:ext cx="73152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976" y="432816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长程任务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0976" y="4718304"/>
            <a:ext cx="47548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可靠的长时操控与状态保持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" y="5181600"/>
            <a:ext cx="73152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" y="518160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5571744"/>
            <a:ext cx="47548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+ 内存 + 技能在客户环境内统一管理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1889760"/>
            <a:ext cx="53644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1889760"/>
            <a:ext cx="97536" cy="438912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默认运行环境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2621280"/>
            <a:ext cx="73152" cy="67056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03136" y="262128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03136" y="3011424"/>
            <a:ext cx="4511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支持任何模型与框架构建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83680" y="3474720"/>
            <a:ext cx="73152" cy="67056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03136" y="347472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03136" y="3864864"/>
            <a:ext cx="4511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策略执行 + 工具权限统一管理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0" y="4328160"/>
            <a:ext cx="73152" cy="67056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03136" y="432816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发现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03136" y="4718304"/>
            <a:ext cx="4511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与 Agent Tool 服务发现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83680" y="5181600"/>
            <a:ext cx="73152" cy="67056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03136" y="518160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03136" y="5571744"/>
            <a:ext cx="45110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评估与运维监控能力随企业规模扩展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720" cy="685800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kern="0" spc="1333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621280"/>
            <a:ext cx="73152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65120"/>
            <a:ext cx="9753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452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从隔离模型到协议、安全、观测全方位横评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横评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三平台架构对比矩阵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× 平台:一张表读懂关键差异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2072640" cy="54864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1889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0" y="1889760"/>
            <a:ext cx="304800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82240" y="188976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Foundry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08320" y="1889760"/>
            <a:ext cx="3048000" cy="548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30240" y="188976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56320" y="1889760"/>
            <a:ext cx="3048000" cy="5486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78240" y="188976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Bedrock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2438400"/>
            <a:ext cx="11216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2438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运行模式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82240" y="243840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BYOC 容器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30240" y="243840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托管解耦组件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78240" y="243840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 + AgentCore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2913888"/>
            <a:ext cx="112166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600" y="29138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框架支持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82240" y="291388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FW / LangGraph / SK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30240" y="291388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SDK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78240" y="291388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Harness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3389376"/>
            <a:ext cx="11216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33893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隔离单元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82240" y="338937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Per-session VM 沙箱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30240" y="338937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Sandbox 容器(可换)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78240" y="338937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AWS 环境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7680" y="3864864"/>
            <a:ext cx="112166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600" y="3864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主协议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682240" y="3864864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+ Invocations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730240" y="3864864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Brain/Hand/Session API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78240" y="3864864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7680" y="4340352"/>
            <a:ext cx="11216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09600" y="43403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身份模型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682240" y="4340352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Entra ID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30240" y="4340352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Token + Vault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78240" y="4340352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独立身份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7680" y="4815840"/>
            <a:ext cx="112166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9600" y="4815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682240" y="481584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+ Conversation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30240" y="481584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事件流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78240" y="4815840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运行时托管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87680" y="5291328"/>
            <a:ext cx="11216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09600" y="5291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682240" y="529132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内建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30240" y="529132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事件流可回溯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778240" y="5291328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监控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87680" y="5766816"/>
            <a:ext cx="112166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09600" y="57668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82240" y="576681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730240" y="576681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78240" y="5766816"/>
            <a:ext cx="280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Limited Preview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横评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容器化与隔离模型对比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三种隔离哲学对应三种工程权衡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445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450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3596640" cy="1036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Azure: VM 级会话隔离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4384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Per-session VM Sandbox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169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每个会话独立 VM,极强隔离边界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$HOME 与 /files 自动持久化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Scale-to-zero + 状态恢复并存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冷启动可预测,适合企业合规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3776" y="1889760"/>
            <a:ext cx="3596640" cy="445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97536" cy="44500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1889760"/>
            <a:ext cx="3596640" cy="10363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2011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Anthropic: 容器即牛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24384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i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 as Cattle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108960"/>
            <a:ext cx="3169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Sandbox 是 execute() 工具的实现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失败被 Brain 当作工具错误处理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可在客户 VPC 中运行 Hand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与容器解耦,可灵活替换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1889760"/>
            <a:ext cx="3596640" cy="445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19872" y="1889760"/>
            <a:ext cx="97536" cy="44500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19872" y="1889760"/>
            <a:ext cx="3596640" cy="10363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2011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AWS: AgentCore 默认环境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63712" y="24384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Environment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3108960"/>
            <a:ext cx="3169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运行于客户 AWS 环境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数据从不离开 AWS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 AWS 计算/存储/网络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●"/>
            </a:pPr>
            <a:r>
              <a:rPr lang="en-US" sz="14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提供横向扩展能力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横评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协议与接口的工程哲学差异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vs. Meta-Harness 内部 API vs. 双协议混合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3596640" cy="670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188976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Azure: 双协议并存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16992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即开即用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Invocations 灵活定制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可叠加 Activity / A2A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3169920" cy="103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需选择主协议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并存增加运维复杂度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1889760"/>
            <a:ext cx="3596640" cy="6705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6656" y="188976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Anthropic: 内部 API 设计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27432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108960"/>
            <a:ext cx="316992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Brain/Hand/Session 接口稳定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面向"未来程序"的设计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可演进自由度高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47616" y="493776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47616" y="5303520"/>
            <a:ext cx="3169920" cy="103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Claude 平台绑定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需熟悉 Managed Agents API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19872" y="1889760"/>
            <a:ext cx="359664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889760"/>
            <a:ext cx="3596640" cy="67056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02752" y="1889760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AWS: OpenAI 兼容优先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274320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63712" y="3108960"/>
            <a:ext cx="316992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生态熟悉度高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迁移路径清晰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Harness 性能优化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63712" y="493776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63712" y="5303520"/>
            <a:ext cx="3169920" cy="103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OpenAI 模型为核心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✕"/>
            </a:pPr>
            <a:r>
              <a:rPr lang="en-US" sz="1333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跨厂商接口未对齐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横评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安全与身份管理对比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三种思路应对凭据、隔离与审计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35680" cy="4876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1889760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889760"/>
            <a:ext cx="2316480" cy="4876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8897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49440" y="1889760"/>
            <a:ext cx="2316480" cy="4876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49440" y="18897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09760" y="1889760"/>
            <a:ext cx="2316480" cy="4876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0" y="188976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2499360"/>
            <a:ext cx="11460480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249936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独立身份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0" y="271881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2718816"/>
            <a:ext cx="1950720" cy="1706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0" y="24993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32320" y="271881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32320" y="2718816"/>
            <a:ext cx="1560576" cy="17068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56320" y="24993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92640" y="271881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92640" y="2718816"/>
            <a:ext cx="1950720" cy="17068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16640" y="24993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3169920"/>
            <a:ext cx="11460480" cy="609600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31699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凭据隔离力度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0" y="338937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0" y="3389376"/>
            <a:ext cx="1560576" cy="1706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96000" y="31699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32320" y="338937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132320" y="3389376"/>
            <a:ext cx="1950720" cy="17068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56320" y="31699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92640" y="338937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92640" y="3389376"/>
            <a:ext cx="1560576" cy="17068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216640" y="31699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7680" y="3840480"/>
            <a:ext cx="11460480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9600" y="38404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网络隔离能力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0" y="405993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0" y="4059936"/>
            <a:ext cx="1560576" cy="1706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96000" y="38404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132320" y="405993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132320" y="4059936"/>
            <a:ext cx="1560576" cy="17068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56320" y="38404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692640" y="405993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692640" y="4059936"/>
            <a:ext cx="1950720" cy="17068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216640" y="38404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87680" y="4511040"/>
            <a:ext cx="11460480" cy="609600"/>
          </a:xfrm>
          <a:prstGeom prst="rect">
            <a:avLst/>
          </a:prstGeom>
          <a:solidFill>
            <a:srgbClr val="F8F9FB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09600" y="451104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OBO / 委派授权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0" y="473049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0" y="4730496"/>
            <a:ext cx="1950720" cy="1706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096000" y="45110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132320" y="473049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132320" y="4730496"/>
            <a:ext cx="1170432" cy="17068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656320" y="45110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692640" y="473049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692640" y="4730496"/>
            <a:ext cx="1560576" cy="17068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216640" y="45110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87680" y="5181600"/>
            <a:ext cx="11460480" cy="609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09600" y="518160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审计日志完备度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572000" y="540105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572000" y="5401056"/>
            <a:ext cx="1560576" cy="1706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96000" y="51816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132320" y="540105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0" y="5401056"/>
            <a:ext cx="1560576" cy="17068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656320" y="51816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9692640" y="5401056"/>
            <a:ext cx="1950720" cy="17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9692640" y="5401056"/>
            <a:ext cx="1950720" cy="17068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1216640" y="51816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87680" y="609600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i="1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说明:评分仅基于公开文档与设计哲学的相对强度示意,非绝对量化。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横评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可观测性、计费与扩展性对比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运维体感的三大关键差异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1950720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1889760"/>
            <a:ext cx="19507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2011680"/>
            <a:ext cx="73152" cy="11582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04160" y="2072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04160" y="2438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+ Foundry Tracing + Evaluators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30240" y="2011680"/>
            <a:ext cx="73152" cy="11582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13120" y="2072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13120" y="2438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事件日志可完整回溯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39200" y="2011680"/>
            <a:ext cx="73152" cy="11582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22080" y="2072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22080" y="2438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评估、监控、Agent 发现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3413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3413760"/>
            <a:ext cx="97536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3413760"/>
            <a:ext cx="1950720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3413760"/>
            <a:ext cx="19507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计费模型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21280" y="3535680"/>
            <a:ext cx="73152" cy="11582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04160" y="3596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04160" y="3962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按活动会话的 CPU + Memory 消耗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30240" y="3535680"/>
            <a:ext cx="73152" cy="11582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13120" y="3596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13120" y="3962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+ Sandbox 资源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39200" y="3535680"/>
            <a:ext cx="73152" cy="11582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22080" y="3596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22080" y="3962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Bedrock 推理 + AgentCore 资源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7680" y="4937760"/>
            <a:ext cx="1121664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7680" y="4937760"/>
            <a:ext cx="97536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7680" y="4937760"/>
            <a:ext cx="1950720" cy="14020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7680" y="4937760"/>
            <a:ext cx="19507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621280" y="5059680"/>
            <a:ext cx="73152" cy="11582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804160" y="5120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804160" y="5486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50 并发会话/订阅,可扩配额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730240" y="5059680"/>
            <a:ext cx="73152" cy="11582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13120" y="5120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13120" y="5486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无状态,水平扩展容易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839200" y="5059680"/>
            <a:ext cx="73152" cy="11582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022080" y="51206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022080" y="5486400"/>
            <a:ext cx="2865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贴合 AWS 计算与数据规模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决策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平台选型决策框架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基于场景、生态和合规约束的三步决策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0" y="1889760"/>
            <a:ext cx="2438400" cy="97536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0" y="188976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起点:你的 Agent 工作负载?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0" y="2865120"/>
            <a:ext cx="0" cy="67056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3596640"/>
            <a:ext cx="3535680" cy="103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596640"/>
            <a:ext cx="97536" cy="1036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596640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已使用 Microsoft 生态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或需 Teams/M365 集成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4815840"/>
            <a:ext cx="3535680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680" y="4815840"/>
            <a:ext cx="3535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Foundry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5486400"/>
            <a:ext cx="3535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" y="55473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 AI 助手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扩展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Entra ID 身份治理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0" y="2865120"/>
            <a:ext cx="182880" cy="670560"/>
          </a:xfrm>
          <a:prstGeom prst="line">
            <a:avLst/>
          </a:prstGeom>
          <a:noFill/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11040" y="3596640"/>
            <a:ext cx="3535680" cy="103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11040" y="3596640"/>
            <a:ext cx="97536" cy="103632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32960" y="3596640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优先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长程任务为主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11040" y="4815840"/>
            <a:ext cx="3535680" cy="6096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11040" y="4815840"/>
            <a:ext cx="3535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Managed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11040" y="5486400"/>
            <a:ext cx="3535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93920" y="55473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/ Claude Code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 / 长会话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需要灵活 MCP 集成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0" y="2865120"/>
            <a:ext cx="4206240" cy="670560"/>
          </a:xfrm>
          <a:prstGeom prst="line">
            <a:avLst/>
          </a:prstGeom>
          <a:noFill/>
          <a:ln w="25400">
            <a:solidFill>
              <a:srgbClr val="107C1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34400" y="3596640"/>
            <a:ext cx="3535680" cy="103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34400" y="3596640"/>
            <a:ext cx="97536" cy="10363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656320" y="3596640"/>
            <a:ext cx="32918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数据栖息地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67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模型偏好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34400" y="4815840"/>
            <a:ext cx="3535680" cy="6096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34400" y="4815840"/>
            <a:ext cx="3535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Bedrock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534400" y="5486400"/>
            <a:ext cx="3535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717280" y="55473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客户的 OpenAI 工作负载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数据合规需保留 AWS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▸"/>
            </a:pPr>
            <a:r>
              <a:rPr lang="en-US" sz="1267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已有投入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720" cy="6858000"/>
          </a:xfrm>
          <a:prstGeom prst="rect">
            <a:avLst/>
          </a:prstGeom>
          <a:solidFill>
            <a:srgbClr val="071A3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kern="0" spc="1333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621280"/>
            <a:ext cx="73152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65120"/>
            <a:ext cx="9753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实战指南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452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从开发流程到上下文工程,从性能优化到安全实践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Hosted Agent 端到端开发流程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Azure Foundry 为例,六阶段开发循环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53440" y="4023360"/>
            <a:ext cx="10485120" cy="0"/>
          </a:xfrm>
          <a:prstGeom prst="lin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36320" y="3657600"/>
            <a:ext cx="731520" cy="731520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3632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072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072640"/>
            <a:ext cx="97536" cy="14630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219456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本地开发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262128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C# + 选定 Agent 框架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987040" y="3657600"/>
            <a:ext cx="731520" cy="731520"/>
          </a:xfrm>
          <a:prstGeom prst="ellipse">
            <a:avLst/>
          </a:prstGeom>
          <a:solidFill>
            <a:srgbClr val="00B7C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8704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38400" y="469392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38400" y="4693920"/>
            <a:ext cx="97536" cy="14630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60320" y="481584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协议接入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60320" y="524256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或 Invocations,可叠加 Activity / A2A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37760" y="3657600"/>
            <a:ext cx="731520" cy="731520"/>
          </a:xfrm>
          <a:prstGeom prst="ellipse">
            <a:avLst/>
          </a:prstGeom>
          <a:solidFill>
            <a:srgbClr val="FFB9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89120" y="2072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89120" y="2072640"/>
            <a:ext cx="97536" cy="14630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11040" y="219456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镜像构建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11040" y="262128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Dockerfile + agent.yaml 描述协议与资源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88480" y="3657600"/>
            <a:ext cx="731520" cy="731520"/>
          </a:xfrm>
          <a:prstGeom prst="ellipse">
            <a:avLst/>
          </a:prstGeom>
          <a:solidFill>
            <a:srgbClr val="107C1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8848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39840" y="469392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39840" y="4693920"/>
            <a:ext cx="97536" cy="14630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61760" y="481584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推送与部署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61760" y="524256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 ACR,通过 azd 或 SDK 部署版本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839200" y="3657600"/>
            <a:ext cx="731520" cy="731520"/>
          </a:xfrm>
          <a:prstGeom prst="ellipse">
            <a:avLst/>
          </a:prstGeom>
          <a:solidFill>
            <a:srgbClr val="5C2D9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3920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290560" y="207264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90560" y="2072640"/>
            <a:ext cx="97536" cy="146304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12480" y="219456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运行与监控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412480" y="262128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追踪 + Foundry Evaluators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789920" y="3657600"/>
            <a:ext cx="731520" cy="731520"/>
          </a:xfrm>
          <a:prstGeom prst="ellipse">
            <a:avLst/>
          </a:prstGeom>
          <a:solidFill>
            <a:srgbClr val="E8112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78992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241280" y="469392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241280" y="4693920"/>
            <a:ext cx="97536" cy="14630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363200" y="481584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灰度发布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363200" y="524256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2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权重切流,canary / blue-green 部署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7680" y="5998464"/>
            <a:ext cx="11216640" cy="390144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87680" y="5998464"/>
            <a:ext cx="97536" cy="390144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87680" y="599846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循环关键:每次模型升级都需重新审视 Harness 中的假设是否依然必要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设计良好 Agent Harness 的 6 大原则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工程经验提炼:稳定接口与可演进实现并重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45920" y="2133600"/>
            <a:ext cx="0" cy="36576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8800" y="210921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稳定接口为先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把接口当成 OS 抽象一样设计,让实现自由演进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3776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97536" cy="20726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47616" y="207264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62016" y="2133600"/>
            <a:ext cx="0" cy="36576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44896" y="210921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宁可解耦,不要耦合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27432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组件独立失败、独立替换、独立扩展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19872" y="188976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207264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278112" y="2133600"/>
            <a:ext cx="0" cy="36576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460992" y="210921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不养宠物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27432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把容器、Brain、Hand 都当成可替换的牛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4145280"/>
            <a:ext cx="97536" cy="20726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432816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645920" y="4389120"/>
            <a:ext cx="0" cy="365760"/>
          </a:xfrm>
          <a:prstGeom prst="line">
            <a:avLst/>
          </a:prstGeom>
          <a:noFill/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828800" y="436473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权限最小化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" y="499872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凭据永不进沙箱,通过代理或 Vault 隔离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03776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03776" y="4145280"/>
            <a:ext cx="97536" cy="207264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47616" y="432816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62016" y="4389120"/>
            <a:ext cx="0" cy="365760"/>
          </a:xfrm>
          <a:prstGeom prst="line">
            <a:avLst/>
          </a:prstGeom>
          <a:noFill/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44896" y="436473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状态外置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47616" y="499872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事件日志独立存储,可恢复、可回看、可审计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19872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19872" y="4145280"/>
            <a:ext cx="97536" cy="20726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63712" y="4328160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278112" y="4389120"/>
            <a:ext cx="0" cy="365760"/>
          </a:xfrm>
          <a:prstGeom prst="line">
            <a:avLst/>
          </a:prstGeom>
          <a:noFill/>
          <a:ln w="12700">
            <a:solidFill>
              <a:srgbClr val="E81123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460992" y="4364736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持续质疑假设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63712" y="499872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模型升级后,旧的 Harness 兜底逻辑可能变成死代码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上下文工程的关键技巧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Session 与 Context Window 之间架桥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45110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常用技巧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3152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" y="256032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Compaction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0976" y="28651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压缩上下文为摘要,定期回写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73152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" y="329184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Tool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0976" y="3596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主动写文件,实现跨会话学习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3152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976" y="40233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Trimming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0976" y="432816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选择性删除旧工具结果或思考块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73152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" y="475488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Replay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505968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getEvents() 回放历史片段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486400"/>
            <a:ext cx="73152" cy="6096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0976" y="54864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优化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0976" y="57912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组织上下文以提升 Prompt Cache 命中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1889760"/>
            <a:ext cx="5364480" cy="451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39840" y="1889760"/>
            <a:ext cx="97536" cy="45110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黄金法则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83680" y="249936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≠ Context Window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3048000"/>
            <a:ext cx="1219200" cy="0"/>
          </a:xfrm>
          <a:prstGeom prst="line">
            <a:avLst/>
          </a:prstGeom>
          <a:noFill/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0" y="3291840"/>
            <a:ext cx="4876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是可恢复的事件存储,Context 是当前推理输入。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把不可逆决策(压缩、裁剪)留给 Harness,让 Session 保持完整。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使用位置切片接口,允许 Brain 回到任意历史点。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在写入 Context 前可任意变换数据。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▸"/>
            </a:pPr>
            <a:r>
              <a:rPr lang="en-US" sz="14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未来模型可能不需要这些技巧,接口要为变化留余地。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性能优化:TTFT 是关键体感指标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Time-To-First-Token 决定用户的等待感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560832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950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TTFT?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499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Time-To-First-Token 测量从会话接受工作到产生第一个响应 Token 的延迟。这是用户最敏锐感知到的时延。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889760"/>
            <a:ext cx="5364480" cy="19507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97536" cy="195072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072640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E811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为何会变慢?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2499360"/>
            <a:ext cx="487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Brain 放入容器时,所有会话(包括从不调用沙箱的)都要先支付容器启动、Repo Clone、事件拉取的成本。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023360"/>
            <a:ext cx="11216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023360"/>
            <a:ext cx="97536" cy="2377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10850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解耦后的实测改进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" y="487680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TTFT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72640" y="48768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048000" y="4998720"/>
            <a:ext cx="6705600" cy="2438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72640" y="5181600"/>
            <a:ext cx="975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解耦后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48000" y="5266944"/>
            <a:ext cx="2682240" cy="1828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997440" y="4876800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-60%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3440" y="55473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TTFT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72640" y="554736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48000" y="5669280"/>
            <a:ext cx="6705600" cy="2438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072640" y="5852160"/>
            <a:ext cx="975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解耦后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48000" y="5937504"/>
            <a:ext cx="536448" cy="1828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997440" y="5547360"/>
            <a:ext cx="158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-90%+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常见陷阱与避免方法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从生产实践中提炼的 6 大反模式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20726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2072640"/>
            <a:ext cx="487680" cy="487680"/>
          </a:xfrm>
          <a:prstGeom prst="ellipse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0726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1120" y="213360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宠物化容器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68224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失败时手忙脚乱抢救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267456"/>
            <a:ext cx="3108960" cy="0"/>
          </a:xfrm>
          <a:prstGeom prst="line">
            <a:avLst/>
          </a:prstGeom>
          <a:noFill/>
          <a:ln w="6350">
            <a:solidFill>
              <a:srgbClr val="E81123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32841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1120" y="332841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把容器视为可重启的牛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03776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03776" y="1889760"/>
            <a:ext cx="97536" cy="20726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47616" y="2072640"/>
            <a:ext cx="487680" cy="487680"/>
          </a:xfrm>
          <a:prstGeom prst="ellipse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47616" y="20726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57216" y="213360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凭据进入沙箱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47616" y="268224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Injection 即可窃取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47616" y="3267456"/>
            <a:ext cx="3108960" cy="0"/>
          </a:xfrm>
          <a:prstGeom prst="line">
            <a:avLst/>
          </a:prstGeom>
          <a:noFill/>
          <a:ln w="6350">
            <a:solidFill>
              <a:srgbClr val="E81123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47616" y="332841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57216" y="332841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凭据存于 Vault,通过代理调用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19872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19872" y="188976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63712" y="2072640"/>
            <a:ext cx="487680" cy="48768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63712" y="20726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73312" y="213360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内嵌资源假设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63712" y="268224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无法连接客户 VPC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63712" y="3267456"/>
            <a:ext cx="3108960" cy="0"/>
          </a:xfrm>
          <a:prstGeom prst="line">
            <a:avLst/>
          </a:prstGeom>
          <a:noFill/>
          <a:ln w="6350">
            <a:solidFill>
              <a:srgbClr val="FFB900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3712" y="332841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73312" y="332841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与 Hand 完全解耦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7680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7680" y="414528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1520" y="4328160"/>
            <a:ext cx="487680" cy="48768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1520" y="432816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341120" y="438912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不可逆压缩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压缩后无法恢复关键上下文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1520" y="5522976"/>
            <a:ext cx="3108960" cy="0"/>
          </a:xfrm>
          <a:prstGeom prst="line">
            <a:avLst/>
          </a:prstGeom>
          <a:noFill/>
          <a:ln w="6350">
            <a:solidFill>
              <a:srgbClr val="FFB900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31520" y="558393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341120" y="558393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保存事件流,延迟决策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303776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303776" y="414528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547616" y="4328160"/>
            <a:ext cx="487680" cy="4876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47616" y="432816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157216" y="438912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兼容性死代码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47616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为旧模型加的 Workaround 拖累新模型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47616" y="5522976"/>
            <a:ext cx="3108960" cy="0"/>
          </a:xfrm>
          <a:prstGeom prst="line">
            <a:avLst/>
          </a:prstGeom>
          <a:noFill/>
          <a:ln w="6350">
            <a:solidFill>
              <a:srgbClr val="0078D4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547616" y="558393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57216" y="558393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定期审视 Harness 假设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19872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119872" y="414528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363712" y="4328160"/>
            <a:ext cx="487680" cy="4876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363712" y="432816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973312" y="438912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调试黑盒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363712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流分不清问题来源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363712" y="5522976"/>
            <a:ext cx="3108960" cy="0"/>
          </a:xfrm>
          <a:prstGeom prst="line">
            <a:avLst/>
          </a:prstGeom>
          <a:noFill/>
          <a:ln w="6350">
            <a:solidFill>
              <a:srgbClr val="0078D4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363712" y="5583936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73312" y="558393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组件级追踪 + 隔离故障域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安全最佳实践清单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Agent Harness 当作生产应用代码对待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2072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1889760"/>
            <a:ext cx="3596640" cy="4876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88976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凭据治理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49936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不在镜像中嵌入密钥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Managed Identity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敏感数据使用 Key Vault / Secret Manager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03776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3776" y="1889760"/>
            <a:ext cx="97536" cy="207264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1889760"/>
            <a:ext cx="3596640" cy="4876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47616" y="188976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249936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私网部署 Foundry 资源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VNet / VPC peering 仅限需要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数据流出边界须审视合规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19872" y="188976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19872" y="1889760"/>
            <a:ext cx="97536" cy="2072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1889760"/>
            <a:ext cx="3596640" cy="48768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63712" y="188976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权限最小化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249936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Agent 独立身份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精细授权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OBO 仅用于必要的用户委派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145280"/>
            <a:ext cx="97536" cy="20726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4145280"/>
            <a:ext cx="3596640" cy="4876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14528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供应链安全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镜像签名与漏洞扫描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第三方工具白名单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依赖锁定与 SBOM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776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03776" y="4145280"/>
            <a:ext cx="97536" cy="207264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03776" y="4145280"/>
            <a:ext cx="3596640" cy="48768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7616" y="414528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可追溯性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47616" y="475488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Action 审计日志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事件流不可篡改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异常告警与回放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19872" y="4145280"/>
            <a:ext cx="359664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19872" y="4145280"/>
            <a:ext cx="97536" cy="207264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19872" y="4145280"/>
            <a:ext cx="3596640" cy="487680"/>
          </a:xfrm>
          <a:prstGeom prst="rect">
            <a:avLst/>
          </a:prstGeom>
          <a:solidFill>
            <a:srgbClr val="E8112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63712" y="414528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安全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63712" y="4754880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输入清洗 + Output 审核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敏感工具的人工确认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✓"/>
            </a:pPr>
            <a:r>
              <a:rPr lang="en-US" sz="1333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 Prompt Injection 模板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19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533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趋势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60960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未来趋势:Meta-Harness 与可演进架构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平台的下一个 10 年:接口稳定,实现自由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6534912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486144"/>
            <a:ext cx="609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 ·  Agent Harness 架构与实践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07040" y="648614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dirty="0">
                <a:solidFill>
                  <a:srgbClr val="5B66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/ 40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889760"/>
            <a:ext cx="11216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889760"/>
            <a:ext cx="97536" cy="12801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726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i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"Programs as yet unthought of."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1085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操作系统通过将硬件虚拟化为足够通用的抽象,延续了数十年。Managed Agents 走相同道路:对接口有主张,对实现保持中立。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474720"/>
            <a:ext cx="548640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474720"/>
            <a:ext cx="97536" cy="1402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Agent 接口标准化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08432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A2A / OpenAI Responses 等协议层将持续融合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48640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97536" cy="1402080"/>
          </a:xfrm>
          <a:prstGeom prst="rect">
            <a:avLst/>
          </a:prstGeom>
          <a:solidFill>
            <a:srgbClr val="00B7C3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760" y="36576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0B7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即基础设施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408432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成为云平台一等公民,与 VM、容器、函数并列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998720"/>
            <a:ext cx="548640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998720"/>
            <a:ext cx="97536" cy="140208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脑手分布式部署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560832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跨云、Hand 在客户内部,实现混合云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998720"/>
            <a:ext cx="5486400" cy="140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B"/>
            </a:solidFill>
            <a:prstDash val="solid"/>
          </a:ln>
          <a:effectLst>
            <a:outerShdw blurRad="127000" dist="25400" dir="5400000" algn="bl" rotWithShape="0">
              <a:srgbClr val="1F2937">
                <a:alpha val="6000"/>
              </a:srgbClr>
            </a:outerShdw>
          </a:effectLst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4998720"/>
            <a:ext cx="97536" cy="140208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61760" y="518160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5C2D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评估与安全闭环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61760" y="5608320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Evaluators + 审计 + 策略统一,生产级可治理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0" y="1219200"/>
            <a:ext cx="4267200" cy="4267200"/>
          </a:xfrm>
          <a:prstGeom prst="ellipse">
            <a:avLst/>
          </a:prstGeom>
          <a:solidFill>
            <a:srgbClr val="0078D4">
              <a:alpha val="3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53600" y="3048000"/>
            <a:ext cx="2438400" cy="2438400"/>
          </a:xfrm>
          <a:prstGeom prst="ellipse">
            <a:avLst/>
          </a:prstGeom>
          <a:solidFill>
            <a:srgbClr val="FFB900">
              <a:alpha val="4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0688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kern="0" spc="1600" dirty="0">
                <a:solidFill>
                  <a:srgbClr val="FFB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853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6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3718560"/>
            <a:ext cx="731520" cy="48768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047744"/>
            <a:ext cx="219456" cy="219456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8240" y="396240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 把 LLM 推理之外的工程复杂度收敛到平台层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535424"/>
            <a:ext cx="219456" cy="219456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8240" y="445008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 / Hands / Session 解耦是 Managed Agents 的核心设计哲学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5023104"/>
            <a:ext cx="219456" cy="219456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58240" y="493776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/ Anthropic / AWS 各擅所长,选型应贴合业务场景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5510784"/>
            <a:ext cx="219456" cy="219456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58240" y="542544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稳定的接口比聪明的实现更重要——为未来留下空间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6096000"/>
            <a:ext cx="146304" cy="19507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5360" y="605942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Cloud Advocate  ·  Agent Harness 架构与实践  ·  2026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607040" y="60594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2879</Words>
  <Application>Microsoft Macintosh PowerPoint</Application>
  <PresentationFormat>Widescreen</PresentationFormat>
  <Paragraphs>861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Microsoft YaHei</vt:lpstr>
      <vt:lpstr>Aptos</vt:lpstr>
      <vt:lpstr>Arial</vt:lpstr>
      <vt:lpstr>Calibri</vt:lpstr>
      <vt:lpstr>Consolas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2026-05-06T05:24:02Z</dcterms:created>
  <dcterms:modified xsi:type="dcterms:W3CDTF">2026-05-06T05:49:55Z</dcterms:modified>
</cp:coreProperties>
</file>