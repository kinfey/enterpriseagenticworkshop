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3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4B58F-91B4-554E-9E01-65AB6CE6605B}" type="datetimeFigureOut">
              <a:rPr lang="en-CN" smtClean="0"/>
              <a:t>2026/5/8</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A344A-5E81-BF47-A979-409AFDAF6848}" type="slidenum">
              <a:rPr lang="en-CN" smtClean="0"/>
              <a:t>‹#›</a:t>
            </a:fld>
            <a:endParaRPr lang="en-CN"/>
          </a:p>
        </p:txBody>
      </p:sp>
    </p:spTree>
    <p:extLst>
      <p:ext uri="{BB962C8B-B14F-4D97-AF65-F5344CB8AC3E}">
        <p14:creationId xmlns:p14="http://schemas.microsoft.com/office/powerpoint/2010/main" val="3281723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581401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3803347"/>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A47"/>
        </a:solidFill>
        <a:effectLst/>
      </p:bgPr>
    </p:bg>
    <p:spTree>
      <p:nvGrpSpPr>
        <p:cNvPr id="1" name=""/>
        <p:cNvGrpSpPr/>
        <p:nvPr/>
      </p:nvGrpSpPr>
      <p:grpSpPr>
        <a:xfrm>
          <a:off x="0" y="0"/>
          <a:ext cx="0" cy="0"/>
          <a:chOff x="0" y="0"/>
          <a:chExt cx="0" cy="0"/>
        </a:xfrm>
      </p:grpSpPr>
      <p:sp>
        <p:nvSpPr>
          <p:cNvPr id="2" name="Shape 0"/>
          <p:cNvSpPr/>
          <p:nvPr/>
        </p:nvSpPr>
        <p:spPr>
          <a:xfrm>
            <a:off x="0" y="0"/>
            <a:ext cx="12192000" cy="219456"/>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3048000" y="0"/>
            <a:ext cx="3048000" cy="219456"/>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4" name="Shape 2"/>
          <p:cNvSpPr/>
          <p:nvPr/>
        </p:nvSpPr>
        <p:spPr>
          <a:xfrm>
            <a:off x="6096000" y="0"/>
            <a:ext cx="3048000" cy="219456"/>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5" name="Shape 3"/>
          <p:cNvSpPr/>
          <p:nvPr/>
        </p:nvSpPr>
        <p:spPr>
          <a:xfrm>
            <a:off x="9144000" y="0"/>
            <a:ext cx="3048000" cy="219456"/>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6" name="Shape 4"/>
          <p:cNvSpPr/>
          <p:nvPr/>
        </p:nvSpPr>
        <p:spPr>
          <a:xfrm>
            <a:off x="9814560" y="1811383"/>
            <a:ext cx="3901440" cy="3901440"/>
          </a:xfrm>
          <a:prstGeom prst="ellipse">
            <a:avLst/>
          </a:prstGeom>
          <a:solidFill>
            <a:srgbClr val="0078D4">
              <a:alpha val="30000"/>
            </a:srgbClr>
          </a:solidFill>
          <a:ln/>
        </p:spPr>
        <p:txBody>
          <a:bodyPr/>
          <a:lstStyle/>
          <a:p>
            <a:pPr defTabSz="1219170"/>
            <a:endParaRPr lang="en-CN" sz="2400">
              <a:solidFill>
                <a:prstClr val="black"/>
              </a:solidFill>
              <a:latin typeface="Calibri" panose="020F0502020204030204"/>
            </a:endParaRPr>
          </a:p>
        </p:txBody>
      </p:sp>
      <p:sp>
        <p:nvSpPr>
          <p:cNvPr id="7" name="Shape 5"/>
          <p:cNvSpPr/>
          <p:nvPr/>
        </p:nvSpPr>
        <p:spPr>
          <a:xfrm>
            <a:off x="10668000" y="2577737"/>
            <a:ext cx="2194560" cy="2194560"/>
          </a:xfrm>
          <a:prstGeom prst="ellipse">
            <a:avLst/>
          </a:prstGeom>
          <a:solidFill>
            <a:srgbClr val="FFB900">
              <a:alpha val="40000"/>
            </a:srgbClr>
          </a:solidFill>
          <a:ln/>
        </p:spPr>
        <p:txBody>
          <a:bodyPr/>
          <a:lstStyle/>
          <a:p>
            <a:pPr defTabSz="1219170"/>
            <a:endParaRPr lang="en-CN" sz="2400">
              <a:solidFill>
                <a:prstClr val="black"/>
              </a:solidFill>
              <a:latin typeface="Calibri" panose="020F0502020204030204"/>
            </a:endParaRPr>
          </a:p>
        </p:txBody>
      </p:sp>
      <p:sp>
        <p:nvSpPr>
          <p:cNvPr id="8" name="Shape 6"/>
          <p:cNvSpPr/>
          <p:nvPr/>
        </p:nvSpPr>
        <p:spPr>
          <a:xfrm>
            <a:off x="609600" y="1828800"/>
            <a:ext cx="73152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9" name="Text 7"/>
          <p:cNvSpPr/>
          <p:nvPr/>
        </p:nvSpPr>
        <p:spPr>
          <a:xfrm>
            <a:off x="609600" y="2072640"/>
            <a:ext cx="10972800" cy="609600"/>
          </a:xfrm>
          <a:prstGeom prst="rect">
            <a:avLst/>
          </a:prstGeom>
          <a:noFill/>
          <a:ln/>
        </p:spPr>
        <p:txBody>
          <a:bodyPr wrap="square" lIns="0" tIns="0" rIns="0" bIns="0" rtlCol="0" anchor="ctr"/>
          <a:lstStyle/>
          <a:p>
            <a:pPr defTabSz="1219170"/>
            <a:r>
              <a:rPr lang="en-US" sz="2133" b="1" kern="0" spc="1600" dirty="0">
                <a:solidFill>
                  <a:srgbClr val="FFB900"/>
                </a:solidFill>
                <a:latin typeface="Microsoft YaHei" pitchFamily="34" charset="0"/>
                <a:ea typeface="Microsoft YaHei" pitchFamily="34" charset="-122"/>
                <a:cs typeface="Microsoft YaHei" pitchFamily="34" charset="-120"/>
              </a:rPr>
              <a:t>AGENT HARNESS</a:t>
            </a:r>
            <a:endParaRPr lang="en-US" sz="2133" dirty="0">
              <a:solidFill>
                <a:prstClr val="black"/>
              </a:solidFill>
              <a:latin typeface="Calibri" panose="020F0502020204030204"/>
            </a:endParaRPr>
          </a:p>
        </p:txBody>
      </p:sp>
      <p:sp>
        <p:nvSpPr>
          <p:cNvPr id="10" name="Text 8"/>
          <p:cNvSpPr/>
          <p:nvPr/>
        </p:nvSpPr>
        <p:spPr>
          <a:xfrm>
            <a:off x="609600" y="3078481"/>
            <a:ext cx="11235070" cy="1097280"/>
          </a:xfrm>
          <a:prstGeom prst="rect">
            <a:avLst/>
          </a:prstGeom>
          <a:noFill/>
          <a:ln/>
        </p:spPr>
        <p:txBody>
          <a:bodyPr wrap="square" lIns="0" tIns="0" rIns="0" bIns="0" rtlCol="0" anchor="ctr"/>
          <a:lstStyle/>
          <a:p>
            <a:pPr defTabSz="1219170"/>
            <a:r>
              <a:rPr lang="en-US" sz="5067" b="1" dirty="0">
                <a:solidFill>
                  <a:srgbClr val="FFFFFF"/>
                </a:solidFill>
                <a:latin typeface="Microsoft YaHei" pitchFamily="34" charset="0"/>
                <a:ea typeface="Microsoft YaHei" pitchFamily="34" charset="-122"/>
                <a:cs typeface="Microsoft YaHei" pitchFamily="34" charset="-120"/>
              </a:rPr>
              <a:t>The core architecture for building next-generation AI agents</a:t>
            </a:r>
            <a:endParaRPr lang="en-US" sz="5067" dirty="0">
              <a:solidFill>
                <a:prstClr val="black"/>
              </a:solidFill>
              <a:latin typeface="Calibri" panose="020F0502020204030204"/>
            </a:endParaRPr>
          </a:p>
        </p:txBody>
      </p:sp>
      <p:sp>
        <p:nvSpPr>
          <p:cNvPr id="11" name="Text 9"/>
          <p:cNvSpPr/>
          <p:nvPr/>
        </p:nvSpPr>
        <p:spPr>
          <a:xfrm>
            <a:off x="670560" y="5008643"/>
            <a:ext cx="9144000" cy="609600"/>
          </a:xfrm>
          <a:prstGeom prst="rect">
            <a:avLst/>
          </a:prstGeom>
          <a:noFill/>
          <a:ln/>
        </p:spPr>
        <p:txBody>
          <a:bodyPr wrap="square" lIns="0" tIns="0" rIns="0" bIns="0" rtlCol="0" anchor="ctr"/>
          <a:lstStyle/>
          <a:p>
            <a:pPr defTabSz="1219170"/>
            <a:r>
              <a:rPr lang="en-US" sz="2133" dirty="0">
                <a:solidFill>
                  <a:srgbClr val="CADCFC"/>
                </a:solidFill>
                <a:latin typeface="Microsoft YaHei" pitchFamily="34" charset="0"/>
                <a:ea typeface="Microsoft YaHei" pitchFamily="34" charset="-122"/>
                <a:cs typeface="Microsoft YaHei" pitchFamily="34" charset="-120"/>
              </a:rPr>
              <a:t>Engineering practice and design philosophy from Azure Foundry and Anthropic to AWS Bedrock</a:t>
            </a:r>
            <a:endParaRPr lang="en-US" sz="2133" dirty="0">
              <a:solidFill>
                <a:prstClr val="black"/>
              </a:solidFill>
              <a:latin typeface="Calibri" panose="020F0502020204030204"/>
            </a:endParaRPr>
          </a:p>
        </p:txBody>
      </p:sp>
      <p:sp>
        <p:nvSpPr>
          <p:cNvPr id="12" name="Shape 10"/>
          <p:cNvSpPr/>
          <p:nvPr/>
        </p:nvSpPr>
        <p:spPr>
          <a:xfrm>
            <a:off x="609600" y="4876800"/>
            <a:ext cx="1463040" cy="0"/>
          </a:xfrm>
          <a:prstGeom prst="line">
            <a:avLst/>
          </a:prstGeom>
          <a:noFill/>
          <a:ln w="25400">
            <a:solidFill>
              <a:srgbClr val="FFB900"/>
            </a:solidFill>
            <a:prstDash val="solid"/>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609600" y="5679203"/>
            <a:ext cx="8534400" cy="365760"/>
          </a:xfrm>
          <a:prstGeom prst="rect">
            <a:avLst/>
          </a:prstGeom>
          <a:noFill/>
          <a:ln/>
        </p:spPr>
        <p:txBody>
          <a:bodyPr wrap="square" lIns="0" tIns="0" rIns="0" bIns="0" rtlCol="0" anchor="ctr"/>
          <a:lstStyle/>
          <a:p>
            <a:pPr defTabSz="1219170"/>
            <a:r>
              <a:rPr lang="en-US" altLang="zh-CN" sz="1467" dirty="0">
                <a:solidFill>
                  <a:srgbClr val="CADCFC"/>
                </a:solidFill>
                <a:latin typeface="Microsoft YaHei" pitchFamily="34" charset="0"/>
                <a:ea typeface="Microsoft YaHei" pitchFamily="34" charset="-122"/>
                <a:cs typeface="Microsoft YaHei" pitchFamily="34" charset="-120"/>
              </a:rPr>
              <a:t>Kinfey</a:t>
            </a:r>
            <a:r>
              <a:rPr lang="zh-CN" altLang="en-US" sz="1467" dirty="0">
                <a:solidFill>
                  <a:srgbClr val="CADCFC"/>
                </a:solidFill>
                <a:latin typeface="Microsoft YaHei" pitchFamily="34" charset="0"/>
                <a:ea typeface="Microsoft YaHei" pitchFamily="34" charset="-122"/>
                <a:cs typeface="Microsoft YaHei" pitchFamily="34" charset="-120"/>
              </a:rPr>
              <a:t> </a:t>
            </a:r>
            <a:r>
              <a:rPr lang="en-US" altLang="zh-CN" sz="1467" dirty="0">
                <a:solidFill>
                  <a:srgbClr val="CADCFC"/>
                </a:solidFill>
                <a:latin typeface="Microsoft YaHei" pitchFamily="34" charset="0"/>
                <a:ea typeface="Microsoft YaHei" pitchFamily="34" charset="-122"/>
                <a:cs typeface="Microsoft YaHei" pitchFamily="34" charset="-120"/>
              </a:rPr>
              <a:t>Lo</a:t>
            </a:r>
            <a:r>
              <a:rPr lang="zh-CN" altLang="en-US" sz="1467" dirty="0">
                <a:solidFill>
                  <a:srgbClr val="CADCFC"/>
                </a:solidFill>
                <a:latin typeface="Microsoft YaHei" pitchFamily="34" charset="0"/>
                <a:ea typeface="Microsoft YaHei" pitchFamily="34" charset="-122"/>
                <a:cs typeface="Microsoft YaHei" pitchFamily="34" charset="-120"/>
              </a:rPr>
              <a:t> </a:t>
            </a:r>
            <a:r>
              <a:rPr lang="en-US" altLang="zh-CN" sz="1467" dirty="0">
                <a:solidFill>
                  <a:srgbClr val="CADCFC"/>
                </a:solidFill>
                <a:latin typeface="Microsoft YaHei" pitchFamily="34" charset="0"/>
                <a:ea typeface="Microsoft YaHei" pitchFamily="34" charset="-122"/>
                <a:cs typeface="Microsoft YaHei" pitchFamily="34" charset="-120"/>
              </a:rPr>
              <a:t>–</a:t>
            </a:r>
            <a:r>
              <a:rPr lang="zh-CN" altLang="en-US" sz="1467" dirty="0">
                <a:solidFill>
                  <a:srgbClr val="CADCFC"/>
                </a:solidFill>
                <a:latin typeface="Microsoft YaHei" pitchFamily="34" charset="0"/>
                <a:ea typeface="Microsoft YaHei" pitchFamily="34" charset="-122"/>
                <a:cs typeface="Microsoft YaHei" pitchFamily="34" charset="-120"/>
              </a:rPr>
              <a:t> </a:t>
            </a:r>
            <a:r>
              <a:rPr lang="en-US" sz="1467" dirty="0">
                <a:solidFill>
                  <a:srgbClr val="CADCFC"/>
                </a:solidFill>
                <a:latin typeface="Microsoft YaHei" pitchFamily="34" charset="0"/>
                <a:ea typeface="Microsoft YaHei" pitchFamily="34" charset="-122"/>
                <a:cs typeface="Microsoft YaHei" pitchFamily="34" charset="-120"/>
              </a:rPr>
              <a:t>Microsoft</a:t>
            </a:r>
            <a:r>
              <a:rPr lang="zh-CN" altLang="en-US" sz="1467" dirty="0">
                <a:solidFill>
                  <a:srgbClr val="CADCFC"/>
                </a:solidFill>
                <a:latin typeface="Microsoft YaHei" pitchFamily="34" charset="0"/>
                <a:ea typeface="Microsoft YaHei" pitchFamily="34" charset="-122"/>
                <a:cs typeface="Microsoft YaHei" pitchFamily="34" charset="-120"/>
              </a:rPr>
              <a:t> </a:t>
            </a:r>
            <a:r>
              <a:rPr lang="en-US" altLang="zh-CN" sz="1467">
                <a:solidFill>
                  <a:srgbClr val="CADCFC"/>
                </a:solidFill>
                <a:latin typeface="Microsoft YaHei" pitchFamily="34" charset="0"/>
                <a:ea typeface="Microsoft YaHei" pitchFamily="34" charset="-122"/>
                <a:cs typeface="Microsoft YaHei" pitchFamily="34" charset="-120"/>
              </a:rPr>
              <a:t>Senior</a:t>
            </a:r>
            <a:r>
              <a:rPr lang="en-US" sz="1467">
                <a:solidFill>
                  <a:srgbClr val="CADCFC"/>
                </a:solidFill>
                <a:latin typeface="Microsoft YaHei" pitchFamily="34" charset="0"/>
                <a:ea typeface="Microsoft YaHei" pitchFamily="34" charset="-122"/>
                <a:cs typeface="Microsoft YaHei" pitchFamily="34" charset="-120"/>
              </a:rPr>
              <a:t> </a:t>
            </a:r>
            <a:r>
              <a:rPr lang="en-US" sz="1467" dirty="0">
                <a:solidFill>
                  <a:srgbClr val="CADCFC"/>
                </a:solidFill>
                <a:latin typeface="Microsoft YaHei" pitchFamily="34" charset="0"/>
                <a:ea typeface="Microsoft YaHei" pitchFamily="34" charset="-122"/>
                <a:cs typeface="Microsoft YaHei" pitchFamily="34" charset="-120"/>
              </a:rPr>
              <a:t>Cloud Advocate</a:t>
            </a:r>
            <a:endParaRPr lang="en-US" sz="1467" dirty="0">
              <a:solidFill>
                <a:prstClr val="black"/>
              </a:solidFill>
              <a:latin typeface="Calibri" panose="020F0502020204030204"/>
            </a:endParaRPr>
          </a:p>
        </p:txBody>
      </p:sp>
      <p:sp>
        <p:nvSpPr>
          <p:cNvPr id="14" name="Text 12"/>
          <p:cNvSpPr/>
          <p:nvPr/>
        </p:nvSpPr>
        <p:spPr>
          <a:xfrm>
            <a:off x="609600" y="6166884"/>
            <a:ext cx="8534400" cy="487680"/>
          </a:xfrm>
          <a:prstGeom prst="rect">
            <a:avLst/>
          </a:prstGeom>
          <a:noFill/>
          <a:ln/>
        </p:spPr>
        <p:txBody>
          <a:bodyPr wrap="square" lIns="0" tIns="0" rIns="0" bIns="0" rtlCol="0" anchor="ctr"/>
          <a:lstStyle/>
          <a:p>
            <a:pPr defTabSz="1219170"/>
            <a:r>
              <a:rPr lang="en-US" sz="2933" b="1" dirty="0">
                <a:solidFill>
                  <a:srgbClr val="FFFFFF"/>
                </a:solidFill>
                <a:latin typeface="Microsoft YaHei" pitchFamily="34" charset="0"/>
                <a:ea typeface="Microsoft YaHei" pitchFamily="34" charset="-122"/>
                <a:cs typeface="Microsoft YaHei" pitchFamily="34" charset="-120"/>
              </a:rPr>
              <a:t>2026</a:t>
            </a:r>
            <a:endParaRPr lang="en-US" sz="2933" dirty="0">
              <a:solidFill>
                <a:prstClr val="black"/>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AGENDA · Agenda</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Today's agenda</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Six major topics covering the design and practice of Agent Harness in depth</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02 / 40</a:t>
            </a:r>
            <a:endParaRPr lang="en-US" sz="1200" dirty="0">
              <a:solidFill>
                <a:prstClr val="black"/>
              </a:solidFill>
              <a:latin typeface="Calibri" panose="020F0502020204030204"/>
            </a:endParaRPr>
          </a:p>
        </p:txBody>
      </p:sp>
      <p:sp>
        <p:nvSpPr>
          <p:cNvPr id="10" name="Shape 8"/>
          <p:cNvSpPr/>
          <p:nvPr/>
        </p:nvSpPr>
        <p:spPr>
          <a:xfrm>
            <a:off x="487680" y="1950720"/>
            <a:ext cx="11216640" cy="6705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950720"/>
            <a:ext cx="97536" cy="67056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11680"/>
            <a:ext cx="853440" cy="548640"/>
          </a:xfrm>
          <a:prstGeom prst="rect">
            <a:avLst/>
          </a:prstGeom>
          <a:noFill/>
          <a:ln/>
        </p:spPr>
        <p:txBody>
          <a:bodyPr wrap="square" lIns="0" tIns="0" rIns="0" bIns="0" rtlCol="0" anchor="ctr"/>
          <a:lstStyle/>
          <a:p>
            <a:pPr defTabSz="1219170"/>
            <a:r>
              <a:rPr lang="en-US" sz="2933" b="1" dirty="0">
                <a:solidFill>
                  <a:srgbClr val="0078D4"/>
                </a:solidFill>
                <a:latin typeface="Microsoft YaHei" pitchFamily="34" charset="0"/>
                <a:ea typeface="Microsoft YaHei" pitchFamily="34" charset="-122"/>
                <a:cs typeface="Microsoft YaHei" pitchFamily="34" charset="-120"/>
              </a:rPr>
              <a:t>01</a:t>
            </a:r>
            <a:endParaRPr lang="en-US" sz="2933" dirty="0">
              <a:solidFill>
                <a:prstClr val="black"/>
              </a:solidFill>
              <a:latin typeface="Calibri" panose="020F0502020204030204"/>
            </a:endParaRPr>
          </a:p>
        </p:txBody>
      </p:sp>
      <p:sp>
        <p:nvSpPr>
          <p:cNvPr id="13" name="Text 11"/>
          <p:cNvSpPr/>
          <p:nvPr/>
        </p:nvSpPr>
        <p:spPr>
          <a:xfrm>
            <a:off x="1706880" y="2011680"/>
            <a:ext cx="3413760" cy="548640"/>
          </a:xfrm>
          <a:prstGeom prst="rect">
            <a:avLst/>
          </a:prstGeom>
          <a:noFill/>
          <a:ln/>
        </p:spPr>
        <p:txBody>
          <a:bodyPr wrap="square" lIns="0" tIns="0" rIns="0" bIns="0" rtlCol="0" anchor="ctr"/>
          <a:lstStyle/>
          <a:p>
            <a:pPr defTabSz="1219170"/>
            <a:r>
              <a:rPr lang="en-US" sz="2133" b="1" dirty="0">
                <a:solidFill>
                  <a:srgbClr val="1F2937"/>
                </a:solidFill>
                <a:latin typeface="Microsoft YaHei" pitchFamily="34" charset="0"/>
                <a:ea typeface="Microsoft YaHei" pitchFamily="34" charset="-122"/>
                <a:cs typeface="Microsoft YaHei" pitchFamily="34" charset="-120"/>
              </a:rPr>
              <a:t>Conceptual foundation</a:t>
            </a:r>
            <a:endParaRPr lang="en-US" sz="2133" dirty="0">
              <a:solidFill>
                <a:prstClr val="black"/>
              </a:solidFill>
              <a:latin typeface="Calibri" panose="020F0502020204030204"/>
            </a:endParaRPr>
          </a:p>
        </p:txBody>
      </p:sp>
      <p:sp>
        <p:nvSpPr>
          <p:cNvPr id="14" name="Text 12"/>
          <p:cNvSpPr/>
          <p:nvPr/>
        </p:nvSpPr>
        <p:spPr>
          <a:xfrm>
            <a:off x="5242560" y="2011680"/>
            <a:ext cx="6339840" cy="548640"/>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What is Agent Harness and its core components</a:t>
            </a:r>
            <a:endParaRPr lang="en-US" sz="1600" dirty="0">
              <a:solidFill>
                <a:prstClr val="black"/>
              </a:solidFill>
              <a:latin typeface="Calibri" panose="020F0502020204030204"/>
            </a:endParaRPr>
          </a:p>
        </p:txBody>
      </p:sp>
      <p:sp>
        <p:nvSpPr>
          <p:cNvPr id="15" name="Shape 13"/>
          <p:cNvSpPr/>
          <p:nvPr/>
        </p:nvSpPr>
        <p:spPr>
          <a:xfrm>
            <a:off x="487680" y="2682240"/>
            <a:ext cx="11216640" cy="6705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6" name="Shape 14"/>
          <p:cNvSpPr/>
          <p:nvPr/>
        </p:nvSpPr>
        <p:spPr>
          <a:xfrm>
            <a:off x="487680" y="2682240"/>
            <a:ext cx="97536" cy="67056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17" name="Text 15"/>
          <p:cNvSpPr/>
          <p:nvPr/>
        </p:nvSpPr>
        <p:spPr>
          <a:xfrm>
            <a:off x="731520" y="2743200"/>
            <a:ext cx="853440" cy="548640"/>
          </a:xfrm>
          <a:prstGeom prst="rect">
            <a:avLst/>
          </a:prstGeom>
          <a:noFill/>
          <a:ln/>
        </p:spPr>
        <p:txBody>
          <a:bodyPr wrap="square" lIns="0" tIns="0" rIns="0" bIns="0" rtlCol="0" anchor="ctr"/>
          <a:lstStyle/>
          <a:p>
            <a:pPr defTabSz="1219170"/>
            <a:r>
              <a:rPr lang="en-US" sz="2933" b="1" dirty="0">
                <a:solidFill>
                  <a:srgbClr val="00B7C3"/>
                </a:solidFill>
                <a:latin typeface="Microsoft YaHei" pitchFamily="34" charset="0"/>
                <a:ea typeface="Microsoft YaHei" pitchFamily="34" charset="-122"/>
                <a:cs typeface="Microsoft YaHei" pitchFamily="34" charset="-120"/>
              </a:rPr>
              <a:t>02</a:t>
            </a:r>
            <a:endParaRPr lang="en-US" sz="2933" dirty="0">
              <a:solidFill>
                <a:prstClr val="black"/>
              </a:solidFill>
              <a:latin typeface="Calibri" panose="020F0502020204030204"/>
            </a:endParaRPr>
          </a:p>
        </p:txBody>
      </p:sp>
      <p:sp>
        <p:nvSpPr>
          <p:cNvPr id="18" name="Text 16"/>
          <p:cNvSpPr/>
          <p:nvPr/>
        </p:nvSpPr>
        <p:spPr>
          <a:xfrm>
            <a:off x="1706880" y="2743200"/>
            <a:ext cx="3413760" cy="548640"/>
          </a:xfrm>
          <a:prstGeom prst="rect">
            <a:avLst/>
          </a:prstGeom>
          <a:noFill/>
          <a:ln/>
        </p:spPr>
        <p:txBody>
          <a:bodyPr wrap="square" lIns="0" tIns="0" rIns="0" bIns="0" rtlCol="0" anchor="ctr"/>
          <a:lstStyle/>
          <a:p>
            <a:pPr defTabSz="1219170"/>
            <a:r>
              <a:rPr lang="en-US" sz="2133" b="1" dirty="0">
                <a:solidFill>
                  <a:srgbClr val="1F2937"/>
                </a:solidFill>
                <a:latin typeface="Microsoft YaHei" pitchFamily="34" charset="0"/>
                <a:ea typeface="Microsoft YaHei" pitchFamily="34" charset="-122"/>
                <a:cs typeface="Microsoft YaHei" pitchFamily="34" charset="-120"/>
              </a:rPr>
              <a:t>The three platforms</a:t>
            </a:r>
            <a:endParaRPr lang="en-US" sz="2133" dirty="0">
              <a:solidFill>
                <a:prstClr val="black"/>
              </a:solidFill>
              <a:latin typeface="Calibri" panose="020F0502020204030204"/>
            </a:endParaRPr>
          </a:p>
        </p:txBody>
      </p:sp>
      <p:sp>
        <p:nvSpPr>
          <p:cNvPr id="19" name="Text 17"/>
          <p:cNvSpPr/>
          <p:nvPr/>
        </p:nvSpPr>
        <p:spPr>
          <a:xfrm>
            <a:off x="5242560" y="2743200"/>
            <a:ext cx="6339840" cy="548640"/>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Deep dive on Azure Foundry, Anthropic, and AWS Bedrock</a:t>
            </a:r>
            <a:endParaRPr lang="en-US" sz="1600" dirty="0">
              <a:solidFill>
                <a:prstClr val="black"/>
              </a:solidFill>
              <a:latin typeface="Calibri" panose="020F0502020204030204"/>
            </a:endParaRPr>
          </a:p>
        </p:txBody>
      </p:sp>
      <p:sp>
        <p:nvSpPr>
          <p:cNvPr id="20" name="Shape 18"/>
          <p:cNvSpPr/>
          <p:nvPr/>
        </p:nvSpPr>
        <p:spPr>
          <a:xfrm>
            <a:off x="487680" y="3413760"/>
            <a:ext cx="11216640" cy="6705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1" name="Shape 19"/>
          <p:cNvSpPr/>
          <p:nvPr/>
        </p:nvSpPr>
        <p:spPr>
          <a:xfrm>
            <a:off x="487680" y="3413760"/>
            <a:ext cx="97536" cy="67056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2" name="Text 20"/>
          <p:cNvSpPr/>
          <p:nvPr/>
        </p:nvSpPr>
        <p:spPr>
          <a:xfrm>
            <a:off x="731520" y="3474720"/>
            <a:ext cx="853440" cy="548640"/>
          </a:xfrm>
          <a:prstGeom prst="rect">
            <a:avLst/>
          </a:prstGeom>
          <a:noFill/>
          <a:ln/>
        </p:spPr>
        <p:txBody>
          <a:bodyPr wrap="square" lIns="0" tIns="0" rIns="0" bIns="0" rtlCol="0" anchor="ctr"/>
          <a:lstStyle/>
          <a:p>
            <a:pPr defTabSz="1219170"/>
            <a:r>
              <a:rPr lang="en-US" sz="2933" b="1" dirty="0">
                <a:solidFill>
                  <a:srgbClr val="FFB900"/>
                </a:solidFill>
                <a:latin typeface="Microsoft YaHei" pitchFamily="34" charset="0"/>
                <a:ea typeface="Microsoft YaHei" pitchFamily="34" charset="-122"/>
                <a:cs typeface="Microsoft YaHei" pitchFamily="34" charset="-120"/>
              </a:rPr>
              <a:t>03</a:t>
            </a:r>
            <a:endParaRPr lang="en-US" sz="2933" dirty="0">
              <a:solidFill>
                <a:prstClr val="black"/>
              </a:solidFill>
              <a:latin typeface="Calibri" panose="020F0502020204030204"/>
            </a:endParaRPr>
          </a:p>
        </p:txBody>
      </p:sp>
      <p:sp>
        <p:nvSpPr>
          <p:cNvPr id="23" name="Text 21"/>
          <p:cNvSpPr/>
          <p:nvPr/>
        </p:nvSpPr>
        <p:spPr>
          <a:xfrm>
            <a:off x="1706880" y="3474720"/>
            <a:ext cx="3413760" cy="548640"/>
          </a:xfrm>
          <a:prstGeom prst="rect">
            <a:avLst/>
          </a:prstGeom>
          <a:noFill/>
          <a:ln/>
        </p:spPr>
        <p:txBody>
          <a:bodyPr wrap="square" lIns="0" tIns="0" rIns="0" bIns="0" rtlCol="0" anchor="ctr"/>
          <a:lstStyle/>
          <a:p>
            <a:pPr defTabSz="1219170"/>
            <a:r>
              <a:rPr lang="en-US" sz="2133" b="1" dirty="0">
                <a:solidFill>
                  <a:srgbClr val="1F2937"/>
                </a:solidFill>
                <a:latin typeface="Microsoft YaHei" pitchFamily="34" charset="0"/>
                <a:ea typeface="Microsoft YaHei" pitchFamily="34" charset="-122"/>
                <a:cs typeface="Microsoft YaHei" pitchFamily="34" charset="-120"/>
              </a:rPr>
              <a:t>Architecture comparison</a:t>
            </a:r>
            <a:endParaRPr lang="en-US" sz="2133" dirty="0">
              <a:solidFill>
                <a:prstClr val="black"/>
              </a:solidFill>
              <a:latin typeface="Calibri" panose="020F0502020204030204"/>
            </a:endParaRPr>
          </a:p>
        </p:txBody>
      </p:sp>
      <p:sp>
        <p:nvSpPr>
          <p:cNvPr id="24" name="Text 22"/>
          <p:cNvSpPr/>
          <p:nvPr/>
        </p:nvSpPr>
        <p:spPr>
          <a:xfrm>
            <a:off x="5242560" y="3474720"/>
            <a:ext cx="6339840" cy="548640"/>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Multi-dimensional comparison of isolation models, protocols, identity, and security</a:t>
            </a:r>
            <a:endParaRPr lang="en-US" sz="1600" dirty="0">
              <a:solidFill>
                <a:prstClr val="black"/>
              </a:solidFill>
              <a:latin typeface="Calibri" panose="020F0502020204030204"/>
            </a:endParaRPr>
          </a:p>
        </p:txBody>
      </p:sp>
      <p:sp>
        <p:nvSpPr>
          <p:cNvPr id="25" name="Shape 23"/>
          <p:cNvSpPr/>
          <p:nvPr/>
        </p:nvSpPr>
        <p:spPr>
          <a:xfrm>
            <a:off x="487680" y="4145280"/>
            <a:ext cx="11216640" cy="6705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6" name="Shape 24"/>
          <p:cNvSpPr/>
          <p:nvPr/>
        </p:nvSpPr>
        <p:spPr>
          <a:xfrm>
            <a:off x="487680" y="4145280"/>
            <a:ext cx="97536" cy="67056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7" name="Text 25"/>
          <p:cNvSpPr/>
          <p:nvPr/>
        </p:nvSpPr>
        <p:spPr>
          <a:xfrm>
            <a:off x="731520" y="4206240"/>
            <a:ext cx="853440" cy="548640"/>
          </a:xfrm>
          <a:prstGeom prst="rect">
            <a:avLst/>
          </a:prstGeom>
          <a:noFill/>
          <a:ln/>
        </p:spPr>
        <p:txBody>
          <a:bodyPr wrap="square" lIns="0" tIns="0" rIns="0" bIns="0" rtlCol="0" anchor="ctr"/>
          <a:lstStyle/>
          <a:p>
            <a:pPr defTabSz="1219170"/>
            <a:r>
              <a:rPr lang="en-US" sz="2933" b="1" dirty="0">
                <a:solidFill>
                  <a:srgbClr val="107C10"/>
                </a:solidFill>
                <a:latin typeface="Microsoft YaHei" pitchFamily="34" charset="0"/>
                <a:ea typeface="Microsoft YaHei" pitchFamily="34" charset="-122"/>
                <a:cs typeface="Microsoft YaHei" pitchFamily="34" charset="-120"/>
              </a:rPr>
              <a:t>04</a:t>
            </a:r>
            <a:endParaRPr lang="en-US" sz="2933" dirty="0">
              <a:solidFill>
                <a:prstClr val="black"/>
              </a:solidFill>
              <a:latin typeface="Calibri" panose="020F0502020204030204"/>
            </a:endParaRPr>
          </a:p>
        </p:txBody>
      </p:sp>
      <p:sp>
        <p:nvSpPr>
          <p:cNvPr id="28" name="Text 26"/>
          <p:cNvSpPr/>
          <p:nvPr/>
        </p:nvSpPr>
        <p:spPr>
          <a:xfrm>
            <a:off x="1706880" y="4206240"/>
            <a:ext cx="3413760" cy="548640"/>
          </a:xfrm>
          <a:prstGeom prst="rect">
            <a:avLst/>
          </a:prstGeom>
          <a:noFill/>
          <a:ln/>
        </p:spPr>
        <p:txBody>
          <a:bodyPr wrap="square" lIns="0" tIns="0" rIns="0" bIns="0" rtlCol="0" anchor="ctr"/>
          <a:lstStyle/>
          <a:p>
            <a:pPr defTabSz="1219170"/>
            <a:r>
              <a:rPr lang="en-US" sz="2133" b="1" dirty="0">
                <a:solidFill>
                  <a:srgbClr val="1F2937"/>
                </a:solidFill>
                <a:latin typeface="Microsoft YaHei" pitchFamily="34" charset="0"/>
                <a:ea typeface="Microsoft YaHei" pitchFamily="34" charset="-122"/>
                <a:cs typeface="Microsoft YaHei" pitchFamily="34" charset="-120"/>
              </a:rPr>
              <a:t>Practical guide</a:t>
            </a:r>
            <a:endParaRPr lang="en-US" sz="2133" dirty="0">
              <a:solidFill>
                <a:prstClr val="black"/>
              </a:solidFill>
              <a:latin typeface="Calibri" panose="020F0502020204030204"/>
            </a:endParaRPr>
          </a:p>
        </p:txBody>
      </p:sp>
      <p:sp>
        <p:nvSpPr>
          <p:cNvPr id="29" name="Text 27"/>
          <p:cNvSpPr/>
          <p:nvPr/>
        </p:nvSpPr>
        <p:spPr>
          <a:xfrm>
            <a:off x="5242560" y="4206240"/>
            <a:ext cx="6339840" cy="548640"/>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Dev workflow, context engineering, and performance optimization</a:t>
            </a:r>
            <a:endParaRPr lang="en-US" sz="1600" dirty="0">
              <a:solidFill>
                <a:prstClr val="black"/>
              </a:solidFill>
              <a:latin typeface="Calibri" panose="020F0502020204030204"/>
            </a:endParaRPr>
          </a:p>
        </p:txBody>
      </p:sp>
      <p:sp>
        <p:nvSpPr>
          <p:cNvPr id="30" name="Shape 28"/>
          <p:cNvSpPr/>
          <p:nvPr/>
        </p:nvSpPr>
        <p:spPr>
          <a:xfrm>
            <a:off x="487680" y="4876800"/>
            <a:ext cx="11216640" cy="6705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1" name="Shape 29"/>
          <p:cNvSpPr/>
          <p:nvPr/>
        </p:nvSpPr>
        <p:spPr>
          <a:xfrm>
            <a:off x="487680" y="4876800"/>
            <a:ext cx="97536" cy="67056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32" name="Text 30"/>
          <p:cNvSpPr/>
          <p:nvPr/>
        </p:nvSpPr>
        <p:spPr>
          <a:xfrm>
            <a:off x="731520" y="4937760"/>
            <a:ext cx="853440" cy="548640"/>
          </a:xfrm>
          <a:prstGeom prst="rect">
            <a:avLst/>
          </a:prstGeom>
          <a:noFill/>
          <a:ln/>
        </p:spPr>
        <p:txBody>
          <a:bodyPr wrap="square" lIns="0" tIns="0" rIns="0" bIns="0" rtlCol="0" anchor="ctr"/>
          <a:lstStyle/>
          <a:p>
            <a:pPr defTabSz="1219170"/>
            <a:r>
              <a:rPr lang="en-US" sz="2933" b="1" dirty="0">
                <a:solidFill>
                  <a:srgbClr val="5C2D91"/>
                </a:solidFill>
                <a:latin typeface="Microsoft YaHei" pitchFamily="34" charset="0"/>
                <a:ea typeface="Microsoft YaHei" pitchFamily="34" charset="-122"/>
                <a:cs typeface="Microsoft YaHei" pitchFamily="34" charset="-120"/>
              </a:rPr>
              <a:t>05</a:t>
            </a:r>
            <a:endParaRPr lang="en-US" sz="2933" dirty="0">
              <a:solidFill>
                <a:prstClr val="black"/>
              </a:solidFill>
              <a:latin typeface="Calibri" panose="020F0502020204030204"/>
            </a:endParaRPr>
          </a:p>
        </p:txBody>
      </p:sp>
      <p:sp>
        <p:nvSpPr>
          <p:cNvPr id="33" name="Text 31"/>
          <p:cNvSpPr/>
          <p:nvPr/>
        </p:nvSpPr>
        <p:spPr>
          <a:xfrm>
            <a:off x="1706880" y="4937760"/>
            <a:ext cx="3413760" cy="548640"/>
          </a:xfrm>
          <a:prstGeom prst="rect">
            <a:avLst/>
          </a:prstGeom>
          <a:noFill/>
          <a:ln/>
        </p:spPr>
        <p:txBody>
          <a:bodyPr wrap="square" lIns="0" tIns="0" rIns="0" bIns="0" rtlCol="0" anchor="ctr"/>
          <a:lstStyle/>
          <a:p>
            <a:pPr defTabSz="1219170"/>
            <a:r>
              <a:rPr lang="en-US" sz="2133" b="1" dirty="0">
                <a:solidFill>
                  <a:srgbClr val="1F2937"/>
                </a:solidFill>
                <a:latin typeface="Microsoft YaHei" pitchFamily="34" charset="0"/>
                <a:ea typeface="Microsoft YaHei" pitchFamily="34" charset="-122"/>
                <a:cs typeface="Microsoft YaHei" pitchFamily="34" charset="-120"/>
              </a:rPr>
              <a:t>Future outlook</a:t>
            </a:r>
            <a:endParaRPr lang="en-US" sz="2133" dirty="0">
              <a:solidFill>
                <a:prstClr val="black"/>
              </a:solidFill>
              <a:latin typeface="Calibri" panose="020F0502020204030204"/>
            </a:endParaRPr>
          </a:p>
        </p:txBody>
      </p:sp>
      <p:sp>
        <p:nvSpPr>
          <p:cNvPr id="34" name="Text 32"/>
          <p:cNvSpPr/>
          <p:nvPr/>
        </p:nvSpPr>
        <p:spPr>
          <a:xfrm>
            <a:off x="5242560" y="4937760"/>
            <a:ext cx="6339840" cy="548640"/>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The future of Meta-Harness and evolvable architectures</a:t>
            </a:r>
            <a:endParaRPr lang="en-US" sz="1600" dirty="0">
              <a:solidFill>
                <a:prstClr val="black"/>
              </a:solidFill>
              <a:latin typeface="Calibri" panose="020F0502020204030204"/>
            </a:endParaRPr>
          </a:p>
        </p:txBody>
      </p:sp>
      <p:sp>
        <p:nvSpPr>
          <p:cNvPr id="35" name="Shape 33"/>
          <p:cNvSpPr/>
          <p:nvPr/>
        </p:nvSpPr>
        <p:spPr>
          <a:xfrm>
            <a:off x="487680" y="5608320"/>
            <a:ext cx="11216640" cy="6705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6" name="Shape 34"/>
          <p:cNvSpPr/>
          <p:nvPr/>
        </p:nvSpPr>
        <p:spPr>
          <a:xfrm>
            <a:off x="487680" y="5608320"/>
            <a:ext cx="97536" cy="67056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37" name="Text 35"/>
          <p:cNvSpPr/>
          <p:nvPr/>
        </p:nvSpPr>
        <p:spPr>
          <a:xfrm>
            <a:off x="731520" y="5669280"/>
            <a:ext cx="853440" cy="548640"/>
          </a:xfrm>
          <a:prstGeom prst="rect">
            <a:avLst/>
          </a:prstGeom>
          <a:noFill/>
          <a:ln/>
        </p:spPr>
        <p:txBody>
          <a:bodyPr wrap="square" lIns="0" tIns="0" rIns="0" bIns="0" rtlCol="0" anchor="ctr"/>
          <a:lstStyle/>
          <a:p>
            <a:pPr defTabSz="1219170"/>
            <a:r>
              <a:rPr lang="en-US" sz="2933" b="1" dirty="0">
                <a:solidFill>
                  <a:srgbClr val="E81123"/>
                </a:solidFill>
                <a:latin typeface="Microsoft YaHei" pitchFamily="34" charset="0"/>
                <a:ea typeface="Microsoft YaHei" pitchFamily="34" charset="-122"/>
                <a:cs typeface="Microsoft YaHei" pitchFamily="34" charset="-120"/>
              </a:rPr>
              <a:t>06</a:t>
            </a:r>
            <a:endParaRPr lang="en-US" sz="2933" dirty="0">
              <a:solidFill>
                <a:prstClr val="black"/>
              </a:solidFill>
              <a:latin typeface="Calibri" panose="020F0502020204030204"/>
            </a:endParaRPr>
          </a:p>
        </p:txBody>
      </p:sp>
      <p:sp>
        <p:nvSpPr>
          <p:cNvPr id="38" name="Text 36"/>
          <p:cNvSpPr/>
          <p:nvPr/>
        </p:nvSpPr>
        <p:spPr>
          <a:xfrm>
            <a:off x="1706880" y="5669280"/>
            <a:ext cx="3413760" cy="548640"/>
          </a:xfrm>
          <a:prstGeom prst="rect">
            <a:avLst/>
          </a:prstGeom>
          <a:noFill/>
          <a:ln/>
        </p:spPr>
        <p:txBody>
          <a:bodyPr wrap="square" lIns="0" tIns="0" rIns="0" bIns="0" rtlCol="0" anchor="ctr"/>
          <a:lstStyle/>
          <a:p>
            <a:pPr defTabSz="1219170"/>
            <a:r>
              <a:rPr lang="en-US" sz="2133" b="1" dirty="0">
                <a:solidFill>
                  <a:srgbClr val="1F2937"/>
                </a:solidFill>
                <a:latin typeface="Microsoft YaHei" pitchFamily="34" charset="0"/>
                <a:ea typeface="Microsoft YaHei" pitchFamily="34" charset="-122"/>
                <a:cs typeface="Microsoft YaHei" pitchFamily="34" charset="-120"/>
              </a:rPr>
              <a:t>Q&amp;A</a:t>
            </a:r>
            <a:endParaRPr lang="en-US" sz="2133" dirty="0">
              <a:solidFill>
                <a:prstClr val="black"/>
              </a:solidFill>
              <a:latin typeface="Calibri" panose="020F0502020204030204"/>
            </a:endParaRPr>
          </a:p>
        </p:txBody>
      </p:sp>
      <p:sp>
        <p:nvSpPr>
          <p:cNvPr id="39" name="Text 37"/>
          <p:cNvSpPr/>
          <p:nvPr/>
        </p:nvSpPr>
        <p:spPr>
          <a:xfrm>
            <a:off x="5242560" y="5669280"/>
            <a:ext cx="6339840" cy="548640"/>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Deep discussion and live Q&amp;A</a:t>
            </a:r>
            <a:endParaRPr lang="en-US" sz="1600" dirty="0">
              <a:solidFill>
                <a:prstClr val="black"/>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A47"/>
        </a:solidFill>
        <a:effectLst/>
      </p:bgPr>
    </p:bg>
    <p:spTree>
      <p:nvGrpSpPr>
        <p:cNvPr id="1" name=""/>
        <p:cNvGrpSpPr/>
        <p:nvPr/>
      </p:nvGrpSpPr>
      <p:grpSpPr>
        <a:xfrm>
          <a:off x="0" y="0"/>
          <a:ext cx="0" cy="0"/>
          <a:chOff x="0" y="0"/>
          <a:chExt cx="0" cy="0"/>
        </a:xfrm>
      </p:grpSpPr>
      <p:sp>
        <p:nvSpPr>
          <p:cNvPr id="2" name="Shape 0"/>
          <p:cNvSpPr/>
          <p:nvPr/>
        </p:nvSpPr>
        <p:spPr>
          <a:xfrm>
            <a:off x="10241280" y="0"/>
            <a:ext cx="1950720" cy="6858000"/>
          </a:xfrm>
          <a:prstGeom prst="rect">
            <a:avLst/>
          </a:prstGeom>
          <a:solidFill>
            <a:srgbClr val="071A30"/>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19456" cy="685800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Shape 2"/>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5" name="Text 3"/>
          <p:cNvSpPr/>
          <p:nvPr/>
        </p:nvSpPr>
        <p:spPr>
          <a:xfrm>
            <a:off x="731520" y="6486144"/>
            <a:ext cx="6096000" cy="304800"/>
          </a:xfrm>
          <a:prstGeom prst="rect">
            <a:avLst/>
          </a:prstGeom>
          <a:noFill/>
          <a:ln/>
        </p:spPr>
        <p:txBody>
          <a:bodyPr wrap="square" rtlCol="0" anchor="ctr"/>
          <a:lstStyle/>
          <a:p>
            <a:pPr defTabSz="1219170"/>
            <a:r>
              <a:rPr lang="en-US" sz="1200" dirty="0">
                <a:solidFill>
                  <a:srgbClr val="CADCFC"/>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6" name="Text 4"/>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CADCFC"/>
                </a:solidFill>
                <a:latin typeface="Microsoft YaHei" pitchFamily="34" charset="0"/>
                <a:ea typeface="Microsoft YaHei" pitchFamily="34" charset="-122"/>
                <a:cs typeface="Microsoft YaHei" pitchFamily="34" charset="-120"/>
              </a:rPr>
              <a:t>03 / 40</a:t>
            </a:r>
            <a:endParaRPr lang="en-US" sz="1200" dirty="0">
              <a:solidFill>
                <a:prstClr val="black"/>
              </a:solidFill>
              <a:latin typeface="Calibri" panose="020F0502020204030204"/>
            </a:endParaRPr>
          </a:p>
        </p:txBody>
      </p:sp>
      <p:sp>
        <p:nvSpPr>
          <p:cNvPr id="7" name="Text 5"/>
          <p:cNvSpPr/>
          <p:nvPr/>
        </p:nvSpPr>
        <p:spPr>
          <a:xfrm>
            <a:off x="731520" y="2072640"/>
            <a:ext cx="9753600" cy="487680"/>
          </a:xfrm>
          <a:prstGeom prst="rect">
            <a:avLst/>
          </a:prstGeom>
          <a:noFill/>
          <a:ln/>
        </p:spPr>
        <p:txBody>
          <a:bodyPr wrap="square" lIns="0" tIns="0" rIns="0" bIns="0" rtlCol="0" anchor="ctr"/>
          <a:lstStyle/>
          <a:p>
            <a:pPr defTabSz="1219170"/>
            <a:r>
              <a:rPr lang="en-US" sz="1867" b="1" kern="0" spc="1333" dirty="0">
                <a:solidFill>
                  <a:srgbClr val="FFB900"/>
                </a:solidFill>
                <a:latin typeface="Microsoft YaHei" pitchFamily="34" charset="0"/>
                <a:ea typeface="Microsoft YaHei" pitchFamily="34" charset="-122"/>
                <a:cs typeface="Microsoft YaHei" pitchFamily="34" charset="-120"/>
              </a:rPr>
              <a:t>PART  01</a:t>
            </a:r>
            <a:endParaRPr lang="en-US" sz="1867" dirty="0">
              <a:solidFill>
                <a:prstClr val="black"/>
              </a:solidFill>
              <a:latin typeface="Calibri" panose="020F0502020204030204"/>
            </a:endParaRPr>
          </a:p>
        </p:txBody>
      </p:sp>
      <p:sp>
        <p:nvSpPr>
          <p:cNvPr id="8" name="Shape 6"/>
          <p:cNvSpPr/>
          <p:nvPr/>
        </p:nvSpPr>
        <p:spPr>
          <a:xfrm>
            <a:off x="731520" y="2621280"/>
            <a:ext cx="731520" cy="48768"/>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9" name="Text 7"/>
          <p:cNvSpPr/>
          <p:nvPr/>
        </p:nvSpPr>
        <p:spPr>
          <a:xfrm>
            <a:off x="731520" y="2865120"/>
            <a:ext cx="9753600" cy="1036320"/>
          </a:xfrm>
          <a:prstGeom prst="rect">
            <a:avLst/>
          </a:prstGeom>
          <a:noFill/>
          <a:ln/>
        </p:spPr>
        <p:txBody>
          <a:bodyPr wrap="square" lIns="0" tIns="0" rIns="0" bIns="0" rtlCol="0" anchor="ctr"/>
          <a:lstStyle/>
          <a:p>
            <a:pPr defTabSz="1219170"/>
            <a:r>
              <a:rPr lang="en-US" sz="7200" b="1" dirty="0">
                <a:solidFill>
                  <a:srgbClr val="FFFFFF"/>
                </a:solidFill>
                <a:latin typeface="Microsoft YaHei" pitchFamily="34" charset="0"/>
                <a:ea typeface="Microsoft YaHei" pitchFamily="34" charset="-122"/>
                <a:cs typeface="Microsoft YaHei" pitchFamily="34" charset="-120"/>
              </a:rPr>
              <a:t>Conceptual foundation</a:t>
            </a:r>
            <a:endParaRPr lang="en-US" sz="7200" dirty="0">
              <a:solidFill>
                <a:prstClr val="black"/>
              </a:solidFill>
              <a:latin typeface="Calibri" panose="020F0502020204030204"/>
            </a:endParaRPr>
          </a:p>
        </p:txBody>
      </p:sp>
      <p:sp>
        <p:nvSpPr>
          <p:cNvPr id="10" name="Text 8"/>
          <p:cNvSpPr/>
          <p:nvPr/>
        </p:nvSpPr>
        <p:spPr>
          <a:xfrm>
            <a:off x="731520" y="4145280"/>
            <a:ext cx="9753600" cy="609600"/>
          </a:xfrm>
          <a:prstGeom prst="rect">
            <a:avLst/>
          </a:prstGeom>
          <a:noFill/>
          <a:ln/>
        </p:spPr>
        <p:txBody>
          <a:bodyPr wrap="square" lIns="0" tIns="0" rIns="0" bIns="0" rtlCol="0" anchor="ctr"/>
          <a:lstStyle/>
          <a:p>
            <a:pPr defTabSz="1219170"/>
            <a:r>
              <a:rPr lang="en-US" sz="2133" dirty="0">
                <a:solidFill>
                  <a:srgbClr val="CADCFC"/>
                </a:solidFill>
                <a:latin typeface="Microsoft YaHei" pitchFamily="34" charset="0"/>
                <a:ea typeface="Microsoft YaHei" pitchFamily="34" charset="-122"/>
                <a:cs typeface="Microsoft YaHei" pitchFamily="34" charset="-120"/>
              </a:rPr>
              <a:t>Understanding Agent Harness: the key leap from Prompt to engineering</a:t>
            </a:r>
            <a:endParaRPr lang="en-US" sz="2133" dirty="0">
              <a:solidFill>
                <a:prstClr val="black"/>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01  ·  Motivation</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Why we need Agent Harness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Building production-grade AI agents involves many cross-cutting concerns — far beyond Prompt engineering</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04 / 40</a:t>
            </a:r>
            <a:endParaRPr lang="en-US" sz="1200" dirty="0">
              <a:solidFill>
                <a:prstClr val="black"/>
              </a:solidFill>
              <a:latin typeface="Calibri" panose="020F0502020204030204"/>
            </a:endParaRPr>
          </a:p>
        </p:txBody>
      </p:sp>
      <p:sp>
        <p:nvSpPr>
          <p:cNvPr id="10" name="Shape 8"/>
          <p:cNvSpPr/>
          <p:nvPr/>
        </p:nvSpPr>
        <p:spPr>
          <a:xfrm>
            <a:off x="487680" y="2011680"/>
            <a:ext cx="359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2011680"/>
            <a:ext cx="97536" cy="14020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194560"/>
            <a:ext cx="3230880" cy="426720"/>
          </a:xfrm>
          <a:prstGeom prst="rect">
            <a:avLst/>
          </a:prstGeom>
          <a:noFill/>
          <a:ln/>
        </p:spPr>
        <p:txBody>
          <a:bodyPr wrap="square" lIns="0" tIns="0" rIns="0" bIns="0" rtlCol="0" anchor="ctr"/>
          <a:lstStyle/>
          <a:p>
            <a:pPr defTabSz="1219170"/>
            <a:r>
              <a:rPr lang="en-US" sz="1867" b="1" dirty="0">
                <a:solidFill>
                  <a:srgbClr val="0F2A47"/>
                </a:solidFill>
                <a:latin typeface="Microsoft YaHei" pitchFamily="34" charset="0"/>
                <a:ea typeface="Microsoft YaHei" pitchFamily="34" charset="-122"/>
                <a:cs typeface="Microsoft YaHei" pitchFamily="34" charset="-120"/>
              </a:rPr>
              <a:t>Containerized deployment</a:t>
            </a:r>
            <a:endParaRPr lang="en-US" sz="1867" dirty="0">
              <a:solidFill>
                <a:prstClr val="black"/>
              </a:solidFill>
              <a:latin typeface="Calibri" panose="020F0502020204030204"/>
            </a:endParaRPr>
          </a:p>
        </p:txBody>
      </p:sp>
      <p:sp>
        <p:nvSpPr>
          <p:cNvPr id="13" name="Text 11"/>
          <p:cNvSpPr/>
          <p:nvPr/>
        </p:nvSpPr>
        <p:spPr>
          <a:xfrm>
            <a:off x="731520" y="2682240"/>
            <a:ext cx="3230880" cy="670560"/>
          </a:xfrm>
          <a:prstGeom prst="rect">
            <a:avLst/>
          </a:prstGeom>
          <a:noFill/>
          <a:ln/>
        </p:spPr>
        <p:txBody>
          <a:bodyPr wrap="square" lIns="0" tIns="0" rIns="0" bIns="0" rtlCol="0" anchor="ctr"/>
          <a:lstStyle/>
          <a:p>
            <a:pPr defTabSz="1219170"/>
            <a:r>
              <a:rPr lang="en-US" sz="1467" dirty="0">
                <a:solidFill>
                  <a:srgbClr val="5B6671"/>
                </a:solidFill>
                <a:latin typeface="Microsoft YaHei" pitchFamily="34" charset="0"/>
                <a:ea typeface="Microsoft YaHei" pitchFamily="34" charset="-122"/>
                <a:cs typeface="Microsoft YaHei" pitchFamily="34" charset="-120"/>
              </a:rPr>
              <a:t>Image builds, web server config, runtime orchestration</a:t>
            </a:r>
            <a:endParaRPr lang="en-US" sz="1467" dirty="0">
              <a:solidFill>
                <a:prstClr val="black"/>
              </a:solidFill>
              <a:latin typeface="Calibri" panose="020F0502020204030204"/>
            </a:endParaRPr>
          </a:p>
        </p:txBody>
      </p:sp>
      <p:sp>
        <p:nvSpPr>
          <p:cNvPr id="14" name="Shape 12"/>
          <p:cNvSpPr/>
          <p:nvPr/>
        </p:nvSpPr>
        <p:spPr>
          <a:xfrm>
            <a:off x="4242816" y="2011680"/>
            <a:ext cx="359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5" name="Shape 13"/>
          <p:cNvSpPr/>
          <p:nvPr/>
        </p:nvSpPr>
        <p:spPr>
          <a:xfrm>
            <a:off x="4242816" y="2011680"/>
            <a:ext cx="97536" cy="14020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6" name="Text 14"/>
          <p:cNvSpPr/>
          <p:nvPr/>
        </p:nvSpPr>
        <p:spPr>
          <a:xfrm>
            <a:off x="4486656" y="2194560"/>
            <a:ext cx="3230880" cy="426720"/>
          </a:xfrm>
          <a:prstGeom prst="rect">
            <a:avLst/>
          </a:prstGeom>
          <a:noFill/>
          <a:ln/>
        </p:spPr>
        <p:txBody>
          <a:bodyPr wrap="square" lIns="0" tIns="0" rIns="0" bIns="0" rtlCol="0" anchor="ctr"/>
          <a:lstStyle/>
          <a:p>
            <a:pPr defTabSz="1219170"/>
            <a:r>
              <a:rPr lang="en-US" sz="1867" b="1" dirty="0">
                <a:solidFill>
                  <a:srgbClr val="0F2A47"/>
                </a:solidFill>
                <a:latin typeface="Microsoft YaHei" pitchFamily="34" charset="0"/>
                <a:ea typeface="Microsoft YaHei" pitchFamily="34" charset="-122"/>
                <a:cs typeface="Microsoft YaHei" pitchFamily="34" charset="-120"/>
              </a:rPr>
              <a:t>Security governance</a:t>
            </a:r>
            <a:endParaRPr lang="en-US" sz="1867" dirty="0">
              <a:solidFill>
                <a:prstClr val="black"/>
              </a:solidFill>
              <a:latin typeface="Calibri" panose="020F0502020204030204"/>
            </a:endParaRPr>
          </a:p>
        </p:txBody>
      </p:sp>
      <p:sp>
        <p:nvSpPr>
          <p:cNvPr id="17" name="Text 15"/>
          <p:cNvSpPr/>
          <p:nvPr/>
        </p:nvSpPr>
        <p:spPr>
          <a:xfrm>
            <a:off x="4486656" y="2682240"/>
            <a:ext cx="3230880" cy="670560"/>
          </a:xfrm>
          <a:prstGeom prst="rect">
            <a:avLst/>
          </a:prstGeom>
          <a:noFill/>
          <a:ln/>
        </p:spPr>
        <p:txBody>
          <a:bodyPr wrap="square" lIns="0" tIns="0" rIns="0" bIns="0" rtlCol="0" anchor="ctr"/>
          <a:lstStyle/>
          <a:p>
            <a:pPr defTabSz="1219170"/>
            <a:r>
              <a:rPr lang="en-US" sz="1467" dirty="0">
                <a:solidFill>
                  <a:srgbClr val="5B6671"/>
                </a:solidFill>
                <a:latin typeface="Microsoft YaHei" pitchFamily="34" charset="0"/>
                <a:ea typeface="Microsoft YaHei" pitchFamily="34" charset="-122"/>
                <a:cs typeface="Microsoft YaHei" pitchFamily="34" charset="-120"/>
              </a:rPr>
              <a:t>Identity management, least privilege, sensitive-data protection</a:t>
            </a:r>
            <a:endParaRPr lang="en-US" sz="1467" dirty="0">
              <a:solidFill>
                <a:prstClr val="black"/>
              </a:solidFill>
              <a:latin typeface="Calibri" panose="020F0502020204030204"/>
            </a:endParaRPr>
          </a:p>
        </p:txBody>
      </p:sp>
      <p:sp>
        <p:nvSpPr>
          <p:cNvPr id="18" name="Shape 16"/>
          <p:cNvSpPr/>
          <p:nvPr/>
        </p:nvSpPr>
        <p:spPr>
          <a:xfrm>
            <a:off x="7997952" y="2011680"/>
            <a:ext cx="359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9" name="Shape 17"/>
          <p:cNvSpPr/>
          <p:nvPr/>
        </p:nvSpPr>
        <p:spPr>
          <a:xfrm>
            <a:off x="7997952" y="2011680"/>
            <a:ext cx="97536" cy="14020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8241792" y="2194560"/>
            <a:ext cx="3230880" cy="426720"/>
          </a:xfrm>
          <a:prstGeom prst="rect">
            <a:avLst/>
          </a:prstGeom>
          <a:noFill/>
          <a:ln/>
        </p:spPr>
        <p:txBody>
          <a:bodyPr wrap="square" lIns="0" tIns="0" rIns="0" bIns="0" rtlCol="0" anchor="ctr"/>
          <a:lstStyle/>
          <a:p>
            <a:pPr defTabSz="1219170"/>
            <a:r>
              <a:rPr lang="en-US" sz="1867" b="1" dirty="0">
                <a:solidFill>
                  <a:srgbClr val="0F2A47"/>
                </a:solidFill>
                <a:latin typeface="Microsoft YaHei" pitchFamily="34" charset="0"/>
                <a:ea typeface="Microsoft YaHei" pitchFamily="34" charset="-122"/>
                <a:cs typeface="Microsoft YaHei" pitchFamily="34" charset="-120"/>
              </a:rPr>
              <a:t>State persistence</a:t>
            </a:r>
            <a:endParaRPr lang="en-US" sz="1867" dirty="0">
              <a:solidFill>
                <a:prstClr val="black"/>
              </a:solidFill>
              <a:latin typeface="Calibri" panose="020F0502020204030204"/>
            </a:endParaRPr>
          </a:p>
        </p:txBody>
      </p:sp>
      <p:sp>
        <p:nvSpPr>
          <p:cNvPr id="21" name="Text 19"/>
          <p:cNvSpPr/>
          <p:nvPr/>
        </p:nvSpPr>
        <p:spPr>
          <a:xfrm>
            <a:off x="8241792" y="2682240"/>
            <a:ext cx="3230880" cy="670560"/>
          </a:xfrm>
          <a:prstGeom prst="rect">
            <a:avLst/>
          </a:prstGeom>
          <a:noFill/>
          <a:ln/>
        </p:spPr>
        <p:txBody>
          <a:bodyPr wrap="square" lIns="0" tIns="0" rIns="0" bIns="0" rtlCol="0" anchor="ctr"/>
          <a:lstStyle/>
          <a:p>
            <a:pPr defTabSz="1219170"/>
            <a:r>
              <a:rPr lang="en-US" sz="1467" dirty="0">
                <a:solidFill>
                  <a:srgbClr val="5B6671"/>
                </a:solidFill>
                <a:latin typeface="Microsoft YaHei" pitchFamily="34" charset="0"/>
                <a:ea typeface="Microsoft YaHei" pitchFamily="34" charset="-122"/>
                <a:cs typeface="Microsoft YaHei" pitchFamily="34" charset="-120"/>
              </a:rPr>
              <a:t>Session memory, file storage, cross-turn state recovery</a:t>
            </a:r>
            <a:endParaRPr lang="en-US" sz="1467" dirty="0">
              <a:solidFill>
                <a:prstClr val="black"/>
              </a:solidFill>
              <a:latin typeface="Calibri" panose="020F0502020204030204"/>
            </a:endParaRPr>
          </a:p>
        </p:txBody>
      </p:sp>
      <p:sp>
        <p:nvSpPr>
          <p:cNvPr id="22" name="Shape 20"/>
          <p:cNvSpPr/>
          <p:nvPr/>
        </p:nvSpPr>
        <p:spPr>
          <a:xfrm>
            <a:off x="487680" y="3633216"/>
            <a:ext cx="359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3" name="Shape 21"/>
          <p:cNvSpPr/>
          <p:nvPr/>
        </p:nvSpPr>
        <p:spPr>
          <a:xfrm>
            <a:off x="487680" y="3633216"/>
            <a:ext cx="97536" cy="14020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4" name="Text 22"/>
          <p:cNvSpPr/>
          <p:nvPr/>
        </p:nvSpPr>
        <p:spPr>
          <a:xfrm>
            <a:off x="731520" y="3816096"/>
            <a:ext cx="3230880" cy="426720"/>
          </a:xfrm>
          <a:prstGeom prst="rect">
            <a:avLst/>
          </a:prstGeom>
          <a:noFill/>
          <a:ln/>
        </p:spPr>
        <p:txBody>
          <a:bodyPr wrap="square" lIns="0" tIns="0" rIns="0" bIns="0" rtlCol="0" anchor="ctr"/>
          <a:lstStyle/>
          <a:p>
            <a:pPr defTabSz="1219170"/>
            <a:r>
              <a:rPr lang="en-US" sz="1867" b="1" dirty="0">
                <a:solidFill>
                  <a:srgbClr val="0F2A47"/>
                </a:solidFill>
                <a:latin typeface="Microsoft YaHei" pitchFamily="34" charset="0"/>
                <a:ea typeface="Microsoft YaHei" pitchFamily="34" charset="-122"/>
                <a:cs typeface="Microsoft YaHei" pitchFamily="34" charset="-120"/>
              </a:rPr>
              <a:t>Elastic scaling</a:t>
            </a:r>
            <a:endParaRPr lang="en-US" sz="1867" dirty="0">
              <a:solidFill>
                <a:prstClr val="black"/>
              </a:solidFill>
              <a:latin typeface="Calibri" panose="020F0502020204030204"/>
            </a:endParaRPr>
          </a:p>
        </p:txBody>
      </p:sp>
      <p:sp>
        <p:nvSpPr>
          <p:cNvPr id="25" name="Text 23"/>
          <p:cNvSpPr/>
          <p:nvPr/>
        </p:nvSpPr>
        <p:spPr>
          <a:xfrm>
            <a:off x="731520" y="4303776"/>
            <a:ext cx="3230880" cy="670560"/>
          </a:xfrm>
          <a:prstGeom prst="rect">
            <a:avLst/>
          </a:prstGeom>
          <a:noFill/>
          <a:ln/>
        </p:spPr>
        <p:txBody>
          <a:bodyPr wrap="square" lIns="0" tIns="0" rIns="0" bIns="0" rtlCol="0" anchor="ctr"/>
          <a:lstStyle/>
          <a:p>
            <a:pPr defTabSz="1219170"/>
            <a:r>
              <a:rPr lang="en-US" sz="1467" dirty="0">
                <a:solidFill>
                  <a:srgbClr val="5B6671"/>
                </a:solidFill>
                <a:latin typeface="Microsoft YaHei" pitchFamily="34" charset="0"/>
                <a:ea typeface="Microsoft YaHei" pitchFamily="34" charset="-122"/>
                <a:cs typeface="Microsoft YaHei" pitchFamily="34" charset="-120"/>
              </a:rPr>
              <a:t>Concurrent sessions, idle reclamation, cold-start latency</a:t>
            </a:r>
            <a:endParaRPr lang="en-US" sz="1467" dirty="0">
              <a:solidFill>
                <a:prstClr val="black"/>
              </a:solidFill>
              <a:latin typeface="Calibri" panose="020F0502020204030204"/>
            </a:endParaRPr>
          </a:p>
        </p:txBody>
      </p:sp>
      <p:sp>
        <p:nvSpPr>
          <p:cNvPr id="26" name="Shape 24"/>
          <p:cNvSpPr/>
          <p:nvPr/>
        </p:nvSpPr>
        <p:spPr>
          <a:xfrm>
            <a:off x="4242816" y="3633216"/>
            <a:ext cx="359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7" name="Shape 25"/>
          <p:cNvSpPr/>
          <p:nvPr/>
        </p:nvSpPr>
        <p:spPr>
          <a:xfrm>
            <a:off x="4242816" y="3633216"/>
            <a:ext cx="97536" cy="14020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8" name="Text 26"/>
          <p:cNvSpPr/>
          <p:nvPr/>
        </p:nvSpPr>
        <p:spPr>
          <a:xfrm>
            <a:off x="4486656" y="3816096"/>
            <a:ext cx="3230880" cy="426720"/>
          </a:xfrm>
          <a:prstGeom prst="rect">
            <a:avLst/>
          </a:prstGeom>
          <a:noFill/>
          <a:ln/>
        </p:spPr>
        <p:txBody>
          <a:bodyPr wrap="square" lIns="0" tIns="0" rIns="0" bIns="0" rtlCol="0" anchor="ctr"/>
          <a:lstStyle/>
          <a:p>
            <a:pPr defTabSz="1219170"/>
            <a:r>
              <a:rPr lang="en-US" sz="1867" b="1" dirty="0">
                <a:solidFill>
                  <a:srgbClr val="0F2A47"/>
                </a:solidFill>
                <a:latin typeface="Microsoft YaHei" pitchFamily="34" charset="0"/>
                <a:ea typeface="Microsoft YaHei" pitchFamily="34" charset="-122"/>
                <a:cs typeface="Microsoft YaHei" pitchFamily="34" charset="-120"/>
              </a:rPr>
              <a:t>Observability</a:t>
            </a:r>
            <a:endParaRPr lang="en-US" sz="1867" dirty="0">
              <a:solidFill>
                <a:prstClr val="black"/>
              </a:solidFill>
              <a:latin typeface="Calibri" panose="020F0502020204030204"/>
            </a:endParaRPr>
          </a:p>
        </p:txBody>
      </p:sp>
      <p:sp>
        <p:nvSpPr>
          <p:cNvPr id="29" name="Text 27"/>
          <p:cNvSpPr/>
          <p:nvPr/>
        </p:nvSpPr>
        <p:spPr>
          <a:xfrm>
            <a:off x="4486656" y="4303776"/>
            <a:ext cx="3230880" cy="670560"/>
          </a:xfrm>
          <a:prstGeom prst="rect">
            <a:avLst/>
          </a:prstGeom>
          <a:noFill/>
          <a:ln/>
        </p:spPr>
        <p:txBody>
          <a:bodyPr wrap="square" lIns="0" tIns="0" rIns="0" bIns="0" rtlCol="0" anchor="ctr"/>
          <a:lstStyle/>
          <a:p>
            <a:pPr defTabSz="1219170"/>
            <a:r>
              <a:rPr lang="en-US" sz="1467" dirty="0">
                <a:solidFill>
                  <a:srgbClr val="5B6671"/>
                </a:solidFill>
                <a:latin typeface="Microsoft YaHei" pitchFamily="34" charset="0"/>
                <a:ea typeface="Microsoft YaHei" pitchFamily="34" charset="-122"/>
                <a:cs typeface="Microsoft YaHei" pitchFamily="34" charset="-120"/>
              </a:rPr>
              <a:t>Log aggregation, metric collection, tracing and diagnostics</a:t>
            </a:r>
            <a:endParaRPr lang="en-US" sz="1467" dirty="0">
              <a:solidFill>
                <a:prstClr val="black"/>
              </a:solidFill>
              <a:latin typeface="Calibri" panose="020F0502020204030204"/>
            </a:endParaRPr>
          </a:p>
        </p:txBody>
      </p:sp>
      <p:sp>
        <p:nvSpPr>
          <p:cNvPr id="30" name="Shape 28"/>
          <p:cNvSpPr/>
          <p:nvPr/>
        </p:nvSpPr>
        <p:spPr>
          <a:xfrm>
            <a:off x="7997952" y="3633216"/>
            <a:ext cx="359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1" name="Shape 29"/>
          <p:cNvSpPr/>
          <p:nvPr/>
        </p:nvSpPr>
        <p:spPr>
          <a:xfrm>
            <a:off x="7997952" y="3633216"/>
            <a:ext cx="97536" cy="14020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32" name="Text 30"/>
          <p:cNvSpPr/>
          <p:nvPr/>
        </p:nvSpPr>
        <p:spPr>
          <a:xfrm>
            <a:off x="8241792" y="3816096"/>
            <a:ext cx="3230880" cy="426720"/>
          </a:xfrm>
          <a:prstGeom prst="rect">
            <a:avLst/>
          </a:prstGeom>
          <a:noFill/>
          <a:ln/>
        </p:spPr>
        <p:txBody>
          <a:bodyPr wrap="square" lIns="0" tIns="0" rIns="0" bIns="0" rtlCol="0" anchor="ctr"/>
          <a:lstStyle/>
          <a:p>
            <a:pPr defTabSz="1219170"/>
            <a:r>
              <a:rPr lang="en-US" sz="1867" b="1" dirty="0">
                <a:solidFill>
                  <a:srgbClr val="0F2A47"/>
                </a:solidFill>
                <a:latin typeface="Microsoft YaHei" pitchFamily="34" charset="0"/>
                <a:ea typeface="Microsoft YaHei" pitchFamily="34" charset="-122"/>
                <a:cs typeface="Microsoft YaHei" pitchFamily="34" charset="-120"/>
              </a:rPr>
              <a:t>Version rollback</a:t>
            </a:r>
            <a:endParaRPr lang="en-US" sz="1867" dirty="0">
              <a:solidFill>
                <a:prstClr val="black"/>
              </a:solidFill>
              <a:latin typeface="Calibri" panose="020F0502020204030204"/>
            </a:endParaRPr>
          </a:p>
        </p:txBody>
      </p:sp>
      <p:sp>
        <p:nvSpPr>
          <p:cNvPr id="33" name="Text 31"/>
          <p:cNvSpPr/>
          <p:nvPr/>
        </p:nvSpPr>
        <p:spPr>
          <a:xfrm>
            <a:off x="8241792" y="4303776"/>
            <a:ext cx="3230880" cy="670560"/>
          </a:xfrm>
          <a:prstGeom prst="rect">
            <a:avLst/>
          </a:prstGeom>
          <a:noFill/>
          <a:ln/>
        </p:spPr>
        <p:txBody>
          <a:bodyPr wrap="square" lIns="0" tIns="0" rIns="0" bIns="0" rtlCol="0" anchor="ctr"/>
          <a:lstStyle/>
          <a:p>
            <a:pPr defTabSz="1219170"/>
            <a:r>
              <a:rPr lang="en-US" sz="1467" dirty="0">
                <a:solidFill>
                  <a:srgbClr val="5B6671"/>
                </a:solidFill>
                <a:latin typeface="Microsoft YaHei" pitchFamily="34" charset="0"/>
                <a:ea typeface="Microsoft YaHei" pitchFamily="34" charset="-122"/>
                <a:cs typeface="Microsoft YaHei" pitchFamily="34" charset="-120"/>
              </a:rPr>
              <a:t>Canary releases, blue-green deployments, traffic shifting</a:t>
            </a:r>
            <a:endParaRPr lang="en-US" sz="1467" dirty="0">
              <a:solidFill>
                <a:prstClr val="black"/>
              </a:solidFill>
              <a:latin typeface="Calibri" panose="020F0502020204030204"/>
            </a:endParaRPr>
          </a:p>
        </p:txBody>
      </p:sp>
      <p:sp>
        <p:nvSpPr>
          <p:cNvPr id="34" name="Shape 32"/>
          <p:cNvSpPr/>
          <p:nvPr/>
        </p:nvSpPr>
        <p:spPr>
          <a:xfrm>
            <a:off x="487680" y="5913120"/>
            <a:ext cx="11216640" cy="512064"/>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5" name="Text 33"/>
          <p:cNvSpPr/>
          <p:nvPr/>
        </p:nvSpPr>
        <p:spPr>
          <a:xfrm>
            <a:off x="487680" y="5913120"/>
            <a:ext cx="11216640" cy="512064"/>
          </a:xfrm>
          <a:prstGeom prst="rect">
            <a:avLst/>
          </a:prstGeom>
          <a:noFill/>
          <a:ln/>
        </p:spPr>
        <p:txBody>
          <a:bodyPr wrap="square" lIns="0" tIns="0" rIns="0" bIns="0" rtlCol="0" anchor="ctr"/>
          <a:lstStyle/>
          <a:p>
            <a:pPr algn="ctr" defTabSz="1219170"/>
            <a:r>
              <a:rPr lang="en-US" sz="1733" b="1" dirty="0">
                <a:solidFill>
                  <a:srgbClr val="FFFFFF"/>
                </a:solidFill>
                <a:latin typeface="Microsoft YaHei" pitchFamily="34" charset="0"/>
                <a:ea typeface="Microsoft YaHei" pitchFamily="34" charset="-122"/>
                <a:cs typeface="Microsoft YaHei" pitchFamily="34" charset="-120"/>
              </a:rPr>
              <a:t>Agent Harness is the engineering abstraction that converges all these complexities into the platform layer</a:t>
            </a:r>
            <a:endParaRPr lang="en-US" sz="1733" dirty="0">
              <a:solidFill>
                <a:prstClr val="black"/>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01  ·  Concept definition</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What is Agent Harness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Harness = the execution environment, control loop, and infrastructure that surround the LLM</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05 / 40</a:t>
            </a:r>
            <a:endParaRPr lang="en-US" sz="1200" dirty="0">
              <a:solidFill>
                <a:prstClr val="black"/>
              </a:solidFill>
              <a:latin typeface="Calibri" panose="020F0502020204030204"/>
            </a:endParaRPr>
          </a:p>
        </p:txBody>
      </p:sp>
      <p:sp>
        <p:nvSpPr>
          <p:cNvPr id="10" name="Shape 8"/>
          <p:cNvSpPr/>
          <p:nvPr/>
        </p:nvSpPr>
        <p:spPr>
          <a:xfrm>
            <a:off x="487680" y="1889760"/>
            <a:ext cx="5608320" cy="3901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39014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5242560" cy="426720"/>
          </a:xfrm>
          <a:prstGeom prst="rect">
            <a:avLst/>
          </a:prstGeom>
          <a:noFill/>
          <a:ln/>
        </p:spPr>
        <p:txBody>
          <a:bodyPr wrap="square" lIns="0" tIns="0" rIns="0" bIns="0" rtlCol="0" anchor="ctr"/>
          <a:lstStyle/>
          <a:p>
            <a:pPr defTabSz="1219170"/>
            <a:r>
              <a:rPr lang="en-US" sz="1733" b="1" dirty="0">
                <a:solidFill>
                  <a:srgbClr val="0F2A47"/>
                </a:solidFill>
                <a:latin typeface="Microsoft YaHei" pitchFamily="34" charset="0"/>
                <a:ea typeface="Microsoft YaHei" pitchFamily="34" charset="-122"/>
                <a:cs typeface="Microsoft YaHei" pitchFamily="34" charset="-120"/>
              </a:rPr>
              <a:t>The three-layer abstraction of Agent Harness</a:t>
            </a:r>
            <a:endParaRPr lang="en-US" sz="1733" dirty="0">
              <a:solidFill>
                <a:prstClr val="black"/>
              </a:solidFill>
              <a:latin typeface="Calibri" panose="020F0502020204030204"/>
            </a:endParaRPr>
          </a:p>
        </p:txBody>
      </p:sp>
      <p:sp>
        <p:nvSpPr>
          <p:cNvPr id="13" name="Shape 11"/>
          <p:cNvSpPr/>
          <p:nvPr/>
        </p:nvSpPr>
        <p:spPr>
          <a:xfrm>
            <a:off x="853440" y="2621280"/>
            <a:ext cx="4876800" cy="8534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4" name="Text 12"/>
          <p:cNvSpPr/>
          <p:nvPr/>
        </p:nvSpPr>
        <p:spPr>
          <a:xfrm>
            <a:off x="1036320" y="2657856"/>
            <a:ext cx="2194560" cy="390144"/>
          </a:xfrm>
          <a:prstGeom prst="rect">
            <a:avLst/>
          </a:prstGeom>
          <a:noFill/>
          <a:ln/>
        </p:spPr>
        <p:txBody>
          <a:bodyPr wrap="square" lIns="0" tIns="0" rIns="0" bIns="0" rtlCol="0" anchor="ctr"/>
          <a:lstStyle/>
          <a:p>
            <a:pPr defTabSz="1219170"/>
            <a:r>
              <a:rPr lang="en-US" sz="1600" b="1" dirty="0">
                <a:solidFill>
                  <a:srgbClr val="FFFFFF"/>
                </a:solidFill>
                <a:latin typeface="Microsoft YaHei" pitchFamily="34" charset="0"/>
                <a:ea typeface="Microsoft YaHei" pitchFamily="34" charset="-122"/>
                <a:cs typeface="Microsoft YaHei" pitchFamily="34" charset="-120"/>
              </a:rPr>
              <a:t>Brain</a:t>
            </a:r>
            <a:endParaRPr lang="en-US" sz="1600" dirty="0">
              <a:solidFill>
                <a:prstClr val="black"/>
              </a:solidFill>
              <a:latin typeface="Calibri" panose="020F0502020204030204"/>
            </a:endParaRPr>
          </a:p>
        </p:txBody>
      </p:sp>
      <p:sp>
        <p:nvSpPr>
          <p:cNvPr id="15" name="Text 13"/>
          <p:cNvSpPr/>
          <p:nvPr/>
        </p:nvSpPr>
        <p:spPr>
          <a:xfrm>
            <a:off x="1036320" y="3048000"/>
            <a:ext cx="4511040" cy="341376"/>
          </a:xfrm>
          <a:prstGeom prst="rect">
            <a:avLst/>
          </a:prstGeom>
          <a:noFill/>
          <a:ln/>
        </p:spPr>
        <p:txBody>
          <a:bodyPr wrap="square" lIns="0" tIns="0" rIns="0" bIns="0" rtlCol="0" anchor="ctr"/>
          <a:lstStyle/>
          <a:p>
            <a:pPr defTabSz="1219170"/>
            <a:r>
              <a:rPr lang="en-US" sz="1333" dirty="0">
                <a:solidFill>
                  <a:srgbClr val="CADCFC"/>
                </a:solidFill>
                <a:latin typeface="Microsoft YaHei" pitchFamily="34" charset="0"/>
                <a:ea typeface="Microsoft YaHei" pitchFamily="34" charset="-122"/>
                <a:cs typeface="Microsoft YaHei" pitchFamily="34" charset="-120"/>
              </a:rPr>
              <a:t>LLM reasoning + Harness control loop</a:t>
            </a:r>
            <a:endParaRPr lang="en-US" sz="1333" dirty="0">
              <a:solidFill>
                <a:prstClr val="black"/>
              </a:solidFill>
              <a:latin typeface="Calibri" panose="020F0502020204030204"/>
            </a:endParaRPr>
          </a:p>
        </p:txBody>
      </p:sp>
      <p:sp>
        <p:nvSpPr>
          <p:cNvPr id="16" name="Shape 14"/>
          <p:cNvSpPr/>
          <p:nvPr/>
        </p:nvSpPr>
        <p:spPr>
          <a:xfrm>
            <a:off x="853440" y="3596640"/>
            <a:ext cx="4876800" cy="85344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17" name="Text 15"/>
          <p:cNvSpPr/>
          <p:nvPr/>
        </p:nvSpPr>
        <p:spPr>
          <a:xfrm>
            <a:off x="1036320" y="3633216"/>
            <a:ext cx="2194560" cy="390144"/>
          </a:xfrm>
          <a:prstGeom prst="rect">
            <a:avLst/>
          </a:prstGeom>
          <a:noFill/>
          <a:ln/>
        </p:spPr>
        <p:txBody>
          <a:bodyPr wrap="square" lIns="0" tIns="0" rIns="0" bIns="0" rtlCol="0" anchor="ctr"/>
          <a:lstStyle/>
          <a:p>
            <a:pPr defTabSz="1219170"/>
            <a:r>
              <a:rPr lang="en-US" sz="1600" b="1" dirty="0">
                <a:solidFill>
                  <a:srgbClr val="FFFFFF"/>
                </a:solidFill>
                <a:latin typeface="Microsoft YaHei" pitchFamily="34" charset="0"/>
                <a:ea typeface="Microsoft YaHei" pitchFamily="34" charset="-122"/>
                <a:cs typeface="Microsoft YaHei" pitchFamily="34" charset="-120"/>
              </a:rPr>
              <a:t>Hands</a:t>
            </a:r>
            <a:endParaRPr lang="en-US" sz="1600" dirty="0">
              <a:solidFill>
                <a:prstClr val="black"/>
              </a:solidFill>
              <a:latin typeface="Calibri" panose="020F0502020204030204"/>
            </a:endParaRPr>
          </a:p>
        </p:txBody>
      </p:sp>
      <p:sp>
        <p:nvSpPr>
          <p:cNvPr id="18" name="Text 16"/>
          <p:cNvSpPr/>
          <p:nvPr/>
        </p:nvSpPr>
        <p:spPr>
          <a:xfrm>
            <a:off x="1036320" y="4023360"/>
            <a:ext cx="4511040" cy="341376"/>
          </a:xfrm>
          <a:prstGeom prst="rect">
            <a:avLst/>
          </a:prstGeom>
          <a:noFill/>
          <a:ln/>
        </p:spPr>
        <p:txBody>
          <a:bodyPr wrap="square" lIns="0" tIns="0" rIns="0" bIns="0" rtlCol="0" anchor="ctr"/>
          <a:lstStyle/>
          <a:p>
            <a:pPr defTabSz="1219170"/>
            <a:r>
              <a:rPr lang="en-US" sz="1333" dirty="0">
                <a:solidFill>
                  <a:srgbClr val="FFFFFF"/>
                </a:solidFill>
                <a:latin typeface="Microsoft YaHei" pitchFamily="34" charset="0"/>
                <a:ea typeface="Microsoft YaHei" pitchFamily="34" charset="-122"/>
                <a:cs typeface="Microsoft YaHei" pitchFamily="34" charset="-120"/>
              </a:rPr>
              <a:t>Sandbox execution environment + tool-call interface</a:t>
            </a:r>
            <a:endParaRPr lang="en-US" sz="1333" dirty="0">
              <a:solidFill>
                <a:prstClr val="black"/>
              </a:solidFill>
              <a:latin typeface="Calibri" panose="020F0502020204030204"/>
            </a:endParaRPr>
          </a:p>
        </p:txBody>
      </p:sp>
      <p:sp>
        <p:nvSpPr>
          <p:cNvPr id="19" name="Shape 17"/>
          <p:cNvSpPr/>
          <p:nvPr/>
        </p:nvSpPr>
        <p:spPr>
          <a:xfrm>
            <a:off x="853440" y="4572000"/>
            <a:ext cx="4876800" cy="8534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1036320" y="4608576"/>
            <a:ext cx="2194560" cy="390144"/>
          </a:xfrm>
          <a:prstGeom prst="rect">
            <a:avLst/>
          </a:prstGeom>
          <a:noFill/>
          <a:ln/>
        </p:spPr>
        <p:txBody>
          <a:bodyPr wrap="square" lIns="0" tIns="0" rIns="0" bIns="0" rtlCol="0" anchor="ctr"/>
          <a:lstStyle/>
          <a:p>
            <a:pPr defTabSz="1219170"/>
            <a:r>
              <a:rPr lang="en-US" sz="1600" b="1" dirty="0">
                <a:solidFill>
                  <a:srgbClr val="0F2A47"/>
                </a:solidFill>
                <a:latin typeface="Microsoft YaHei" pitchFamily="34" charset="0"/>
                <a:ea typeface="Microsoft YaHei" pitchFamily="34" charset="-122"/>
                <a:cs typeface="Microsoft YaHei" pitchFamily="34" charset="-120"/>
              </a:rPr>
              <a:t>Session</a:t>
            </a:r>
            <a:endParaRPr lang="en-US" sz="1600" dirty="0">
              <a:solidFill>
                <a:prstClr val="black"/>
              </a:solidFill>
              <a:latin typeface="Calibri" panose="020F0502020204030204"/>
            </a:endParaRPr>
          </a:p>
        </p:txBody>
      </p:sp>
      <p:sp>
        <p:nvSpPr>
          <p:cNvPr id="21" name="Text 19"/>
          <p:cNvSpPr/>
          <p:nvPr/>
        </p:nvSpPr>
        <p:spPr>
          <a:xfrm>
            <a:off x="1036320" y="4998720"/>
            <a:ext cx="4511040" cy="341376"/>
          </a:xfrm>
          <a:prstGeom prst="rect">
            <a:avLst/>
          </a:prstGeom>
          <a:noFill/>
          <a:ln/>
        </p:spPr>
        <p:txBody>
          <a:bodyPr wrap="square" lIns="0" tIns="0" rIns="0" bIns="0" rtlCol="0" anchor="ctr"/>
          <a:lstStyle/>
          <a:p>
            <a:pPr defTabSz="1219170"/>
            <a:r>
              <a:rPr lang="en-US" sz="1333" dirty="0">
                <a:solidFill>
                  <a:srgbClr val="0F2A47"/>
                </a:solidFill>
                <a:latin typeface="Microsoft YaHei" pitchFamily="34" charset="0"/>
                <a:ea typeface="Microsoft YaHei" pitchFamily="34" charset="-122"/>
                <a:cs typeface="Microsoft YaHei" pitchFamily="34" charset="-120"/>
              </a:rPr>
              <a:t>Append-only event log + state-recovery mechanism</a:t>
            </a:r>
            <a:endParaRPr lang="en-US" sz="1333" dirty="0">
              <a:solidFill>
                <a:prstClr val="black"/>
              </a:solidFill>
              <a:latin typeface="Calibri" panose="020F0502020204030204"/>
            </a:endParaRPr>
          </a:p>
        </p:txBody>
      </p:sp>
      <p:sp>
        <p:nvSpPr>
          <p:cNvPr id="22" name="Shape 20"/>
          <p:cNvSpPr/>
          <p:nvPr/>
        </p:nvSpPr>
        <p:spPr>
          <a:xfrm>
            <a:off x="6339840" y="1889760"/>
            <a:ext cx="5364480" cy="3901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3" name="Shape 21"/>
          <p:cNvSpPr/>
          <p:nvPr/>
        </p:nvSpPr>
        <p:spPr>
          <a:xfrm>
            <a:off x="6339840" y="1889760"/>
            <a:ext cx="97536" cy="39014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4" name="Text 22"/>
          <p:cNvSpPr/>
          <p:nvPr/>
        </p:nvSpPr>
        <p:spPr>
          <a:xfrm>
            <a:off x="6583680" y="2072640"/>
            <a:ext cx="4876800" cy="426720"/>
          </a:xfrm>
          <a:prstGeom prst="rect">
            <a:avLst/>
          </a:prstGeom>
          <a:noFill/>
          <a:ln/>
        </p:spPr>
        <p:txBody>
          <a:bodyPr wrap="square" lIns="0" tIns="0" rIns="0" bIns="0" rtlCol="0" anchor="ctr"/>
          <a:lstStyle/>
          <a:p>
            <a:pPr defTabSz="1219170"/>
            <a:r>
              <a:rPr lang="en-US" sz="1733" b="1" dirty="0">
                <a:solidFill>
                  <a:srgbClr val="0F2A47"/>
                </a:solidFill>
                <a:latin typeface="Microsoft YaHei" pitchFamily="34" charset="0"/>
                <a:ea typeface="Microsoft YaHei" pitchFamily="34" charset="-122"/>
                <a:cs typeface="Microsoft YaHei" pitchFamily="34" charset="-120"/>
              </a:rPr>
              <a:t>Core definition</a:t>
            </a:r>
            <a:endParaRPr lang="en-US" sz="1733" dirty="0">
              <a:solidFill>
                <a:prstClr val="black"/>
              </a:solidFill>
              <a:latin typeface="Calibri" panose="020F0502020204030204"/>
            </a:endParaRPr>
          </a:p>
        </p:txBody>
      </p:sp>
      <p:sp>
        <p:nvSpPr>
          <p:cNvPr id="25" name="Text 23"/>
          <p:cNvSpPr/>
          <p:nvPr/>
        </p:nvSpPr>
        <p:spPr>
          <a:xfrm>
            <a:off x="6583680" y="2499360"/>
            <a:ext cx="4876800" cy="3169920"/>
          </a:xfrm>
          <a:prstGeom prst="rect">
            <a:avLst/>
          </a:prstGeom>
          <a:noFill/>
          <a:ln/>
        </p:spPr>
        <p:txBody>
          <a:bodyPr wrap="square" lIns="0" tIns="0" rIns="0" bIns="0" rtlCol="0" anchor="t"/>
          <a:lstStyle/>
          <a:p>
            <a:pPr defTabSz="1219170"/>
            <a:r>
              <a:rPr lang="en-US" sz="1733" b="1" dirty="0">
                <a:solidFill>
                  <a:srgbClr val="0078D4"/>
                </a:solidFill>
                <a:latin typeface="Calibri" panose="020F0502020204030204"/>
              </a:rPr>
              <a:t>Agent Harness</a:t>
            </a:r>
            <a:endParaRPr lang="en-US" sz="1733" dirty="0">
              <a:solidFill>
                <a:prstClr val="black"/>
              </a:solidFill>
              <a:latin typeface="Calibri" panose="020F0502020204030204"/>
            </a:endParaRPr>
          </a:p>
          <a:p>
            <a:pPr defTabSz="1219170"/>
            <a:r>
              <a:rPr lang="en-US" sz="1467" dirty="0">
                <a:solidFill>
                  <a:srgbClr val="1F2937"/>
                </a:solidFill>
                <a:latin typeface="Calibri" panose="020F0502020204030204"/>
              </a:rPr>
              <a:t>An engineering framework built around the LLM — responsible for invoking the model, routing tool calls, maintaining state, and ensuring security.</a:t>
            </a:r>
            <a:endParaRPr lang="en-US" sz="1733" dirty="0">
              <a:solidFill>
                <a:prstClr val="black"/>
              </a:solidFill>
              <a:latin typeface="Calibri" panose="020F0502020204030204"/>
            </a:endParaRPr>
          </a:p>
          <a:p>
            <a:pPr defTabSz="1219170"/>
            <a:r>
              <a:rPr lang="en-US" sz="800" dirty="0">
                <a:solidFill>
                  <a:srgbClr val="000000"/>
                </a:solidFill>
                <a:latin typeface="Calibri" panose="020F0502020204030204"/>
              </a:rPr>
              <a:t> </a:t>
            </a:r>
            <a:endParaRPr lang="en-US" sz="1733" dirty="0">
              <a:solidFill>
                <a:prstClr val="black"/>
              </a:solidFill>
              <a:latin typeface="Calibri" panose="020F0502020204030204"/>
            </a:endParaRPr>
          </a:p>
          <a:p>
            <a:pPr defTabSz="1219170"/>
            <a:r>
              <a:rPr lang="en-US" sz="1733" b="1" dirty="0">
                <a:solidFill>
                  <a:srgbClr val="0078D4"/>
                </a:solidFill>
                <a:latin typeface="Calibri" panose="020F0502020204030204"/>
              </a:rPr>
              <a:t>OS analogy</a:t>
            </a:r>
            <a:endParaRPr lang="en-US" sz="1733" dirty="0">
              <a:solidFill>
                <a:prstClr val="black"/>
              </a:solidFill>
              <a:latin typeface="Calibri" panose="020F0502020204030204"/>
            </a:endParaRPr>
          </a:p>
          <a:p>
            <a:pPr defTabSz="1219170"/>
            <a:r>
              <a:rPr lang="en-US" sz="1467" dirty="0">
                <a:solidFill>
                  <a:srgbClr val="1F2937"/>
                </a:solidFill>
                <a:latin typeface="Calibri" panose="020F0502020204030204"/>
              </a:rPr>
              <a:t>Harness is to LLMs what an OS is to CPUs — through virtualization and abstraction, hardware complexity is converged into the platform layer.</a:t>
            </a:r>
            <a:endParaRPr lang="en-US" sz="1733" dirty="0">
              <a:solidFill>
                <a:prstClr val="black"/>
              </a:solidFill>
              <a:latin typeface="Calibri" panose="020F0502020204030204"/>
            </a:endParaRPr>
          </a:p>
          <a:p>
            <a:pPr defTabSz="1219170"/>
            <a:r>
              <a:rPr lang="en-US" sz="800" dirty="0">
                <a:solidFill>
                  <a:srgbClr val="000000"/>
                </a:solidFill>
                <a:latin typeface="Calibri" panose="020F0502020204030204"/>
              </a:rPr>
              <a:t> </a:t>
            </a:r>
            <a:endParaRPr lang="en-US" sz="1733" dirty="0">
              <a:solidFill>
                <a:prstClr val="black"/>
              </a:solidFill>
              <a:latin typeface="Calibri" panose="020F0502020204030204"/>
            </a:endParaRPr>
          </a:p>
          <a:p>
            <a:pPr defTabSz="1219170"/>
            <a:r>
              <a:rPr lang="en-US" sz="1733" b="1" dirty="0">
                <a:solidFill>
                  <a:srgbClr val="0078D4"/>
                </a:solidFill>
                <a:latin typeface="Calibri" panose="020F0502020204030204"/>
              </a:rPr>
              <a:t>Evolution pattern</a:t>
            </a:r>
            <a:endParaRPr lang="en-US" sz="1733" dirty="0">
              <a:solidFill>
                <a:prstClr val="black"/>
              </a:solidFill>
              <a:latin typeface="Calibri" panose="020F0502020204030204"/>
            </a:endParaRPr>
          </a:p>
          <a:p>
            <a:pPr defTabSz="1219170"/>
            <a:r>
              <a:rPr lang="en-US" sz="1467" dirty="0">
                <a:solidFill>
                  <a:srgbClr val="1F2937"/>
                </a:solidFill>
                <a:latin typeface="Calibri" panose="020F0502020204030204"/>
              </a:rPr>
              <a:t>A Harness encodes assumptions about LLM capabilities. As models grow stronger, some assumptions go stale — so interfaces should be stable while implementations can evolve.</a:t>
            </a:r>
            <a:endParaRPr lang="en-US" sz="1733" dirty="0">
              <a:solidFill>
                <a:prstClr val="black"/>
              </a:solidFill>
              <a:latin typeface="Calibri" panose="020F0502020204030204"/>
            </a:endParaRPr>
          </a:p>
        </p:txBody>
      </p:sp>
      <p:sp>
        <p:nvSpPr>
          <p:cNvPr id="26" name="Text 24"/>
          <p:cNvSpPr/>
          <p:nvPr/>
        </p:nvSpPr>
        <p:spPr>
          <a:xfrm>
            <a:off x="487680" y="5998464"/>
            <a:ext cx="11216640" cy="304800"/>
          </a:xfrm>
          <a:prstGeom prst="rect">
            <a:avLst/>
          </a:prstGeom>
          <a:noFill/>
          <a:ln/>
        </p:spPr>
        <p:txBody>
          <a:bodyPr wrap="square" lIns="0" tIns="0" rIns="0" bIns="0" rtlCol="0" anchor="ctr"/>
          <a:lstStyle/>
          <a:p>
            <a:pPr algn="r" defTabSz="1219170"/>
            <a:r>
              <a:rPr lang="en-US" sz="1200" i="1" dirty="0">
                <a:solidFill>
                  <a:srgbClr val="5B6671"/>
                </a:solidFill>
                <a:latin typeface="Microsoft YaHei" pitchFamily="34" charset="0"/>
                <a:ea typeface="Microsoft YaHei" pitchFamily="34" charset="-122"/>
                <a:cs typeface="Microsoft YaHei" pitchFamily="34" charset="-120"/>
              </a:rPr>
              <a:t>Source: Anthropic Engineering — Scaling Managed Agents (2026)</a:t>
            </a:r>
            <a:endParaRPr lang="en-US" sz="1200" dirty="0">
              <a:solidFill>
                <a:prstClr val="black"/>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01  ·  Core components</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The three core components of Agent Harness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Anthropic's virtualization model: decoupled Brain / Hands / Session design</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06 / 40</a:t>
            </a:r>
            <a:endParaRPr lang="en-US" sz="1200" dirty="0">
              <a:solidFill>
                <a:prstClr val="black"/>
              </a:solidFill>
              <a:latin typeface="Calibri" panose="020F0502020204030204"/>
            </a:endParaRPr>
          </a:p>
        </p:txBody>
      </p:sp>
      <p:sp>
        <p:nvSpPr>
          <p:cNvPr id="10" name="Shape 8"/>
          <p:cNvSpPr/>
          <p:nvPr/>
        </p:nvSpPr>
        <p:spPr>
          <a:xfrm>
            <a:off x="487680" y="1889760"/>
            <a:ext cx="3596640" cy="43891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438912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Shape 10"/>
          <p:cNvSpPr/>
          <p:nvPr/>
        </p:nvSpPr>
        <p:spPr>
          <a:xfrm>
            <a:off x="487680" y="1889760"/>
            <a:ext cx="3596640" cy="7924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731520" y="1950720"/>
            <a:ext cx="3169920" cy="390144"/>
          </a:xfrm>
          <a:prstGeom prst="rect">
            <a:avLst/>
          </a:prstGeom>
          <a:noFill/>
          <a:ln/>
        </p:spPr>
        <p:txBody>
          <a:bodyPr wrap="square" lIns="0" tIns="0" rIns="0" bIns="0" rtlCol="0" anchor="ctr"/>
          <a:lstStyle/>
          <a:p>
            <a:pPr defTabSz="1219170"/>
            <a:r>
              <a:rPr lang="en-US" sz="2133" b="1" dirty="0">
                <a:solidFill>
                  <a:srgbClr val="FFFFFF"/>
                </a:solidFill>
                <a:latin typeface="Microsoft YaHei" pitchFamily="34" charset="0"/>
                <a:ea typeface="Microsoft YaHei" pitchFamily="34" charset="-122"/>
                <a:cs typeface="Microsoft YaHei" pitchFamily="34" charset="-120"/>
              </a:rPr>
              <a:t>Brain</a:t>
            </a:r>
            <a:endParaRPr lang="en-US" sz="2133" dirty="0">
              <a:solidFill>
                <a:prstClr val="black"/>
              </a:solidFill>
              <a:latin typeface="Calibri" panose="020F0502020204030204"/>
            </a:endParaRPr>
          </a:p>
        </p:txBody>
      </p:sp>
      <p:sp>
        <p:nvSpPr>
          <p:cNvPr id="14" name="Text 12"/>
          <p:cNvSpPr/>
          <p:nvPr/>
        </p:nvSpPr>
        <p:spPr>
          <a:xfrm>
            <a:off x="731520" y="2340864"/>
            <a:ext cx="3169920" cy="304800"/>
          </a:xfrm>
          <a:prstGeom prst="rect">
            <a:avLst/>
          </a:prstGeom>
          <a:noFill/>
          <a:ln/>
        </p:spPr>
        <p:txBody>
          <a:bodyPr wrap="square" lIns="0" tIns="0" rIns="0" bIns="0" rtlCol="0" anchor="ctr"/>
          <a:lstStyle/>
          <a:p>
            <a:pPr defTabSz="1219170"/>
            <a:r>
              <a:rPr lang="en-US" sz="1333" dirty="0">
                <a:solidFill>
                  <a:srgbClr val="CADCFC"/>
                </a:solidFill>
                <a:latin typeface="Microsoft YaHei" pitchFamily="34" charset="0"/>
                <a:ea typeface="Microsoft YaHei" pitchFamily="34" charset="-122"/>
                <a:cs typeface="Microsoft YaHei" pitchFamily="34" charset="-120"/>
              </a:rPr>
              <a:t>LLM reasoning and control loop</a:t>
            </a:r>
            <a:endParaRPr lang="en-US" sz="1333" dirty="0">
              <a:solidFill>
                <a:prstClr val="black"/>
              </a:solidFill>
              <a:latin typeface="Calibri" panose="020F0502020204030204"/>
            </a:endParaRPr>
          </a:p>
        </p:txBody>
      </p:sp>
      <p:sp>
        <p:nvSpPr>
          <p:cNvPr id="15" name="Text 13"/>
          <p:cNvSpPr/>
          <p:nvPr/>
        </p:nvSpPr>
        <p:spPr>
          <a:xfrm>
            <a:off x="731520" y="2926080"/>
            <a:ext cx="3169920" cy="3169920"/>
          </a:xfrm>
          <a:prstGeom prst="rect">
            <a:avLst/>
          </a:prstGeom>
          <a:noFill/>
          <a:ln/>
        </p:spPr>
        <p:txBody>
          <a:bodyPr wrap="square" rtlCol="0" anchor="t"/>
          <a:lstStyle/>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Calls Claude / GPT / in-house models for inference</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Parses output, routes tool calls</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Stateless design — horizontally scalable</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Restart via wake(sessionId) on failure</a:t>
            </a:r>
            <a:endParaRPr lang="en-US" sz="1467" dirty="0">
              <a:solidFill>
                <a:prstClr val="black"/>
              </a:solidFill>
              <a:latin typeface="Calibri" panose="020F0502020204030204"/>
            </a:endParaRPr>
          </a:p>
        </p:txBody>
      </p:sp>
      <p:sp>
        <p:nvSpPr>
          <p:cNvPr id="16" name="Shape 14"/>
          <p:cNvSpPr/>
          <p:nvPr/>
        </p:nvSpPr>
        <p:spPr>
          <a:xfrm>
            <a:off x="4303776" y="1889760"/>
            <a:ext cx="3596640" cy="43891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7" name="Shape 15"/>
          <p:cNvSpPr/>
          <p:nvPr/>
        </p:nvSpPr>
        <p:spPr>
          <a:xfrm>
            <a:off x="4303776" y="1889760"/>
            <a:ext cx="97536" cy="438912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18" name="Shape 16"/>
          <p:cNvSpPr/>
          <p:nvPr/>
        </p:nvSpPr>
        <p:spPr>
          <a:xfrm>
            <a:off x="4303776" y="1889760"/>
            <a:ext cx="3596640" cy="79248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19" name="Text 17"/>
          <p:cNvSpPr/>
          <p:nvPr/>
        </p:nvSpPr>
        <p:spPr>
          <a:xfrm>
            <a:off x="4547616" y="1950720"/>
            <a:ext cx="3169920" cy="390144"/>
          </a:xfrm>
          <a:prstGeom prst="rect">
            <a:avLst/>
          </a:prstGeom>
          <a:noFill/>
          <a:ln/>
        </p:spPr>
        <p:txBody>
          <a:bodyPr wrap="square" lIns="0" tIns="0" rIns="0" bIns="0" rtlCol="0" anchor="ctr"/>
          <a:lstStyle/>
          <a:p>
            <a:pPr defTabSz="1219170"/>
            <a:r>
              <a:rPr lang="en-US" sz="2133" b="1" dirty="0">
                <a:solidFill>
                  <a:srgbClr val="FFFFFF"/>
                </a:solidFill>
                <a:latin typeface="Microsoft YaHei" pitchFamily="34" charset="0"/>
                <a:ea typeface="Microsoft YaHei" pitchFamily="34" charset="-122"/>
                <a:cs typeface="Microsoft YaHei" pitchFamily="34" charset="-120"/>
              </a:rPr>
              <a:t>Hands</a:t>
            </a:r>
            <a:endParaRPr lang="en-US" sz="2133" dirty="0">
              <a:solidFill>
                <a:prstClr val="black"/>
              </a:solidFill>
              <a:latin typeface="Calibri" panose="020F0502020204030204"/>
            </a:endParaRPr>
          </a:p>
        </p:txBody>
      </p:sp>
      <p:sp>
        <p:nvSpPr>
          <p:cNvPr id="20" name="Text 18"/>
          <p:cNvSpPr/>
          <p:nvPr/>
        </p:nvSpPr>
        <p:spPr>
          <a:xfrm>
            <a:off x="4547616" y="2340864"/>
            <a:ext cx="3169920" cy="304800"/>
          </a:xfrm>
          <a:prstGeom prst="rect">
            <a:avLst/>
          </a:prstGeom>
          <a:noFill/>
          <a:ln/>
        </p:spPr>
        <p:txBody>
          <a:bodyPr wrap="square" lIns="0" tIns="0" rIns="0" bIns="0" rtlCol="0" anchor="ctr"/>
          <a:lstStyle/>
          <a:p>
            <a:pPr defTabSz="1219170"/>
            <a:r>
              <a:rPr lang="en-US" sz="1333" dirty="0">
                <a:solidFill>
                  <a:srgbClr val="CADCFC"/>
                </a:solidFill>
                <a:latin typeface="Microsoft YaHei" pitchFamily="34" charset="0"/>
                <a:ea typeface="Microsoft YaHei" pitchFamily="34" charset="-122"/>
                <a:cs typeface="Microsoft YaHei" pitchFamily="34" charset="-120"/>
              </a:rPr>
              <a:t>Sandbox and tool execution</a:t>
            </a:r>
            <a:endParaRPr lang="en-US" sz="1333" dirty="0">
              <a:solidFill>
                <a:prstClr val="black"/>
              </a:solidFill>
              <a:latin typeface="Calibri" panose="020F0502020204030204"/>
            </a:endParaRPr>
          </a:p>
        </p:txBody>
      </p:sp>
      <p:sp>
        <p:nvSpPr>
          <p:cNvPr id="21" name="Text 19"/>
          <p:cNvSpPr/>
          <p:nvPr/>
        </p:nvSpPr>
        <p:spPr>
          <a:xfrm>
            <a:off x="4547616" y="2926080"/>
            <a:ext cx="3169920" cy="3169920"/>
          </a:xfrm>
          <a:prstGeom prst="rect">
            <a:avLst/>
          </a:prstGeom>
          <a:noFill/>
          <a:ln/>
        </p:spPr>
        <p:txBody>
          <a:bodyPr wrap="square" rtlCol="0" anchor="t"/>
          <a:lstStyle/>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execute(name, input) → string — universal interface</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Containers, functions, MCP Servers, external APIs all work</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Pluggable — swap in Phone, emulator, or external system</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Failures are treated by Brain as ordinary tool-call errors</a:t>
            </a:r>
            <a:endParaRPr lang="en-US" sz="1467" dirty="0">
              <a:solidFill>
                <a:prstClr val="black"/>
              </a:solidFill>
              <a:latin typeface="Calibri" panose="020F0502020204030204"/>
            </a:endParaRPr>
          </a:p>
        </p:txBody>
      </p:sp>
      <p:sp>
        <p:nvSpPr>
          <p:cNvPr id="22" name="Shape 20"/>
          <p:cNvSpPr/>
          <p:nvPr/>
        </p:nvSpPr>
        <p:spPr>
          <a:xfrm>
            <a:off x="8119872" y="1889760"/>
            <a:ext cx="3596640" cy="43891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3" name="Shape 21"/>
          <p:cNvSpPr/>
          <p:nvPr/>
        </p:nvSpPr>
        <p:spPr>
          <a:xfrm>
            <a:off x="8119872" y="1889760"/>
            <a:ext cx="97536" cy="438912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4" name="Shape 22"/>
          <p:cNvSpPr/>
          <p:nvPr/>
        </p:nvSpPr>
        <p:spPr>
          <a:xfrm>
            <a:off x="8119872" y="1889760"/>
            <a:ext cx="3596640" cy="79248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5" name="Text 23"/>
          <p:cNvSpPr/>
          <p:nvPr/>
        </p:nvSpPr>
        <p:spPr>
          <a:xfrm>
            <a:off x="8363712" y="1950720"/>
            <a:ext cx="3169920" cy="390144"/>
          </a:xfrm>
          <a:prstGeom prst="rect">
            <a:avLst/>
          </a:prstGeom>
          <a:noFill/>
          <a:ln/>
        </p:spPr>
        <p:txBody>
          <a:bodyPr wrap="square" lIns="0" tIns="0" rIns="0" bIns="0" rtlCol="0" anchor="ctr"/>
          <a:lstStyle/>
          <a:p>
            <a:pPr defTabSz="1219170"/>
            <a:r>
              <a:rPr lang="en-US" sz="2133" b="1" dirty="0">
                <a:solidFill>
                  <a:srgbClr val="FFFFFF"/>
                </a:solidFill>
                <a:latin typeface="Microsoft YaHei" pitchFamily="34" charset="0"/>
                <a:ea typeface="Microsoft YaHei" pitchFamily="34" charset="-122"/>
                <a:cs typeface="Microsoft YaHei" pitchFamily="34" charset="-120"/>
              </a:rPr>
              <a:t>Session</a:t>
            </a:r>
            <a:endParaRPr lang="en-US" sz="2133" dirty="0">
              <a:solidFill>
                <a:prstClr val="black"/>
              </a:solidFill>
              <a:latin typeface="Calibri" panose="020F0502020204030204"/>
            </a:endParaRPr>
          </a:p>
        </p:txBody>
      </p:sp>
      <p:sp>
        <p:nvSpPr>
          <p:cNvPr id="26" name="Text 24"/>
          <p:cNvSpPr/>
          <p:nvPr/>
        </p:nvSpPr>
        <p:spPr>
          <a:xfrm>
            <a:off x="8363712" y="2340864"/>
            <a:ext cx="3169920" cy="304800"/>
          </a:xfrm>
          <a:prstGeom prst="rect">
            <a:avLst/>
          </a:prstGeom>
          <a:noFill/>
          <a:ln/>
        </p:spPr>
        <p:txBody>
          <a:bodyPr wrap="square" lIns="0" tIns="0" rIns="0" bIns="0" rtlCol="0" anchor="ctr"/>
          <a:lstStyle/>
          <a:p>
            <a:pPr defTabSz="1219170"/>
            <a:r>
              <a:rPr lang="en-US" sz="1333" dirty="0">
                <a:solidFill>
                  <a:srgbClr val="CADCFC"/>
                </a:solidFill>
                <a:latin typeface="Microsoft YaHei" pitchFamily="34" charset="0"/>
                <a:ea typeface="Microsoft YaHei" pitchFamily="34" charset="-122"/>
                <a:cs typeface="Microsoft YaHei" pitchFamily="34" charset="-120"/>
              </a:rPr>
              <a:t>Persistent event log</a:t>
            </a:r>
            <a:endParaRPr lang="en-US" sz="1333" dirty="0">
              <a:solidFill>
                <a:prstClr val="black"/>
              </a:solidFill>
              <a:latin typeface="Calibri" panose="020F0502020204030204"/>
            </a:endParaRPr>
          </a:p>
        </p:txBody>
      </p:sp>
      <p:sp>
        <p:nvSpPr>
          <p:cNvPr id="27" name="Text 25"/>
          <p:cNvSpPr/>
          <p:nvPr/>
        </p:nvSpPr>
        <p:spPr>
          <a:xfrm>
            <a:off x="8363712" y="2926080"/>
            <a:ext cx="3169920" cy="3169920"/>
          </a:xfrm>
          <a:prstGeom prst="rect">
            <a:avLst/>
          </a:prstGeom>
          <a:noFill/>
          <a:ln/>
        </p:spPr>
        <p:txBody>
          <a:bodyPr wrap="square" rtlCol="0" anchor="t"/>
          <a:lstStyle/>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Append-only event stream — records every interaction</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getEvents() lets Brain replay context</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Lives independently of Brain and container</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F2937"/>
                </a:solidFill>
                <a:latin typeface="Microsoft YaHei" pitchFamily="34" charset="0"/>
                <a:ea typeface="Microsoft YaHei" pitchFamily="34" charset="-122"/>
                <a:cs typeface="Microsoft YaHei" pitchFamily="34" charset="-120"/>
              </a:rPr>
              <a:t>Supports crash recovery and cross-device access</a:t>
            </a:r>
            <a:endParaRPr lang="en-US" sz="1467" dirty="0">
              <a:solidFill>
                <a:prstClr val="black"/>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01  ·  Design philosophy</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The power of decoupling: separating Brain, Hands, and Session</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Loosely coupled interfaces let any component fail, be replaced, and scale independently</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07 / 40</a:t>
            </a:r>
            <a:endParaRPr lang="en-US" sz="1200" dirty="0">
              <a:solidFill>
                <a:prstClr val="black"/>
              </a:solidFill>
              <a:latin typeface="Calibri" panose="020F0502020204030204"/>
            </a:endParaRPr>
          </a:p>
        </p:txBody>
      </p:sp>
      <p:sp>
        <p:nvSpPr>
          <p:cNvPr id="10" name="Shape 8"/>
          <p:cNvSpPr/>
          <p:nvPr/>
        </p:nvSpPr>
        <p:spPr>
          <a:xfrm>
            <a:off x="487680" y="1889760"/>
            <a:ext cx="5364480" cy="60960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11" name="Text 9"/>
          <p:cNvSpPr/>
          <p:nvPr/>
        </p:nvSpPr>
        <p:spPr>
          <a:xfrm>
            <a:off x="487680" y="1889760"/>
            <a:ext cx="5364480" cy="609600"/>
          </a:xfrm>
          <a:prstGeom prst="rect">
            <a:avLst/>
          </a:prstGeom>
          <a:noFill/>
          <a:ln/>
        </p:spPr>
        <p:txBody>
          <a:bodyPr wrap="square" lIns="0" tIns="0" rIns="0" bIns="0" rtlCol="0" anchor="ctr"/>
          <a:lstStyle/>
          <a:p>
            <a:pPr algn="ctr" defTabSz="1219170"/>
            <a:r>
              <a:rPr lang="en-US" sz="1867" b="1" dirty="0">
                <a:solidFill>
                  <a:srgbClr val="FFFFFF"/>
                </a:solidFill>
                <a:latin typeface="Microsoft YaHei" pitchFamily="34" charset="0"/>
                <a:ea typeface="Microsoft YaHei" pitchFamily="34" charset="-122"/>
                <a:cs typeface="Microsoft YaHei" pitchFamily="34" charset="-120"/>
              </a:rPr>
              <a:t>× Coupled architecture (early approach)</a:t>
            </a:r>
            <a:endParaRPr lang="en-US" sz="1867" dirty="0">
              <a:solidFill>
                <a:prstClr val="black"/>
              </a:solidFill>
              <a:latin typeface="Calibri" panose="020F0502020204030204"/>
            </a:endParaRPr>
          </a:p>
        </p:txBody>
      </p:sp>
      <p:sp>
        <p:nvSpPr>
          <p:cNvPr id="12" name="Shape 10"/>
          <p:cNvSpPr/>
          <p:nvPr/>
        </p:nvSpPr>
        <p:spPr>
          <a:xfrm>
            <a:off x="487680" y="2560320"/>
            <a:ext cx="5364480" cy="34137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3" name="Text 11"/>
          <p:cNvSpPr/>
          <p:nvPr/>
        </p:nvSpPr>
        <p:spPr>
          <a:xfrm>
            <a:off x="731520" y="2743200"/>
            <a:ext cx="4876800" cy="3108960"/>
          </a:xfrm>
          <a:prstGeom prst="rect">
            <a:avLst/>
          </a:prstGeom>
          <a:noFill/>
          <a:ln/>
        </p:spPr>
        <p:txBody>
          <a:bodyPr wrap="square" rtlCol="0" anchor="t"/>
          <a:lstStyle/>
          <a:p>
            <a:pPr marL="457189" indent="-457189" defTabSz="1219170">
              <a:spcAft>
                <a:spcPts val="1067"/>
              </a:spcAft>
              <a:buSzPct val="100000"/>
              <a:buFontTx/>
              <a:buChar char="✕"/>
            </a:pPr>
            <a:r>
              <a:rPr lang="en-US" sz="1467" dirty="0">
                <a:solidFill>
                  <a:srgbClr val="E81123"/>
                </a:solidFill>
                <a:latin typeface="Microsoft YaHei" pitchFamily="34" charset="0"/>
                <a:ea typeface="Microsoft YaHei" pitchFamily="34" charset="-122"/>
                <a:cs typeface="Microsoft YaHei" pitchFamily="34" charset="-120"/>
              </a:rPr>
              <a:t>Brain, Hands, and Session live in one container</a:t>
            </a:r>
            <a:endParaRPr lang="en-US" sz="1467" dirty="0">
              <a:solidFill>
                <a:prstClr val="black"/>
              </a:solidFill>
              <a:latin typeface="Calibri" panose="020F0502020204030204"/>
            </a:endParaRPr>
          </a:p>
          <a:p>
            <a:pPr marL="457189" indent="-457189" defTabSz="1219170">
              <a:spcAft>
                <a:spcPts val="1067"/>
              </a:spcAft>
              <a:buSzPct val="100000"/>
              <a:buFontTx/>
              <a:buChar char="✕"/>
            </a:pPr>
            <a:r>
              <a:rPr lang="en-US" sz="1467" dirty="0">
                <a:solidFill>
                  <a:srgbClr val="E81123"/>
                </a:solidFill>
                <a:latin typeface="Microsoft YaHei" pitchFamily="34" charset="0"/>
                <a:ea typeface="Microsoft YaHei" pitchFamily="34" charset="-122"/>
                <a:cs typeface="Microsoft YaHei" pitchFamily="34" charset="-120"/>
              </a:rPr>
              <a:t>Container fails → entire session lost</a:t>
            </a:r>
            <a:endParaRPr lang="en-US" sz="1467" dirty="0">
              <a:solidFill>
                <a:prstClr val="black"/>
              </a:solidFill>
              <a:latin typeface="Calibri" panose="020F0502020204030204"/>
            </a:endParaRPr>
          </a:p>
          <a:p>
            <a:pPr marL="457189" indent="-457189" defTabSz="1219170">
              <a:spcAft>
                <a:spcPts val="1067"/>
              </a:spcAft>
              <a:buSzPct val="100000"/>
              <a:buFontTx/>
              <a:buChar char="✕"/>
            </a:pPr>
            <a:r>
              <a:rPr lang="en-US" sz="1467" dirty="0">
                <a:solidFill>
                  <a:srgbClr val="E81123"/>
                </a:solidFill>
                <a:latin typeface="Microsoft YaHei" pitchFamily="34" charset="0"/>
                <a:ea typeface="Microsoft YaHei" pitchFamily="34" charset="-122"/>
                <a:cs typeface="Microsoft YaHei" pitchFamily="34" charset="-120"/>
              </a:rPr>
              <a:t>Cannot connect to customer's VPC resources</a:t>
            </a:r>
            <a:endParaRPr lang="en-US" sz="1467" dirty="0">
              <a:solidFill>
                <a:prstClr val="black"/>
              </a:solidFill>
              <a:latin typeface="Calibri" panose="020F0502020204030204"/>
            </a:endParaRPr>
          </a:p>
          <a:p>
            <a:pPr marL="457189" indent="-457189" defTabSz="1219170">
              <a:spcAft>
                <a:spcPts val="1067"/>
              </a:spcAft>
              <a:buSzPct val="100000"/>
              <a:buFontTx/>
              <a:buChar char="✕"/>
            </a:pPr>
            <a:r>
              <a:rPr lang="en-US" sz="1467" dirty="0">
                <a:solidFill>
                  <a:srgbClr val="E81123"/>
                </a:solidFill>
                <a:latin typeface="Microsoft YaHei" pitchFamily="34" charset="0"/>
                <a:ea typeface="Microsoft YaHei" pitchFamily="34" charset="-122"/>
                <a:cs typeface="Microsoft YaHei" pitchFamily="34" charset="-120"/>
              </a:rPr>
              <a:t>Hard to debug — failure causes hard to pinpoint</a:t>
            </a:r>
            <a:endParaRPr lang="en-US" sz="1467" dirty="0">
              <a:solidFill>
                <a:prstClr val="black"/>
              </a:solidFill>
              <a:latin typeface="Calibri" panose="020F0502020204030204"/>
            </a:endParaRPr>
          </a:p>
          <a:p>
            <a:pPr marL="457189" indent="-457189" defTabSz="1219170">
              <a:spcAft>
                <a:spcPts val="1067"/>
              </a:spcAft>
              <a:buSzPct val="100000"/>
              <a:buFontTx/>
              <a:buChar char="✕"/>
            </a:pPr>
            <a:r>
              <a:rPr lang="en-US" sz="1467" dirty="0">
                <a:solidFill>
                  <a:srgbClr val="E81123"/>
                </a:solidFill>
                <a:latin typeface="Microsoft YaHei" pitchFamily="34" charset="0"/>
                <a:ea typeface="Microsoft YaHei" pitchFamily="34" charset="-122"/>
                <a:cs typeface="Microsoft YaHei" pitchFamily="34" charset="-120"/>
              </a:rPr>
              <a:t>TTFT severely slowed by container cold starts</a:t>
            </a:r>
            <a:endParaRPr lang="en-US" sz="1467" dirty="0">
              <a:solidFill>
                <a:prstClr val="black"/>
              </a:solidFill>
              <a:latin typeface="Calibri" panose="020F0502020204030204"/>
            </a:endParaRPr>
          </a:p>
          <a:p>
            <a:pPr marL="457189" indent="-457189" defTabSz="1219170">
              <a:spcAft>
                <a:spcPts val="1067"/>
              </a:spcAft>
              <a:buSzPct val="100000"/>
              <a:buFontTx/>
              <a:buChar char="✕"/>
            </a:pPr>
            <a:r>
              <a:rPr lang="en-US" sz="1467" dirty="0">
                <a:solidFill>
                  <a:srgbClr val="E81123"/>
                </a:solidFill>
                <a:latin typeface="Microsoft YaHei" pitchFamily="34" charset="0"/>
                <a:ea typeface="Microsoft YaHei" pitchFamily="34" charset="-122"/>
                <a:cs typeface="Microsoft YaHei" pitchFamily="34" charset="-120"/>
              </a:rPr>
              <a:t>Credential leaks can be exploited by Prompt Injection</a:t>
            </a:r>
            <a:endParaRPr lang="en-US" sz="1467" dirty="0">
              <a:solidFill>
                <a:prstClr val="black"/>
              </a:solidFill>
              <a:latin typeface="Calibri" panose="020F0502020204030204"/>
            </a:endParaRPr>
          </a:p>
        </p:txBody>
      </p:sp>
      <p:sp>
        <p:nvSpPr>
          <p:cNvPr id="14" name="Shape 12"/>
          <p:cNvSpPr/>
          <p:nvPr/>
        </p:nvSpPr>
        <p:spPr>
          <a:xfrm>
            <a:off x="6096000" y="1889760"/>
            <a:ext cx="5608320" cy="60960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15" name="Text 13"/>
          <p:cNvSpPr/>
          <p:nvPr/>
        </p:nvSpPr>
        <p:spPr>
          <a:xfrm>
            <a:off x="6096000" y="1889760"/>
            <a:ext cx="5608320" cy="609600"/>
          </a:xfrm>
          <a:prstGeom prst="rect">
            <a:avLst/>
          </a:prstGeom>
          <a:noFill/>
          <a:ln/>
        </p:spPr>
        <p:txBody>
          <a:bodyPr wrap="square" lIns="0" tIns="0" rIns="0" bIns="0" rtlCol="0" anchor="ctr"/>
          <a:lstStyle/>
          <a:p>
            <a:pPr algn="ctr" defTabSz="1219170"/>
            <a:r>
              <a:rPr lang="en-US" sz="1867" b="1" dirty="0">
                <a:solidFill>
                  <a:srgbClr val="FFFFFF"/>
                </a:solidFill>
                <a:latin typeface="Microsoft YaHei" pitchFamily="34" charset="0"/>
                <a:ea typeface="Microsoft YaHei" pitchFamily="34" charset="-122"/>
                <a:cs typeface="Microsoft YaHei" pitchFamily="34" charset="-120"/>
              </a:rPr>
              <a:t>✓ Decoupled architecture (Managed Agents)</a:t>
            </a:r>
            <a:endParaRPr lang="en-US" sz="1867" dirty="0">
              <a:solidFill>
                <a:prstClr val="black"/>
              </a:solidFill>
              <a:latin typeface="Calibri" panose="020F0502020204030204"/>
            </a:endParaRPr>
          </a:p>
        </p:txBody>
      </p:sp>
      <p:sp>
        <p:nvSpPr>
          <p:cNvPr id="16" name="Shape 14"/>
          <p:cNvSpPr/>
          <p:nvPr/>
        </p:nvSpPr>
        <p:spPr>
          <a:xfrm>
            <a:off x="6096000" y="2560320"/>
            <a:ext cx="5608320" cy="34137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7" name="Text 15"/>
          <p:cNvSpPr/>
          <p:nvPr/>
        </p:nvSpPr>
        <p:spPr>
          <a:xfrm>
            <a:off x="6339840" y="2743200"/>
            <a:ext cx="5120640" cy="3108960"/>
          </a:xfrm>
          <a:prstGeom prst="rect">
            <a:avLst/>
          </a:prstGeom>
          <a:noFill/>
          <a:ln/>
        </p:spPr>
        <p:txBody>
          <a:bodyPr wrap="square" rtlCol="0" anchor="t"/>
          <a:lstStyle/>
          <a:p>
            <a:pPr marL="457189" indent="-457189" defTabSz="1219170">
              <a:spcAft>
                <a:spcPts val="1067"/>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Three components deploy independently — each can fail and restart on its own</a:t>
            </a:r>
            <a:endParaRPr lang="en-US" sz="1467" dirty="0">
              <a:solidFill>
                <a:prstClr val="black"/>
              </a:solidFill>
              <a:latin typeface="Calibri" panose="020F0502020204030204"/>
            </a:endParaRPr>
          </a:p>
          <a:p>
            <a:pPr marL="457189" indent="-457189" defTabSz="1219170">
              <a:spcAft>
                <a:spcPts val="1067"/>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Brain is stateless — horizontal scaling is trivial</a:t>
            </a:r>
            <a:endParaRPr lang="en-US" sz="1467" dirty="0">
              <a:solidFill>
                <a:prstClr val="black"/>
              </a:solidFill>
              <a:latin typeface="Calibri" panose="020F0502020204030204"/>
            </a:endParaRPr>
          </a:p>
          <a:p>
            <a:pPr marL="457189" indent="-457189" defTabSz="1219170">
              <a:spcAft>
                <a:spcPts val="1067"/>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Hands are created on demand only — they don't block TTFT</a:t>
            </a:r>
            <a:endParaRPr lang="en-US" sz="1467" dirty="0">
              <a:solidFill>
                <a:prstClr val="black"/>
              </a:solidFill>
              <a:latin typeface="Calibri" panose="020F0502020204030204"/>
            </a:endParaRPr>
          </a:p>
          <a:p>
            <a:pPr marL="457189" indent="-457189" defTabSz="1219170">
              <a:spcAft>
                <a:spcPts val="1067"/>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Can connect to customer VPC — Brain needs no peering</a:t>
            </a:r>
            <a:endParaRPr lang="en-US" sz="1467" dirty="0">
              <a:solidFill>
                <a:prstClr val="black"/>
              </a:solidFill>
              <a:latin typeface="Calibri" panose="020F0502020204030204"/>
            </a:endParaRPr>
          </a:p>
          <a:p>
            <a:pPr marL="457189" indent="-457189" defTabSz="1219170">
              <a:spcAft>
                <a:spcPts val="1067"/>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Credentials never enter the sandbox — accessed via proxy</a:t>
            </a:r>
            <a:endParaRPr lang="en-US" sz="1467" dirty="0">
              <a:solidFill>
                <a:prstClr val="black"/>
              </a:solidFill>
              <a:latin typeface="Calibri" panose="020F0502020204030204"/>
            </a:endParaRPr>
          </a:p>
          <a:p>
            <a:pPr marL="457189" indent="-457189" defTabSz="1219170">
              <a:spcAft>
                <a:spcPts val="1067"/>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P50 TTFT down 60%, P95 down 90%+</a:t>
            </a:r>
            <a:endParaRPr lang="en-US" sz="1467" dirty="0">
              <a:solidFill>
                <a:prstClr val="black"/>
              </a:solidFill>
              <a:latin typeface="Calibri" panose="020F0502020204030204"/>
            </a:endParaRPr>
          </a:p>
        </p:txBody>
      </p:sp>
      <p:sp>
        <p:nvSpPr>
          <p:cNvPr id="18" name="Shape 16"/>
          <p:cNvSpPr/>
          <p:nvPr/>
        </p:nvSpPr>
        <p:spPr>
          <a:xfrm>
            <a:off x="487680" y="6096000"/>
            <a:ext cx="11216640" cy="390144"/>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19" name="Text 17"/>
          <p:cNvSpPr/>
          <p:nvPr/>
        </p:nvSpPr>
        <p:spPr>
          <a:xfrm>
            <a:off x="487680" y="6096000"/>
            <a:ext cx="11216640" cy="390144"/>
          </a:xfrm>
          <a:prstGeom prst="rect">
            <a:avLst/>
          </a:prstGeom>
          <a:noFill/>
          <a:ln/>
        </p:spPr>
        <p:txBody>
          <a:bodyPr wrap="square" lIns="0" tIns="0" rIns="0" bIns="0" rtlCol="0" anchor="ctr"/>
          <a:lstStyle/>
          <a:p>
            <a:pPr algn="ctr" defTabSz="1219170"/>
            <a:r>
              <a:rPr lang="en-US" sz="1467" i="1" dirty="0">
                <a:solidFill>
                  <a:srgbClr val="FFB900"/>
                </a:solidFill>
                <a:latin typeface="Microsoft YaHei" pitchFamily="34" charset="0"/>
                <a:ea typeface="Microsoft YaHei" pitchFamily="34" charset="-122"/>
                <a:cs typeface="Microsoft YaHei" pitchFamily="34" charset="-120"/>
              </a:rPr>
              <a:t>"Don't adopt a pet" — treat containers like cattle, not pets</a:t>
            </a:r>
            <a:endParaRPr lang="en-US" sz="1467" dirty="0">
              <a:solidFill>
                <a:prstClr val="black"/>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01  ·  Evolution path</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The three-stage evolution of AI Agents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From Prompt templates to managed runtimes — engineering capability grows step by step</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08 / 40</a:t>
            </a:r>
            <a:endParaRPr lang="en-US" sz="1200" dirty="0">
              <a:solidFill>
                <a:prstClr val="black"/>
              </a:solidFill>
              <a:latin typeface="Calibri" panose="020F0502020204030204"/>
            </a:endParaRPr>
          </a:p>
        </p:txBody>
      </p:sp>
      <p:sp>
        <p:nvSpPr>
          <p:cNvPr id="10" name="Shape 8"/>
          <p:cNvSpPr/>
          <p:nvPr/>
        </p:nvSpPr>
        <p:spPr>
          <a:xfrm>
            <a:off x="1036320" y="2255520"/>
            <a:ext cx="0" cy="3474720"/>
          </a:xfrm>
          <a:prstGeom prst="line">
            <a:avLst/>
          </a:prstGeom>
          <a:noFill/>
          <a:ln w="2540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11" name="Shape 9"/>
          <p:cNvSpPr/>
          <p:nvPr/>
        </p:nvSpPr>
        <p:spPr>
          <a:xfrm>
            <a:off x="792480" y="2011680"/>
            <a:ext cx="487680" cy="487680"/>
          </a:xfrm>
          <a:prstGeom prst="ellipse">
            <a:avLst/>
          </a:prstGeom>
          <a:solidFill>
            <a:srgbClr val="5B6671"/>
          </a:solidFill>
          <a:ln w="38100">
            <a:solidFill>
              <a:srgbClr val="FFFFFF"/>
            </a:solidFill>
            <a:prstDash val="solid"/>
          </a:ln>
        </p:spPr>
        <p:txBody>
          <a:bodyPr/>
          <a:lstStyle/>
          <a:p>
            <a:pPr defTabSz="1219170"/>
            <a:endParaRPr lang="en-CN" sz="2400">
              <a:solidFill>
                <a:prstClr val="black"/>
              </a:solidFill>
              <a:latin typeface="Calibri" panose="020F0502020204030204"/>
            </a:endParaRPr>
          </a:p>
        </p:txBody>
      </p:sp>
      <p:sp>
        <p:nvSpPr>
          <p:cNvPr id="12" name="Shape 10"/>
          <p:cNvSpPr/>
          <p:nvPr/>
        </p:nvSpPr>
        <p:spPr>
          <a:xfrm>
            <a:off x="1706880" y="1950720"/>
            <a:ext cx="9997440" cy="9753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3" name="Shape 11"/>
          <p:cNvSpPr/>
          <p:nvPr/>
        </p:nvSpPr>
        <p:spPr>
          <a:xfrm>
            <a:off x="1706880" y="1950720"/>
            <a:ext cx="97536" cy="975360"/>
          </a:xfrm>
          <a:prstGeom prst="rect">
            <a:avLst/>
          </a:prstGeom>
          <a:solidFill>
            <a:srgbClr val="5B6671"/>
          </a:solidFill>
          <a:ln/>
        </p:spPr>
        <p:txBody>
          <a:bodyPr/>
          <a:lstStyle/>
          <a:p>
            <a:pPr defTabSz="1219170"/>
            <a:endParaRPr lang="en-CN" sz="2400">
              <a:solidFill>
                <a:prstClr val="black"/>
              </a:solidFill>
              <a:latin typeface="Calibri" panose="020F0502020204030204"/>
            </a:endParaRPr>
          </a:p>
        </p:txBody>
      </p:sp>
      <p:sp>
        <p:nvSpPr>
          <p:cNvPr id="14" name="Text 12"/>
          <p:cNvSpPr/>
          <p:nvPr/>
        </p:nvSpPr>
        <p:spPr>
          <a:xfrm>
            <a:off x="1950720" y="2011680"/>
            <a:ext cx="1706880" cy="365760"/>
          </a:xfrm>
          <a:prstGeom prst="rect">
            <a:avLst/>
          </a:prstGeom>
          <a:noFill/>
          <a:ln/>
        </p:spPr>
        <p:txBody>
          <a:bodyPr wrap="square" lIns="0" tIns="0" rIns="0" bIns="0" rtlCol="0" anchor="ctr"/>
          <a:lstStyle/>
          <a:p>
            <a:pPr defTabSz="1219170"/>
            <a:r>
              <a:rPr lang="en-US" sz="1467" b="1" dirty="0">
                <a:solidFill>
                  <a:srgbClr val="5B6671"/>
                </a:solidFill>
                <a:latin typeface="Microsoft YaHei" pitchFamily="34" charset="0"/>
                <a:ea typeface="Microsoft YaHei" pitchFamily="34" charset="-122"/>
                <a:cs typeface="Microsoft YaHei" pitchFamily="34" charset="-120"/>
              </a:rPr>
              <a:t>Stage 1</a:t>
            </a:r>
            <a:endParaRPr lang="en-US" sz="1467" dirty="0">
              <a:solidFill>
                <a:prstClr val="black"/>
              </a:solidFill>
              <a:latin typeface="Calibri" panose="020F0502020204030204"/>
            </a:endParaRPr>
          </a:p>
        </p:txBody>
      </p:sp>
      <p:sp>
        <p:nvSpPr>
          <p:cNvPr id="15" name="Text 13"/>
          <p:cNvSpPr/>
          <p:nvPr/>
        </p:nvSpPr>
        <p:spPr>
          <a:xfrm>
            <a:off x="1950720" y="2316480"/>
            <a:ext cx="5486400" cy="487680"/>
          </a:xfrm>
          <a:prstGeom prst="rect">
            <a:avLst/>
          </a:prstGeom>
          <a:noFill/>
          <a:ln/>
        </p:spPr>
        <p:txBody>
          <a:bodyPr wrap="square" lIns="0" tIns="0" rIns="0" bIns="0" rtlCol="0" anchor="ctr"/>
          <a:lstStyle/>
          <a:p>
            <a:pPr defTabSz="1219170"/>
            <a:r>
              <a:rPr lang="en-US" sz="2133" b="1" dirty="0">
                <a:solidFill>
                  <a:srgbClr val="0F2A47"/>
                </a:solidFill>
                <a:latin typeface="Microsoft YaHei" pitchFamily="34" charset="0"/>
                <a:ea typeface="Microsoft YaHei" pitchFamily="34" charset="-122"/>
                <a:cs typeface="Microsoft YaHei" pitchFamily="34" charset="-120"/>
              </a:rPr>
              <a:t>Prompt template</a:t>
            </a:r>
            <a:endParaRPr lang="en-US" sz="2133" dirty="0">
              <a:solidFill>
                <a:prstClr val="black"/>
              </a:solidFill>
              <a:latin typeface="Calibri" panose="020F0502020204030204"/>
            </a:endParaRPr>
          </a:p>
        </p:txBody>
      </p:sp>
      <p:sp>
        <p:nvSpPr>
          <p:cNvPr id="16" name="Text 14"/>
          <p:cNvSpPr/>
          <p:nvPr/>
        </p:nvSpPr>
        <p:spPr>
          <a:xfrm>
            <a:off x="7315200" y="2133600"/>
            <a:ext cx="4145280" cy="731520"/>
          </a:xfrm>
          <a:prstGeom prst="rect">
            <a:avLst/>
          </a:prstGeom>
          <a:noFill/>
          <a:ln/>
        </p:spPr>
        <p:txBody>
          <a:bodyPr wrap="square" lIns="0" tIns="0" rIns="0" bIns="0" rtlCol="0" anchor="ctr"/>
          <a:lstStyle/>
          <a:p>
            <a:pPr defTabSz="1219170"/>
            <a:r>
              <a:rPr lang="en-US" sz="1467" dirty="0">
                <a:solidFill>
                  <a:srgbClr val="5B6671"/>
                </a:solidFill>
                <a:latin typeface="Microsoft YaHei" pitchFamily="34" charset="0"/>
                <a:ea typeface="Microsoft YaHei" pitchFamily="34" charset="-122"/>
                <a:cs typeface="Microsoft YaHei" pitchFamily="34" charset="-120"/>
              </a:rPr>
              <a:t>Single-turn tasks via System Prompt + Few-shot</a:t>
            </a:r>
            <a:endParaRPr lang="en-US" sz="1467" dirty="0">
              <a:solidFill>
                <a:prstClr val="black"/>
              </a:solidFill>
              <a:latin typeface="Calibri" panose="020F0502020204030204"/>
            </a:endParaRPr>
          </a:p>
        </p:txBody>
      </p:sp>
      <p:sp>
        <p:nvSpPr>
          <p:cNvPr id="17" name="Shape 15"/>
          <p:cNvSpPr/>
          <p:nvPr/>
        </p:nvSpPr>
        <p:spPr>
          <a:xfrm>
            <a:off x="792480" y="3169920"/>
            <a:ext cx="487680" cy="487680"/>
          </a:xfrm>
          <a:prstGeom prst="ellipse">
            <a:avLst/>
          </a:prstGeom>
          <a:solidFill>
            <a:srgbClr val="0078D4"/>
          </a:solidFill>
          <a:ln w="38100">
            <a:solidFill>
              <a:srgbClr val="FFFFFF"/>
            </a:solidFill>
            <a:prstDash val="solid"/>
          </a:ln>
        </p:spPr>
        <p:txBody>
          <a:bodyPr/>
          <a:lstStyle/>
          <a:p>
            <a:pPr defTabSz="1219170"/>
            <a:endParaRPr lang="en-CN" sz="2400">
              <a:solidFill>
                <a:prstClr val="black"/>
              </a:solidFill>
              <a:latin typeface="Calibri" panose="020F0502020204030204"/>
            </a:endParaRPr>
          </a:p>
        </p:txBody>
      </p:sp>
      <p:sp>
        <p:nvSpPr>
          <p:cNvPr id="18" name="Shape 16"/>
          <p:cNvSpPr/>
          <p:nvPr/>
        </p:nvSpPr>
        <p:spPr>
          <a:xfrm>
            <a:off x="1706880" y="3108960"/>
            <a:ext cx="9997440" cy="9753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9" name="Shape 17"/>
          <p:cNvSpPr/>
          <p:nvPr/>
        </p:nvSpPr>
        <p:spPr>
          <a:xfrm>
            <a:off x="1706880" y="3108960"/>
            <a:ext cx="97536" cy="97536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1950720" y="3169920"/>
            <a:ext cx="1706880" cy="365760"/>
          </a:xfrm>
          <a:prstGeom prst="rect">
            <a:avLst/>
          </a:prstGeom>
          <a:noFill/>
          <a:ln/>
        </p:spPr>
        <p:txBody>
          <a:bodyPr wrap="square" lIns="0" tIns="0" rIns="0" bIns="0" rtlCol="0" anchor="ctr"/>
          <a:lstStyle/>
          <a:p>
            <a:pPr defTabSz="1219170"/>
            <a:r>
              <a:rPr lang="en-US" sz="1467" b="1" dirty="0">
                <a:solidFill>
                  <a:srgbClr val="0078D4"/>
                </a:solidFill>
                <a:latin typeface="Microsoft YaHei" pitchFamily="34" charset="0"/>
                <a:ea typeface="Microsoft YaHei" pitchFamily="34" charset="-122"/>
                <a:cs typeface="Microsoft YaHei" pitchFamily="34" charset="-120"/>
              </a:rPr>
              <a:t>Stage 2</a:t>
            </a:r>
            <a:endParaRPr lang="en-US" sz="1467" dirty="0">
              <a:solidFill>
                <a:prstClr val="black"/>
              </a:solidFill>
              <a:latin typeface="Calibri" panose="020F0502020204030204"/>
            </a:endParaRPr>
          </a:p>
        </p:txBody>
      </p:sp>
      <p:sp>
        <p:nvSpPr>
          <p:cNvPr id="21" name="Text 19"/>
          <p:cNvSpPr/>
          <p:nvPr/>
        </p:nvSpPr>
        <p:spPr>
          <a:xfrm>
            <a:off x="1950720" y="3474720"/>
            <a:ext cx="5486400" cy="487680"/>
          </a:xfrm>
          <a:prstGeom prst="rect">
            <a:avLst/>
          </a:prstGeom>
          <a:noFill/>
          <a:ln/>
        </p:spPr>
        <p:txBody>
          <a:bodyPr wrap="square" lIns="0" tIns="0" rIns="0" bIns="0" rtlCol="0" anchor="ctr"/>
          <a:lstStyle/>
          <a:p>
            <a:pPr defTabSz="1219170"/>
            <a:r>
              <a:rPr lang="en-US" sz="2133" b="1" dirty="0">
                <a:solidFill>
                  <a:srgbClr val="0F2A47"/>
                </a:solidFill>
                <a:latin typeface="Microsoft YaHei" pitchFamily="34" charset="0"/>
                <a:ea typeface="Microsoft YaHei" pitchFamily="34" charset="-122"/>
                <a:cs typeface="Microsoft YaHei" pitchFamily="34" charset="-120"/>
              </a:rPr>
              <a:t>Custom Agent frameworks</a:t>
            </a:r>
            <a:endParaRPr lang="en-US" sz="2133" dirty="0">
              <a:solidFill>
                <a:prstClr val="black"/>
              </a:solidFill>
              <a:latin typeface="Calibri" panose="020F0502020204030204"/>
            </a:endParaRPr>
          </a:p>
        </p:txBody>
      </p:sp>
      <p:sp>
        <p:nvSpPr>
          <p:cNvPr id="22" name="Text 20"/>
          <p:cNvSpPr/>
          <p:nvPr/>
        </p:nvSpPr>
        <p:spPr>
          <a:xfrm>
            <a:off x="7315200" y="3291840"/>
            <a:ext cx="4145280" cy="731520"/>
          </a:xfrm>
          <a:prstGeom prst="rect">
            <a:avLst/>
          </a:prstGeom>
          <a:noFill/>
          <a:ln/>
        </p:spPr>
        <p:txBody>
          <a:bodyPr wrap="square" lIns="0" tIns="0" rIns="0" bIns="0" rtlCol="0" anchor="ctr"/>
          <a:lstStyle/>
          <a:p>
            <a:pPr defTabSz="1219170"/>
            <a:r>
              <a:rPr lang="en-US" sz="1467" dirty="0">
                <a:solidFill>
                  <a:srgbClr val="5B6671"/>
                </a:solidFill>
                <a:latin typeface="Microsoft YaHei" pitchFamily="34" charset="0"/>
                <a:ea typeface="Microsoft YaHei" pitchFamily="34" charset="-122"/>
                <a:cs typeface="Microsoft YaHei" pitchFamily="34" charset="-120"/>
              </a:rPr>
              <a:t>LangChain / Semantic Kernel / Agent Framework — self-managed orchestration loop</a:t>
            </a:r>
            <a:endParaRPr lang="en-US" sz="1467" dirty="0">
              <a:solidFill>
                <a:prstClr val="black"/>
              </a:solidFill>
              <a:latin typeface="Calibri" panose="020F0502020204030204"/>
            </a:endParaRPr>
          </a:p>
        </p:txBody>
      </p:sp>
      <p:sp>
        <p:nvSpPr>
          <p:cNvPr id="23" name="Shape 21"/>
          <p:cNvSpPr/>
          <p:nvPr/>
        </p:nvSpPr>
        <p:spPr>
          <a:xfrm>
            <a:off x="792480" y="4328160"/>
            <a:ext cx="487680" cy="487680"/>
          </a:xfrm>
          <a:prstGeom prst="ellipse">
            <a:avLst/>
          </a:prstGeom>
          <a:solidFill>
            <a:srgbClr val="FFB900"/>
          </a:solidFill>
          <a:ln w="38100">
            <a:solidFill>
              <a:srgbClr val="FFFFFF"/>
            </a:solidFill>
            <a:prstDash val="solid"/>
          </a:ln>
        </p:spPr>
        <p:txBody>
          <a:bodyPr/>
          <a:lstStyle/>
          <a:p>
            <a:pPr defTabSz="1219170"/>
            <a:endParaRPr lang="en-CN" sz="2400">
              <a:solidFill>
                <a:prstClr val="black"/>
              </a:solidFill>
              <a:latin typeface="Calibri" panose="020F0502020204030204"/>
            </a:endParaRPr>
          </a:p>
        </p:txBody>
      </p:sp>
      <p:sp>
        <p:nvSpPr>
          <p:cNvPr id="24" name="Shape 22"/>
          <p:cNvSpPr/>
          <p:nvPr/>
        </p:nvSpPr>
        <p:spPr>
          <a:xfrm>
            <a:off x="1706880" y="4267200"/>
            <a:ext cx="9997440" cy="9753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5" name="Shape 23"/>
          <p:cNvSpPr/>
          <p:nvPr/>
        </p:nvSpPr>
        <p:spPr>
          <a:xfrm>
            <a:off x="1706880" y="4267200"/>
            <a:ext cx="97536" cy="97536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6" name="Text 24"/>
          <p:cNvSpPr/>
          <p:nvPr/>
        </p:nvSpPr>
        <p:spPr>
          <a:xfrm>
            <a:off x="1950720" y="4328160"/>
            <a:ext cx="1706880" cy="365760"/>
          </a:xfrm>
          <a:prstGeom prst="rect">
            <a:avLst/>
          </a:prstGeom>
          <a:noFill/>
          <a:ln/>
        </p:spPr>
        <p:txBody>
          <a:bodyPr wrap="square" lIns="0" tIns="0" rIns="0" bIns="0" rtlCol="0" anchor="ctr"/>
          <a:lstStyle/>
          <a:p>
            <a:pPr defTabSz="1219170"/>
            <a:r>
              <a:rPr lang="en-US" sz="1467" b="1" dirty="0">
                <a:solidFill>
                  <a:srgbClr val="FFB900"/>
                </a:solidFill>
                <a:latin typeface="Microsoft YaHei" pitchFamily="34" charset="0"/>
                <a:ea typeface="Microsoft YaHei" pitchFamily="34" charset="-122"/>
                <a:cs typeface="Microsoft YaHei" pitchFamily="34" charset="-120"/>
              </a:rPr>
              <a:t>Stage 3</a:t>
            </a:r>
            <a:endParaRPr lang="en-US" sz="1467" dirty="0">
              <a:solidFill>
                <a:prstClr val="black"/>
              </a:solidFill>
              <a:latin typeface="Calibri" panose="020F0502020204030204"/>
            </a:endParaRPr>
          </a:p>
        </p:txBody>
      </p:sp>
      <p:sp>
        <p:nvSpPr>
          <p:cNvPr id="27" name="Text 25"/>
          <p:cNvSpPr/>
          <p:nvPr/>
        </p:nvSpPr>
        <p:spPr>
          <a:xfrm>
            <a:off x="1950720" y="4632960"/>
            <a:ext cx="5486400" cy="487680"/>
          </a:xfrm>
          <a:prstGeom prst="rect">
            <a:avLst/>
          </a:prstGeom>
          <a:noFill/>
          <a:ln/>
        </p:spPr>
        <p:txBody>
          <a:bodyPr wrap="square" lIns="0" tIns="0" rIns="0" bIns="0" rtlCol="0" anchor="ctr"/>
          <a:lstStyle/>
          <a:p>
            <a:pPr defTabSz="1219170"/>
            <a:r>
              <a:rPr lang="en-US" sz="2133" b="1" dirty="0">
                <a:solidFill>
                  <a:srgbClr val="0F2A47"/>
                </a:solidFill>
                <a:latin typeface="Microsoft YaHei" pitchFamily="34" charset="0"/>
                <a:ea typeface="Microsoft YaHei" pitchFamily="34" charset="-122"/>
                <a:cs typeface="Microsoft YaHei" pitchFamily="34" charset="-120"/>
              </a:rPr>
              <a:t>Managed Agent platforms</a:t>
            </a:r>
            <a:endParaRPr lang="en-US" sz="2133" dirty="0">
              <a:solidFill>
                <a:prstClr val="black"/>
              </a:solidFill>
              <a:latin typeface="Calibri" panose="020F0502020204030204"/>
            </a:endParaRPr>
          </a:p>
        </p:txBody>
      </p:sp>
      <p:sp>
        <p:nvSpPr>
          <p:cNvPr id="28" name="Text 26"/>
          <p:cNvSpPr/>
          <p:nvPr/>
        </p:nvSpPr>
        <p:spPr>
          <a:xfrm>
            <a:off x="7315200" y="4450080"/>
            <a:ext cx="4145280" cy="731520"/>
          </a:xfrm>
          <a:prstGeom prst="rect">
            <a:avLst/>
          </a:prstGeom>
          <a:noFill/>
          <a:ln/>
        </p:spPr>
        <p:txBody>
          <a:bodyPr wrap="square" lIns="0" tIns="0" rIns="0" bIns="0" rtlCol="0" anchor="ctr"/>
          <a:lstStyle/>
          <a:p>
            <a:pPr defTabSz="1219170"/>
            <a:r>
              <a:rPr lang="en-US" sz="1467" dirty="0">
                <a:solidFill>
                  <a:srgbClr val="5B6671"/>
                </a:solidFill>
                <a:latin typeface="Microsoft YaHei" pitchFamily="34" charset="0"/>
                <a:ea typeface="Microsoft YaHei" pitchFamily="34" charset="-122"/>
                <a:cs typeface="Microsoft YaHei" pitchFamily="34" charset="-120"/>
              </a:rPr>
              <a:t>Azure Foundry / Anthropic / AWS Bedrock offer Harness-as-a-Service</a:t>
            </a:r>
            <a:endParaRPr lang="en-US" sz="1467" dirty="0">
              <a:solidFill>
                <a:prstClr val="black"/>
              </a:solidFill>
              <a:latin typeface="Calibri" panose="020F0502020204030204"/>
            </a:endParaRPr>
          </a:p>
        </p:txBody>
      </p:sp>
      <p:sp>
        <p:nvSpPr>
          <p:cNvPr id="29" name="Shape 27"/>
          <p:cNvSpPr/>
          <p:nvPr/>
        </p:nvSpPr>
        <p:spPr>
          <a:xfrm>
            <a:off x="487680" y="5730240"/>
            <a:ext cx="11216640" cy="6705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0" name="Shape 28"/>
          <p:cNvSpPr/>
          <p:nvPr/>
        </p:nvSpPr>
        <p:spPr>
          <a:xfrm>
            <a:off x="487680" y="5730240"/>
            <a:ext cx="97536" cy="67056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31" name="Text 29"/>
          <p:cNvSpPr/>
          <p:nvPr/>
        </p:nvSpPr>
        <p:spPr>
          <a:xfrm>
            <a:off x="731520" y="5730240"/>
            <a:ext cx="10972800" cy="670560"/>
          </a:xfrm>
          <a:prstGeom prst="rect">
            <a:avLst/>
          </a:prstGeom>
          <a:noFill/>
          <a:ln/>
        </p:spPr>
        <p:txBody>
          <a:bodyPr wrap="square" lIns="0" tIns="0" rIns="0" bIns="0" rtlCol="0" anchor="ctr"/>
          <a:lstStyle/>
          <a:p>
            <a:pPr defTabSz="1219170"/>
            <a:r>
              <a:rPr lang="en-US" sz="1600" b="1" dirty="0">
                <a:solidFill>
                  <a:srgbClr val="0F2A47"/>
                </a:solidFill>
                <a:latin typeface="Microsoft YaHei" pitchFamily="34" charset="0"/>
                <a:ea typeface="Microsoft YaHei" pitchFamily="34" charset="-122"/>
                <a:cs typeface="Microsoft YaHei" pitchFamily="34" charset="-120"/>
              </a:rPr>
              <a:t>Current focus: Stage 3 — major cloud vendors compete fiercely on Managed Harness standards</a:t>
            </a:r>
            <a:endParaRPr lang="en-US" sz="1600" dirty="0">
              <a:solidFill>
                <a:prstClr val="black"/>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2A47"/>
        </a:solidFill>
        <a:effectLst/>
      </p:bgPr>
    </p:bg>
    <p:spTree>
      <p:nvGrpSpPr>
        <p:cNvPr id="1" name=""/>
        <p:cNvGrpSpPr/>
        <p:nvPr/>
      </p:nvGrpSpPr>
      <p:grpSpPr>
        <a:xfrm>
          <a:off x="0" y="0"/>
          <a:ext cx="0" cy="0"/>
          <a:chOff x="0" y="0"/>
          <a:chExt cx="0" cy="0"/>
        </a:xfrm>
      </p:grpSpPr>
      <p:sp>
        <p:nvSpPr>
          <p:cNvPr id="2" name="Shape 0"/>
          <p:cNvSpPr/>
          <p:nvPr/>
        </p:nvSpPr>
        <p:spPr>
          <a:xfrm>
            <a:off x="10241280" y="0"/>
            <a:ext cx="1950720" cy="6858000"/>
          </a:xfrm>
          <a:prstGeom prst="rect">
            <a:avLst/>
          </a:prstGeom>
          <a:solidFill>
            <a:srgbClr val="071A30"/>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19456" cy="685800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Shape 2"/>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5" name="Text 3"/>
          <p:cNvSpPr/>
          <p:nvPr/>
        </p:nvSpPr>
        <p:spPr>
          <a:xfrm>
            <a:off x="731520" y="6486144"/>
            <a:ext cx="6096000" cy="304800"/>
          </a:xfrm>
          <a:prstGeom prst="rect">
            <a:avLst/>
          </a:prstGeom>
          <a:noFill/>
          <a:ln/>
        </p:spPr>
        <p:txBody>
          <a:bodyPr wrap="square" rtlCol="0" anchor="ctr"/>
          <a:lstStyle/>
          <a:p>
            <a:pPr defTabSz="1219170"/>
            <a:r>
              <a:rPr lang="en-US" sz="1200" dirty="0">
                <a:solidFill>
                  <a:srgbClr val="CADCFC"/>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6" name="Text 4"/>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CADCFC"/>
                </a:solidFill>
                <a:latin typeface="Microsoft YaHei" pitchFamily="34" charset="0"/>
                <a:ea typeface="Microsoft YaHei" pitchFamily="34" charset="-122"/>
                <a:cs typeface="Microsoft YaHei" pitchFamily="34" charset="-120"/>
              </a:rPr>
              <a:t>09 / 40</a:t>
            </a:r>
            <a:endParaRPr lang="en-US" sz="1200" dirty="0">
              <a:solidFill>
                <a:prstClr val="black"/>
              </a:solidFill>
              <a:latin typeface="Calibri" panose="020F0502020204030204"/>
            </a:endParaRPr>
          </a:p>
        </p:txBody>
      </p:sp>
      <p:sp>
        <p:nvSpPr>
          <p:cNvPr id="7" name="Text 5"/>
          <p:cNvSpPr/>
          <p:nvPr/>
        </p:nvSpPr>
        <p:spPr>
          <a:xfrm>
            <a:off x="731520" y="2072640"/>
            <a:ext cx="9753600" cy="487680"/>
          </a:xfrm>
          <a:prstGeom prst="rect">
            <a:avLst/>
          </a:prstGeom>
          <a:noFill/>
          <a:ln/>
        </p:spPr>
        <p:txBody>
          <a:bodyPr wrap="square" lIns="0" tIns="0" rIns="0" bIns="0" rtlCol="0" anchor="ctr"/>
          <a:lstStyle/>
          <a:p>
            <a:pPr defTabSz="1219170"/>
            <a:r>
              <a:rPr lang="en-US" sz="1867" b="1" kern="0" spc="1333" dirty="0">
                <a:solidFill>
                  <a:srgbClr val="FFB900"/>
                </a:solidFill>
                <a:latin typeface="Microsoft YaHei" pitchFamily="34" charset="0"/>
                <a:ea typeface="Microsoft YaHei" pitchFamily="34" charset="-122"/>
                <a:cs typeface="Microsoft YaHei" pitchFamily="34" charset="-120"/>
              </a:rPr>
              <a:t>PART  02</a:t>
            </a:r>
            <a:endParaRPr lang="en-US" sz="1867" dirty="0">
              <a:solidFill>
                <a:prstClr val="black"/>
              </a:solidFill>
              <a:latin typeface="Calibri" panose="020F0502020204030204"/>
            </a:endParaRPr>
          </a:p>
        </p:txBody>
      </p:sp>
      <p:sp>
        <p:nvSpPr>
          <p:cNvPr id="8" name="Shape 6"/>
          <p:cNvSpPr/>
          <p:nvPr/>
        </p:nvSpPr>
        <p:spPr>
          <a:xfrm>
            <a:off x="731520" y="2621280"/>
            <a:ext cx="731520" cy="48768"/>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9" name="Text 7"/>
          <p:cNvSpPr/>
          <p:nvPr/>
        </p:nvSpPr>
        <p:spPr>
          <a:xfrm>
            <a:off x="731520" y="2865120"/>
            <a:ext cx="9753600" cy="1036320"/>
          </a:xfrm>
          <a:prstGeom prst="rect">
            <a:avLst/>
          </a:prstGeom>
          <a:noFill/>
          <a:ln/>
        </p:spPr>
        <p:txBody>
          <a:bodyPr wrap="square" lIns="0" tIns="0" rIns="0" bIns="0" rtlCol="0" anchor="ctr"/>
          <a:lstStyle/>
          <a:p>
            <a:pPr defTabSz="1219170"/>
            <a:r>
              <a:rPr lang="en-US" sz="7200" b="1" dirty="0">
                <a:solidFill>
                  <a:srgbClr val="FFFFFF"/>
                </a:solidFill>
                <a:latin typeface="Microsoft YaHei" pitchFamily="34" charset="0"/>
                <a:ea typeface="Microsoft YaHei" pitchFamily="34" charset="-122"/>
                <a:cs typeface="Microsoft YaHei" pitchFamily="34" charset="-120"/>
              </a:rPr>
              <a:t>The three platforms in depth</a:t>
            </a:r>
            <a:endParaRPr lang="en-US" sz="7200" dirty="0">
              <a:solidFill>
                <a:prstClr val="black"/>
              </a:solidFill>
              <a:latin typeface="Calibri" panose="020F0502020204030204"/>
            </a:endParaRPr>
          </a:p>
        </p:txBody>
      </p:sp>
      <p:sp>
        <p:nvSpPr>
          <p:cNvPr id="10" name="Text 8"/>
          <p:cNvSpPr/>
          <p:nvPr/>
        </p:nvSpPr>
        <p:spPr>
          <a:xfrm>
            <a:off x="731520" y="4145280"/>
            <a:ext cx="9753600" cy="609600"/>
          </a:xfrm>
          <a:prstGeom prst="rect">
            <a:avLst/>
          </a:prstGeom>
          <a:noFill/>
          <a:ln/>
        </p:spPr>
        <p:txBody>
          <a:bodyPr wrap="square" lIns="0" tIns="0" rIns="0" bIns="0" rtlCol="0" anchor="ctr"/>
          <a:lstStyle/>
          <a:p>
            <a:pPr defTabSz="1219170"/>
            <a:r>
              <a:rPr lang="en-US" altLang="zh-CN" sz="2133" dirty="0">
                <a:solidFill>
                  <a:srgbClr val="CADCFC"/>
                </a:solidFill>
                <a:latin typeface="Microsoft YaHei" pitchFamily="34" charset="0"/>
                <a:ea typeface="Microsoft YaHei" pitchFamily="34" charset="-122"/>
                <a:cs typeface="Microsoft YaHei" pitchFamily="34" charset="-120"/>
              </a:rPr>
              <a:t>Microsoft</a:t>
            </a:r>
            <a:r>
              <a:rPr lang="en-US" sz="2133" dirty="0">
                <a:solidFill>
                  <a:srgbClr val="CADCFC"/>
                </a:solidFill>
                <a:latin typeface="Microsoft YaHei" pitchFamily="34" charset="0"/>
                <a:ea typeface="Microsoft YaHei" pitchFamily="34" charset="-122"/>
                <a:cs typeface="Microsoft YaHei" pitchFamily="34" charset="-120"/>
              </a:rPr>
              <a:t> Foundry  ·  Anthropic Managed Agents  ·  AWS Bedrock</a:t>
            </a:r>
            <a:endParaRPr lang="en-US" sz="2133" dirty="0">
              <a:solidFill>
                <a:prstClr val="black"/>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Landscape</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Overview of the three managed Agent platforms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Representing three different design philosophies and engineering trade-offs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10 / 40</a:t>
            </a:r>
            <a:endParaRPr lang="en-US" sz="1200" dirty="0">
              <a:solidFill>
                <a:prstClr val="black"/>
              </a:solidFill>
              <a:latin typeface="Calibri" panose="020F0502020204030204"/>
            </a:endParaRPr>
          </a:p>
        </p:txBody>
      </p:sp>
      <p:sp>
        <p:nvSpPr>
          <p:cNvPr id="10" name="Shape 8"/>
          <p:cNvSpPr/>
          <p:nvPr/>
        </p:nvSpPr>
        <p:spPr>
          <a:xfrm>
            <a:off x="487680" y="1889760"/>
            <a:ext cx="3596640" cy="4511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3596640" cy="121920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Shape 10"/>
          <p:cNvSpPr/>
          <p:nvPr/>
        </p:nvSpPr>
        <p:spPr>
          <a:xfrm>
            <a:off x="731520" y="2072640"/>
            <a:ext cx="853440" cy="853440"/>
          </a:xfrm>
          <a:prstGeom prst="ellipse">
            <a:avLst/>
          </a:prstGeom>
          <a:solidFill>
            <a:srgbClr val="FFFFFF"/>
          </a:solidFill>
          <a:ln w="25400">
            <a:solidFill>
              <a:srgbClr val="0078D4"/>
            </a:solidFill>
            <a:prstDash val="solid"/>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731520" y="2072640"/>
            <a:ext cx="853440" cy="853440"/>
          </a:xfrm>
          <a:prstGeom prst="rect">
            <a:avLst/>
          </a:prstGeom>
          <a:noFill/>
          <a:ln/>
        </p:spPr>
        <p:txBody>
          <a:bodyPr wrap="square" lIns="0" tIns="0" rIns="0" bIns="0" rtlCol="0" anchor="ctr"/>
          <a:lstStyle/>
          <a:p>
            <a:pPr algn="ctr" defTabSz="1219170"/>
            <a:r>
              <a:rPr lang="en-US" sz="1867" b="1" dirty="0">
                <a:solidFill>
                  <a:srgbClr val="0078D4"/>
                </a:solidFill>
                <a:latin typeface="Microsoft YaHei" pitchFamily="34" charset="0"/>
                <a:ea typeface="Microsoft YaHei" pitchFamily="34" charset="-122"/>
                <a:cs typeface="Microsoft YaHei" pitchFamily="34" charset="-120"/>
              </a:rPr>
              <a:t>AZ</a:t>
            </a:r>
            <a:endParaRPr lang="en-US" sz="1867" dirty="0">
              <a:solidFill>
                <a:prstClr val="black"/>
              </a:solidFill>
              <a:latin typeface="Calibri" panose="020F0502020204030204"/>
            </a:endParaRPr>
          </a:p>
        </p:txBody>
      </p:sp>
      <p:sp>
        <p:nvSpPr>
          <p:cNvPr id="14" name="Text 12"/>
          <p:cNvSpPr/>
          <p:nvPr/>
        </p:nvSpPr>
        <p:spPr>
          <a:xfrm>
            <a:off x="1706880" y="2133600"/>
            <a:ext cx="2255520" cy="390144"/>
          </a:xfrm>
          <a:prstGeom prst="rect">
            <a:avLst/>
          </a:prstGeom>
          <a:noFill/>
          <a:ln/>
        </p:spPr>
        <p:txBody>
          <a:bodyPr wrap="square" lIns="0" tIns="0" rIns="0" bIns="0" rtlCol="0" anchor="ctr"/>
          <a:lstStyle/>
          <a:p>
            <a:pPr defTabSz="1219170"/>
            <a:r>
              <a:rPr lang="en-US" altLang="zh-CN" sz="1867" b="1" dirty="0">
                <a:solidFill>
                  <a:srgbClr val="FFFFFF"/>
                </a:solidFill>
                <a:latin typeface="Microsoft YaHei" pitchFamily="34" charset="0"/>
                <a:ea typeface="Microsoft YaHei" pitchFamily="34" charset="-122"/>
                <a:cs typeface="Microsoft YaHei" pitchFamily="34" charset="-120"/>
              </a:rPr>
              <a:t>Microsoft</a:t>
            </a:r>
            <a:r>
              <a:rPr lang="en-US" sz="1867" b="1" dirty="0">
                <a:solidFill>
                  <a:srgbClr val="FFFFFF"/>
                </a:solidFill>
                <a:latin typeface="Microsoft YaHei" pitchFamily="34" charset="0"/>
                <a:ea typeface="Microsoft YaHei" pitchFamily="34" charset="-122"/>
                <a:cs typeface="Microsoft YaHei" pitchFamily="34" charset="-120"/>
              </a:rPr>
              <a:t> Foundry</a:t>
            </a:r>
            <a:endParaRPr lang="en-US" sz="1867" dirty="0">
              <a:solidFill>
                <a:prstClr val="black"/>
              </a:solidFill>
              <a:latin typeface="Calibri" panose="020F0502020204030204"/>
            </a:endParaRPr>
          </a:p>
        </p:txBody>
      </p:sp>
      <p:sp>
        <p:nvSpPr>
          <p:cNvPr id="15" name="Text 13"/>
          <p:cNvSpPr/>
          <p:nvPr/>
        </p:nvSpPr>
        <p:spPr>
          <a:xfrm>
            <a:off x="1706880" y="2523744"/>
            <a:ext cx="2255520" cy="341376"/>
          </a:xfrm>
          <a:prstGeom prst="rect">
            <a:avLst/>
          </a:prstGeom>
          <a:noFill/>
          <a:ln/>
        </p:spPr>
        <p:txBody>
          <a:bodyPr wrap="square" lIns="0" tIns="0" rIns="0" bIns="0" rtlCol="0" anchor="ctr"/>
          <a:lstStyle/>
          <a:p>
            <a:pPr defTabSz="1219170"/>
            <a:r>
              <a:rPr lang="en-US" sz="1333" dirty="0">
                <a:solidFill>
                  <a:srgbClr val="CADCFC"/>
                </a:solidFill>
                <a:latin typeface="Microsoft YaHei" pitchFamily="34" charset="0"/>
                <a:ea typeface="Microsoft YaHei" pitchFamily="34" charset="-122"/>
                <a:cs typeface="Microsoft YaHei" pitchFamily="34" charset="-120"/>
              </a:rPr>
              <a:t>Hosted Agents (Preview)</a:t>
            </a:r>
            <a:endParaRPr lang="en-US" sz="1333" dirty="0">
              <a:solidFill>
                <a:prstClr val="black"/>
              </a:solidFill>
              <a:latin typeface="Calibri" panose="020F0502020204030204"/>
            </a:endParaRPr>
          </a:p>
        </p:txBody>
      </p:sp>
      <p:sp>
        <p:nvSpPr>
          <p:cNvPr id="16" name="Text 14"/>
          <p:cNvSpPr/>
          <p:nvPr/>
        </p:nvSpPr>
        <p:spPr>
          <a:xfrm>
            <a:off x="731520" y="3291840"/>
            <a:ext cx="3169920" cy="2926080"/>
          </a:xfrm>
          <a:prstGeom prst="rect">
            <a:avLst/>
          </a:prstGeom>
          <a:noFill/>
          <a:ln/>
        </p:spPr>
        <p:txBody>
          <a:bodyPr wrap="square" rtlCol="0" anchor="t"/>
          <a:lstStyle/>
          <a:p>
            <a:pPr marL="457189" indent="-457189" defTabSz="1219170">
              <a:spcAft>
                <a:spcPts val="800"/>
              </a:spcAft>
              <a:buSzPct val="100000"/>
              <a:buFontTx/>
              <a:buChar char="●"/>
            </a:pPr>
            <a:r>
              <a:rPr lang="en-US" sz="1467" dirty="0">
                <a:solidFill>
                  <a:srgbClr val="0078D4"/>
                </a:solidFill>
                <a:latin typeface="Microsoft YaHei" pitchFamily="34" charset="0"/>
                <a:ea typeface="Microsoft YaHei" pitchFamily="34" charset="-122"/>
                <a:cs typeface="Microsoft YaHei" pitchFamily="34" charset="-120"/>
              </a:rPr>
              <a:t>BYOC: container-as-code, any framework</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0078D4"/>
                </a:solidFill>
                <a:latin typeface="Microsoft YaHei" pitchFamily="34" charset="0"/>
                <a:ea typeface="Microsoft YaHei" pitchFamily="34" charset="-122"/>
                <a:cs typeface="Microsoft YaHei" pitchFamily="34" charset="-120"/>
              </a:rPr>
              <a:t>Responses + Invocations dual protocols</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0078D4"/>
                </a:solidFill>
                <a:latin typeface="Microsoft YaHei" pitchFamily="34" charset="0"/>
                <a:ea typeface="Microsoft YaHei" pitchFamily="34" charset="-122"/>
                <a:cs typeface="Microsoft YaHei" pitchFamily="34" charset="-120"/>
              </a:rPr>
              <a:t>Per-session VM-isolated sandbox</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0078D4"/>
                </a:solidFill>
                <a:latin typeface="Microsoft YaHei" pitchFamily="34" charset="0"/>
                <a:ea typeface="Microsoft YaHei" pitchFamily="34" charset="-122"/>
                <a:cs typeface="Microsoft YaHei" pitchFamily="34" charset="-120"/>
              </a:rPr>
              <a:t>Microsoft Entra ID auto-bound</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0078D4"/>
                </a:solidFill>
                <a:latin typeface="Microsoft YaHei" pitchFamily="34" charset="0"/>
                <a:ea typeface="Microsoft YaHei" pitchFamily="34" charset="-122"/>
                <a:cs typeface="Microsoft YaHei" pitchFamily="34" charset="-120"/>
              </a:rPr>
              <a:t>Deep integration with Foundry Toolbox</a:t>
            </a:r>
            <a:endParaRPr lang="en-US" sz="1467" dirty="0">
              <a:solidFill>
                <a:prstClr val="black"/>
              </a:solidFill>
              <a:latin typeface="Calibri" panose="020F0502020204030204"/>
            </a:endParaRPr>
          </a:p>
        </p:txBody>
      </p:sp>
      <p:sp>
        <p:nvSpPr>
          <p:cNvPr id="17" name="Shape 15"/>
          <p:cNvSpPr/>
          <p:nvPr/>
        </p:nvSpPr>
        <p:spPr>
          <a:xfrm>
            <a:off x="4303776" y="1889760"/>
            <a:ext cx="3596640" cy="4511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8" name="Shape 16"/>
          <p:cNvSpPr/>
          <p:nvPr/>
        </p:nvSpPr>
        <p:spPr>
          <a:xfrm>
            <a:off x="4303776" y="1889760"/>
            <a:ext cx="3596640" cy="121920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9" name="Shape 17"/>
          <p:cNvSpPr/>
          <p:nvPr/>
        </p:nvSpPr>
        <p:spPr>
          <a:xfrm>
            <a:off x="4547616" y="2072640"/>
            <a:ext cx="853440" cy="853440"/>
          </a:xfrm>
          <a:prstGeom prst="ellipse">
            <a:avLst/>
          </a:prstGeom>
          <a:solidFill>
            <a:srgbClr val="FFFFFF"/>
          </a:solidFill>
          <a:ln w="25400">
            <a:solidFill>
              <a:srgbClr val="FFB900"/>
            </a:solidFill>
            <a:prstDash val="solid"/>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4547616" y="2072640"/>
            <a:ext cx="853440" cy="853440"/>
          </a:xfrm>
          <a:prstGeom prst="rect">
            <a:avLst/>
          </a:prstGeom>
          <a:noFill/>
          <a:ln/>
        </p:spPr>
        <p:txBody>
          <a:bodyPr wrap="square" lIns="0" tIns="0" rIns="0" bIns="0" rtlCol="0" anchor="ctr"/>
          <a:lstStyle/>
          <a:p>
            <a:pPr algn="ctr" defTabSz="1219170"/>
            <a:r>
              <a:rPr lang="en-US" sz="1867" b="1" dirty="0">
                <a:solidFill>
                  <a:srgbClr val="FFB900"/>
                </a:solidFill>
                <a:latin typeface="Microsoft YaHei" pitchFamily="34" charset="0"/>
                <a:ea typeface="Microsoft YaHei" pitchFamily="34" charset="-122"/>
                <a:cs typeface="Microsoft YaHei" pitchFamily="34" charset="-120"/>
              </a:rPr>
              <a:t>AN</a:t>
            </a:r>
            <a:endParaRPr lang="en-US" sz="1867" dirty="0">
              <a:solidFill>
                <a:prstClr val="black"/>
              </a:solidFill>
              <a:latin typeface="Calibri" panose="020F0502020204030204"/>
            </a:endParaRPr>
          </a:p>
        </p:txBody>
      </p:sp>
      <p:sp>
        <p:nvSpPr>
          <p:cNvPr id="21" name="Text 19"/>
          <p:cNvSpPr/>
          <p:nvPr/>
        </p:nvSpPr>
        <p:spPr>
          <a:xfrm>
            <a:off x="5522976" y="2133600"/>
            <a:ext cx="2255520" cy="390144"/>
          </a:xfrm>
          <a:prstGeom prst="rect">
            <a:avLst/>
          </a:prstGeom>
          <a:noFill/>
          <a:ln/>
        </p:spPr>
        <p:txBody>
          <a:bodyPr wrap="square" lIns="0" tIns="0" rIns="0" bIns="0" rtlCol="0" anchor="ctr"/>
          <a:lstStyle/>
          <a:p>
            <a:pPr defTabSz="1219170"/>
            <a:r>
              <a:rPr lang="en-US" sz="1867" b="1" dirty="0">
                <a:solidFill>
                  <a:srgbClr val="FFFFFF"/>
                </a:solidFill>
                <a:latin typeface="Microsoft YaHei" pitchFamily="34" charset="0"/>
                <a:ea typeface="Microsoft YaHei" pitchFamily="34" charset="-122"/>
                <a:cs typeface="Microsoft YaHei" pitchFamily="34" charset="-120"/>
              </a:rPr>
              <a:t>Anthropic Managed</a:t>
            </a:r>
            <a:endParaRPr lang="en-US" sz="1867" dirty="0">
              <a:solidFill>
                <a:prstClr val="black"/>
              </a:solidFill>
              <a:latin typeface="Calibri" panose="020F0502020204030204"/>
            </a:endParaRPr>
          </a:p>
        </p:txBody>
      </p:sp>
      <p:sp>
        <p:nvSpPr>
          <p:cNvPr id="22" name="Text 20"/>
          <p:cNvSpPr/>
          <p:nvPr/>
        </p:nvSpPr>
        <p:spPr>
          <a:xfrm>
            <a:off x="5522976" y="2523744"/>
            <a:ext cx="2255520" cy="341376"/>
          </a:xfrm>
          <a:prstGeom prst="rect">
            <a:avLst/>
          </a:prstGeom>
          <a:noFill/>
          <a:ln/>
        </p:spPr>
        <p:txBody>
          <a:bodyPr wrap="square" lIns="0" tIns="0" rIns="0" bIns="0" rtlCol="0" anchor="ctr"/>
          <a:lstStyle/>
          <a:p>
            <a:pPr defTabSz="1219170"/>
            <a:r>
              <a:rPr lang="en-US" sz="1333" dirty="0">
                <a:solidFill>
                  <a:srgbClr val="CADCFC"/>
                </a:solidFill>
                <a:latin typeface="Microsoft YaHei" pitchFamily="34" charset="0"/>
                <a:ea typeface="Microsoft YaHei" pitchFamily="34" charset="-122"/>
                <a:cs typeface="Microsoft YaHei" pitchFamily="34" charset="-120"/>
              </a:rPr>
              <a:t>Managed Agents</a:t>
            </a:r>
            <a:endParaRPr lang="en-US" sz="1333" dirty="0">
              <a:solidFill>
                <a:prstClr val="black"/>
              </a:solidFill>
              <a:latin typeface="Calibri" panose="020F0502020204030204"/>
            </a:endParaRPr>
          </a:p>
        </p:txBody>
      </p:sp>
      <p:sp>
        <p:nvSpPr>
          <p:cNvPr id="23" name="Text 21"/>
          <p:cNvSpPr/>
          <p:nvPr/>
        </p:nvSpPr>
        <p:spPr>
          <a:xfrm>
            <a:off x="4547616" y="3291840"/>
            <a:ext cx="3169920" cy="2926080"/>
          </a:xfrm>
          <a:prstGeom prst="rect">
            <a:avLst/>
          </a:prstGeom>
          <a:noFill/>
          <a:ln/>
        </p:spPr>
        <p:txBody>
          <a:bodyPr wrap="square" rtlCol="0" anchor="t"/>
          <a:lstStyle/>
          <a:p>
            <a:pPr marL="457189" indent="-457189" defTabSz="1219170">
              <a:spcAft>
                <a:spcPts val="800"/>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Brain / Hands / Session three-layer decoupling</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Meta-Harness philosophy, stable interfaces</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Built for long-running tasks — sessions persist independently</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MCP tools and proxy-isolated credentials</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Detailed design published in the engineering blog</a:t>
            </a:r>
            <a:endParaRPr lang="en-US" sz="1467" dirty="0">
              <a:solidFill>
                <a:prstClr val="black"/>
              </a:solidFill>
              <a:latin typeface="Calibri" panose="020F0502020204030204"/>
            </a:endParaRPr>
          </a:p>
        </p:txBody>
      </p:sp>
      <p:sp>
        <p:nvSpPr>
          <p:cNvPr id="24" name="Shape 22"/>
          <p:cNvSpPr/>
          <p:nvPr/>
        </p:nvSpPr>
        <p:spPr>
          <a:xfrm>
            <a:off x="8119872" y="1889760"/>
            <a:ext cx="3596640" cy="4511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5" name="Shape 23"/>
          <p:cNvSpPr/>
          <p:nvPr/>
        </p:nvSpPr>
        <p:spPr>
          <a:xfrm>
            <a:off x="8119872" y="1889760"/>
            <a:ext cx="3596640" cy="121920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6" name="Shape 24"/>
          <p:cNvSpPr/>
          <p:nvPr/>
        </p:nvSpPr>
        <p:spPr>
          <a:xfrm>
            <a:off x="8363712" y="2072640"/>
            <a:ext cx="853440" cy="853440"/>
          </a:xfrm>
          <a:prstGeom prst="ellipse">
            <a:avLst/>
          </a:prstGeom>
          <a:solidFill>
            <a:srgbClr val="FFFFFF"/>
          </a:solidFill>
          <a:ln w="25400">
            <a:solidFill>
              <a:srgbClr val="107C10"/>
            </a:solidFill>
            <a:prstDash val="solid"/>
          </a:ln>
        </p:spPr>
        <p:txBody>
          <a:bodyPr/>
          <a:lstStyle/>
          <a:p>
            <a:pPr defTabSz="1219170"/>
            <a:endParaRPr lang="en-CN" sz="2400">
              <a:solidFill>
                <a:prstClr val="black"/>
              </a:solidFill>
              <a:latin typeface="Calibri" panose="020F0502020204030204"/>
            </a:endParaRPr>
          </a:p>
        </p:txBody>
      </p:sp>
      <p:sp>
        <p:nvSpPr>
          <p:cNvPr id="27" name="Text 25"/>
          <p:cNvSpPr/>
          <p:nvPr/>
        </p:nvSpPr>
        <p:spPr>
          <a:xfrm>
            <a:off x="8363712" y="2072640"/>
            <a:ext cx="853440" cy="853440"/>
          </a:xfrm>
          <a:prstGeom prst="rect">
            <a:avLst/>
          </a:prstGeom>
          <a:noFill/>
          <a:ln/>
        </p:spPr>
        <p:txBody>
          <a:bodyPr wrap="square" lIns="0" tIns="0" rIns="0" bIns="0" rtlCol="0" anchor="ctr"/>
          <a:lstStyle/>
          <a:p>
            <a:pPr algn="ctr" defTabSz="1219170"/>
            <a:r>
              <a:rPr lang="en-US" sz="1867" b="1" dirty="0">
                <a:solidFill>
                  <a:srgbClr val="107C10"/>
                </a:solidFill>
                <a:latin typeface="Microsoft YaHei" pitchFamily="34" charset="0"/>
                <a:ea typeface="Microsoft YaHei" pitchFamily="34" charset="-122"/>
                <a:cs typeface="Microsoft YaHei" pitchFamily="34" charset="-120"/>
              </a:rPr>
              <a:t>AWS</a:t>
            </a:r>
            <a:endParaRPr lang="en-US" sz="1867" dirty="0">
              <a:solidFill>
                <a:prstClr val="black"/>
              </a:solidFill>
              <a:latin typeface="Calibri" panose="020F0502020204030204"/>
            </a:endParaRPr>
          </a:p>
        </p:txBody>
      </p:sp>
      <p:sp>
        <p:nvSpPr>
          <p:cNvPr id="28" name="Text 26"/>
          <p:cNvSpPr/>
          <p:nvPr/>
        </p:nvSpPr>
        <p:spPr>
          <a:xfrm>
            <a:off x="9339072" y="2133600"/>
            <a:ext cx="2255520" cy="390144"/>
          </a:xfrm>
          <a:prstGeom prst="rect">
            <a:avLst/>
          </a:prstGeom>
          <a:noFill/>
          <a:ln/>
        </p:spPr>
        <p:txBody>
          <a:bodyPr wrap="square" lIns="0" tIns="0" rIns="0" bIns="0" rtlCol="0" anchor="ctr"/>
          <a:lstStyle/>
          <a:p>
            <a:pPr defTabSz="1219170"/>
            <a:r>
              <a:rPr lang="en-US" sz="1867" b="1" dirty="0">
                <a:solidFill>
                  <a:srgbClr val="FFFFFF"/>
                </a:solidFill>
                <a:latin typeface="Microsoft YaHei" pitchFamily="34" charset="0"/>
                <a:ea typeface="Microsoft YaHei" pitchFamily="34" charset="-122"/>
                <a:cs typeface="Microsoft YaHei" pitchFamily="34" charset="-120"/>
              </a:rPr>
              <a:t>AWS Bedrock</a:t>
            </a:r>
            <a:endParaRPr lang="en-US" sz="1867" dirty="0">
              <a:solidFill>
                <a:prstClr val="black"/>
              </a:solidFill>
              <a:latin typeface="Calibri" panose="020F0502020204030204"/>
            </a:endParaRPr>
          </a:p>
        </p:txBody>
      </p:sp>
      <p:sp>
        <p:nvSpPr>
          <p:cNvPr id="29" name="Text 27"/>
          <p:cNvSpPr/>
          <p:nvPr/>
        </p:nvSpPr>
        <p:spPr>
          <a:xfrm>
            <a:off x="9339072" y="2523744"/>
            <a:ext cx="2255520" cy="341376"/>
          </a:xfrm>
          <a:prstGeom prst="rect">
            <a:avLst/>
          </a:prstGeom>
          <a:noFill/>
          <a:ln/>
        </p:spPr>
        <p:txBody>
          <a:bodyPr wrap="square" lIns="0" tIns="0" rIns="0" bIns="0" rtlCol="0" anchor="ctr"/>
          <a:lstStyle/>
          <a:p>
            <a:pPr defTabSz="1219170"/>
            <a:r>
              <a:rPr lang="en-US" sz="1333" dirty="0">
                <a:solidFill>
                  <a:srgbClr val="CADCFC"/>
                </a:solidFill>
                <a:latin typeface="Microsoft YaHei" pitchFamily="34" charset="0"/>
                <a:ea typeface="Microsoft YaHei" pitchFamily="34" charset="-122"/>
                <a:cs typeface="Microsoft YaHei" pitchFamily="34" charset="-120"/>
              </a:rPr>
              <a:t>Managed Agents (OpenAI)</a:t>
            </a:r>
            <a:endParaRPr lang="en-US" sz="1333" dirty="0">
              <a:solidFill>
                <a:prstClr val="black"/>
              </a:solidFill>
              <a:latin typeface="Calibri" panose="020F0502020204030204"/>
            </a:endParaRPr>
          </a:p>
        </p:txBody>
      </p:sp>
      <p:sp>
        <p:nvSpPr>
          <p:cNvPr id="30" name="Text 28"/>
          <p:cNvSpPr/>
          <p:nvPr/>
        </p:nvSpPr>
        <p:spPr>
          <a:xfrm>
            <a:off x="8363712" y="3291840"/>
            <a:ext cx="3169920" cy="2926080"/>
          </a:xfrm>
          <a:prstGeom prst="rect">
            <a:avLst/>
          </a:prstGeom>
          <a:noFill/>
          <a:ln/>
        </p:spPr>
        <p:txBody>
          <a:bodyPr wrap="square" rtlCol="0" anchor="t"/>
          <a:lstStyle/>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First commercial OpenAI Harness rollout</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Built on AgentCore default compute environment</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Data stays inside AWS — identity and audit built in</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Close to existing AWS data and compute services</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Limited Preview stage</a:t>
            </a:r>
            <a:endParaRPr lang="en-US" sz="1467" dirty="0">
              <a:solidFill>
                <a:prstClr val="black"/>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t>
            </a:r>
            <a:r>
              <a:rPr lang="en-US" altLang="zh-CN" sz="1333" b="1" kern="0" spc="533" dirty="0">
                <a:solidFill>
                  <a:srgbClr val="0078D4"/>
                </a:solidFill>
                <a:latin typeface="Microsoft YaHei" pitchFamily="34" charset="0"/>
                <a:ea typeface="Microsoft YaHei" pitchFamily="34" charset="-122"/>
                <a:cs typeface="Microsoft YaHei" pitchFamily="34" charset="-120"/>
              </a:rPr>
              <a:t>Microsoft</a:t>
            </a:r>
            <a:r>
              <a:rPr lang="en-US" sz="1333" b="1" kern="0" spc="533" dirty="0">
                <a:solidFill>
                  <a:srgbClr val="0078D4"/>
                </a:solidFill>
                <a:latin typeface="Microsoft YaHei" pitchFamily="34" charset="0"/>
                <a:ea typeface="Microsoft YaHei" pitchFamily="34" charset="-122"/>
                <a:cs typeface="Microsoft YaHei" pitchFamily="34" charset="-120"/>
              </a:rPr>
              <a:t> Foundry</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altLang="zh-CN" sz="3467" b="1" dirty="0">
                <a:solidFill>
                  <a:srgbClr val="0F2A47"/>
                </a:solidFill>
                <a:latin typeface="Microsoft YaHei" pitchFamily="34" charset="0"/>
                <a:ea typeface="Microsoft YaHei" pitchFamily="34" charset="-122"/>
                <a:cs typeface="Microsoft YaHei" pitchFamily="34" charset="-120"/>
              </a:rPr>
              <a:t>Microsoft</a:t>
            </a:r>
            <a:r>
              <a:rPr lang="en-US" sz="3467" b="1" dirty="0">
                <a:solidFill>
                  <a:srgbClr val="0F2A47"/>
                </a:solidFill>
                <a:latin typeface="Microsoft YaHei" pitchFamily="34" charset="0"/>
                <a:ea typeface="Microsoft YaHei" pitchFamily="34" charset="-122"/>
                <a:cs typeface="Microsoft YaHei" pitchFamily="34" charset="-120"/>
              </a:rPr>
              <a:t> Foundry Hosted Agents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Microsoft's managed agent platform — supports bring-your-own framework and code</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11 / 40</a:t>
            </a:r>
            <a:endParaRPr lang="en-US" sz="1200" dirty="0">
              <a:solidFill>
                <a:prstClr val="black"/>
              </a:solidFill>
              <a:latin typeface="Calibri" panose="020F0502020204030204"/>
            </a:endParaRPr>
          </a:p>
        </p:txBody>
      </p:sp>
      <p:sp>
        <p:nvSpPr>
          <p:cNvPr id="10" name="Shape 8"/>
          <p:cNvSpPr/>
          <p:nvPr/>
        </p:nvSpPr>
        <p:spPr>
          <a:xfrm>
            <a:off x="487680" y="1889760"/>
            <a:ext cx="5608320" cy="19507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195072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5120640" cy="390144"/>
          </a:xfrm>
          <a:prstGeom prst="rect">
            <a:avLst/>
          </a:prstGeom>
          <a:noFill/>
          <a:ln/>
        </p:spPr>
        <p:txBody>
          <a:bodyPr wrap="square" lIns="0" tIns="0" rIns="0" bIns="0" rtlCol="0" anchor="ctr"/>
          <a:lstStyle/>
          <a:p>
            <a:pPr defTabSz="1219170"/>
            <a:r>
              <a:rPr lang="en-US" sz="1867" b="1" dirty="0">
                <a:solidFill>
                  <a:srgbClr val="0078D4"/>
                </a:solidFill>
                <a:latin typeface="Microsoft YaHei" pitchFamily="34" charset="0"/>
                <a:ea typeface="Microsoft YaHei" pitchFamily="34" charset="-122"/>
                <a:cs typeface="Microsoft YaHei" pitchFamily="34" charset="-120"/>
              </a:rPr>
              <a:t>Platform positioning</a:t>
            </a:r>
            <a:endParaRPr lang="en-US" sz="1867" dirty="0">
              <a:solidFill>
                <a:prstClr val="black"/>
              </a:solidFill>
              <a:latin typeface="Calibri" panose="020F0502020204030204"/>
            </a:endParaRPr>
          </a:p>
        </p:txBody>
      </p:sp>
      <p:sp>
        <p:nvSpPr>
          <p:cNvPr id="13" name="Text 11"/>
          <p:cNvSpPr/>
          <p:nvPr/>
        </p:nvSpPr>
        <p:spPr>
          <a:xfrm>
            <a:off x="731520" y="2499360"/>
            <a:ext cx="5120640" cy="1219200"/>
          </a:xfrm>
          <a:prstGeom prst="rect">
            <a:avLst/>
          </a:prstGeom>
          <a:noFill/>
          <a:ln/>
        </p:spPr>
        <p:txBody>
          <a:bodyPr wrap="square" lIns="0" tIns="0" rIns="0" bIns="0" rtlCol="0" anchor="t"/>
          <a:lstStyle/>
          <a:p>
            <a:pPr defTabSz="1219170"/>
            <a:r>
              <a:rPr lang="en-US" sz="1533" dirty="0">
                <a:solidFill>
                  <a:srgbClr val="1F2937"/>
                </a:solidFill>
                <a:latin typeface="Microsoft YaHei" pitchFamily="34" charset="0"/>
                <a:ea typeface="Microsoft YaHei" pitchFamily="34" charset="-122"/>
                <a:cs typeface="Microsoft YaHei" pitchFamily="34" charset="-120"/>
              </a:rPr>
              <a:t>Agents run as containerized applications on Microsoft-managed infrastructure. Developers retain full control over code and framework; the platform handles scaling, state, observability, and lifecycle.</a:t>
            </a:r>
            <a:endParaRPr lang="en-US" sz="1533" dirty="0">
              <a:solidFill>
                <a:prstClr val="black"/>
              </a:solidFill>
              <a:latin typeface="Calibri" panose="020F0502020204030204"/>
            </a:endParaRPr>
          </a:p>
        </p:txBody>
      </p:sp>
      <p:sp>
        <p:nvSpPr>
          <p:cNvPr id="14" name="Shape 12"/>
          <p:cNvSpPr/>
          <p:nvPr/>
        </p:nvSpPr>
        <p:spPr>
          <a:xfrm>
            <a:off x="6339840" y="1889760"/>
            <a:ext cx="5364480" cy="19507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5" name="Shape 13"/>
          <p:cNvSpPr/>
          <p:nvPr/>
        </p:nvSpPr>
        <p:spPr>
          <a:xfrm>
            <a:off x="6339840" y="1889760"/>
            <a:ext cx="97536" cy="195072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6" name="Text 14"/>
          <p:cNvSpPr/>
          <p:nvPr/>
        </p:nvSpPr>
        <p:spPr>
          <a:xfrm>
            <a:off x="6583680" y="2072640"/>
            <a:ext cx="4876800" cy="390144"/>
          </a:xfrm>
          <a:prstGeom prst="rect">
            <a:avLst/>
          </a:prstGeom>
          <a:noFill/>
          <a:ln/>
        </p:spPr>
        <p:txBody>
          <a:bodyPr wrap="square" lIns="0" tIns="0" rIns="0" bIns="0" rtlCol="0" anchor="ctr"/>
          <a:lstStyle/>
          <a:p>
            <a:pPr defTabSz="1219170"/>
            <a:r>
              <a:rPr lang="en-US" sz="1867" b="1" dirty="0">
                <a:solidFill>
                  <a:srgbClr val="0F2A47"/>
                </a:solidFill>
                <a:latin typeface="Microsoft YaHei" pitchFamily="34" charset="0"/>
                <a:ea typeface="Microsoft YaHei" pitchFamily="34" charset="-122"/>
                <a:cs typeface="Microsoft YaHei" pitchFamily="34" charset="-120"/>
              </a:rPr>
              <a:t>Use cases</a:t>
            </a:r>
            <a:endParaRPr lang="en-US" sz="1867" dirty="0">
              <a:solidFill>
                <a:prstClr val="black"/>
              </a:solidFill>
              <a:latin typeface="Calibri" panose="020F0502020204030204"/>
            </a:endParaRPr>
          </a:p>
        </p:txBody>
      </p:sp>
      <p:sp>
        <p:nvSpPr>
          <p:cNvPr id="17" name="Text 15"/>
          <p:cNvSpPr/>
          <p:nvPr/>
        </p:nvSpPr>
        <p:spPr>
          <a:xfrm>
            <a:off x="6583680" y="2499360"/>
            <a:ext cx="4876800" cy="1219200"/>
          </a:xfrm>
          <a:prstGeom prst="rect">
            <a:avLst/>
          </a:prstGeom>
          <a:noFill/>
          <a:ln/>
        </p:spPr>
        <p:txBody>
          <a:bodyPr wrap="square" rtlCol="0" anchor="t"/>
          <a:lstStyle/>
          <a:p>
            <a:pPr marL="457189" indent="-457189" defTabSz="1219170">
              <a:spcAft>
                <a:spcPts val="533"/>
              </a:spcAft>
              <a:buSzPct val="100000"/>
              <a:buFontTx/>
              <a:buChar char="▸"/>
            </a:pPr>
            <a:r>
              <a:rPr lang="en-US" sz="1400" dirty="0">
                <a:solidFill>
                  <a:srgbClr val="FFB900"/>
                </a:solidFill>
                <a:latin typeface="Microsoft YaHei" pitchFamily="34" charset="0"/>
                <a:ea typeface="Microsoft YaHei" pitchFamily="34" charset="-122"/>
                <a:cs typeface="Microsoft YaHei" pitchFamily="34" charset="-120"/>
              </a:rPr>
              <a:t>Bring-your-own code / framework (Agent Framework, LangGraph, Semantic Kernel)</a:t>
            </a:r>
            <a:endParaRPr lang="en-US" sz="1400" dirty="0">
              <a:solidFill>
                <a:prstClr val="black"/>
              </a:solidFill>
              <a:latin typeface="Calibri" panose="020F0502020204030204"/>
            </a:endParaRPr>
          </a:p>
          <a:p>
            <a:pPr marL="457189" indent="-457189" defTabSz="1219170">
              <a:spcAft>
                <a:spcPts val="533"/>
              </a:spcAft>
              <a:buSzPct val="100000"/>
              <a:buFontTx/>
              <a:buChar char="▸"/>
            </a:pPr>
            <a:r>
              <a:rPr lang="en-US" sz="1400" dirty="0">
                <a:solidFill>
                  <a:srgbClr val="FFB900"/>
                </a:solidFill>
                <a:latin typeface="Microsoft YaHei" pitchFamily="34" charset="0"/>
                <a:ea typeface="Microsoft YaHei" pitchFamily="34" charset="-122"/>
                <a:cs typeface="Microsoft YaHei" pitchFamily="34" charset="-120"/>
              </a:rPr>
              <a:t>Need custom protocol to receive Webhooks or non-OpenAI payloads</a:t>
            </a:r>
            <a:endParaRPr lang="en-US" sz="1400" dirty="0">
              <a:solidFill>
                <a:prstClr val="black"/>
              </a:solidFill>
              <a:latin typeface="Calibri" panose="020F0502020204030204"/>
            </a:endParaRPr>
          </a:p>
          <a:p>
            <a:pPr marL="457189" indent="-457189" defTabSz="1219170">
              <a:spcAft>
                <a:spcPts val="533"/>
              </a:spcAft>
              <a:buSzPct val="100000"/>
              <a:buFontTx/>
              <a:buChar char="▸"/>
            </a:pPr>
            <a:r>
              <a:rPr lang="en-US" sz="1400" dirty="0">
                <a:solidFill>
                  <a:srgbClr val="FFB900"/>
                </a:solidFill>
                <a:latin typeface="Microsoft YaHei" pitchFamily="34" charset="0"/>
                <a:ea typeface="Microsoft YaHei" pitchFamily="34" charset="-122"/>
                <a:cs typeface="Microsoft YaHei" pitchFamily="34" charset="-120"/>
              </a:rPr>
              <a:t>Need control over compute resources (CPU/Memory)</a:t>
            </a:r>
            <a:endParaRPr lang="en-US" sz="1400" dirty="0">
              <a:solidFill>
                <a:prstClr val="black"/>
              </a:solidFill>
              <a:latin typeface="Calibri" panose="020F0502020204030204"/>
            </a:endParaRPr>
          </a:p>
          <a:p>
            <a:pPr marL="457189" indent="-457189" defTabSz="1219170">
              <a:spcAft>
                <a:spcPts val="533"/>
              </a:spcAft>
              <a:buSzPct val="100000"/>
              <a:buFontTx/>
              <a:buChar char="▸"/>
            </a:pPr>
            <a:r>
              <a:rPr lang="en-US" sz="1400" dirty="0">
                <a:solidFill>
                  <a:srgbClr val="FFB900"/>
                </a:solidFill>
                <a:latin typeface="Microsoft YaHei" pitchFamily="34" charset="0"/>
                <a:ea typeface="Microsoft YaHei" pitchFamily="34" charset="-122"/>
                <a:cs typeface="Microsoft YaHei" pitchFamily="34" charset="-120"/>
              </a:rPr>
              <a:t>Need stateful workloads (cross-turn persistence)</a:t>
            </a:r>
            <a:endParaRPr lang="en-US" sz="1400" dirty="0">
              <a:solidFill>
                <a:prstClr val="black"/>
              </a:solidFill>
              <a:latin typeface="Calibri" panose="020F0502020204030204"/>
            </a:endParaRPr>
          </a:p>
        </p:txBody>
      </p:sp>
      <p:sp>
        <p:nvSpPr>
          <p:cNvPr id="18" name="Shape 16"/>
          <p:cNvSpPr/>
          <p:nvPr/>
        </p:nvSpPr>
        <p:spPr>
          <a:xfrm>
            <a:off x="487680" y="4145280"/>
            <a:ext cx="2657856"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9" name="Shape 17"/>
          <p:cNvSpPr/>
          <p:nvPr/>
        </p:nvSpPr>
        <p:spPr>
          <a:xfrm>
            <a:off x="487680" y="4145280"/>
            <a:ext cx="97536" cy="20726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670560" y="4328160"/>
            <a:ext cx="2316480" cy="487680"/>
          </a:xfrm>
          <a:prstGeom prst="rect">
            <a:avLst/>
          </a:prstGeom>
          <a:noFill/>
          <a:ln/>
        </p:spPr>
        <p:txBody>
          <a:bodyPr wrap="square" lIns="0" tIns="0" rIns="0" bIns="0" rtlCol="0" anchor="ctr"/>
          <a:lstStyle/>
          <a:p>
            <a:pPr defTabSz="1219170"/>
            <a:r>
              <a:rPr lang="en-US" sz="2133" b="1" dirty="0">
                <a:solidFill>
                  <a:srgbClr val="0078D4"/>
                </a:solidFill>
                <a:latin typeface="Microsoft YaHei" pitchFamily="34" charset="0"/>
                <a:ea typeface="Microsoft YaHei" pitchFamily="34" charset="-122"/>
                <a:cs typeface="Microsoft YaHei" pitchFamily="34" charset="-120"/>
              </a:rPr>
              <a:t>BYOC</a:t>
            </a:r>
            <a:endParaRPr lang="en-US" sz="2133" dirty="0">
              <a:solidFill>
                <a:prstClr val="black"/>
              </a:solidFill>
              <a:latin typeface="Calibri" panose="020F0502020204030204"/>
            </a:endParaRPr>
          </a:p>
        </p:txBody>
      </p:sp>
      <p:sp>
        <p:nvSpPr>
          <p:cNvPr id="21" name="Shape 19"/>
          <p:cNvSpPr/>
          <p:nvPr/>
        </p:nvSpPr>
        <p:spPr>
          <a:xfrm>
            <a:off x="670560" y="4876800"/>
            <a:ext cx="609600" cy="48768"/>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2" name="Text 20"/>
          <p:cNvSpPr/>
          <p:nvPr/>
        </p:nvSpPr>
        <p:spPr>
          <a:xfrm>
            <a:off x="670560" y="5059680"/>
            <a:ext cx="2316480" cy="1036320"/>
          </a:xfrm>
          <a:prstGeom prst="rect">
            <a:avLst/>
          </a:prstGeom>
          <a:noFill/>
          <a:ln/>
        </p:spPr>
        <p:txBody>
          <a:bodyPr wrap="square" lIns="0" tIns="0" rIns="0" bIns="0" rtlCol="0" anchor="t"/>
          <a:lstStyle/>
          <a:p>
            <a:pPr defTabSz="1219170"/>
            <a:r>
              <a:rPr lang="en-US" sz="1467" dirty="0">
                <a:solidFill>
                  <a:srgbClr val="5B6671"/>
                </a:solidFill>
                <a:latin typeface="Microsoft YaHei" pitchFamily="34" charset="0"/>
                <a:ea typeface="Microsoft YaHei" pitchFamily="34" charset="-122"/>
                <a:cs typeface="Microsoft YaHei" pitchFamily="34" charset="-120"/>
              </a:rPr>
              <a:t>Bring-your-own container image</a:t>
            </a:r>
            <a:endParaRPr lang="en-US" sz="1467" dirty="0">
              <a:solidFill>
                <a:prstClr val="black"/>
              </a:solidFill>
              <a:latin typeface="Calibri" panose="020F0502020204030204"/>
            </a:endParaRPr>
          </a:p>
        </p:txBody>
      </p:sp>
      <p:sp>
        <p:nvSpPr>
          <p:cNvPr id="23" name="Shape 21"/>
          <p:cNvSpPr/>
          <p:nvPr/>
        </p:nvSpPr>
        <p:spPr>
          <a:xfrm>
            <a:off x="3328416" y="4145280"/>
            <a:ext cx="2657856"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4" name="Shape 22"/>
          <p:cNvSpPr/>
          <p:nvPr/>
        </p:nvSpPr>
        <p:spPr>
          <a:xfrm>
            <a:off x="3328416" y="4145280"/>
            <a:ext cx="97536" cy="207264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25" name="Text 23"/>
          <p:cNvSpPr/>
          <p:nvPr/>
        </p:nvSpPr>
        <p:spPr>
          <a:xfrm>
            <a:off x="3511296" y="4328160"/>
            <a:ext cx="2316480" cy="487680"/>
          </a:xfrm>
          <a:prstGeom prst="rect">
            <a:avLst/>
          </a:prstGeom>
          <a:noFill/>
          <a:ln/>
        </p:spPr>
        <p:txBody>
          <a:bodyPr wrap="square" lIns="0" tIns="0" rIns="0" bIns="0" rtlCol="0" anchor="ctr"/>
          <a:lstStyle/>
          <a:p>
            <a:pPr defTabSz="1219170"/>
            <a:r>
              <a:rPr lang="en-US" sz="2133" b="1" dirty="0">
                <a:solidFill>
                  <a:srgbClr val="00B7C3"/>
                </a:solidFill>
                <a:latin typeface="Microsoft YaHei" pitchFamily="34" charset="0"/>
                <a:ea typeface="Microsoft YaHei" pitchFamily="34" charset="-122"/>
                <a:cs typeface="Microsoft YaHei" pitchFamily="34" charset="-120"/>
              </a:rPr>
              <a:t>Auto-Scale</a:t>
            </a:r>
            <a:endParaRPr lang="en-US" sz="2133" dirty="0">
              <a:solidFill>
                <a:prstClr val="black"/>
              </a:solidFill>
              <a:latin typeface="Calibri" panose="020F0502020204030204"/>
            </a:endParaRPr>
          </a:p>
        </p:txBody>
      </p:sp>
      <p:sp>
        <p:nvSpPr>
          <p:cNvPr id="26" name="Shape 24"/>
          <p:cNvSpPr/>
          <p:nvPr/>
        </p:nvSpPr>
        <p:spPr>
          <a:xfrm>
            <a:off x="3511296" y="4876800"/>
            <a:ext cx="609600" cy="48768"/>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27" name="Text 25"/>
          <p:cNvSpPr/>
          <p:nvPr/>
        </p:nvSpPr>
        <p:spPr>
          <a:xfrm>
            <a:off x="3511296" y="5059680"/>
            <a:ext cx="2316480" cy="1036320"/>
          </a:xfrm>
          <a:prstGeom prst="rect">
            <a:avLst/>
          </a:prstGeom>
          <a:noFill/>
          <a:ln/>
        </p:spPr>
        <p:txBody>
          <a:bodyPr wrap="square" lIns="0" tIns="0" rIns="0" bIns="0" rtlCol="0" anchor="t"/>
          <a:lstStyle/>
          <a:p>
            <a:pPr defTabSz="1219170"/>
            <a:r>
              <a:rPr lang="en-US" sz="1467" dirty="0">
                <a:solidFill>
                  <a:srgbClr val="5B6671"/>
                </a:solidFill>
                <a:latin typeface="Microsoft YaHei" pitchFamily="34" charset="0"/>
                <a:ea typeface="Microsoft YaHei" pitchFamily="34" charset="-122"/>
                <a:cs typeface="Microsoft YaHei" pitchFamily="34" charset="-120"/>
              </a:rPr>
              <a:t>Elastic scaling + zero idle cost</a:t>
            </a:r>
            <a:endParaRPr lang="en-US" sz="1467" dirty="0">
              <a:solidFill>
                <a:prstClr val="black"/>
              </a:solidFill>
              <a:latin typeface="Calibri" panose="020F0502020204030204"/>
            </a:endParaRPr>
          </a:p>
        </p:txBody>
      </p:sp>
      <p:sp>
        <p:nvSpPr>
          <p:cNvPr id="28" name="Shape 26"/>
          <p:cNvSpPr/>
          <p:nvPr/>
        </p:nvSpPr>
        <p:spPr>
          <a:xfrm>
            <a:off x="6169152" y="4145280"/>
            <a:ext cx="2657856"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9" name="Shape 27"/>
          <p:cNvSpPr/>
          <p:nvPr/>
        </p:nvSpPr>
        <p:spPr>
          <a:xfrm>
            <a:off x="6169152" y="4145280"/>
            <a:ext cx="97536" cy="20726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0" name="Text 28"/>
          <p:cNvSpPr/>
          <p:nvPr/>
        </p:nvSpPr>
        <p:spPr>
          <a:xfrm>
            <a:off x="6352032" y="4328160"/>
            <a:ext cx="2316480" cy="487680"/>
          </a:xfrm>
          <a:prstGeom prst="rect">
            <a:avLst/>
          </a:prstGeom>
          <a:noFill/>
          <a:ln/>
        </p:spPr>
        <p:txBody>
          <a:bodyPr wrap="square" lIns="0" tIns="0" rIns="0" bIns="0" rtlCol="0" anchor="ctr"/>
          <a:lstStyle/>
          <a:p>
            <a:pPr defTabSz="1219170"/>
            <a:r>
              <a:rPr lang="en-US" sz="2133" b="1" dirty="0">
                <a:solidFill>
                  <a:srgbClr val="FFB900"/>
                </a:solidFill>
                <a:latin typeface="Microsoft YaHei" pitchFamily="34" charset="0"/>
                <a:ea typeface="Microsoft YaHei" pitchFamily="34" charset="-122"/>
                <a:cs typeface="Microsoft YaHei" pitchFamily="34" charset="-120"/>
              </a:rPr>
              <a:t>VM Isolation</a:t>
            </a:r>
            <a:endParaRPr lang="en-US" sz="2133" dirty="0">
              <a:solidFill>
                <a:prstClr val="black"/>
              </a:solidFill>
              <a:latin typeface="Calibri" panose="020F0502020204030204"/>
            </a:endParaRPr>
          </a:p>
        </p:txBody>
      </p:sp>
      <p:sp>
        <p:nvSpPr>
          <p:cNvPr id="31" name="Shape 29"/>
          <p:cNvSpPr/>
          <p:nvPr/>
        </p:nvSpPr>
        <p:spPr>
          <a:xfrm>
            <a:off x="6352032" y="4876800"/>
            <a:ext cx="609600" cy="48768"/>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2" name="Text 30"/>
          <p:cNvSpPr/>
          <p:nvPr/>
        </p:nvSpPr>
        <p:spPr>
          <a:xfrm>
            <a:off x="6352032" y="5059680"/>
            <a:ext cx="2316480" cy="1036320"/>
          </a:xfrm>
          <a:prstGeom prst="rect">
            <a:avLst/>
          </a:prstGeom>
          <a:noFill/>
          <a:ln/>
        </p:spPr>
        <p:txBody>
          <a:bodyPr wrap="square" lIns="0" tIns="0" rIns="0" bIns="0" rtlCol="0" anchor="t"/>
          <a:lstStyle/>
          <a:p>
            <a:pPr defTabSz="1219170"/>
            <a:r>
              <a:rPr lang="en-US" sz="1467" dirty="0">
                <a:solidFill>
                  <a:srgbClr val="5B6671"/>
                </a:solidFill>
                <a:latin typeface="Microsoft YaHei" pitchFamily="34" charset="0"/>
                <a:ea typeface="Microsoft YaHei" pitchFamily="34" charset="-122"/>
                <a:cs typeface="Microsoft YaHei" pitchFamily="34" charset="-120"/>
              </a:rPr>
              <a:t>Per-session isolated VM sandbox</a:t>
            </a:r>
            <a:endParaRPr lang="en-US" sz="1467" dirty="0">
              <a:solidFill>
                <a:prstClr val="black"/>
              </a:solidFill>
              <a:latin typeface="Calibri" panose="020F0502020204030204"/>
            </a:endParaRPr>
          </a:p>
        </p:txBody>
      </p:sp>
      <p:sp>
        <p:nvSpPr>
          <p:cNvPr id="33" name="Shape 31"/>
          <p:cNvSpPr/>
          <p:nvPr/>
        </p:nvSpPr>
        <p:spPr>
          <a:xfrm>
            <a:off x="9009888" y="4145280"/>
            <a:ext cx="2657856"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4" name="Shape 32"/>
          <p:cNvSpPr/>
          <p:nvPr/>
        </p:nvSpPr>
        <p:spPr>
          <a:xfrm>
            <a:off x="9009888" y="4145280"/>
            <a:ext cx="97536" cy="207264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35" name="Text 33"/>
          <p:cNvSpPr/>
          <p:nvPr/>
        </p:nvSpPr>
        <p:spPr>
          <a:xfrm>
            <a:off x="9192768" y="4328160"/>
            <a:ext cx="2316480" cy="487680"/>
          </a:xfrm>
          <a:prstGeom prst="rect">
            <a:avLst/>
          </a:prstGeom>
          <a:noFill/>
          <a:ln/>
        </p:spPr>
        <p:txBody>
          <a:bodyPr wrap="square" lIns="0" tIns="0" rIns="0" bIns="0" rtlCol="0" anchor="ctr"/>
          <a:lstStyle/>
          <a:p>
            <a:pPr defTabSz="1219170"/>
            <a:r>
              <a:rPr lang="en-US" sz="2133" b="1" dirty="0">
                <a:solidFill>
                  <a:srgbClr val="107C10"/>
                </a:solidFill>
                <a:latin typeface="Microsoft YaHei" pitchFamily="34" charset="0"/>
                <a:ea typeface="Microsoft YaHei" pitchFamily="34" charset="-122"/>
                <a:cs typeface="Microsoft YaHei" pitchFamily="34" charset="-120"/>
              </a:rPr>
              <a:t>Entra ID</a:t>
            </a:r>
            <a:endParaRPr lang="en-US" sz="2133" dirty="0">
              <a:solidFill>
                <a:prstClr val="black"/>
              </a:solidFill>
              <a:latin typeface="Calibri" panose="020F0502020204030204"/>
            </a:endParaRPr>
          </a:p>
        </p:txBody>
      </p:sp>
      <p:sp>
        <p:nvSpPr>
          <p:cNvPr id="36" name="Shape 34"/>
          <p:cNvSpPr/>
          <p:nvPr/>
        </p:nvSpPr>
        <p:spPr>
          <a:xfrm>
            <a:off x="9192768" y="4876800"/>
            <a:ext cx="609600" cy="48768"/>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37" name="Text 35"/>
          <p:cNvSpPr/>
          <p:nvPr/>
        </p:nvSpPr>
        <p:spPr>
          <a:xfrm>
            <a:off x="9192768" y="5059680"/>
            <a:ext cx="2316480" cy="1036320"/>
          </a:xfrm>
          <a:prstGeom prst="rect">
            <a:avLst/>
          </a:prstGeom>
          <a:noFill/>
          <a:ln/>
        </p:spPr>
        <p:txBody>
          <a:bodyPr wrap="square" lIns="0" tIns="0" rIns="0" bIns="0" rtlCol="0" anchor="t"/>
          <a:lstStyle/>
          <a:p>
            <a:pPr defTabSz="1219170"/>
            <a:r>
              <a:rPr lang="en-US" sz="1467" dirty="0">
                <a:solidFill>
                  <a:srgbClr val="5B6671"/>
                </a:solidFill>
                <a:latin typeface="Microsoft YaHei" pitchFamily="34" charset="0"/>
                <a:ea typeface="Microsoft YaHei" pitchFamily="34" charset="-122"/>
                <a:cs typeface="Microsoft YaHei" pitchFamily="34" charset="-120"/>
              </a:rPr>
              <a:t>Dedicated identity and endpoint per Agent</a:t>
            </a:r>
            <a:endParaRPr lang="en-US" sz="1467" dirty="0">
              <a:solidFill>
                <a:prstClr val="black"/>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t>
            </a:r>
            <a:r>
              <a:rPr lang="en-US" altLang="zh-CN" sz="1333" b="1" kern="0" spc="533" dirty="0">
                <a:solidFill>
                  <a:srgbClr val="0078D4"/>
                </a:solidFill>
                <a:latin typeface="Microsoft YaHei" pitchFamily="34" charset="0"/>
                <a:ea typeface="Microsoft YaHei" pitchFamily="34" charset="-122"/>
                <a:cs typeface="Microsoft YaHei" pitchFamily="34" charset="-120"/>
              </a:rPr>
              <a:t>Microsoft</a:t>
            </a:r>
            <a:r>
              <a:rPr lang="en-US" sz="1333" b="1" kern="0" spc="533" dirty="0">
                <a:solidFill>
                  <a:srgbClr val="0078D4"/>
                </a:solidFill>
                <a:latin typeface="Microsoft YaHei" pitchFamily="34" charset="0"/>
                <a:ea typeface="Microsoft YaHei" pitchFamily="34" charset="-122"/>
                <a:cs typeface="Microsoft YaHei" pitchFamily="34" charset="-120"/>
              </a:rPr>
              <a:t> Foundry</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How Azure Foundry works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The full lifecycle from image build to runtime invocation</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12 / 40</a:t>
            </a:r>
            <a:endParaRPr lang="en-US" sz="1200" dirty="0">
              <a:solidFill>
                <a:prstClr val="black"/>
              </a:solidFill>
              <a:latin typeface="Calibri" panose="020F0502020204030204"/>
            </a:endParaRPr>
          </a:p>
        </p:txBody>
      </p:sp>
      <p:sp>
        <p:nvSpPr>
          <p:cNvPr id="10" name="Shape 8"/>
          <p:cNvSpPr/>
          <p:nvPr/>
        </p:nvSpPr>
        <p:spPr>
          <a:xfrm>
            <a:off x="975360" y="2072640"/>
            <a:ext cx="853440" cy="853440"/>
          </a:xfrm>
          <a:prstGeom prst="ellipse">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1" name="Text 9"/>
          <p:cNvSpPr/>
          <p:nvPr/>
        </p:nvSpPr>
        <p:spPr>
          <a:xfrm>
            <a:off x="975360" y="2072640"/>
            <a:ext cx="853440" cy="853440"/>
          </a:xfrm>
          <a:prstGeom prst="rect">
            <a:avLst/>
          </a:prstGeom>
          <a:noFill/>
          <a:ln/>
        </p:spPr>
        <p:txBody>
          <a:bodyPr wrap="square" lIns="0" tIns="0" rIns="0" bIns="0" rtlCol="0" anchor="ctr"/>
          <a:lstStyle/>
          <a:p>
            <a:pPr algn="ctr" defTabSz="1219170"/>
            <a:r>
              <a:rPr lang="en-US" sz="2933" b="1" dirty="0">
                <a:solidFill>
                  <a:srgbClr val="FFFFFF"/>
                </a:solidFill>
                <a:latin typeface="Microsoft YaHei" pitchFamily="34" charset="0"/>
                <a:ea typeface="Microsoft YaHei" pitchFamily="34" charset="-122"/>
                <a:cs typeface="Microsoft YaHei" pitchFamily="34" charset="-120"/>
              </a:rPr>
              <a:t>1</a:t>
            </a:r>
            <a:endParaRPr lang="en-US" sz="2933" dirty="0">
              <a:solidFill>
                <a:prstClr val="black"/>
              </a:solidFill>
              <a:latin typeface="Calibri" panose="020F0502020204030204"/>
            </a:endParaRPr>
          </a:p>
        </p:txBody>
      </p:sp>
      <p:sp>
        <p:nvSpPr>
          <p:cNvPr id="12" name="Text 10"/>
          <p:cNvSpPr/>
          <p:nvPr/>
        </p:nvSpPr>
        <p:spPr>
          <a:xfrm>
            <a:off x="487680" y="3048000"/>
            <a:ext cx="1828800" cy="390144"/>
          </a:xfrm>
          <a:prstGeom prst="rect">
            <a:avLst/>
          </a:prstGeom>
          <a:noFill/>
          <a:ln/>
        </p:spPr>
        <p:txBody>
          <a:bodyPr wrap="square" lIns="0" tIns="0" rIns="0" bIns="0" rtlCol="0" anchor="ctr"/>
          <a:lstStyle/>
          <a:p>
            <a:pPr algn="ctr" defTabSz="1219170"/>
            <a:r>
              <a:rPr lang="en-US" sz="1600" b="1" dirty="0">
                <a:solidFill>
                  <a:srgbClr val="0F2A47"/>
                </a:solidFill>
                <a:latin typeface="Microsoft YaHei" pitchFamily="34" charset="0"/>
                <a:ea typeface="Microsoft YaHei" pitchFamily="34" charset="-122"/>
                <a:cs typeface="Microsoft YaHei" pitchFamily="34" charset="-120"/>
              </a:rPr>
              <a:t>Build image</a:t>
            </a:r>
            <a:endParaRPr lang="en-US" sz="1600" dirty="0">
              <a:solidFill>
                <a:prstClr val="black"/>
              </a:solidFill>
              <a:latin typeface="Calibri" panose="020F0502020204030204"/>
            </a:endParaRPr>
          </a:p>
        </p:txBody>
      </p:sp>
      <p:sp>
        <p:nvSpPr>
          <p:cNvPr id="13" name="Text 11"/>
          <p:cNvSpPr/>
          <p:nvPr/>
        </p:nvSpPr>
        <p:spPr>
          <a:xfrm>
            <a:off x="426720" y="3474720"/>
            <a:ext cx="1950720" cy="853440"/>
          </a:xfrm>
          <a:prstGeom prst="rect">
            <a:avLst/>
          </a:prstGeom>
          <a:noFill/>
          <a:ln/>
        </p:spPr>
        <p:txBody>
          <a:bodyPr wrap="square" lIns="0" tIns="0" rIns="0" bIns="0" rtlCol="0" anchor="t"/>
          <a:lstStyle/>
          <a:p>
            <a:pPr algn="ctr" defTabSz="1219170"/>
            <a:r>
              <a:rPr lang="en-US" sz="1267" dirty="0">
                <a:solidFill>
                  <a:srgbClr val="5B6671"/>
                </a:solidFill>
                <a:latin typeface="Microsoft YaHei" pitchFamily="34" charset="0"/>
                <a:ea typeface="Microsoft YaHei" pitchFamily="34" charset="-122"/>
                <a:cs typeface="Microsoft YaHei" pitchFamily="34" charset="-120"/>
              </a:rPr>
              <a:t>Package Agent code as a container image</a:t>
            </a:r>
            <a:endParaRPr lang="en-US" sz="1267" dirty="0">
              <a:solidFill>
                <a:prstClr val="black"/>
              </a:solidFill>
              <a:latin typeface="Calibri" panose="020F0502020204030204"/>
            </a:endParaRPr>
          </a:p>
        </p:txBody>
      </p:sp>
      <p:sp>
        <p:nvSpPr>
          <p:cNvPr id="14" name="Shape 12"/>
          <p:cNvSpPr/>
          <p:nvPr/>
        </p:nvSpPr>
        <p:spPr>
          <a:xfrm>
            <a:off x="1828800" y="2499360"/>
            <a:ext cx="487680" cy="0"/>
          </a:xfrm>
          <a:prstGeom prst="line">
            <a:avLst/>
          </a:prstGeom>
          <a:noFill/>
          <a:ln w="2540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15" name="Shape 13"/>
          <p:cNvSpPr/>
          <p:nvPr/>
        </p:nvSpPr>
        <p:spPr>
          <a:xfrm>
            <a:off x="2926080" y="2072640"/>
            <a:ext cx="853440" cy="853440"/>
          </a:xfrm>
          <a:prstGeom prst="ellipse">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16" name="Text 14"/>
          <p:cNvSpPr/>
          <p:nvPr/>
        </p:nvSpPr>
        <p:spPr>
          <a:xfrm>
            <a:off x="2926080" y="2072640"/>
            <a:ext cx="853440" cy="853440"/>
          </a:xfrm>
          <a:prstGeom prst="rect">
            <a:avLst/>
          </a:prstGeom>
          <a:noFill/>
          <a:ln/>
        </p:spPr>
        <p:txBody>
          <a:bodyPr wrap="square" lIns="0" tIns="0" rIns="0" bIns="0" rtlCol="0" anchor="ctr"/>
          <a:lstStyle/>
          <a:p>
            <a:pPr algn="ctr" defTabSz="1219170"/>
            <a:r>
              <a:rPr lang="en-US" sz="2933" b="1" dirty="0">
                <a:solidFill>
                  <a:srgbClr val="FFFFFF"/>
                </a:solidFill>
                <a:latin typeface="Microsoft YaHei" pitchFamily="34" charset="0"/>
                <a:ea typeface="Microsoft YaHei" pitchFamily="34" charset="-122"/>
                <a:cs typeface="Microsoft YaHei" pitchFamily="34" charset="-120"/>
              </a:rPr>
              <a:t>2</a:t>
            </a:r>
            <a:endParaRPr lang="en-US" sz="2933" dirty="0">
              <a:solidFill>
                <a:prstClr val="black"/>
              </a:solidFill>
              <a:latin typeface="Calibri" panose="020F0502020204030204"/>
            </a:endParaRPr>
          </a:p>
        </p:txBody>
      </p:sp>
      <p:sp>
        <p:nvSpPr>
          <p:cNvPr id="17" name="Text 15"/>
          <p:cNvSpPr/>
          <p:nvPr/>
        </p:nvSpPr>
        <p:spPr>
          <a:xfrm>
            <a:off x="2438400" y="3048000"/>
            <a:ext cx="1828800" cy="390144"/>
          </a:xfrm>
          <a:prstGeom prst="rect">
            <a:avLst/>
          </a:prstGeom>
          <a:noFill/>
          <a:ln/>
        </p:spPr>
        <p:txBody>
          <a:bodyPr wrap="square" lIns="0" tIns="0" rIns="0" bIns="0" rtlCol="0" anchor="ctr"/>
          <a:lstStyle/>
          <a:p>
            <a:pPr algn="ctr" defTabSz="1219170"/>
            <a:r>
              <a:rPr lang="en-US" sz="1600" b="1" dirty="0">
                <a:solidFill>
                  <a:srgbClr val="0F2A47"/>
                </a:solidFill>
                <a:latin typeface="Microsoft YaHei" pitchFamily="34" charset="0"/>
                <a:ea typeface="Microsoft YaHei" pitchFamily="34" charset="-122"/>
                <a:cs typeface="Microsoft YaHei" pitchFamily="34" charset="-120"/>
              </a:rPr>
              <a:t>Push to ACR</a:t>
            </a:r>
            <a:endParaRPr lang="en-US" sz="1600" dirty="0">
              <a:solidFill>
                <a:prstClr val="black"/>
              </a:solidFill>
              <a:latin typeface="Calibri" panose="020F0502020204030204"/>
            </a:endParaRPr>
          </a:p>
        </p:txBody>
      </p:sp>
      <p:sp>
        <p:nvSpPr>
          <p:cNvPr id="18" name="Text 16"/>
          <p:cNvSpPr/>
          <p:nvPr/>
        </p:nvSpPr>
        <p:spPr>
          <a:xfrm>
            <a:off x="2377440" y="3474720"/>
            <a:ext cx="1950720" cy="853440"/>
          </a:xfrm>
          <a:prstGeom prst="rect">
            <a:avLst/>
          </a:prstGeom>
          <a:noFill/>
          <a:ln/>
        </p:spPr>
        <p:txBody>
          <a:bodyPr wrap="square" lIns="0" tIns="0" rIns="0" bIns="0" rtlCol="0" anchor="t"/>
          <a:lstStyle/>
          <a:p>
            <a:pPr algn="ctr" defTabSz="1219170"/>
            <a:r>
              <a:rPr lang="en-US" sz="1267" dirty="0">
                <a:solidFill>
                  <a:srgbClr val="5B6671"/>
                </a:solidFill>
                <a:latin typeface="Microsoft YaHei" pitchFamily="34" charset="0"/>
                <a:ea typeface="Microsoft YaHei" pitchFamily="34" charset="-122"/>
                <a:cs typeface="Microsoft YaHei" pitchFamily="34" charset="-120"/>
              </a:rPr>
              <a:t>Push to Azure Container Registry</a:t>
            </a:r>
            <a:endParaRPr lang="en-US" sz="1267" dirty="0">
              <a:solidFill>
                <a:prstClr val="black"/>
              </a:solidFill>
              <a:latin typeface="Calibri" panose="020F0502020204030204"/>
            </a:endParaRPr>
          </a:p>
        </p:txBody>
      </p:sp>
      <p:sp>
        <p:nvSpPr>
          <p:cNvPr id="19" name="Shape 17"/>
          <p:cNvSpPr/>
          <p:nvPr/>
        </p:nvSpPr>
        <p:spPr>
          <a:xfrm>
            <a:off x="3779520" y="2499360"/>
            <a:ext cx="487680" cy="0"/>
          </a:xfrm>
          <a:prstGeom prst="line">
            <a:avLst/>
          </a:prstGeom>
          <a:noFill/>
          <a:ln w="2540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20" name="Shape 18"/>
          <p:cNvSpPr/>
          <p:nvPr/>
        </p:nvSpPr>
        <p:spPr>
          <a:xfrm>
            <a:off x="4876800" y="2072640"/>
            <a:ext cx="853440" cy="853440"/>
          </a:xfrm>
          <a:prstGeom prst="ellipse">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1" name="Text 19"/>
          <p:cNvSpPr/>
          <p:nvPr/>
        </p:nvSpPr>
        <p:spPr>
          <a:xfrm>
            <a:off x="4876800" y="2072640"/>
            <a:ext cx="853440" cy="853440"/>
          </a:xfrm>
          <a:prstGeom prst="rect">
            <a:avLst/>
          </a:prstGeom>
          <a:noFill/>
          <a:ln/>
        </p:spPr>
        <p:txBody>
          <a:bodyPr wrap="square" lIns="0" tIns="0" rIns="0" bIns="0" rtlCol="0" anchor="ctr"/>
          <a:lstStyle/>
          <a:p>
            <a:pPr algn="ctr" defTabSz="1219170"/>
            <a:r>
              <a:rPr lang="en-US" sz="2933" b="1" dirty="0">
                <a:solidFill>
                  <a:srgbClr val="FFFFFF"/>
                </a:solidFill>
                <a:latin typeface="Microsoft YaHei" pitchFamily="34" charset="0"/>
                <a:ea typeface="Microsoft YaHei" pitchFamily="34" charset="-122"/>
                <a:cs typeface="Microsoft YaHei" pitchFamily="34" charset="-120"/>
              </a:rPr>
              <a:t>3</a:t>
            </a:r>
            <a:endParaRPr lang="en-US" sz="2933" dirty="0">
              <a:solidFill>
                <a:prstClr val="black"/>
              </a:solidFill>
              <a:latin typeface="Calibri" panose="020F0502020204030204"/>
            </a:endParaRPr>
          </a:p>
        </p:txBody>
      </p:sp>
      <p:sp>
        <p:nvSpPr>
          <p:cNvPr id="22" name="Text 20"/>
          <p:cNvSpPr/>
          <p:nvPr/>
        </p:nvSpPr>
        <p:spPr>
          <a:xfrm>
            <a:off x="4389120" y="3048000"/>
            <a:ext cx="1828800" cy="390144"/>
          </a:xfrm>
          <a:prstGeom prst="rect">
            <a:avLst/>
          </a:prstGeom>
          <a:noFill/>
          <a:ln/>
        </p:spPr>
        <p:txBody>
          <a:bodyPr wrap="square" lIns="0" tIns="0" rIns="0" bIns="0" rtlCol="0" anchor="ctr"/>
          <a:lstStyle/>
          <a:p>
            <a:pPr algn="ctr" defTabSz="1219170"/>
            <a:r>
              <a:rPr lang="en-US" sz="1600" b="1" dirty="0">
                <a:solidFill>
                  <a:srgbClr val="0F2A47"/>
                </a:solidFill>
                <a:latin typeface="Microsoft YaHei" pitchFamily="34" charset="0"/>
                <a:ea typeface="Microsoft YaHei" pitchFamily="34" charset="-122"/>
                <a:cs typeface="Microsoft YaHei" pitchFamily="34" charset="-120"/>
              </a:rPr>
              <a:t>Create version</a:t>
            </a:r>
            <a:endParaRPr lang="en-US" sz="1600" dirty="0">
              <a:solidFill>
                <a:prstClr val="black"/>
              </a:solidFill>
              <a:latin typeface="Calibri" panose="020F0502020204030204"/>
            </a:endParaRPr>
          </a:p>
        </p:txBody>
      </p:sp>
      <p:sp>
        <p:nvSpPr>
          <p:cNvPr id="23" name="Text 21"/>
          <p:cNvSpPr/>
          <p:nvPr/>
        </p:nvSpPr>
        <p:spPr>
          <a:xfrm>
            <a:off x="4328160" y="3474720"/>
            <a:ext cx="1950720" cy="853440"/>
          </a:xfrm>
          <a:prstGeom prst="rect">
            <a:avLst/>
          </a:prstGeom>
          <a:noFill/>
          <a:ln/>
        </p:spPr>
        <p:txBody>
          <a:bodyPr wrap="square" lIns="0" tIns="0" rIns="0" bIns="0" rtlCol="0" anchor="t"/>
          <a:lstStyle/>
          <a:p>
            <a:pPr algn="ctr" defTabSz="1219170"/>
            <a:r>
              <a:rPr lang="en-US" sz="1267" dirty="0">
                <a:solidFill>
                  <a:srgbClr val="5B6671"/>
                </a:solidFill>
                <a:latin typeface="Microsoft YaHei" pitchFamily="34" charset="0"/>
                <a:ea typeface="Microsoft YaHei" pitchFamily="34" charset="-122"/>
                <a:cs typeface="Microsoft YaHei" pitchFamily="34" charset="-120"/>
              </a:rPr>
              <a:t>Agent Service pulls the image, configures resources</a:t>
            </a:r>
            <a:endParaRPr lang="en-US" sz="1267" dirty="0">
              <a:solidFill>
                <a:prstClr val="black"/>
              </a:solidFill>
              <a:latin typeface="Calibri" panose="020F0502020204030204"/>
            </a:endParaRPr>
          </a:p>
        </p:txBody>
      </p:sp>
      <p:sp>
        <p:nvSpPr>
          <p:cNvPr id="24" name="Shape 22"/>
          <p:cNvSpPr/>
          <p:nvPr/>
        </p:nvSpPr>
        <p:spPr>
          <a:xfrm>
            <a:off x="5730240" y="2499360"/>
            <a:ext cx="487680" cy="0"/>
          </a:xfrm>
          <a:prstGeom prst="line">
            <a:avLst/>
          </a:prstGeom>
          <a:noFill/>
          <a:ln w="2540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25" name="Shape 23"/>
          <p:cNvSpPr/>
          <p:nvPr/>
        </p:nvSpPr>
        <p:spPr>
          <a:xfrm>
            <a:off x="6827520" y="2072640"/>
            <a:ext cx="853440" cy="853440"/>
          </a:xfrm>
          <a:prstGeom prst="ellipse">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6" name="Text 24"/>
          <p:cNvSpPr/>
          <p:nvPr/>
        </p:nvSpPr>
        <p:spPr>
          <a:xfrm>
            <a:off x="6827520" y="2072640"/>
            <a:ext cx="853440" cy="853440"/>
          </a:xfrm>
          <a:prstGeom prst="rect">
            <a:avLst/>
          </a:prstGeom>
          <a:noFill/>
          <a:ln/>
        </p:spPr>
        <p:txBody>
          <a:bodyPr wrap="square" lIns="0" tIns="0" rIns="0" bIns="0" rtlCol="0" anchor="ctr"/>
          <a:lstStyle/>
          <a:p>
            <a:pPr algn="ctr" defTabSz="1219170"/>
            <a:r>
              <a:rPr lang="en-US" sz="2933" b="1" dirty="0">
                <a:solidFill>
                  <a:srgbClr val="FFFFFF"/>
                </a:solidFill>
                <a:latin typeface="Microsoft YaHei" pitchFamily="34" charset="0"/>
                <a:ea typeface="Microsoft YaHei" pitchFamily="34" charset="-122"/>
                <a:cs typeface="Microsoft YaHei" pitchFamily="34" charset="-120"/>
              </a:rPr>
              <a:t>4</a:t>
            </a:r>
            <a:endParaRPr lang="en-US" sz="2933" dirty="0">
              <a:solidFill>
                <a:prstClr val="black"/>
              </a:solidFill>
              <a:latin typeface="Calibri" panose="020F0502020204030204"/>
            </a:endParaRPr>
          </a:p>
        </p:txBody>
      </p:sp>
      <p:sp>
        <p:nvSpPr>
          <p:cNvPr id="27" name="Text 25"/>
          <p:cNvSpPr/>
          <p:nvPr/>
        </p:nvSpPr>
        <p:spPr>
          <a:xfrm>
            <a:off x="6339840" y="3048000"/>
            <a:ext cx="1828800" cy="390144"/>
          </a:xfrm>
          <a:prstGeom prst="rect">
            <a:avLst/>
          </a:prstGeom>
          <a:noFill/>
          <a:ln/>
        </p:spPr>
        <p:txBody>
          <a:bodyPr wrap="square" lIns="0" tIns="0" rIns="0" bIns="0" rtlCol="0" anchor="ctr"/>
          <a:lstStyle/>
          <a:p>
            <a:pPr algn="ctr" defTabSz="1219170"/>
            <a:r>
              <a:rPr lang="en-US" sz="1600" b="1" dirty="0">
                <a:solidFill>
                  <a:srgbClr val="0F2A47"/>
                </a:solidFill>
                <a:latin typeface="Microsoft YaHei" pitchFamily="34" charset="0"/>
                <a:ea typeface="Microsoft YaHei" pitchFamily="34" charset="-122"/>
                <a:cs typeface="Microsoft YaHei" pitchFamily="34" charset="-120"/>
              </a:rPr>
              <a:t>Assign identity</a:t>
            </a:r>
            <a:endParaRPr lang="en-US" sz="1600" dirty="0">
              <a:solidFill>
                <a:prstClr val="black"/>
              </a:solidFill>
              <a:latin typeface="Calibri" panose="020F0502020204030204"/>
            </a:endParaRPr>
          </a:p>
        </p:txBody>
      </p:sp>
      <p:sp>
        <p:nvSpPr>
          <p:cNvPr id="28" name="Text 26"/>
          <p:cNvSpPr/>
          <p:nvPr/>
        </p:nvSpPr>
        <p:spPr>
          <a:xfrm>
            <a:off x="6278880" y="3474720"/>
            <a:ext cx="1950720" cy="853440"/>
          </a:xfrm>
          <a:prstGeom prst="rect">
            <a:avLst/>
          </a:prstGeom>
          <a:noFill/>
          <a:ln/>
        </p:spPr>
        <p:txBody>
          <a:bodyPr wrap="square" lIns="0" tIns="0" rIns="0" bIns="0" rtlCol="0" anchor="t"/>
          <a:lstStyle/>
          <a:p>
            <a:pPr algn="ctr" defTabSz="1219170"/>
            <a:r>
              <a:rPr lang="en-US" sz="1267" dirty="0">
                <a:solidFill>
                  <a:srgbClr val="5B6671"/>
                </a:solidFill>
                <a:latin typeface="Microsoft YaHei" pitchFamily="34" charset="0"/>
                <a:ea typeface="Microsoft YaHei" pitchFamily="34" charset="-122"/>
                <a:cs typeface="Microsoft YaHei" pitchFamily="34" charset="-120"/>
              </a:rPr>
              <a:t>Microsoft Entra ID auto-bound</a:t>
            </a:r>
            <a:endParaRPr lang="en-US" sz="1267" dirty="0">
              <a:solidFill>
                <a:prstClr val="black"/>
              </a:solidFill>
              <a:latin typeface="Calibri" panose="020F0502020204030204"/>
            </a:endParaRPr>
          </a:p>
        </p:txBody>
      </p:sp>
      <p:sp>
        <p:nvSpPr>
          <p:cNvPr id="29" name="Shape 27"/>
          <p:cNvSpPr/>
          <p:nvPr/>
        </p:nvSpPr>
        <p:spPr>
          <a:xfrm>
            <a:off x="7680960" y="2499360"/>
            <a:ext cx="487680" cy="0"/>
          </a:xfrm>
          <a:prstGeom prst="line">
            <a:avLst/>
          </a:prstGeom>
          <a:noFill/>
          <a:ln w="2540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30" name="Shape 28"/>
          <p:cNvSpPr/>
          <p:nvPr/>
        </p:nvSpPr>
        <p:spPr>
          <a:xfrm>
            <a:off x="8778240" y="2072640"/>
            <a:ext cx="853440" cy="853440"/>
          </a:xfrm>
          <a:prstGeom prst="ellipse">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31" name="Text 29"/>
          <p:cNvSpPr/>
          <p:nvPr/>
        </p:nvSpPr>
        <p:spPr>
          <a:xfrm>
            <a:off x="8778240" y="2072640"/>
            <a:ext cx="853440" cy="853440"/>
          </a:xfrm>
          <a:prstGeom prst="rect">
            <a:avLst/>
          </a:prstGeom>
          <a:noFill/>
          <a:ln/>
        </p:spPr>
        <p:txBody>
          <a:bodyPr wrap="square" lIns="0" tIns="0" rIns="0" bIns="0" rtlCol="0" anchor="ctr"/>
          <a:lstStyle/>
          <a:p>
            <a:pPr algn="ctr" defTabSz="1219170"/>
            <a:r>
              <a:rPr lang="en-US" sz="2933" b="1" dirty="0">
                <a:solidFill>
                  <a:srgbClr val="FFFFFF"/>
                </a:solidFill>
                <a:latin typeface="Microsoft YaHei" pitchFamily="34" charset="0"/>
                <a:ea typeface="Microsoft YaHei" pitchFamily="34" charset="-122"/>
                <a:cs typeface="Microsoft YaHei" pitchFamily="34" charset="-120"/>
              </a:rPr>
              <a:t>5</a:t>
            </a:r>
            <a:endParaRPr lang="en-US" sz="2933" dirty="0">
              <a:solidFill>
                <a:prstClr val="black"/>
              </a:solidFill>
              <a:latin typeface="Calibri" panose="020F0502020204030204"/>
            </a:endParaRPr>
          </a:p>
        </p:txBody>
      </p:sp>
      <p:sp>
        <p:nvSpPr>
          <p:cNvPr id="32" name="Text 30"/>
          <p:cNvSpPr/>
          <p:nvPr/>
        </p:nvSpPr>
        <p:spPr>
          <a:xfrm>
            <a:off x="8290560" y="3048000"/>
            <a:ext cx="1828800" cy="390144"/>
          </a:xfrm>
          <a:prstGeom prst="rect">
            <a:avLst/>
          </a:prstGeom>
          <a:noFill/>
          <a:ln/>
        </p:spPr>
        <p:txBody>
          <a:bodyPr wrap="square" lIns="0" tIns="0" rIns="0" bIns="0" rtlCol="0" anchor="ctr"/>
          <a:lstStyle/>
          <a:p>
            <a:pPr algn="ctr" defTabSz="1219170"/>
            <a:r>
              <a:rPr lang="en-US" sz="1600" b="1" dirty="0">
                <a:solidFill>
                  <a:srgbClr val="0F2A47"/>
                </a:solidFill>
                <a:latin typeface="Microsoft YaHei" pitchFamily="34" charset="0"/>
                <a:ea typeface="Microsoft YaHei" pitchFamily="34" charset="-122"/>
                <a:cs typeface="Microsoft YaHei" pitchFamily="34" charset="-120"/>
              </a:rPr>
              <a:t>Expose endpoint</a:t>
            </a:r>
            <a:endParaRPr lang="en-US" sz="1600" dirty="0">
              <a:solidFill>
                <a:prstClr val="black"/>
              </a:solidFill>
              <a:latin typeface="Calibri" panose="020F0502020204030204"/>
            </a:endParaRPr>
          </a:p>
        </p:txBody>
      </p:sp>
      <p:sp>
        <p:nvSpPr>
          <p:cNvPr id="33" name="Text 31"/>
          <p:cNvSpPr/>
          <p:nvPr/>
        </p:nvSpPr>
        <p:spPr>
          <a:xfrm>
            <a:off x="8229600" y="3474720"/>
            <a:ext cx="1950720" cy="853440"/>
          </a:xfrm>
          <a:prstGeom prst="rect">
            <a:avLst/>
          </a:prstGeom>
          <a:noFill/>
          <a:ln/>
        </p:spPr>
        <p:txBody>
          <a:bodyPr wrap="square" lIns="0" tIns="0" rIns="0" bIns="0" rtlCol="0" anchor="t"/>
          <a:lstStyle/>
          <a:p>
            <a:pPr algn="ctr" defTabSz="1219170"/>
            <a:r>
              <a:rPr lang="en-US" sz="1267" dirty="0">
                <a:solidFill>
                  <a:srgbClr val="5B6671"/>
                </a:solidFill>
                <a:latin typeface="Microsoft YaHei" pitchFamily="34" charset="0"/>
                <a:ea typeface="Microsoft YaHei" pitchFamily="34" charset="-122"/>
                <a:cs typeface="Microsoft YaHei" pitchFamily="34" charset="-120"/>
              </a:rPr>
              <a:t>Exposes Responses and/or Invocations endpoints</a:t>
            </a:r>
            <a:endParaRPr lang="en-US" sz="1267" dirty="0">
              <a:solidFill>
                <a:prstClr val="black"/>
              </a:solidFill>
              <a:latin typeface="Calibri" panose="020F0502020204030204"/>
            </a:endParaRPr>
          </a:p>
        </p:txBody>
      </p:sp>
      <p:sp>
        <p:nvSpPr>
          <p:cNvPr id="34" name="Shape 32"/>
          <p:cNvSpPr/>
          <p:nvPr/>
        </p:nvSpPr>
        <p:spPr>
          <a:xfrm>
            <a:off x="9631680" y="2499360"/>
            <a:ext cx="487680" cy="0"/>
          </a:xfrm>
          <a:prstGeom prst="line">
            <a:avLst/>
          </a:prstGeom>
          <a:noFill/>
          <a:ln w="2540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35" name="Shape 33"/>
          <p:cNvSpPr/>
          <p:nvPr/>
        </p:nvSpPr>
        <p:spPr>
          <a:xfrm>
            <a:off x="10728960" y="2072640"/>
            <a:ext cx="853440" cy="853440"/>
          </a:xfrm>
          <a:prstGeom prst="ellipse">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36" name="Text 34"/>
          <p:cNvSpPr/>
          <p:nvPr/>
        </p:nvSpPr>
        <p:spPr>
          <a:xfrm>
            <a:off x="10728960" y="2072640"/>
            <a:ext cx="853440" cy="853440"/>
          </a:xfrm>
          <a:prstGeom prst="rect">
            <a:avLst/>
          </a:prstGeom>
          <a:noFill/>
          <a:ln/>
        </p:spPr>
        <p:txBody>
          <a:bodyPr wrap="square" lIns="0" tIns="0" rIns="0" bIns="0" rtlCol="0" anchor="ctr"/>
          <a:lstStyle/>
          <a:p>
            <a:pPr algn="ctr" defTabSz="1219170"/>
            <a:r>
              <a:rPr lang="en-US" sz="2933" b="1" dirty="0">
                <a:solidFill>
                  <a:srgbClr val="FFFFFF"/>
                </a:solidFill>
                <a:latin typeface="Microsoft YaHei" pitchFamily="34" charset="0"/>
                <a:ea typeface="Microsoft YaHei" pitchFamily="34" charset="-122"/>
                <a:cs typeface="Microsoft YaHei" pitchFamily="34" charset="-120"/>
              </a:rPr>
              <a:t>6</a:t>
            </a:r>
            <a:endParaRPr lang="en-US" sz="2933" dirty="0">
              <a:solidFill>
                <a:prstClr val="black"/>
              </a:solidFill>
              <a:latin typeface="Calibri" panose="020F0502020204030204"/>
            </a:endParaRPr>
          </a:p>
        </p:txBody>
      </p:sp>
      <p:sp>
        <p:nvSpPr>
          <p:cNvPr id="37" name="Text 35"/>
          <p:cNvSpPr/>
          <p:nvPr/>
        </p:nvSpPr>
        <p:spPr>
          <a:xfrm>
            <a:off x="10241280" y="3048000"/>
            <a:ext cx="1828800" cy="390144"/>
          </a:xfrm>
          <a:prstGeom prst="rect">
            <a:avLst/>
          </a:prstGeom>
          <a:noFill/>
          <a:ln/>
        </p:spPr>
        <p:txBody>
          <a:bodyPr wrap="square" lIns="0" tIns="0" rIns="0" bIns="0" rtlCol="0" anchor="ctr"/>
          <a:lstStyle/>
          <a:p>
            <a:pPr algn="ctr" defTabSz="1219170"/>
            <a:r>
              <a:rPr lang="en-US" sz="1600" b="1" dirty="0">
                <a:solidFill>
                  <a:srgbClr val="0F2A47"/>
                </a:solidFill>
                <a:latin typeface="Microsoft YaHei" pitchFamily="34" charset="0"/>
                <a:ea typeface="Microsoft YaHei" pitchFamily="34" charset="-122"/>
                <a:cs typeface="Microsoft YaHei" pitchFamily="34" charset="-120"/>
              </a:rPr>
              <a:t>Runtime invocation</a:t>
            </a:r>
            <a:endParaRPr lang="en-US" sz="1600" dirty="0">
              <a:solidFill>
                <a:prstClr val="black"/>
              </a:solidFill>
              <a:latin typeface="Calibri" panose="020F0502020204030204"/>
            </a:endParaRPr>
          </a:p>
        </p:txBody>
      </p:sp>
      <p:sp>
        <p:nvSpPr>
          <p:cNvPr id="38" name="Text 36"/>
          <p:cNvSpPr/>
          <p:nvPr/>
        </p:nvSpPr>
        <p:spPr>
          <a:xfrm>
            <a:off x="10180320" y="3474720"/>
            <a:ext cx="1950720" cy="853440"/>
          </a:xfrm>
          <a:prstGeom prst="rect">
            <a:avLst/>
          </a:prstGeom>
          <a:noFill/>
          <a:ln/>
        </p:spPr>
        <p:txBody>
          <a:bodyPr wrap="square" lIns="0" tIns="0" rIns="0" bIns="0" rtlCol="0" anchor="t"/>
          <a:lstStyle/>
          <a:p>
            <a:pPr algn="ctr" defTabSz="1219170"/>
            <a:r>
              <a:rPr lang="en-US" sz="1267" dirty="0">
                <a:solidFill>
                  <a:srgbClr val="5B6671"/>
                </a:solidFill>
                <a:latin typeface="Microsoft YaHei" pitchFamily="34" charset="0"/>
                <a:ea typeface="Microsoft YaHei" pitchFamily="34" charset="-122"/>
                <a:cs typeface="Microsoft YaHei" pitchFamily="34" charset="-120"/>
              </a:rPr>
              <a:t>Handles client requests; platform manages state</a:t>
            </a:r>
            <a:endParaRPr lang="en-US" sz="1267" dirty="0">
              <a:solidFill>
                <a:prstClr val="black"/>
              </a:solidFill>
              <a:latin typeface="Calibri" panose="020F0502020204030204"/>
            </a:endParaRPr>
          </a:p>
        </p:txBody>
      </p:sp>
      <p:sp>
        <p:nvSpPr>
          <p:cNvPr id="39" name="Shape 37"/>
          <p:cNvSpPr/>
          <p:nvPr/>
        </p:nvSpPr>
        <p:spPr>
          <a:xfrm>
            <a:off x="487680" y="4693920"/>
            <a:ext cx="11216640" cy="17068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40" name="Shape 38"/>
          <p:cNvSpPr/>
          <p:nvPr/>
        </p:nvSpPr>
        <p:spPr>
          <a:xfrm>
            <a:off x="487680" y="4693920"/>
            <a:ext cx="97536" cy="170688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1" name="Text 39"/>
          <p:cNvSpPr/>
          <p:nvPr/>
        </p:nvSpPr>
        <p:spPr>
          <a:xfrm>
            <a:off x="731520" y="4815840"/>
            <a:ext cx="3657600" cy="390144"/>
          </a:xfrm>
          <a:prstGeom prst="rect">
            <a:avLst/>
          </a:prstGeom>
          <a:noFill/>
          <a:ln/>
        </p:spPr>
        <p:txBody>
          <a:bodyPr wrap="square" lIns="0" tIns="0" rIns="0" bIns="0" rtlCol="0" anchor="ctr"/>
          <a:lstStyle/>
          <a:p>
            <a:pPr defTabSz="1219170"/>
            <a:r>
              <a:rPr lang="en-US" sz="1733" b="1" dirty="0">
                <a:solidFill>
                  <a:srgbClr val="0F2A47"/>
                </a:solidFill>
                <a:latin typeface="Microsoft YaHei" pitchFamily="34" charset="0"/>
                <a:ea typeface="Microsoft YaHei" pitchFamily="34" charset="-122"/>
                <a:cs typeface="Microsoft YaHei" pitchFamily="34" charset="-120"/>
              </a:rPr>
              <a:t>Platform-managed automatically:</a:t>
            </a:r>
            <a:endParaRPr lang="en-US" sz="1733" dirty="0">
              <a:solidFill>
                <a:prstClr val="black"/>
              </a:solidFill>
              <a:latin typeface="Calibri" panose="020F0502020204030204"/>
            </a:endParaRPr>
          </a:p>
        </p:txBody>
      </p:sp>
      <p:sp>
        <p:nvSpPr>
          <p:cNvPr id="42" name="Text 40"/>
          <p:cNvSpPr/>
          <p:nvPr/>
        </p:nvSpPr>
        <p:spPr>
          <a:xfrm>
            <a:off x="731520" y="5242560"/>
            <a:ext cx="10850880" cy="1158240"/>
          </a:xfrm>
          <a:prstGeom prst="rect">
            <a:avLst/>
          </a:prstGeom>
          <a:noFill/>
          <a:ln/>
        </p:spPr>
        <p:txBody>
          <a:bodyPr wrap="square" rtlCol="0" anchor="t"/>
          <a:lstStyle/>
          <a:p>
            <a:pPr marL="457189" indent="-457189" defTabSz="1219170">
              <a:spcAft>
                <a:spcPts val="533"/>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Container lifecycle: provisioned on demand when active; auto-unloaded on idle timeout (15 minutes)</a:t>
            </a:r>
            <a:endParaRPr lang="en-US" sz="1467" dirty="0">
              <a:solidFill>
                <a:prstClr val="black"/>
              </a:solidFill>
              <a:latin typeface="Calibri" panose="020F0502020204030204"/>
            </a:endParaRPr>
          </a:p>
          <a:p>
            <a:pPr marL="457189" indent="-457189" defTabSz="1219170">
              <a:spcAft>
                <a:spcPts val="533"/>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State persistence: $HOME and /files contents auto-restored on session recovery</a:t>
            </a:r>
            <a:endParaRPr lang="en-US" sz="1467" dirty="0">
              <a:solidFill>
                <a:prstClr val="black"/>
              </a:solidFill>
              <a:latin typeface="Calibri" panose="020F0502020204030204"/>
            </a:endParaRPr>
          </a:p>
          <a:p>
            <a:pPr marL="457189" indent="-457189" defTabSz="1219170">
              <a:spcAft>
                <a:spcPts val="533"/>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Elastic scaling: supports 0.25 vCPU / 0.5 GiB through 2 vCPU / 4 GiB sandboxes</a:t>
            </a:r>
            <a:endParaRPr lang="en-US" sz="1467" dirty="0">
              <a:solidFill>
                <a:prstClr val="black"/>
              </a:solidFill>
              <a:latin typeface="Calibri" panose="020F0502020204030204"/>
            </a:endParaRPr>
          </a:p>
          <a:p>
            <a:pPr marL="457189" indent="-457189" defTabSz="1219170">
              <a:spcAft>
                <a:spcPts val="533"/>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Observability: OpenTelemetry integration; logs, traces, and metrics built-in</a:t>
            </a:r>
            <a:endParaRPr lang="en-US" sz="1467" dirty="0">
              <a:solidFill>
                <a:prstClr val="black"/>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t>
            </a:r>
            <a:r>
              <a:rPr lang="en-US" altLang="zh-CN" sz="1333" b="1" kern="0" spc="533" dirty="0">
                <a:solidFill>
                  <a:srgbClr val="0078D4"/>
                </a:solidFill>
                <a:latin typeface="Microsoft YaHei" pitchFamily="34" charset="0"/>
                <a:ea typeface="Microsoft YaHei" pitchFamily="34" charset="-122"/>
                <a:cs typeface="Microsoft YaHei" pitchFamily="34" charset="-120"/>
              </a:rPr>
              <a:t>Microsoft</a:t>
            </a:r>
            <a:r>
              <a:rPr lang="en-US" sz="1333" b="1" kern="0" spc="533" dirty="0">
                <a:solidFill>
                  <a:srgbClr val="0078D4"/>
                </a:solidFill>
                <a:latin typeface="Microsoft YaHei" pitchFamily="34" charset="0"/>
                <a:ea typeface="Microsoft YaHei" pitchFamily="34" charset="-122"/>
                <a:cs typeface="Microsoft YaHei" pitchFamily="34" charset="-120"/>
              </a:rPr>
              <a:t> Foundry</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Responses and Invocations: dual protocols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Two protocols cover conversation, webhook, batch, and custom scenarios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13 / 40</a:t>
            </a:r>
            <a:endParaRPr lang="en-US" sz="1200" dirty="0">
              <a:solidFill>
                <a:prstClr val="black"/>
              </a:solidFill>
              <a:latin typeface="Calibri" panose="020F0502020204030204"/>
            </a:endParaRPr>
          </a:p>
        </p:txBody>
      </p:sp>
      <p:sp>
        <p:nvSpPr>
          <p:cNvPr id="10" name="Shape 8"/>
          <p:cNvSpPr/>
          <p:nvPr/>
        </p:nvSpPr>
        <p:spPr>
          <a:xfrm>
            <a:off x="487680" y="1889760"/>
            <a:ext cx="5486400" cy="41452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41452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Shape 10"/>
          <p:cNvSpPr/>
          <p:nvPr/>
        </p:nvSpPr>
        <p:spPr>
          <a:xfrm>
            <a:off x="487680" y="1889760"/>
            <a:ext cx="5486400" cy="67056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731520" y="1889760"/>
            <a:ext cx="5120640" cy="670560"/>
          </a:xfrm>
          <a:prstGeom prst="rect">
            <a:avLst/>
          </a:prstGeom>
          <a:noFill/>
          <a:ln/>
        </p:spPr>
        <p:txBody>
          <a:bodyPr wrap="square" lIns="0" tIns="0" rIns="0" bIns="0" rtlCol="0" anchor="ctr"/>
          <a:lstStyle/>
          <a:p>
            <a:pPr defTabSz="1219170"/>
            <a:r>
              <a:rPr lang="en-US" sz="2133" b="1" dirty="0">
                <a:solidFill>
                  <a:srgbClr val="FFFFFF"/>
                </a:solidFill>
                <a:latin typeface="Microsoft YaHei" pitchFamily="34" charset="0"/>
                <a:ea typeface="Microsoft YaHei" pitchFamily="34" charset="-122"/>
                <a:cs typeface="Microsoft YaHei" pitchFamily="34" charset="-120"/>
              </a:rPr>
              <a:t>Responses protocol</a:t>
            </a:r>
            <a:endParaRPr lang="en-US" sz="2133" dirty="0">
              <a:solidFill>
                <a:prstClr val="black"/>
              </a:solidFill>
              <a:latin typeface="Calibri" panose="020F0502020204030204"/>
            </a:endParaRPr>
          </a:p>
        </p:txBody>
      </p:sp>
      <p:sp>
        <p:nvSpPr>
          <p:cNvPr id="14" name="Text 12"/>
          <p:cNvSpPr/>
          <p:nvPr/>
        </p:nvSpPr>
        <p:spPr>
          <a:xfrm>
            <a:off x="731520" y="2743200"/>
            <a:ext cx="1036320" cy="390144"/>
          </a:xfrm>
          <a:prstGeom prst="rect">
            <a:avLst/>
          </a:prstGeom>
          <a:noFill/>
          <a:ln/>
        </p:spPr>
        <p:txBody>
          <a:bodyPr wrap="square" lIns="0" tIns="0" rIns="0" bIns="0" rtlCol="0" anchor="ctr"/>
          <a:lstStyle/>
          <a:p>
            <a:pPr defTabSz="1219170"/>
            <a:r>
              <a:rPr lang="en-US" sz="1467" b="1" dirty="0">
                <a:solidFill>
                  <a:srgbClr val="0078D4"/>
                </a:solidFill>
                <a:latin typeface="Microsoft YaHei" pitchFamily="34" charset="0"/>
                <a:ea typeface="Microsoft YaHei" pitchFamily="34" charset="-122"/>
                <a:cs typeface="Microsoft YaHei" pitchFamily="34" charset="-120"/>
              </a:rPr>
              <a:t>Suited for</a:t>
            </a:r>
            <a:endParaRPr lang="en-US" sz="1467" dirty="0">
              <a:solidFill>
                <a:prstClr val="black"/>
              </a:solidFill>
              <a:latin typeface="Calibri" panose="020F0502020204030204"/>
            </a:endParaRPr>
          </a:p>
        </p:txBody>
      </p:sp>
      <p:sp>
        <p:nvSpPr>
          <p:cNvPr id="15" name="Text 13"/>
          <p:cNvSpPr/>
          <p:nvPr/>
        </p:nvSpPr>
        <p:spPr>
          <a:xfrm>
            <a:off x="1828800" y="274320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Conversational bots, multi-turn Q&amp;A, RAG, background async</a:t>
            </a:r>
            <a:endParaRPr lang="en-US" sz="1400" dirty="0">
              <a:solidFill>
                <a:prstClr val="black"/>
              </a:solidFill>
              <a:latin typeface="Calibri" panose="020F0502020204030204"/>
            </a:endParaRPr>
          </a:p>
        </p:txBody>
      </p:sp>
      <p:sp>
        <p:nvSpPr>
          <p:cNvPr id="16" name="Text 14"/>
          <p:cNvSpPr/>
          <p:nvPr/>
        </p:nvSpPr>
        <p:spPr>
          <a:xfrm>
            <a:off x="731520" y="3291840"/>
            <a:ext cx="1036320" cy="390144"/>
          </a:xfrm>
          <a:prstGeom prst="rect">
            <a:avLst/>
          </a:prstGeom>
          <a:noFill/>
          <a:ln/>
        </p:spPr>
        <p:txBody>
          <a:bodyPr wrap="square" lIns="0" tIns="0" rIns="0" bIns="0" rtlCol="0" anchor="ctr"/>
          <a:lstStyle/>
          <a:p>
            <a:pPr defTabSz="1219170"/>
            <a:r>
              <a:rPr lang="en-US" sz="1467" b="1" dirty="0">
                <a:solidFill>
                  <a:srgbClr val="0078D4"/>
                </a:solidFill>
                <a:latin typeface="Microsoft YaHei" pitchFamily="34" charset="0"/>
                <a:ea typeface="Microsoft YaHei" pitchFamily="34" charset="-122"/>
                <a:cs typeface="Microsoft YaHei" pitchFamily="34" charset="-120"/>
              </a:rPr>
              <a:t>Format</a:t>
            </a:r>
            <a:endParaRPr lang="en-US" sz="1467" dirty="0">
              <a:solidFill>
                <a:prstClr val="black"/>
              </a:solidFill>
              <a:latin typeface="Calibri" panose="020F0502020204030204"/>
            </a:endParaRPr>
          </a:p>
        </p:txBody>
      </p:sp>
      <p:sp>
        <p:nvSpPr>
          <p:cNvPr id="17" name="Text 15"/>
          <p:cNvSpPr/>
          <p:nvPr/>
        </p:nvSpPr>
        <p:spPr>
          <a:xfrm>
            <a:off x="1828800" y="329184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OpenAI-compatible /responses protocol</a:t>
            </a:r>
            <a:endParaRPr lang="en-US" sz="1400" dirty="0">
              <a:solidFill>
                <a:prstClr val="black"/>
              </a:solidFill>
              <a:latin typeface="Calibri" panose="020F0502020204030204"/>
            </a:endParaRPr>
          </a:p>
        </p:txBody>
      </p:sp>
      <p:sp>
        <p:nvSpPr>
          <p:cNvPr id="18" name="Text 16"/>
          <p:cNvSpPr/>
          <p:nvPr/>
        </p:nvSpPr>
        <p:spPr>
          <a:xfrm>
            <a:off x="731520" y="3840480"/>
            <a:ext cx="1036320" cy="390144"/>
          </a:xfrm>
          <a:prstGeom prst="rect">
            <a:avLst/>
          </a:prstGeom>
          <a:noFill/>
          <a:ln/>
        </p:spPr>
        <p:txBody>
          <a:bodyPr wrap="square" lIns="0" tIns="0" rIns="0" bIns="0" rtlCol="0" anchor="ctr"/>
          <a:lstStyle/>
          <a:p>
            <a:pPr defTabSz="1219170"/>
            <a:r>
              <a:rPr lang="en-US" sz="1467" b="1" dirty="0">
                <a:solidFill>
                  <a:srgbClr val="0078D4"/>
                </a:solidFill>
                <a:latin typeface="Microsoft YaHei" pitchFamily="34" charset="0"/>
                <a:ea typeface="Microsoft YaHei" pitchFamily="34" charset="-122"/>
                <a:cs typeface="Microsoft YaHei" pitchFamily="34" charset="-120"/>
              </a:rPr>
              <a:t>Client</a:t>
            </a:r>
            <a:endParaRPr lang="en-US" sz="1467" dirty="0">
              <a:solidFill>
                <a:prstClr val="black"/>
              </a:solidFill>
              <a:latin typeface="Calibri" panose="020F0502020204030204"/>
            </a:endParaRPr>
          </a:p>
        </p:txBody>
      </p:sp>
      <p:sp>
        <p:nvSpPr>
          <p:cNvPr id="19" name="Text 17"/>
          <p:cNvSpPr/>
          <p:nvPr/>
        </p:nvSpPr>
        <p:spPr>
          <a:xfrm>
            <a:off x="1828800" y="384048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Any OpenAI SDK (Python / JS / C#) works out of the box</a:t>
            </a:r>
            <a:endParaRPr lang="en-US" sz="1400" dirty="0">
              <a:solidFill>
                <a:prstClr val="black"/>
              </a:solidFill>
              <a:latin typeface="Calibri" panose="020F0502020204030204"/>
            </a:endParaRPr>
          </a:p>
        </p:txBody>
      </p:sp>
      <p:sp>
        <p:nvSpPr>
          <p:cNvPr id="20" name="Text 18"/>
          <p:cNvSpPr/>
          <p:nvPr/>
        </p:nvSpPr>
        <p:spPr>
          <a:xfrm>
            <a:off x="731520" y="4389120"/>
            <a:ext cx="1036320" cy="390144"/>
          </a:xfrm>
          <a:prstGeom prst="rect">
            <a:avLst/>
          </a:prstGeom>
          <a:noFill/>
          <a:ln/>
        </p:spPr>
        <p:txBody>
          <a:bodyPr wrap="square" lIns="0" tIns="0" rIns="0" bIns="0" rtlCol="0" anchor="ctr"/>
          <a:lstStyle/>
          <a:p>
            <a:pPr defTabSz="1219170"/>
            <a:r>
              <a:rPr lang="en-US" sz="1467" b="1" dirty="0">
                <a:solidFill>
                  <a:srgbClr val="0078D4"/>
                </a:solidFill>
                <a:latin typeface="Microsoft YaHei" pitchFamily="34" charset="0"/>
                <a:ea typeface="Microsoft YaHei" pitchFamily="34" charset="-122"/>
                <a:cs typeface="Microsoft YaHei" pitchFamily="34" charset="-120"/>
              </a:rPr>
              <a:t>Session</a:t>
            </a:r>
            <a:endParaRPr lang="en-US" sz="1467" dirty="0">
              <a:solidFill>
                <a:prstClr val="black"/>
              </a:solidFill>
              <a:latin typeface="Calibri" panose="020F0502020204030204"/>
            </a:endParaRPr>
          </a:p>
        </p:txBody>
      </p:sp>
      <p:sp>
        <p:nvSpPr>
          <p:cNvPr id="21" name="Text 19"/>
          <p:cNvSpPr/>
          <p:nvPr/>
        </p:nvSpPr>
        <p:spPr>
          <a:xfrm>
            <a:off x="1828800" y="438912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Platform-managed conversation history (conversation ID)</a:t>
            </a:r>
            <a:endParaRPr lang="en-US" sz="1400" dirty="0">
              <a:solidFill>
                <a:prstClr val="black"/>
              </a:solidFill>
              <a:latin typeface="Calibri" panose="020F0502020204030204"/>
            </a:endParaRPr>
          </a:p>
        </p:txBody>
      </p:sp>
      <p:sp>
        <p:nvSpPr>
          <p:cNvPr id="22" name="Text 20"/>
          <p:cNvSpPr/>
          <p:nvPr/>
        </p:nvSpPr>
        <p:spPr>
          <a:xfrm>
            <a:off x="731520" y="4937760"/>
            <a:ext cx="1036320" cy="390144"/>
          </a:xfrm>
          <a:prstGeom prst="rect">
            <a:avLst/>
          </a:prstGeom>
          <a:noFill/>
          <a:ln/>
        </p:spPr>
        <p:txBody>
          <a:bodyPr wrap="square" lIns="0" tIns="0" rIns="0" bIns="0" rtlCol="0" anchor="ctr"/>
          <a:lstStyle/>
          <a:p>
            <a:pPr defTabSz="1219170"/>
            <a:r>
              <a:rPr lang="en-US" sz="1467" b="1" dirty="0">
                <a:solidFill>
                  <a:srgbClr val="0078D4"/>
                </a:solidFill>
                <a:latin typeface="Microsoft YaHei" pitchFamily="34" charset="0"/>
                <a:ea typeface="Microsoft YaHei" pitchFamily="34" charset="-122"/>
                <a:cs typeface="Microsoft YaHei" pitchFamily="34" charset="-120"/>
              </a:rPr>
              <a:t>Streaming</a:t>
            </a:r>
            <a:endParaRPr lang="en-US" sz="1467" dirty="0">
              <a:solidFill>
                <a:prstClr val="black"/>
              </a:solidFill>
              <a:latin typeface="Calibri" panose="020F0502020204030204"/>
            </a:endParaRPr>
          </a:p>
        </p:txBody>
      </p:sp>
      <p:sp>
        <p:nvSpPr>
          <p:cNvPr id="23" name="Text 21"/>
          <p:cNvSpPr/>
          <p:nvPr/>
        </p:nvSpPr>
        <p:spPr>
          <a:xfrm>
            <a:off x="1828800" y="493776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ResponseEventStream — built-in lifecycle events</a:t>
            </a:r>
            <a:endParaRPr lang="en-US" sz="1400" dirty="0">
              <a:solidFill>
                <a:prstClr val="black"/>
              </a:solidFill>
              <a:latin typeface="Calibri" panose="020F0502020204030204"/>
            </a:endParaRPr>
          </a:p>
        </p:txBody>
      </p:sp>
      <p:sp>
        <p:nvSpPr>
          <p:cNvPr id="24" name="Text 22"/>
          <p:cNvSpPr/>
          <p:nvPr/>
        </p:nvSpPr>
        <p:spPr>
          <a:xfrm>
            <a:off x="731520" y="5486400"/>
            <a:ext cx="1036320" cy="390144"/>
          </a:xfrm>
          <a:prstGeom prst="rect">
            <a:avLst/>
          </a:prstGeom>
          <a:noFill/>
          <a:ln/>
        </p:spPr>
        <p:txBody>
          <a:bodyPr wrap="square" lIns="0" tIns="0" rIns="0" bIns="0" rtlCol="0" anchor="ctr"/>
          <a:lstStyle/>
          <a:p>
            <a:pPr defTabSz="1219170"/>
            <a:r>
              <a:rPr lang="en-US" sz="1467" b="1" dirty="0">
                <a:solidFill>
                  <a:srgbClr val="0078D4"/>
                </a:solidFill>
                <a:latin typeface="Microsoft YaHei" pitchFamily="34" charset="0"/>
                <a:ea typeface="Microsoft YaHei" pitchFamily="34" charset="-122"/>
                <a:cs typeface="Microsoft YaHei" pitchFamily="34" charset="-120"/>
              </a:rPr>
              <a:t>Background</a:t>
            </a:r>
            <a:endParaRPr lang="en-US" sz="1467" dirty="0">
              <a:solidFill>
                <a:prstClr val="black"/>
              </a:solidFill>
              <a:latin typeface="Calibri" panose="020F0502020204030204"/>
            </a:endParaRPr>
          </a:p>
        </p:txBody>
      </p:sp>
      <p:sp>
        <p:nvSpPr>
          <p:cNvPr id="25" name="Text 23"/>
          <p:cNvSpPr/>
          <p:nvPr/>
        </p:nvSpPr>
        <p:spPr>
          <a:xfrm>
            <a:off x="1828800" y="548640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background: true + platform polling/cancel</a:t>
            </a:r>
            <a:endParaRPr lang="en-US" sz="1400" dirty="0">
              <a:solidFill>
                <a:prstClr val="black"/>
              </a:solidFill>
              <a:latin typeface="Calibri" panose="020F0502020204030204"/>
            </a:endParaRPr>
          </a:p>
        </p:txBody>
      </p:sp>
      <p:sp>
        <p:nvSpPr>
          <p:cNvPr id="26" name="Shape 24"/>
          <p:cNvSpPr/>
          <p:nvPr/>
        </p:nvSpPr>
        <p:spPr>
          <a:xfrm>
            <a:off x="6217920" y="1889760"/>
            <a:ext cx="5486400" cy="41452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7" name="Shape 25"/>
          <p:cNvSpPr/>
          <p:nvPr/>
        </p:nvSpPr>
        <p:spPr>
          <a:xfrm>
            <a:off x="6217920" y="1889760"/>
            <a:ext cx="97536" cy="414528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8" name="Shape 26"/>
          <p:cNvSpPr/>
          <p:nvPr/>
        </p:nvSpPr>
        <p:spPr>
          <a:xfrm>
            <a:off x="6217920" y="1889760"/>
            <a:ext cx="5486400" cy="67056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9" name="Text 27"/>
          <p:cNvSpPr/>
          <p:nvPr/>
        </p:nvSpPr>
        <p:spPr>
          <a:xfrm>
            <a:off x="6461760" y="1889760"/>
            <a:ext cx="5120640" cy="670560"/>
          </a:xfrm>
          <a:prstGeom prst="rect">
            <a:avLst/>
          </a:prstGeom>
          <a:noFill/>
          <a:ln/>
        </p:spPr>
        <p:txBody>
          <a:bodyPr wrap="square" lIns="0" tIns="0" rIns="0" bIns="0" rtlCol="0" anchor="ctr"/>
          <a:lstStyle/>
          <a:p>
            <a:pPr defTabSz="1219170"/>
            <a:r>
              <a:rPr lang="en-US" sz="2133" b="1" dirty="0">
                <a:solidFill>
                  <a:srgbClr val="0F2A47"/>
                </a:solidFill>
                <a:latin typeface="Microsoft YaHei" pitchFamily="34" charset="0"/>
                <a:ea typeface="Microsoft YaHei" pitchFamily="34" charset="-122"/>
                <a:cs typeface="Microsoft YaHei" pitchFamily="34" charset="-120"/>
              </a:rPr>
              <a:t>Invocations protocol</a:t>
            </a:r>
            <a:endParaRPr lang="en-US" sz="2133" dirty="0">
              <a:solidFill>
                <a:prstClr val="black"/>
              </a:solidFill>
              <a:latin typeface="Calibri" panose="020F0502020204030204"/>
            </a:endParaRPr>
          </a:p>
        </p:txBody>
      </p:sp>
      <p:sp>
        <p:nvSpPr>
          <p:cNvPr id="30" name="Text 28"/>
          <p:cNvSpPr/>
          <p:nvPr/>
        </p:nvSpPr>
        <p:spPr>
          <a:xfrm>
            <a:off x="6461760" y="2743200"/>
            <a:ext cx="1036320" cy="390144"/>
          </a:xfrm>
          <a:prstGeom prst="rect">
            <a:avLst/>
          </a:prstGeom>
          <a:noFill/>
          <a:ln/>
        </p:spPr>
        <p:txBody>
          <a:bodyPr wrap="square" lIns="0" tIns="0" rIns="0" bIns="0" rtlCol="0" anchor="ctr"/>
          <a:lstStyle/>
          <a:p>
            <a:pPr defTabSz="1219170"/>
            <a:r>
              <a:rPr lang="en-US" sz="1467" b="1" dirty="0">
                <a:solidFill>
                  <a:srgbClr val="FFB900"/>
                </a:solidFill>
                <a:latin typeface="Microsoft YaHei" pitchFamily="34" charset="0"/>
                <a:ea typeface="Microsoft YaHei" pitchFamily="34" charset="-122"/>
                <a:cs typeface="Microsoft YaHei" pitchFamily="34" charset="-120"/>
              </a:rPr>
              <a:t>Suited for</a:t>
            </a:r>
            <a:endParaRPr lang="en-US" sz="1467" dirty="0">
              <a:solidFill>
                <a:prstClr val="black"/>
              </a:solidFill>
              <a:latin typeface="Calibri" panose="020F0502020204030204"/>
            </a:endParaRPr>
          </a:p>
        </p:txBody>
      </p:sp>
      <p:sp>
        <p:nvSpPr>
          <p:cNvPr id="31" name="Text 29"/>
          <p:cNvSpPr/>
          <p:nvPr/>
        </p:nvSpPr>
        <p:spPr>
          <a:xfrm>
            <a:off x="7559040" y="274320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Webhook intake, classification/extraction, custom streaming protocols</a:t>
            </a:r>
            <a:endParaRPr lang="en-US" sz="1400" dirty="0">
              <a:solidFill>
                <a:prstClr val="black"/>
              </a:solidFill>
              <a:latin typeface="Calibri" panose="020F0502020204030204"/>
            </a:endParaRPr>
          </a:p>
        </p:txBody>
      </p:sp>
      <p:sp>
        <p:nvSpPr>
          <p:cNvPr id="32" name="Text 30"/>
          <p:cNvSpPr/>
          <p:nvPr/>
        </p:nvSpPr>
        <p:spPr>
          <a:xfrm>
            <a:off x="6461760" y="3291840"/>
            <a:ext cx="1036320" cy="390144"/>
          </a:xfrm>
          <a:prstGeom prst="rect">
            <a:avLst/>
          </a:prstGeom>
          <a:noFill/>
          <a:ln/>
        </p:spPr>
        <p:txBody>
          <a:bodyPr wrap="square" lIns="0" tIns="0" rIns="0" bIns="0" rtlCol="0" anchor="ctr"/>
          <a:lstStyle/>
          <a:p>
            <a:pPr defTabSz="1219170"/>
            <a:r>
              <a:rPr lang="en-US" sz="1467" b="1" dirty="0">
                <a:solidFill>
                  <a:srgbClr val="FFB900"/>
                </a:solidFill>
                <a:latin typeface="Microsoft YaHei" pitchFamily="34" charset="0"/>
                <a:ea typeface="Microsoft YaHei" pitchFamily="34" charset="-122"/>
                <a:cs typeface="Microsoft YaHei" pitchFamily="34" charset="-120"/>
              </a:rPr>
              <a:t>Format</a:t>
            </a:r>
            <a:endParaRPr lang="en-US" sz="1467" dirty="0">
              <a:solidFill>
                <a:prstClr val="black"/>
              </a:solidFill>
              <a:latin typeface="Calibri" panose="020F0502020204030204"/>
            </a:endParaRPr>
          </a:p>
        </p:txBody>
      </p:sp>
      <p:sp>
        <p:nvSpPr>
          <p:cNvPr id="33" name="Text 31"/>
          <p:cNvSpPr/>
          <p:nvPr/>
        </p:nvSpPr>
        <p:spPr>
          <a:xfrm>
            <a:off x="7559040" y="329184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Arbitrary JSON in, arbitrary JSON out</a:t>
            </a:r>
            <a:endParaRPr lang="en-US" sz="1400" dirty="0">
              <a:solidFill>
                <a:prstClr val="black"/>
              </a:solidFill>
              <a:latin typeface="Calibri" panose="020F0502020204030204"/>
            </a:endParaRPr>
          </a:p>
        </p:txBody>
      </p:sp>
      <p:sp>
        <p:nvSpPr>
          <p:cNvPr id="34" name="Text 32"/>
          <p:cNvSpPr/>
          <p:nvPr/>
        </p:nvSpPr>
        <p:spPr>
          <a:xfrm>
            <a:off x="6461760" y="3840480"/>
            <a:ext cx="1036320" cy="390144"/>
          </a:xfrm>
          <a:prstGeom prst="rect">
            <a:avLst/>
          </a:prstGeom>
          <a:noFill/>
          <a:ln/>
        </p:spPr>
        <p:txBody>
          <a:bodyPr wrap="square" lIns="0" tIns="0" rIns="0" bIns="0" rtlCol="0" anchor="ctr"/>
          <a:lstStyle/>
          <a:p>
            <a:pPr defTabSz="1219170"/>
            <a:r>
              <a:rPr lang="en-US" sz="1467" b="1" dirty="0">
                <a:solidFill>
                  <a:srgbClr val="FFB900"/>
                </a:solidFill>
                <a:latin typeface="Microsoft YaHei" pitchFamily="34" charset="0"/>
                <a:ea typeface="Microsoft YaHei" pitchFamily="34" charset="-122"/>
                <a:cs typeface="Microsoft YaHei" pitchFamily="34" charset="-120"/>
              </a:rPr>
              <a:t>Client</a:t>
            </a:r>
            <a:endParaRPr lang="en-US" sz="1467" dirty="0">
              <a:solidFill>
                <a:prstClr val="black"/>
              </a:solidFill>
              <a:latin typeface="Calibri" panose="020F0502020204030204"/>
            </a:endParaRPr>
          </a:p>
        </p:txBody>
      </p:sp>
      <p:sp>
        <p:nvSpPr>
          <p:cNvPr id="35" name="Text 33"/>
          <p:cNvSpPr/>
          <p:nvPr/>
        </p:nvSpPr>
        <p:spPr>
          <a:xfrm>
            <a:off x="7559040" y="384048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Custom SDK — you define the contract</a:t>
            </a:r>
            <a:endParaRPr lang="en-US" sz="1400" dirty="0">
              <a:solidFill>
                <a:prstClr val="black"/>
              </a:solidFill>
              <a:latin typeface="Calibri" panose="020F0502020204030204"/>
            </a:endParaRPr>
          </a:p>
        </p:txBody>
      </p:sp>
      <p:sp>
        <p:nvSpPr>
          <p:cNvPr id="36" name="Text 34"/>
          <p:cNvSpPr/>
          <p:nvPr/>
        </p:nvSpPr>
        <p:spPr>
          <a:xfrm>
            <a:off x="6461760" y="4389120"/>
            <a:ext cx="1036320" cy="390144"/>
          </a:xfrm>
          <a:prstGeom prst="rect">
            <a:avLst/>
          </a:prstGeom>
          <a:noFill/>
          <a:ln/>
        </p:spPr>
        <p:txBody>
          <a:bodyPr wrap="square" lIns="0" tIns="0" rIns="0" bIns="0" rtlCol="0" anchor="ctr"/>
          <a:lstStyle/>
          <a:p>
            <a:pPr defTabSz="1219170"/>
            <a:r>
              <a:rPr lang="en-US" sz="1467" b="1" dirty="0">
                <a:solidFill>
                  <a:srgbClr val="FFB900"/>
                </a:solidFill>
                <a:latin typeface="Microsoft YaHei" pitchFamily="34" charset="0"/>
                <a:ea typeface="Microsoft YaHei" pitchFamily="34" charset="-122"/>
                <a:cs typeface="Microsoft YaHei" pitchFamily="34" charset="-120"/>
              </a:rPr>
              <a:t>Session</a:t>
            </a:r>
            <a:endParaRPr lang="en-US" sz="1467" dirty="0">
              <a:solidFill>
                <a:prstClr val="black"/>
              </a:solidFill>
              <a:latin typeface="Calibri" panose="020F0502020204030204"/>
            </a:endParaRPr>
          </a:p>
        </p:txBody>
      </p:sp>
      <p:sp>
        <p:nvSpPr>
          <p:cNvPr id="37" name="Text 35"/>
          <p:cNvSpPr/>
          <p:nvPr/>
        </p:nvSpPr>
        <p:spPr>
          <a:xfrm>
            <a:off x="7559040" y="438912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App-layer managed (memory / Cosmos DB)</a:t>
            </a:r>
            <a:endParaRPr lang="en-US" sz="1400" dirty="0">
              <a:solidFill>
                <a:prstClr val="black"/>
              </a:solidFill>
              <a:latin typeface="Calibri" panose="020F0502020204030204"/>
            </a:endParaRPr>
          </a:p>
        </p:txBody>
      </p:sp>
      <p:sp>
        <p:nvSpPr>
          <p:cNvPr id="38" name="Text 36"/>
          <p:cNvSpPr/>
          <p:nvPr/>
        </p:nvSpPr>
        <p:spPr>
          <a:xfrm>
            <a:off x="6461760" y="4937760"/>
            <a:ext cx="1036320" cy="390144"/>
          </a:xfrm>
          <a:prstGeom prst="rect">
            <a:avLst/>
          </a:prstGeom>
          <a:noFill/>
          <a:ln/>
        </p:spPr>
        <p:txBody>
          <a:bodyPr wrap="square" lIns="0" tIns="0" rIns="0" bIns="0" rtlCol="0" anchor="ctr"/>
          <a:lstStyle/>
          <a:p>
            <a:pPr defTabSz="1219170"/>
            <a:r>
              <a:rPr lang="en-US" sz="1467" b="1" dirty="0">
                <a:solidFill>
                  <a:srgbClr val="FFB900"/>
                </a:solidFill>
                <a:latin typeface="Microsoft YaHei" pitchFamily="34" charset="0"/>
                <a:ea typeface="Microsoft YaHei" pitchFamily="34" charset="-122"/>
                <a:cs typeface="Microsoft YaHei" pitchFamily="34" charset="-120"/>
              </a:rPr>
              <a:t>Streaming</a:t>
            </a:r>
            <a:endParaRPr lang="en-US" sz="1467" dirty="0">
              <a:solidFill>
                <a:prstClr val="black"/>
              </a:solidFill>
              <a:latin typeface="Calibri" panose="020F0502020204030204"/>
            </a:endParaRPr>
          </a:p>
        </p:txBody>
      </p:sp>
      <p:sp>
        <p:nvSpPr>
          <p:cNvPr id="39" name="Text 37"/>
          <p:cNvSpPr/>
          <p:nvPr/>
        </p:nvSpPr>
        <p:spPr>
          <a:xfrm>
            <a:off x="7559040" y="493776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Native SSE — fully under your control</a:t>
            </a:r>
            <a:endParaRPr lang="en-US" sz="1400" dirty="0">
              <a:solidFill>
                <a:prstClr val="black"/>
              </a:solidFill>
              <a:latin typeface="Calibri" panose="020F0502020204030204"/>
            </a:endParaRPr>
          </a:p>
        </p:txBody>
      </p:sp>
      <p:sp>
        <p:nvSpPr>
          <p:cNvPr id="40" name="Text 38"/>
          <p:cNvSpPr/>
          <p:nvPr/>
        </p:nvSpPr>
        <p:spPr>
          <a:xfrm>
            <a:off x="6461760" y="5486400"/>
            <a:ext cx="1036320" cy="390144"/>
          </a:xfrm>
          <a:prstGeom prst="rect">
            <a:avLst/>
          </a:prstGeom>
          <a:noFill/>
          <a:ln/>
        </p:spPr>
        <p:txBody>
          <a:bodyPr wrap="square" lIns="0" tIns="0" rIns="0" bIns="0" rtlCol="0" anchor="ctr"/>
          <a:lstStyle/>
          <a:p>
            <a:pPr defTabSz="1219170"/>
            <a:r>
              <a:rPr lang="en-US" sz="1467" b="1" dirty="0">
                <a:solidFill>
                  <a:srgbClr val="FFB900"/>
                </a:solidFill>
                <a:latin typeface="Microsoft YaHei" pitchFamily="34" charset="0"/>
                <a:ea typeface="Microsoft YaHei" pitchFamily="34" charset="-122"/>
                <a:cs typeface="Microsoft YaHei" pitchFamily="34" charset="-120"/>
              </a:rPr>
              <a:t>Background</a:t>
            </a:r>
            <a:endParaRPr lang="en-US" sz="1467" dirty="0">
              <a:solidFill>
                <a:prstClr val="black"/>
              </a:solidFill>
              <a:latin typeface="Calibri" panose="020F0502020204030204"/>
            </a:endParaRPr>
          </a:p>
        </p:txBody>
      </p:sp>
      <p:sp>
        <p:nvSpPr>
          <p:cNvPr id="41" name="Text 39"/>
          <p:cNvSpPr/>
          <p:nvPr/>
        </p:nvSpPr>
        <p:spPr>
          <a:xfrm>
            <a:off x="7559040" y="5486400"/>
            <a:ext cx="4023360" cy="4876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Track tasks yourself and implement polling endpoints</a:t>
            </a:r>
            <a:endParaRPr lang="en-US" sz="1400" dirty="0">
              <a:solidFill>
                <a:prstClr val="black"/>
              </a:solidFill>
              <a:latin typeface="Calibri" panose="020F0502020204030204"/>
            </a:endParaRPr>
          </a:p>
        </p:txBody>
      </p:sp>
      <p:sp>
        <p:nvSpPr>
          <p:cNvPr id="42" name="Text 40"/>
          <p:cNvSpPr/>
          <p:nvPr/>
        </p:nvSpPr>
        <p:spPr>
          <a:xfrm>
            <a:off x="487680" y="6156960"/>
            <a:ext cx="9753600" cy="304800"/>
          </a:xfrm>
          <a:prstGeom prst="rect">
            <a:avLst/>
          </a:prstGeom>
          <a:noFill/>
          <a:ln/>
        </p:spPr>
        <p:txBody>
          <a:bodyPr wrap="square" lIns="0" tIns="0" rIns="0" bIns="0" rtlCol="0" anchor="ctr"/>
          <a:lstStyle/>
          <a:p>
            <a:pPr algn="ctr" defTabSz="1219170"/>
            <a:r>
              <a:rPr lang="en-US" sz="1333" i="1" dirty="0">
                <a:solidFill>
                  <a:srgbClr val="5B6671"/>
                </a:solidFill>
                <a:latin typeface="Microsoft YaHei" pitchFamily="34" charset="0"/>
                <a:ea typeface="Microsoft YaHei" pitchFamily="34" charset="-122"/>
                <a:cs typeface="Microsoft YaHei" pitchFamily="34" charset="-120"/>
              </a:rPr>
              <a:t>Both protocols can run simultaneously, and can layer Activity (Teams/M365) and A2A (Agent-to-Agent) protocols on top</a:t>
            </a:r>
            <a:endParaRPr lang="en-US" sz="1333" dirty="0">
              <a:solidFill>
                <a:prstClr val="black"/>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Azure Foundry</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Agent identity and endpoints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Every managed Agent automatically gets a dedicated Entra ID and endpoint</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14 / 40</a:t>
            </a:r>
            <a:endParaRPr lang="en-US" sz="1200" dirty="0">
              <a:solidFill>
                <a:prstClr val="black"/>
              </a:solidFill>
              <a:latin typeface="Calibri" panose="020F0502020204030204"/>
            </a:endParaRPr>
          </a:p>
        </p:txBody>
      </p:sp>
      <p:sp>
        <p:nvSpPr>
          <p:cNvPr id="10" name="Shape 8"/>
          <p:cNvSpPr/>
          <p:nvPr/>
        </p:nvSpPr>
        <p:spPr>
          <a:xfrm>
            <a:off x="487680" y="1889760"/>
            <a:ext cx="5608320" cy="43281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432816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5120640" cy="390144"/>
          </a:xfrm>
          <a:prstGeom prst="rect">
            <a:avLst/>
          </a:prstGeom>
          <a:noFill/>
          <a:ln/>
        </p:spPr>
        <p:txBody>
          <a:bodyPr wrap="square" lIns="0" tIns="0" rIns="0" bIns="0" rtlCol="0" anchor="ctr"/>
          <a:lstStyle/>
          <a:p>
            <a:pPr defTabSz="1219170"/>
            <a:r>
              <a:rPr lang="en-US" sz="1867" b="1" dirty="0">
                <a:solidFill>
                  <a:srgbClr val="0078D4"/>
                </a:solidFill>
                <a:latin typeface="Microsoft YaHei" pitchFamily="34" charset="0"/>
                <a:ea typeface="Microsoft YaHei" pitchFamily="34" charset="-122"/>
                <a:cs typeface="Microsoft YaHei" pitchFamily="34" charset="-120"/>
              </a:rPr>
              <a:t>Roles of the two identities</a:t>
            </a:r>
            <a:endParaRPr lang="en-US" sz="1867" dirty="0">
              <a:solidFill>
                <a:prstClr val="black"/>
              </a:solidFill>
              <a:latin typeface="Calibri" panose="020F0502020204030204"/>
            </a:endParaRPr>
          </a:p>
        </p:txBody>
      </p:sp>
      <p:sp>
        <p:nvSpPr>
          <p:cNvPr id="13" name="Shape 11"/>
          <p:cNvSpPr/>
          <p:nvPr/>
        </p:nvSpPr>
        <p:spPr>
          <a:xfrm>
            <a:off x="731520" y="2621280"/>
            <a:ext cx="5120640" cy="152400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4" name="Shape 12"/>
          <p:cNvSpPr/>
          <p:nvPr/>
        </p:nvSpPr>
        <p:spPr>
          <a:xfrm>
            <a:off x="731520" y="2621280"/>
            <a:ext cx="97536" cy="152400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5" name="Text 13"/>
          <p:cNvSpPr/>
          <p:nvPr/>
        </p:nvSpPr>
        <p:spPr>
          <a:xfrm>
            <a:off x="914400" y="2743200"/>
            <a:ext cx="4754880" cy="365760"/>
          </a:xfrm>
          <a:prstGeom prst="rect">
            <a:avLst/>
          </a:prstGeom>
          <a:noFill/>
          <a:ln/>
        </p:spPr>
        <p:txBody>
          <a:bodyPr wrap="square" lIns="0" tIns="0" rIns="0" bIns="0" rtlCol="0" anchor="ctr"/>
          <a:lstStyle/>
          <a:p>
            <a:pPr defTabSz="1219170"/>
            <a:r>
              <a:rPr lang="en-US" sz="1600" b="1" dirty="0">
                <a:solidFill>
                  <a:srgbClr val="0F2A47"/>
                </a:solidFill>
                <a:latin typeface="Microsoft YaHei" pitchFamily="34" charset="0"/>
                <a:ea typeface="Microsoft YaHei" pitchFamily="34" charset="-122"/>
                <a:cs typeface="Microsoft YaHei" pitchFamily="34" charset="-120"/>
              </a:rPr>
              <a:t>Microsoft Entra ID(Agent identity)</a:t>
            </a:r>
            <a:endParaRPr lang="en-US" sz="1600" dirty="0">
              <a:solidFill>
                <a:prstClr val="black"/>
              </a:solidFill>
              <a:latin typeface="Calibri" panose="020F0502020204030204"/>
            </a:endParaRPr>
          </a:p>
        </p:txBody>
      </p:sp>
      <p:sp>
        <p:nvSpPr>
          <p:cNvPr id="16" name="Text 14"/>
          <p:cNvSpPr/>
          <p:nvPr/>
        </p:nvSpPr>
        <p:spPr>
          <a:xfrm>
            <a:off x="914400" y="3108960"/>
            <a:ext cx="4754880" cy="1036320"/>
          </a:xfrm>
          <a:prstGeom prst="rect">
            <a:avLst/>
          </a:prstGeom>
          <a:noFill/>
          <a:ln/>
        </p:spPr>
        <p:txBody>
          <a:bodyPr wrap="square" lIns="0" tIns="0" rIns="0" bIns="0" rtlCol="0" anchor="t"/>
          <a:lstStyle/>
          <a:p>
            <a:pPr defTabSz="1219170"/>
            <a:r>
              <a:rPr lang="en-US" sz="1333" dirty="0">
                <a:solidFill>
                  <a:srgbClr val="1F2937"/>
                </a:solidFill>
                <a:latin typeface="Microsoft YaHei" pitchFamily="34" charset="0"/>
                <a:ea typeface="Microsoft YaHei" pitchFamily="34" charset="-122"/>
                <a:cs typeface="Microsoft YaHei" pitchFamily="34" charset="-120"/>
              </a:rPr>
              <a:t>• Auto-created at deployment — independent per Agent</a:t>
            </a:r>
            <a:endParaRPr lang="en-US" sz="1333" dirty="0">
              <a:solidFill>
                <a:prstClr val="black"/>
              </a:solidFill>
              <a:latin typeface="Calibri" panose="020F0502020204030204"/>
            </a:endParaRPr>
          </a:p>
          <a:p>
            <a:pPr defTabSz="1219170"/>
            <a:r>
              <a:rPr lang="en-US" sz="1333" dirty="0">
                <a:solidFill>
                  <a:srgbClr val="1F2937"/>
                </a:solidFill>
                <a:latin typeface="Microsoft YaHei" pitchFamily="34" charset="0"/>
                <a:ea typeface="Microsoft YaHei" pitchFamily="34" charset="-122"/>
                <a:cs typeface="Microsoft YaHei" pitchFamily="34" charset="-120"/>
              </a:rPr>
              <a:t>• Container-runtime auth — calls models and downstream services</a:t>
            </a:r>
            <a:endParaRPr lang="en-US" sz="1333" dirty="0">
              <a:solidFill>
                <a:prstClr val="black"/>
              </a:solidFill>
              <a:latin typeface="Calibri" panose="020F0502020204030204"/>
            </a:endParaRPr>
          </a:p>
          <a:p>
            <a:pPr defTabSz="1219170"/>
            <a:r>
              <a:rPr lang="en-US" sz="1333" dirty="0">
                <a:solidFill>
                  <a:srgbClr val="1F2937"/>
                </a:solidFill>
                <a:latin typeface="Microsoft YaHei" pitchFamily="34" charset="0"/>
                <a:ea typeface="Microsoft YaHei" pitchFamily="34" charset="-122"/>
                <a:cs typeface="Microsoft YaHei" pitchFamily="34" charset="-120"/>
              </a:rPr>
              <a:t>• Auto-granted the Azure AI User role via azd</a:t>
            </a:r>
            <a:endParaRPr lang="en-US" sz="1333" dirty="0">
              <a:solidFill>
                <a:prstClr val="black"/>
              </a:solidFill>
              <a:latin typeface="Calibri" panose="020F0502020204030204"/>
            </a:endParaRPr>
          </a:p>
        </p:txBody>
      </p:sp>
      <p:sp>
        <p:nvSpPr>
          <p:cNvPr id="17" name="Shape 15"/>
          <p:cNvSpPr/>
          <p:nvPr/>
        </p:nvSpPr>
        <p:spPr>
          <a:xfrm>
            <a:off x="731520" y="4328160"/>
            <a:ext cx="5120640" cy="17068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8" name="Shape 16"/>
          <p:cNvSpPr/>
          <p:nvPr/>
        </p:nvSpPr>
        <p:spPr>
          <a:xfrm>
            <a:off x="731520" y="4328160"/>
            <a:ext cx="97536" cy="170688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19" name="Text 17"/>
          <p:cNvSpPr/>
          <p:nvPr/>
        </p:nvSpPr>
        <p:spPr>
          <a:xfrm>
            <a:off x="914400" y="4450080"/>
            <a:ext cx="4754880" cy="365760"/>
          </a:xfrm>
          <a:prstGeom prst="rect">
            <a:avLst/>
          </a:prstGeom>
          <a:noFill/>
          <a:ln/>
        </p:spPr>
        <p:txBody>
          <a:bodyPr wrap="square" lIns="0" tIns="0" rIns="0" bIns="0" rtlCol="0" anchor="ctr"/>
          <a:lstStyle/>
          <a:p>
            <a:pPr defTabSz="1219170"/>
            <a:r>
              <a:rPr lang="en-US" sz="1600" b="1" dirty="0">
                <a:solidFill>
                  <a:srgbClr val="0F2A47"/>
                </a:solidFill>
                <a:latin typeface="Microsoft YaHei" pitchFamily="34" charset="0"/>
                <a:ea typeface="Microsoft YaHei" pitchFamily="34" charset="-122"/>
                <a:cs typeface="Microsoft YaHei" pitchFamily="34" charset="-120"/>
              </a:rPr>
              <a:t>Project Managed Identity(project-level)</a:t>
            </a:r>
            <a:endParaRPr lang="en-US" sz="1600" dirty="0">
              <a:solidFill>
                <a:prstClr val="black"/>
              </a:solidFill>
              <a:latin typeface="Calibri" panose="020F0502020204030204"/>
            </a:endParaRPr>
          </a:p>
        </p:txBody>
      </p:sp>
      <p:sp>
        <p:nvSpPr>
          <p:cNvPr id="20" name="Text 18"/>
          <p:cNvSpPr/>
          <p:nvPr/>
        </p:nvSpPr>
        <p:spPr>
          <a:xfrm>
            <a:off x="914400" y="4815840"/>
            <a:ext cx="4754880" cy="1219200"/>
          </a:xfrm>
          <a:prstGeom prst="rect">
            <a:avLst/>
          </a:prstGeom>
          <a:noFill/>
          <a:ln/>
        </p:spPr>
        <p:txBody>
          <a:bodyPr wrap="square" lIns="0" tIns="0" rIns="0" bIns="0" rtlCol="0" anchor="t"/>
          <a:lstStyle/>
          <a:p>
            <a:pPr defTabSz="1219170"/>
            <a:r>
              <a:rPr lang="en-US" sz="1333" dirty="0">
                <a:solidFill>
                  <a:srgbClr val="1F2937"/>
                </a:solidFill>
                <a:latin typeface="Microsoft YaHei" pitchFamily="34" charset="0"/>
                <a:ea typeface="Microsoft YaHei" pitchFamily="34" charset="-122"/>
                <a:cs typeface="Microsoft YaHei" pitchFamily="34" charset="-120"/>
              </a:rPr>
              <a:t>• System-assigned identity at the Foundry project</a:t>
            </a:r>
            <a:endParaRPr lang="en-US" sz="1333" dirty="0">
              <a:solidFill>
                <a:prstClr val="black"/>
              </a:solidFill>
              <a:latin typeface="Calibri" panose="020F0502020204030204"/>
            </a:endParaRPr>
          </a:p>
          <a:p>
            <a:pPr defTabSz="1219170"/>
            <a:r>
              <a:rPr lang="en-US" sz="1333" dirty="0">
                <a:solidFill>
                  <a:srgbClr val="1F2937"/>
                </a:solidFill>
                <a:latin typeface="Microsoft YaHei" pitchFamily="34" charset="0"/>
                <a:ea typeface="Microsoft YaHei" pitchFamily="34" charset="-122"/>
                <a:cs typeface="Microsoft YaHei" pitchFamily="34" charset="-120"/>
              </a:rPr>
              <a:t>• Dedicated to platform-infrastructure operations</a:t>
            </a:r>
            <a:endParaRPr lang="en-US" sz="1333" dirty="0">
              <a:solidFill>
                <a:prstClr val="black"/>
              </a:solidFill>
              <a:latin typeface="Calibri" panose="020F0502020204030204"/>
            </a:endParaRPr>
          </a:p>
          <a:p>
            <a:pPr defTabSz="1219170"/>
            <a:r>
              <a:rPr lang="en-US" sz="1333" dirty="0">
                <a:solidFill>
                  <a:srgbClr val="1F2937"/>
                </a:solidFill>
                <a:latin typeface="Microsoft YaHei" pitchFamily="34" charset="0"/>
                <a:ea typeface="Microsoft YaHei" pitchFamily="34" charset="-122"/>
                <a:cs typeface="Microsoft YaHei" pitchFamily="34" charset="-120"/>
              </a:rPr>
              <a:t>• e.g., Container Registry Reader</a:t>
            </a:r>
            <a:endParaRPr lang="en-US" sz="1333" dirty="0">
              <a:solidFill>
                <a:prstClr val="black"/>
              </a:solidFill>
              <a:latin typeface="Calibri" panose="020F0502020204030204"/>
            </a:endParaRPr>
          </a:p>
          <a:p>
            <a:pPr defTabSz="1219170"/>
            <a:r>
              <a:rPr lang="en-US" sz="1333" dirty="0">
                <a:solidFill>
                  <a:srgbClr val="1F2937"/>
                </a:solidFill>
                <a:latin typeface="Microsoft YaHei" pitchFamily="34" charset="0"/>
                <a:ea typeface="Microsoft YaHei" pitchFamily="34" charset="-122"/>
                <a:cs typeface="Microsoft YaHei" pitchFamily="34" charset="-120"/>
              </a:rPr>
              <a:t>• Separate from the Agent's runtime identity</a:t>
            </a:r>
            <a:endParaRPr lang="en-US" sz="1333" dirty="0">
              <a:solidFill>
                <a:prstClr val="black"/>
              </a:solidFill>
              <a:latin typeface="Calibri" panose="020F0502020204030204"/>
            </a:endParaRPr>
          </a:p>
        </p:txBody>
      </p:sp>
      <p:sp>
        <p:nvSpPr>
          <p:cNvPr id="21" name="Shape 19"/>
          <p:cNvSpPr/>
          <p:nvPr/>
        </p:nvSpPr>
        <p:spPr>
          <a:xfrm>
            <a:off x="6339840" y="1889760"/>
            <a:ext cx="5364480" cy="43281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2" name="Shape 20"/>
          <p:cNvSpPr/>
          <p:nvPr/>
        </p:nvSpPr>
        <p:spPr>
          <a:xfrm>
            <a:off x="6339840" y="1889760"/>
            <a:ext cx="97536" cy="432816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3" name="Text 21"/>
          <p:cNvSpPr/>
          <p:nvPr/>
        </p:nvSpPr>
        <p:spPr>
          <a:xfrm>
            <a:off x="6583680" y="2072640"/>
            <a:ext cx="4876800" cy="390144"/>
          </a:xfrm>
          <a:prstGeom prst="rect">
            <a:avLst/>
          </a:prstGeom>
          <a:noFill/>
          <a:ln/>
        </p:spPr>
        <p:txBody>
          <a:bodyPr wrap="square" lIns="0" tIns="0" rIns="0" bIns="0" rtlCol="0" anchor="ctr"/>
          <a:lstStyle/>
          <a:p>
            <a:pPr defTabSz="1219170"/>
            <a:r>
              <a:rPr lang="en-US" sz="1867" b="1" dirty="0">
                <a:solidFill>
                  <a:srgbClr val="FFB900"/>
                </a:solidFill>
                <a:latin typeface="Microsoft YaHei" pitchFamily="34" charset="0"/>
                <a:ea typeface="Microsoft YaHei" pitchFamily="34" charset="-122"/>
                <a:cs typeface="Microsoft YaHei" pitchFamily="34" charset="-120"/>
              </a:rPr>
              <a:t>Auto-exposed endpoints</a:t>
            </a:r>
            <a:endParaRPr lang="en-US" sz="1867" dirty="0">
              <a:solidFill>
                <a:prstClr val="black"/>
              </a:solidFill>
              <a:latin typeface="Calibri" panose="020F0502020204030204"/>
            </a:endParaRPr>
          </a:p>
        </p:txBody>
      </p:sp>
      <p:sp>
        <p:nvSpPr>
          <p:cNvPr id="24" name="Shape 22"/>
          <p:cNvSpPr/>
          <p:nvPr/>
        </p:nvSpPr>
        <p:spPr>
          <a:xfrm>
            <a:off x="6583680" y="2621280"/>
            <a:ext cx="4876800" cy="1280160"/>
          </a:xfrm>
          <a:prstGeom prst="rect">
            <a:avLst/>
          </a:prstGeom>
          <a:solidFill>
            <a:srgbClr val="071A30"/>
          </a:solidFill>
          <a:ln/>
        </p:spPr>
        <p:txBody>
          <a:bodyPr/>
          <a:lstStyle/>
          <a:p>
            <a:pPr defTabSz="1219170"/>
            <a:endParaRPr lang="en-CN" sz="2400">
              <a:solidFill>
                <a:prstClr val="black"/>
              </a:solidFill>
              <a:latin typeface="Calibri" panose="020F0502020204030204"/>
            </a:endParaRPr>
          </a:p>
        </p:txBody>
      </p:sp>
      <p:sp>
        <p:nvSpPr>
          <p:cNvPr id="25" name="Text 23"/>
          <p:cNvSpPr/>
          <p:nvPr/>
        </p:nvSpPr>
        <p:spPr>
          <a:xfrm>
            <a:off x="6766560" y="2682240"/>
            <a:ext cx="4632960" cy="341376"/>
          </a:xfrm>
          <a:prstGeom prst="rect">
            <a:avLst/>
          </a:prstGeom>
          <a:noFill/>
          <a:ln/>
        </p:spPr>
        <p:txBody>
          <a:bodyPr wrap="square" lIns="0" tIns="0" rIns="0" bIns="0" rtlCol="0" anchor="ctr"/>
          <a:lstStyle/>
          <a:p>
            <a:pPr defTabSz="1219170"/>
            <a:r>
              <a:rPr lang="en-US" sz="1333" b="1" dirty="0">
                <a:solidFill>
                  <a:srgbClr val="FFB900"/>
                </a:solidFill>
                <a:latin typeface="Microsoft YaHei" pitchFamily="34" charset="0"/>
                <a:ea typeface="Microsoft YaHei" pitchFamily="34" charset="-122"/>
                <a:cs typeface="Microsoft YaHei" pitchFamily="34" charset="-120"/>
              </a:rPr>
              <a:t>Responses Endpoint</a:t>
            </a:r>
            <a:endParaRPr lang="en-US" sz="1333" dirty="0">
              <a:solidFill>
                <a:prstClr val="black"/>
              </a:solidFill>
              <a:latin typeface="Calibri" panose="020F0502020204030204"/>
            </a:endParaRPr>
          </a:p>
        </p:txBody>
      </p:sp>
      <p:sp>
        <p:nvSpPr>
          <p:cNvPr id="26" name="Text 24"/>
          <p:cNvSpPr/>
          <p:nvPr/>
        </p:nvSpPr>
        <p:spPr>
          <a:xfrm>
            <a:off x="6766560" y="3048000"/>
            <a:ext cx="4632960" cy="792480"/>
          </a:xfrm>
          <a:prstGeom prst="rect">
            <a:avLst/>
          </a:prstGeom>
          <a:noFill/>
          <a:ln/>
        </p:spPr>
        <p:txBody>
          <a:bodyPr wrap="square" lIns="0" tIns="0" rIns="0" bIns="0" rtlCol="0" anchor="t"/>
          <a:lstStyle/>
          <a:p>
            <a:pPr defTabSz="1219170"/>
            <a:r>
              <a:rPr lang="en-US" sz="1333" dirty="0">
                <a:solidFill>
                  <a:srgbClr val="CADCFC"/>
                </a:solidFill>
                <a:latin typeface="Consolas" pitchFamily="34" charset="0"/>
                <a:ea typeface="Consolas" pitchFamily="34" charset="-122"/>
                <a:cs typeface="Consolas" pitchFamily="34" charset="-120"/>
              </a:rPr>
              <a:t>{project_endpoint}/agents/{name}/</a:t>
            </a:r>
            <a:endParaRPr lang="en-US" sz="1333" dirty="0">
              <a:solidFill>
                <a:prstClr val="black"/>
              </a:solidFill>
              <a:latin typeface="Calibri" panose="020F0502020204030204"/>
            </a:endParaRPr>
          </a:p>
          <a:p>
            <a:pPr defTabSz="1219170"/>
            <a:r>
              <a:rPr lang="en-US" sz="1333" dirty="0">
                <a:solidFill>
                  <a:srgbClr val="CADCFC"/>
                </a:solidFill>
                <a:latin typeface="Consolas" pitchFamily="34" charset="0"/>
                <a:ea typeface="Consolas" pitchFamily="34" charset="-122"/>
                <a:cs typeface="Consolas" pitchFamily="34" charset="-120"/>
              </a:rPr>
              <a:t>endpoint/protocols/openai/v1/responses</a:t>
            </a:r>
            <a:endParaRPr lang="en-US" sz="1333" dirty="0">
              <a:solidFill>
                <a:prstClr val="black"/>
              </a:solidFill>
              <a:latin typeface="Calibri" panose="020F0502020204030204"/>
            </a:endParaRPr>
          </a:p>
        </p:txBody>
      </p:sp>
      <p:sp>
        <p:nvSpPr>
          <p:cNvPr id="27" name="Shape 25"/>
          <p:cNvSpPr/>
          <p:nvPr/>
        </p:nvSpPr>
        <p:spPr>
          <a:xfrm>
            <a:off x="6583680" y="4023360"/>
            <a:ext cx="4876800" cy="1280160"/>
          </a:xfrm>
          <a:prstGeom prst="rect">
            <a:avLst/>
          </a:prstGeom>
          <a:solidFill>
            <a:srgbClr val="071A30"/>
          </a:solidFill>
          <a:ln/>
        </p:spPr>
        <p:txBody>
          <a:bodyPr/>
          <a:lstStyle/>
          <a:p>
            <a:pPr defTabSz="1219170"/>
            <a:endParaRPr lang="en-CN" sz="2400">
              <a:solidFill>
                <a:prstClr val="black"/>
              </a:solidFill>
              <a:latin typeface="Calibri" panose="020F0502020204030204"/>
            </a:endParaRPr>
          </a:p>
        </p:txBody>
      </p:sp>
      <p:sp>
        <p:nvSpPr>
          <p:cNvPr id="28" name="Text 26"/>
          <p:cNvSpPr/>
          <p:nvPr/>
        </p:nvSpPr>
        <p:spPr>
          <a:xfrm>
            <a:off x="6766560" y="4084320"/>
            <a:ext cx="4632960" cy="341376"/>
          </a:xfrm>
          <a:prstGeom prst="rect">
            <a:avLst/>
          </a:prstGeom>
          <a:noFill/>
          <a:ln/>
        </p:spPr>
        <p:txBody>
          <a:bodyPr wrap="square" lIns="0" tIns="0" rIns="0" bIns="0" rtlCol="0" anchor="ctr"/>
          <a:lstStyle/>
          <a:p>
            <a:pPr defTabSz="1219170"/>
            <a:r>
              <a:rPr lang="en-US" sz="1333" b="1" dirty="0">
                <a:solidFill>
                  <a:srgbClr val="FFB900"/>
                </a:solidFill>
                <a:latin typeface="Microsoft YaHei" pitchFamily="34" charset="0"/>
                <a:ea typeface="Microsoft YaHei" pitchFamily="34" charset="-122"/>
                <a:cs typeface="Microsoft YaHei" pitchFamily="34" charset="-120"/>
              </a:rPr>
              <a:t>Invocations Endpoint</a:t>
            </a:r>
            <a:endParaRPr lang="en-US" sz="1333" dirty="0">
              <a:solidFill>
                <a:prstClr val="black"/>
              </a:solidFill>
              <a:latin typeface="Calibri" panose="020F0502020204030204"/>
            </a:endParaRPr>
          </a:p>
        </p:txBody>
      </p:sp>
      <p:sp>
        <p:nvSpPr>
          <p:cNvPr id="29" name="Text 27"/>
          <p:cNvSpPr/>
          <p:nvPr/>
        </p:nvSpPr>
        <p:spPr>
          <a:xfrm>
            <a:off x="6766560" y="4450080"/>
            <a:ext cx="4632960" cy="792480"/>
          </a:xfrm>
          <a:prstGeom prst="rect">
            <a:avLst/>
          </a:prstGeom>
          <a:noFill/>
          <a:ln/>
        </p:spPr>
        <p:txBody>
          <a:bodyPr wrap="square" lIns="0" tIns="0" rIns="0" bIns="0" rtlCol="0" anchor="t"/>
          <a:lstStyle/>
          <a:p>
            <a:pPr defTabSz="1219170"/>
            <a:r>
              <a:rPr lang="en-US" sz="1333" dirty="0">
                <a:solidFill>
                  <a:srgbClr val="CADCFC"/>
                </a:solidFill>
                <a:latin typeface="Consolas" pitchFamily="34" charset="0"/>
                <a:ea typeface="Consolas" pitchFamily="34" charset="-122"/>
                <a:cs typeface="Consolas" pitchFamily="34" charset="-120"/>
              </a:rPr>
              <a:t>{project_endpoint}/agents/{name}/</a:t>
            </a:r>
            <a:endParaRPr lang="en-US" sz="1333" dirty="0">
              <a:solidFill>
                <a:prstClr val="black"/>
              </a:solidFill>
              <a:latin typeface="Calibri" panose="020F0502020204030204"/>
            </a:endParaRPr>
          </a:p>
          <a:p>
            <a:pPr defTabSz="1219170"/>
            <a:r>
              <a:rPr lang="en-US" sz="1333" dirty="0">
                <a:solidFill>
                  <a:srgbClr val="CADCFC"/>
                </a:solidFill>
                <a:latin typeface="Consolas" pitchFamily="34" charset="0"/>
                <a:ea typeface="Consolas" pitchFamily="34" charset="-122"/>
                <a:cs typeface="Consolas" pitchFamily="34" charset="-120"/>
              </a:rPr>
              <a:t>endpoint/protocols/invocations</a:t>
            </a:r>
            <a:endParaRPr lang="en-US" sz="1333" dirty="0">
              <a:solidFill>
                <a:prstClr val="black"/>
              </a:solidFill>
              <a:latin typeface="Calibri" panose="020F0502020204030204"/>
            </a:endParaRPr>
          </a:p>
        </p:txBody>
      </p:sp>
      <p:sp>
        <p:nvSpPr>
          <p:cNvPr id="30" name="Text 28"/>
          <p:cNvSpPr/>
          <p:nvPr/>
        </p:nvSpPr>
        <p:spPr>
          <a:xfrm>
            <a:off x="6583680" y="5547360"/>
            <a:ext cx="4876800" cy="609600"/>
          </a:xfrm>
          <a:prstGeom prst="rect">
            <a:avLst/>
          </a:prstGeom>
          <a:noFill/>
          <a:ln/>
        </p:spPr>
        <p:txBody>
          <a:bodyPr wrap="square" lIns="0" tIns="0" rIns="0" bIns="0" rtlCol="0" anchor="t"/>
          <a:lstStyle/>
          <a:p>
            <a:pPr defTabSz="1219170"/>
            <a:r>
              <a:rPr lang="en-US" sz="1333" i="1" dirty="0">
                <a:solidFill>
                  <a:srgbClr val="5B6671"/>
                </a:solidFill>
                <a:latin typeface="Microsoft YaHei" pitchFamily="34" charset="0"/>
                <a:ea typeface="Microsoft YaHei" pitchFamily="34" charset="-122"/>
                <a:cs typeface="Microsoft YaHei" pitchFamily="34" charset="-120"/>
              </a:rPr>
              <a:t>OBO (On-Behalf-Of): can call downstream services on behalf of the user when integrating Teams/M365</a:t>
            </a:r>
            <a:endParaRPr lang="en-US" sz="1333" dirty="0">
              <a:solidFill>
                <a:prstClr val="black"/>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Azure Foundry</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Sessions and Conversations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Two state abstractions serving different protocols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15 / 40</a:t>
            </a:r>
            <a:endParaRPr lang="en-US" sz="1200" dirty="0">
              <a:solidFill>
                <a:prstClr val="black"/>
              </a:solidFill>
              <a:latin typeface="Calibri" panose="020F0502020204030204"/>
            </a:endParaRPr>
          </a:p>
        </p:txBody>
      </p:sp>
      <p:sp>
        <p:nvSpPr>
          <p:cNvPr id="10" name="Shape 8"/>
          <p:cNvSpPr/>
          <p:nvPr/>
        </p:nvSpPr>
        <p:spPr>
          <a:xfrm>
            <a:off x="487680" y="1889760"/>
            <a:ext cx="2072640" cy="609600"/>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11" name="Text 9"/>
          <p:cNvSpPr/>
          <p:nvPr/>
        </p:nvSpPr>
        <p:spPr>
          <a:xfrm>
            <a:off x="609600" y="1889760"/>
            <a:ext cx="1828800" cy="609600"/>
          </a:xfrm>
          <a:prstGeom prst="rect">
            <a:avLst/>
          </a:prstGeom>
          <a:noFill/>
          <a:ln/>
        </p:spPr>
        <p:txBody>
          <a:bodyPr wrap="square" lIns="0" tIns="0" rIns="0" bIns="0" rtlCol="0" anchor="ctr"/>
          <a:lstStyle/>
          <a:p>
            <a:pPr defTabSz="1219170"/>
            <a:r>
              <a:rPr lang="en-US" sz="1733" b="1" dirty="0">
                <a:solidFill>
                  <a:srgbClr val="FFFFFF"/>
                </a:solidFill>
                <a:latin typeface="Microsoft YaHei" pitchFamily="34" charset="0"/>
                <a:ea typeface="Microsoft YaHei" pitchFamily="34" charset="-122"/>
                <a:cs typeface="Microsoft YaHei" pitchFamily="34" charset="-120"/>
              </a:rPr>
              <a:t>Dimension</a:t>
            </a:r>
            <a:endParaRPr lang="en-US" sz="1733" dirty="0">
              <a:solidFill>
                <a:prstClr val="black"/>
              </a:solidFill>
              <a:latin typeface="Calibri" panose="020F0502020204030204"/>
            </a:endParaRPr>
          </a:p>
        </p:txBody>
      </p:sp>
      <p:sp>
        <p:nvSpPr>
          <p:cNvPr id="12" name="Shape 10"/>
          <p:cNvSpPr/>
          <p:nvPr/>
        </p:nvSpPr>
        <p:spPr>
          <a:xfrm>
            <a:off x="2560320" y="1889760"/>
            <a:ext cx="4511040" cy="60960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2682240" y="1889760"/>
            <a:ext cx="4267200" cy="609600"/>
          </a:xfrm>
          <a:prstGeom prst="rect">
            <a:avLst/>
          </a:prstGeom>
          <a:noFill/>
          <a:ln/>
        </p:spPr>
        <p:txBody>
          <a:bodyPr wrap="square" lIns="0" tIns="0" rIns="0" bIns="0" rtlCol="0" anchor="ctr"/>
          <a:lstStyle/>
          <a:p>
            <a:pPr defTabSz="1219170"/>
            <a:r>
              <a:rPr lang="en-US" sz="1733" b="1" dirty="0">
                <a:solidFill>
                  <a:srgbClr val="FFFFFF"/>
                </a:solidFill>
                <a:latin typeface="Microsoft YaHei" pitchFamily="34" charset="0"/>
                <a:ea typeface="Microsoft YaHei" pitchFamily="34" charset="-122"/>
                <a:cs typeface="Microsoft YaHei" pitchFamily="34" charset="-120"/>
              </a:rPr>
              <a:t>Session</a:t>
            </a:r>
            <a:endParaRPr lang="en-US" sz="1733" dirty="0">
              <a:solidFill>
                <a:prstClr val="black"/>
              </a:solidFill>
              <a:latin typeface="Calibri" panose="020F0502020204030204"/>
            </a:endParaRPr>
          </a:p>
        </p:txBody>
      </p:sp>
      <p:sp>
        <p:nvSpPr>
          <p:cNvPr id="14" name="Shape 12"/>
          <p:cNvSpPr/>
          <p:nvPr/>
        </p:nvSpPr>
        <p:spPr>
          <a:xfrm>
            <a:off x="7071360" y="1889760"/>
            <a:ext cx="4632960" cy="60960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5" name="Text 13"/>
          <p:cNvSpPr/>
          <p:nvPr/>
        </p:nvSpPr>
        <p:spPr>
          <a:xfrm>
            <a:off x="7193280" y="1889760"/>
            <a:ext cx="4389120" cy="609600"/>
          </a:xfrm>
          <a:prstGeom prst="rect">
            <a:avLst/>
          </a:prstGeom>
          <a:noFill/>
          <a:ln/>
        </p:spPr>
        <p:txBody>
          <a:bodyPr wrap="square" lIns="0" tIns="0" rIns="0" bIns="0" rtlCol="0" anchor="ctr"/>
          <a:lstStyle/>
          <a:p>
            <a:pPr defTabSz="1219170"/>
            <a:r>
              <a:rPr lang="en-US" sz="1733" b="1" dirty="0">
                <a:solidFill>
                  <a:srgbClr val="0F2A47"/>
                </a:solidFill>
                <a:latin typeface="Microsoft YaHei" pitchFamily="34" charset="0"/>
                <a:ea typeface="Microsoft YaHei" pitchFamily="34" charset="-122"/>
                <a:cs typeface="Microsoft YaHei" pitchFamily="34" charset="-120"/>
              </a:rPr>
              <a:t>Conversation</a:t>
            </a:r>
            <a:endParaRPr lang="en-US" sz="1733" dirty="0">
              <a:solidFill>
                <a:prstClr val="black"/>
              </a:solidFill>
              <a:latin typeface="Calibri" panose="020F0502020204030204"/>
            </a:endParaRPr>
          </a:p>
        </p:txBody>
      </p:sp>
      <p:sp>
        <p:nvSpPr>
          <p:cNvPr id="16" name="Shape 14"/>
          <p:cNvSpPr/>
          <p:nvPr/>
        </p:nvSpPr>
        <p:spPr>
          <a:xfrm>
            <a:off x="487680" y="2499360"/>
            <a:ext cx="11216640" cy="536448"/>
          </a:xfrm>
          <a:prstGeom prst="rect">
            <a:avLst/>
          </a:prstGeom>
          <a:solidFill>
            <a:srgbClr val="FFFFFF"/>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17" name="Text 15"/>
          <p:cNvSpPr/>
          <p:nvPr/>
        </p:nvSpPr>
        <p:spPr>
          <a:xfrm>
            <a:off x="609600" y="2499360"/>
            <a:ext cx="1828800" cy="536448"/>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Definition</a:t>
            </a:r>
            <a:endParaRPr lang="en-US" sz="1467" dirty="0">
              <a:solidFill>
                <a:prstClr val="black"/>
              </a:solidFill>
              <a:latin typeface="Calibri" panose="020F0502020204030204"/>
            </a:endParaRPr>
          </a:p>
        </p:txBody>
      </p:sp>
      <p:sp>
        <p:nvSpPr>
          <p:cNvPr id="18" name="Text 16"/>
          <p:cNvSpPr/>
          <p:nvPr/>
        </p:nvSpPr>
        <p:spPr>
          <a:xfrm>
            <a:off x="2682240" y="2499360"/>
            <a:ext cx="426720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Logical session containing $HOME and /files</a:t>
            </a:r>
            <a:endParaRPr lang="en-US" sz="1467" dirty="0">
              <a:solidFill>
                <a:prstClr val="black"/>
              </a:solidFill>
              <a:latin typeface="Calibri" panose="020F0502020204030204"/>
            </a:endParaRPr>
          </a:p>
        </p:txBody>
      </p:sp>
      <p:sp>
        <p:nvSpPr>
          <p:cNvPr id="19" name="Text 17"/>
          <p:cNvSpPr/>
          <p:nvPr/>
        </p:nvSpPr>
        <p:spPr>
          <a:xfrm>
            <a:off x="7193280" y="2499360"/>
            <a:ext cx="438912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Conversation history stored in Foundry</a:t>
            </a:r>
            <a:endParaRPr lang="en-US" sz="1467" dirty="0">
              <a:solidFill>
                <a:prstClr val="black"/>
              </a:solidFill>
              <a:latin typeface="Calibri" panose="020F0502020204030204"/>
            </a:endParaRPr>
          </a:p>
        </p:txBody>
      </p:sp>
      <p:sp>
        <p:nvSpPr>
          <p:cNvPr id="20" name="Shape 18"/>
          <p:cNvSpPr/>
          <p:nvPr/>
        </p:nvSpPr>
        <p:spPr>
          <a:xfrm>
            <a:off x="487680" y="3035808"/>
            <a:ext cx="11216640" cy="536448"/>
          </a:xfrm>
          <a:prstGeom prst="rect">
            <a:avLst/>
          </a:prstGeom>
          <a:solidFill>
            <a:srgbClr val="F8F9FB"/>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21" name="Text 19"/>
          <p:cNvSpPr/>
          <p:nvPr/>
        </p:nvSpPr>
        <p:spPr>
          <a:xfrm>
            <a:off x="609600" y="3035808"/>
            <a:ext cx="1828800" cy="536448"/>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Persistence</a:t>
            </a:r>
            <a:endParaRPr lang="en-US" sz="1467" dirty="0">
              <a:solidFill>
                <a:prstClr val="black"/>
              </a:solidFill>
              <a:latin typeface="Calibri" panose="020F0502020204030204"/>
            </a:endParaRPr>
          </a:p>
        </p:txBody>
      </p:sp>
      <p:sp>
        <p:nvSpPr>
          <p:cNvPr id="22" name="Text 20"/>
          <p:cNvSpPr/>
          <p:nvPr/>
        </p:nvSpPr>
        <p:spPr>
          <a:xfrm>
            <a:off x="2682240" y="3035808"/>
            <a:ext cx="426720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$HOME and /files persisted across turns</a:t>
            </a:r>
            <a:endParaRPr lang="en-US" sz="1467" dirty="0">
              <a:solidFill>
                <a:prstClr val="black"/>
              </a:solidFill>
              <a:latin typeface="Calibri" panose="020F0502020204030204"/>
            </a:endParaRPr>
          </a:p>
        </p:txBody>
      </p:sp>
      <p:sp>
        <p:nvSpPr>
          <p:cNvPr id="23" name="Text 21"/>
          <p:cNvSpPr/>
          <p:nvPr/>
        </p:nvSpPr>
        <p:spPr>
          <a:xfrm>
            <a:off x="7193280" y="3035808"/>
            <a:ext cx="438912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Messages, tool calls, and responses</a:t>
            </a:r>
            <a:endParaRPr lang="en-US" sz="1467" dirty="0">
              <a:solidFill>
                <a:prstClr val="black"/>
              </a:solidFill>
              <a:latin typeface="Calibri" panose="020F0502020204030204"/>
            </a:endParaRPr>
          </a:p>
        </p:txBody>
      </p:sp>
      <p:sp>
        <p:nvSpPr>
          <p:cNvPr id="24" name="Shape 22"/>
          <p:cNvSpPr/>
          <p:nvPr/>
        </p:nvSpPr>
        <p:spPr>
          <a:xfrm>
            <a:off x="487680" y="3572256"/>
            <a:ext cx="11216640" cy="536448"/>
          </a:xfrm>
          <a:prstGeom prst="rect">
            <a:avLst/>
          </a:prstGeom>
          <a:solidFill>
            <a:srgbClr val="FFFFFF"/>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25" name="Text 23"/>
          <p:cNvSpPr/>
          <p:nvPr/>
        </p:nvSpPr>
        <p:spPr>
          <a:xfrm>
            <a:off x="609600" y="3572256"/>
            <a:ext cx="1828800" cy="536448"/>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Lifecycle</a:t>
            </a:r>
            <a:endParaRPr lang="en-US" sz="1467" dirty="0">
              <a:solidFill>
                <a:prstClr val="black"/>
              </a:solidFill>
              <a:latin typeface="Calibri" panose="020F0502020204030204"/>
            </a:endParaRPr>
          </a:p>
        </p:txBody>
      </p:sp>
      <p:sp>
        <p:nvSpPr>
          <p:cNvPr id="26" name="Text 24"/>
          <p:cNvSpPr/>
          <p:nvPr/>
        </p:nvSpPr>
        <p:spPr>
          <a:xfrm>
            <a:off x="2682240" y="3572256"/>
            <a:ext cx="426720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30-day cap, unloaded after 15 minutes idle</a:t>
            </a:r>
            <a:endParaRPr lang="en-US" sz="1467" dirty="0">
              <a:solidFill>
                <a:prstClr val="black"/>
              </a:solidFill>
              <a:latin typeface="Calibri" panose="020F0502020204030204"/>
            </a:endParaRPr>
          </a:p>
        </p:txBody>
      </p:sp>
      <p:sp>
        <p:nvSpPr>
          <p:cNvPr id="27" name="Text 25"/>
          <p:cNvSpPr/>
          <p:nvPr/>
        </p:nvSpPr>
        <p:spPr>
          <a:xfrm>
            <a:off x="7193280" y="3572256"/>
            <a:ext cx="438912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Long-term storage independent of compute state</a:t>
            </a:r>
            <a:endParaRPr lang="en-US" sz="1467" dirty="0">
              <a:solidFill>
                <a:prstClr val="black"/>
              </a:solidFill>
              <a:latin typeface="Calibri" panose="020F0502020204030204"/>
            </a:endParaRPr>
          </a:p>
        </p:txBody>
      </p:sp>
      <p:sp>
        <p:nvSpPr>
          <p:cNvPr id="28" name="Shape 26"/>
          <p:cNvSpPr/>
          <p:nvPr/>
        </p:nvSpPr>
        <p:spPr>
          <a:xfrm>
            <a:off x="487680" y="4108704"/>
            <a:ext cx="11216640" cy="536448"/>
          </a:xfrm>
          <a:prstGeom prst="rect">
            <a:avLst/>
          </a:prstGeom>
          <a:solidFill>
            <a:srgbClr val="F8F9FB"/>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29" name="Text 27"/>
          <p:cNvSpPr/>
          <p:nvPr/>
        </p:nvSpPr>
        <p:spPr>
          <a:xfrm>
            <a:off x="609600" y="4108704"/>
            <a:ext cx="1828800" cy="536448"/>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Dominant protocol</a:t>
            </a:r>
            <a:endParaRPr lang="en-US" sz="1467" dirty="0">
              <a:solidFill>
                <a:prstClr val="black"/>
              </a:solidFill>
              <a:latin typeface="Calibri" panose="020F0502020204030204"/>
            </a:endParaRPr>
          </a:p>
        </p:txBody>
      </p:sp>
      <p:sp>
        <p:nvSpPr>
          <p:cNvPr id="30" name="Text 28"/>
          <p:cNvSpPr/>
          <p:nvPr/>
        </p:nvSpPr>
        <p:spPr>
          <a:xfrm>
            <a:off x="2682240" y="4108704"/>
            <a:ext cx="426720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Invocations protocol-led</a:t>
            </a:r>
            <a:endParaRPr lang="en-US" sz="1467" dirty="0">
              <a:solidFill>
                <a:prstClr val="black"/>
              </a:solidFill>
              <a:latin typeface="Calibri" panose="020F0502020204030204"/>
            </a:endParaRPr>
          </a:p>
        </p:txBody>
      </p:sp>
      <p:sp>
        <p:nvSpPr>
          <p:cNvPr id="31" name="Text 29"/>
          <p:cNvSpPr/>
          <p:nvPr/>
        </p:nvSpPr>
        <p:spPr>
          <a:xfrm>
            <a:off x="7193280" y="4108704"/>
            <a:ext cx="438912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Responses protocol-led</a:t>
            </a:r>
            <a:endParaRPr lang="en-US" sz="1467" dirty="0">
              <a:solidFill>
                <a:prstClr val="black"/>
              </a:solidFill>
              <a:latin typeface="Calibri" panose="020F0502020204030204"/>
            </a:endParaRPr>
          </a:p>
        </p:txBody>
      </p:sp>
      <p:sp>
        <p:nvSpPr>
          <p:cNvPr id="32" name="Shape 30"/>
          <p:cNvSpPr/>
          <p:nvPr/>
        </p:nvSpPr>
        <p:spPr>
          <a:xfrm>
            <a:off x="487680" y="4645152"/>
            <a:ext cx="11216640" cy="536448"/>
          </a:xfrm>
          <a:prstGeom prst="rect">
            <a:avLst/>
          </a:prstGeom>
          <a:solidFill>
            <a:srgbClr val="FFFFFF"/>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33" name="Text 31"/>
          <p:cNvSpPr/>
          <p:nvPr/>
        </p:nvSpPr>
        <p:spPr>
          <a:xfrm>
            <a:off x="609600" y="4645152"/>
            <a:ext cx="1828800" cy="536448"/>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Cross-channel</a:t>
            </a:r>
            <a:endParaRPr lang="en-US" sz="1467" dirty="0">
              <a:solidFill>
                <a:prstClr val="black"/>
              </a:solidFill>
              <a:latin typeface="Calibri" panose="020F0502020204030204"/>
            </a:endParaRPr>
          </a:p>
        </p:txBody>
      </p:sp>
      <p:sp>
        <p:nvSpPr>
          <p:cNvPr id="34" name="Text 32"/>
          <p:cNvSpPr/>
          <p:nvPr/>
        </p:nvSpPr>
        <p:spPr>
          <a:xfrm>
            <a:off x="2682240" y="4645152"/>
            <a:ext cx="426720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Bound to session ID</a:t>
            </a:r>
            <a:endParaRPr lang="en-US" sz="1467" dirty="0">
              <a:solidFill>
                <a:prstClr val="black"/>
              </a:solidFill>
              <a:latin typeface="Calibri" panose="020F0502020204030204"/>
            </a:endParaRPr>
          </a:p>
        </p:txBody>
      </p:sp>
      <p:sp>
        <p:nvSpPr>
          <p:cNvPr id="35" name="Text 33"/>
          <p:cNvSpPr/>
          <p:nvPr/>
        </p:nvSpPr>
        <p:spPr>
          <a:xfrm>
            <a:off x="7193280" y="4645152"/>
            <a:ext cx="438912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Shared across Playground / API / Teams</a:t>
            </a:r>
            <a:endParaRPr lang="en-US" sz="1467" dirty="0">
              <a:solidFill>
                <a:prstClr val="black"/>
              </a:solidFill>
              <a:latin typeface="Calibri" panose="020F0502020204030204"/>
            </a:endParaRPr>
          </a:p>
        </p:txBody>
      </p:sp>
      <p:sp>
        <p:nvSpPr>
          <p:cNvPr id="36" name="Shape 34"/>
          <p:cNvSpPr/>
          <p:nvPr/>
        </p:nvSpPr>
        <p:spPr>
          <a:xfrm>
            <a:off x="487680" y="5181600"/>
            <a:ext cx="11216640" cy="536448"/>
          </a:xfrm>
          <a:prstGeom prst="rect">
            <a:avLst/>
          </a:prstGeom>
          <a:solidFill>
            <a:srgbClr val="F8F9FB"/>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37" name="Text 35"/>
          <p:cNvSpPr/>
          <p:nvPr/>
        </p:nvSpPr>
        <p:spPr>
          <a:xfrm>
            <a:off x="609600" y="5181600"/>
            <a:ext cx="1828800" cy="536448"/>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Management API</a:t>
            </a:r>
            <a:endParaRPr lang="en-US" sz="1467" dirty="0">
              <a:solidFill>
                <a:prstClr val="black"/>
              </a:solidFill>
              <a:latin typeface="Calibri" panose="020F0502020204030204"/>
            </a:endParaRPr>
          </a:p>
        </p:txBody>
      </p:sp>
      <p:sp>
        <p:nvSpPr>
          <p:cNvPr id="38" name="Text 36"/>
          <p:cNvSpPr/>
          <p:nvPr/>
        </p:nvSpPr>
        <p:spPr>
          <a:xfrm>
            <a:off x="2682240" y="5181600"/>
            <a:ext cx="426720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List / terminate / upload files</a:t>
            </a:r>
            <a:endParaRPr lang="en-US" sz="1467" dirty="0">
              <a:solidFill>
                <a:prstClr val="black"/>
              </a:solidFill>
              <a:latin typeface="Calibri" panose="020F0502020204030204"/>
            </a:endParaRPr>
          </a:p>
        </p:txBody>
      </p:sp>
      <p:sp>
        <p:nvSpPr>
          <p:cNvPr id="39" name="Text 37"/>
          <p:cNvSpPr/>
          <p:nvPr/>
        </p:nvSpPr>
        <p:spPr>
          <a:xfrm>
            <a:off x="7193280" y="5181600"/>
            <a:ext cx="4389120" cy="536448"/>
          </a:xfrm>
          <a:prstGeom prst="rect">
            <a:avLst/>
          </a:prstGeom>
          <a:noFill/>
          <a:ln/>
        </p:spPr>
        <p:txBody>
          <a:bodyPr wrap="square" lIns="0" tIns="0" rIns="0" bIns="0" rtlCol="0" anchor="ctr"/>
          <a:lstStyle/>
          <a:p>
            <a:pPr defTabSz="1219170"/>
            <a:r>
              <a:rPr lang="en-US" sz="1467" dirty="0">
                <a:solidFill>
                  <a:srgbClr val="1F2937"/>
                </a:solidFill>
                <a:latin typeface="Microsoft YaHei" pitchFamily="34" charset="0"/>
                <a:ea typeface="Microsoft YaHei" pitchFamily="34" charset="-122"/>
                <a:cs typeface="Microsoft YaHei" pitchFamily="34" charset="-120"/>
              </a:rPr>
              <a:t>Auto-maintained by Foundry</a:t>
            </a:r>
            <a:endParaRPr lang="en-US" sz="1467" dirty="0">
              <a:solidFill>
                <a:prstClr val="black"/>
              </a:solidFill>
              <a:latin typeface="Calibri" panose="020F0502020204030204"/>
            </a:endParaRPr>
          </a:p>
        </p:txBody>
      </p:sp>
      <p:sp>
        <p:nvSpPr>
          <p:cNvPr id="40" name="Shape 38"/>
          <p:cNvSpPr/>
          <p:nvPr/>
        </p:nvSpPr>
        <p:spPr>
          <a:xfrm>
            <a:off x="487680" y="5827776"/>
            <a:ext cx="11216640" cy="390144"/>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41" name="Shape 39"/>
          <p:cNvSpPr/>
          <p:nvPr/>
        </p:nvSpPr>
        <p:spPr>
          <a:xfrm>
            <a:off x="487680" y="5827776"/>
            <a:ext cx="97536" cy="390144"/>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42" name="Text 40"/>
          <p:cNvSpPr/>
          <p:nvPr/>
        </p:nvSpPr>
        <p:spPr>
          <a:xfrm>
            <a:off x="731520" y="5827776"/>
            <a:ext cx="10972800" cy="390144"/>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Session compute lifecycle: Active → 15 min idle → state persisted → compute restored on next request with same ID</a:t>
            </a:r>
            <a:endParaRPr lang="en-US" sz="1467" dirty="0">
              <a:solidFill>
                <a:prstClr val="black"/>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Azure Foundry</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Security and data governance</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Per-session VM isolation + multi-layer security boundaries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16 / 40</a:t>
            </a:r>
            <a:endParaRPr lang="en-US" sz="1200" dirty="0">
              <a:solidFill>
                <a:prstClr val="black"/>
              </a:solidFill>
              <a:latin typeface="Calibri" panose="020F0502020204030204"/>
            </a:endParaRPr>
          </a:p>
        </p:txBody>
      </p:sp>
      <p:sp>
        <p:nvSpPr>
          <p:cNvPr id="10" name="Shape 8"/>
          <p:cNvSpPr/>
          <p:nvPr/>
        </p:nvSpPr>
        <p:spPr>
          <a:xfrm>
            <a:off x="487680" y="1889760"/>
            <a:ext cx="560832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20726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5120640" cy="390144"/>
          </a:xfrm>
          <a:prstGeom prst="rect">
            <a:avLst/>
          </a:prstGeom>
          <a:noFill/>
          <a:ln/>
        </p:spPr>
        <p:txBody>
          <a:bodyPr wrap="square" lIns="0" tIns="0" rIns="0" bIns="0" rtlCol="0" anchor="ctr"/>
          <a:lstStyle/>
          <a:p>
            <a:pPr defTabSz="1219170"/>
            <a:r>
              <a:rPr lang="en-US" sz="1867" b="1" dirty="0">
                <a:solidFill>
                  <a:srgbClr val="0078D4"/>
                </a:solidFill>
                <a:latin typeface="Microsoft YaHei" pitchFamily="34" charset="0"/>
                <a:ea typeface="Microsoft YaHei" pitchFamily="34" charset="-122"/>
                <a:cs typeface="Microsoft YaHei" pitchFamily="34" charset="-120"/>
              </a:rPr>
              <a:t>Per-Session VM Isolation</a:t>
            </a:r>
            <a:endParaRPr lang="en-US" sz="1867" dirty="0">
              <a:solidFill>
                <a:prstClr val="black"/>
              </a:solidFill>
              <a:latin typeface="Calibri" panose="020F0502020204030204"/>
            </a:endParaRPr>
          </a:p>
        </p:txBody>
      </p:sp>
      <p:sp>
        <p:nvSpPr>
          <p:cNvPr id="13" name="Text 11"/>
          <p:cNvSpPr/>
          <p:nvPr/>
        </p:nvSpPr>
        <p:spPr>
          <a:xfrm>
            <a:off x="731520" y="2499360"/>
            <a:ext cx="5120640" cy="1402080"/>
          </a:xfrm>
          <a:prstGeom prst="rect">
            <a:avLst/>
          </a:prstGeom>
          <a:noFill/>
          <a:ln/>
        </p:spPr>
        <p:txBody>
          <a:bodyPr wrap="square" rtlCol="0" anchor="t"/>
          <a:lstStyle/>
          <a:p>
            <a:pPr marL="457189" indent="-457189" defTabSz="1219170">
              <a:spcAft>
                <a:spcPts val="533"/>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Per-session isolated VM sandbox</a:t>
            </a:r>
            <a:endParaRPr lang="en-US" sz="1467" dirty="0">
              <a:solidFill>
                <a:prstClr val="black"/>
              </a:solidFill>
              <a:latin typeface="Calibri" panose="020F0502020204030204"/>
            </a:endParaRPr>
          </a:p>
          <a:p>
            <a:pPr marL="457189" indent="-457189" defTabSz="1219170">
              <a:spcAft>
                <a:spcPts val="533"/>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Persistent $HOME and /files filesystems</a:t>
            </a:r>
            <a:endParaRPr lang="en-US" sz="1467" dirty="0">
              <a:solidFill>
                <a:prstClr val="black"/>
              </a:solidFill>
              <a:latin typeface="Calibri" panose="020F0502020204030204"/>
            </a:endParaRPr>
          </a:p>
          <a:p>
            <a:pPr marL="457189" indent="-457189" defTabSz="1219170">
              <a:spcAft>
                <a:spcPts val="533"/>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Scale-to-zero with stateful recovery</a:t>
            </a:r>
            <a:endParaRPr lang="en-US" sz="1467" dirty="0">
              <a:solidFill>
                <a:prstClr val="black"/>
              </a:solidFill>
              <a:latin typeface="Calibri" panose="020F0502020204030204"/>
            </a:endParaRPr>
          </a:p>
          <a:p>
            <a:pPr marL="457189" indent="-457189" defTabSz="1219170">
              <a:spcAft>
                <a:spcPts val="533"/>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Fully isolated between sessions</a:t>
            </a:r>
            <a:endParaRPr lang="en-US" sz="1467" dirty="0">
              <a:solidFill>
                <a:prstClr val="black"/>
              </a:solidFill>
              <a:latin typeface="Calibri" panose="020F0502020204030204"/>
            </a:endParaRPr>
          </a:p>
        </p:txBody>
      </p:sp>
      <p:sp>
        <p:nvSpPr>
          <p:cNvPr id="14" name="Shape 12"/>
          <p:cNvSpPr/>
          <p:nvPr/>
        </p:nvSpPr>
        <p:spPr>
          <a:xfrm>
            <a:off x="6339840" y="1889760"/>
            <a:ext cx="536448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5" name="Shape 13"/>
          <p:cNvSpPr/>
          <p:nvPr/>
        </p:nvSpPr>
        <p:spPr>
          <a:xfrm>
            <a:off x="6339840" y="1889760"/>
            <a:ext cx="97536" cy="20726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6" name="Text 14"/>
          <p:cNvSpPr/>
          <p:nvPr/>
        </p:nvSpPr>
        <p:spPr>
          <a:xfrm>
            <a:off x="6583680" y="2072640"/>
            <a:ext cx="4876800" cy="390144"/>
          </a:xfrm>
          <a:prstGeom prst="rect">
            <a:avLst/>
          </a:prstGeom>
          <a:noFill/>
          <a:ln/>
        </p:spPr>
        <p:txBody>
          <a:bodyPr wrap="square" lIns="0" tIns="0" rIns="0" bIns="0" rtlCol="0" anchor="ctr"/>
          <a:lstStyle/>
          <a:p>
            <a:pPr defTabSz="1219170"/>
            <a:r>
              <a:rPr lang="en-US" sz="1867" b="1" dirty="0">
                <a:solidFill>
                  <a:srgbClr val="FFB900"/>
                </a:solidFill>
                <a:latin typeface="Microsoft YaHei" pitchFamily="34" charset="0"/>
                <a:ea typeface="Microsoft YaHei" pitchFamily="34" charset="-122"/>
                <a:cs typeface="Microsoft YaHei" pitchFamily="34" charset="-120"/>
              </a:rPr>
              <a:t>Credential and secret management</a:t>
            </a:r>
            <a:endParaRPr lang="en-US" sz="1867" dirty="0">
              <a:solidFill>
                <a:prstClr val="black"/>
              </a:solidFill>
              <a:latin typeface="Calibri" panose="020F0502020204030204"/>
            </a:endParaRPr>
          </a:p>
        </p:txBody>
      </p:sp>
      <p:sp>
        <p:nvSpPr>
          <p:cNvPr id="17" name="Text 15"/>
          <p:cNvSpPr/>
          <p:nvPr/>
        </p:nvSpPr>
        <p:spPr>
          <a:xfrm>
            <a:off x="6583680" y="2499360"/>
            <a:ext cx="4876800" cy="1402080"/>
          </a:xfrm>
          <a:prstGeom prst="rect">
            <a:avLst/>
          </a:prstGeom>
          <a:noFill/>
          <a:ln/>
        </p:spPr>
        <p:txBody>
          <a:bodyPr wrap="square" rtlCol="0" anchor="t"/>
          <a:lstStyle/>
          <a:p>
            <a:pPr marL="457189" indent="-457189" defTabSz="1219170">
              <a:spcAft>
                <a:spcPts val="533"/>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Never bake secrets into images or env vars</a:t>
            </a:r>
            <a:endParaRPr lang="en-US" sz="1467" dirty="0">
              <a:solidFill>
                <a:prstClr val="black"/>
              </a:solidFill>
              <a:latin typeface="Calibri" panose="020F0502020204030204"/>
            </a:endParaRPr>
          </a:p>
          <a:p>
            <a:pPr marL="457189" indent="-457189" defTabSz="1219170">
              <a:spcAft>
                <a:spcPts val="533"/>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Use Managed Identity and Connections</a:t>
            </a:r>
            <a:endParaRPr lang="en-US" sz="1467" dirty="0">
              <a:solidFill>
                <a:prstClr val="black"/>
              </a:solidFill>
              <a:latin typeface="Calibri" panose="020F0502020204030204"/>
            </a:endParaRPr>
          </a:p>
          <a:p>
            <a:pPr marL="457189" indent="-457189" defTabSz="1219170">
              <a:spcAft>
                <a:spcPts val="533"/>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Secrets centralized in Azure Key Vault</a:t>
            </a:r>
            <a:endParaRPr lang="en-US" sz="1467" dirty="0">
              <a:solidFill>
                <a:prstClr val="black"/>
              </a:solidFill>
              <a:latin typeface="Calibri" panose="020F0502020204030204"/>
            </a:endParaRPr>
          </a:p>
          <a:p>
            <a:pPr marL="457189" indent="-457189" defTabSz="1219170">
              <a:spcAft>
                <a:spcPts val="533"/>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Private-network deployment requires manual RBAC for the Agent ID</a:t>
            </a:r>
            <a:endParaRPr lang="en-US" sz="1467" dirty="0">
              <a:solidFill>
                <a:prstClr val="black"/>
              </a:solidFill>
              <a:latin typeface="Calibri" panose="020F0502020204030204"/>
            </a:endParaRPr>
          </a:p>
        </p:txBody>
      </p:sp>
      <p:sp>
        <p:nvSpPr>
          <p:cNvPr id="18" name="Shape 16"/>
          <p:cNvSpPr/>
          <p:nvPr/>
        </p:nvSpPr>
        <p:spPr>
          <a:xfrm>
            <a:off x="487680" y="4145280"/>
            <a:ext cx="560832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9" name="Shape 17"/>
          <p:cNvSpPr/>
          <p:nvPr/>
        </p:nvSpPr>
        <p:spPr>
          <a:xfrm>
            <a:off x="487680" y="4145280"/>
            <a:ext cx="97536" cy="207264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731520" y="4328160"/>
            <a:ext cx="5120640" cy="390144"/>
          </a:xfrm>
          <a:prstGeom prst="rect">
            <a:avLst/>
          </a:prstGeom>
          <a:noFill/>
          <a:ln/>
        </p:spPr>
        <p:txBody>
          <a:bodyPr wrap="square" lIns="0" tIns="0" rIns="0" bIns="0" rtlCol="0" anchor="ctr"/>
          <a:lstStyle/>
          <a:p>
            <a:pPr defTabSz="1219170"/>
            <a:r>
              <a:rPr lang="en-US" sz="1867" b="1" dirty="0">
                <a:solidFill>
                  <a:srgbClr val="00B7C3"/>
                </a:solidFill>
                <a:latin typeface="Microsoft YaHei" pitchFamily="34" charset="0"/>
                <a:ea typeface="Microsoft YaHei" pitchFamily="34" charset="-122"/>
                <a:cs typeface="Microsoft YaHei" pitchFamily="34" charset="-120"/>
              </a:rPr>
              <a:t>Private network support</a:t>
            </a:r>
            <a:endParaRPr lang="en-US" sz="1867" dirty="0">
              <a:solidFill>
                <a:prstClr val="black"/>
              </a:solidFill>
              <a:latin typeface="Calibri" panose="020F0502020204030204"/>
            </a:endParaRPr>
          </a:p>
        </p:txBody>
      </p:sp>
      <p:sp>
        <p:nvSpPr>
          <p:cNvPr id="21" name="Text 19"/>
          <p:cNvSpPr/>
          <p:nvPr/>
        </p:nvSpPr>
        <p:spPr>
          <a:xfrm>
            <a:off x="731520" y="4754880"/>
            <a:ext cx="5120640" cy="140208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Hosted Agents can be deployed within network-isolated Foundry resources. Note: the Azure Container Registry hosting the image still requires a public endpoint — private-network ACR is not yet supported.</a:t>
            </a:r>
            <a:endParaRPr lang="en-US" sz="1467" dirty="0">
              <a:solidFill>
                <a:prstClr val="black"/>
              </a:solidFill>
              <a:latin typeface="Calibri" panose="020F0502020204030204"/>
            </a:endParaRPr>
          </a:p>
        </p:txBody>
      </p:sp>
      <p:sp>
        <p:nvSpPr>
          <p:cNvPr id="22" name="Shape 20"/>
          <p:cNvSpPr/>
          <p:nvPr/>
        </p:nvSpPr>
        <p:spPr>
          <a:xfrm>
            <a:off x="6339840" y="4145280"/>
            <a:ext cx="536448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3" name="Shape 21"/>
          <p:cNvSpPr/>
          <p:nvPr/>
        </p:nvSpPr>
        <p:spPr>
          <a:xfrm>
            <a:off x="6339840" y="4145280"/>
            <a:ext cx="97536" cy="207264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24" name="Text 22"/>
          <p:cNvSpPr/>
          <p:nvPr/>
        </p:nvSpPr>
        <p:spPr>
          <a:xfrm>
            <a:off x="6583680" y="4328160"/>
            <a:ext cx="4876800" cy="390144"/>
          </a:xfrm>
          <a:prstGeom prst="rect">
            <a:avLst/>
          </a:prstGeom>
          <a:noFill/>
          <a:ln/>
        </p:spPr>
        <p:txBody>
          <a:bodyPr wrap="square" lIns="0" tIns="0" rIns="0" bIns="0" rtlCol="0" anchor="ctr"/>
          <a:lstStyle/>
          <a:p>
            <a:pPr defTabSz="1219170"/>
            <a:r>
              <a:rPr lang="en-US" sz="1867" b="1" dirty="0">
                <a:solidFill>
                  <a:srgbClr val="E81123"/>
                </a:solidFill>
                <a:latin typeface="Microsoft YaHei" pitchFamily="34" charset="0"/>
                <a:ea typeface="Microsoft YaHei" pitchFamily="34" charset="-122"/>
                <a:cs typeface="Microsoft YaHei" pitchFamily="34" charset="-120"/>
              </a:rPr>
              <a:t>Third-party system risk</a:t>
            </a:r>
            <a:endParaRPr lang="en-US" sz="1867" dirty="0">
              <a:solidFill>
                <a:prstClr val="black"/>
              </a:solidFill>
              <a:latin typeface="Calibri" panose="020F0502020204030204"/>
            </a:endParaRPr>
          </a:p>
        </p:txBody>
      </p:sp>
      <p:sp>
        <p:nvSpPr>
          <p:cNvPr id="25" name="Text 23"/>
          <p:cNvSpPr/>
          <p:nvPr/>
        </p:nvSpPr>
        <p:spPr>
          <a:xfrm>
            <a:off x="6583680" y="4754880"/>
            <a:ext cx="4876800" cy="140208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When connecting to non-Azure Direct Models or third-party MCPs, data may cross the Azure compliance boundary. Review data-sharing, retention, and location policies one by one.</a:t>
            </a:r>
            <a:endParaRPr lang="en-US" sz="1467" dirty="0">
              <a:solidFill>
                <a:prstClr val="black"/>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Azure Foundry</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Foundry Toolbox and platform extensions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Connect a rich built-in toolset via the MCP endpoint</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17 / 40</a:t>
            </a:r>
            <a:endParaRPr lang="en-US" sz="1200" dirty="0">
              <a:solidFill>
                <a:prstClr val="black"/>
              </a:solidFill>
              <a:latin typeface="Calibri" panose="020F0502020204030204"/>
            </a:endParaRPr>
          </a:p>
        </p:txBody>
      </p:sp>
      <p:sp>
        <p:nvSpPr>
          <p:cNvPr id="10" name="Shape 8"/>
          <p:cNvSpPr/>
          <p:nvPr/>
        </p:nvSpPr>
        <p:spPr>
          <a:xfrm>
            <a:off x="4876800" y="3169920"/>
            <a:ext cx="2438400" cy="1706880"/>
          </a:xfrm>
          <a:prstGeom prst="ellipse">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1" name="Text 9"/>
          <p:cNvSpPr/>
          <p:nvPr/>
        </p:nvSpPr>
        <p:spPr>
          <a:xfrm>
            <a:off x="4876800" y="3169920"/>
            <a:ext cx="2438400" cy="170688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Foundry</a:t>
            </a:r>
            <a:endParaRPr lang="en-US" sz="2400" dirty="0">
              <a:solidFill>
                <a:prstClr val="black"/>
              </a:solidFill>
              <a:latin typeface="Calibri" panose="020F0502020204030204"/>
            </a:endParaRPr>
          </a:p>
          <a:p>
            <a:pPr algn="ctr" defTabSz="1219170"/>
            <a:r>
              <a:rPr lang="en-US" sz="2400" b="1" dirty="0">
                <a:solidFill>
                  <a:srgbClr val="FFFFFF"/>
                </a:solidFill>
                <a:latin typeface="Microsoft YaHei" pitchFamily="34" charset="0"/>
                <a:ea typeface="Microsoft YaHei" pitchFamily="34" charset="-122"/>
                <a:cs typeface="Microsoft YaHei" pitchFamily="34" charset="-120"/>
              </a:rPr>
              <a:t>Toolbox</a:t>
            </a:r>
            <a:endParaRPr lang="en-US" sz="2400" dirty="0">
              <a:solidFill>
                <a:prstClr val="black"/>
              </a:solidFill>
              <a:latin typeface="Calibri" panose="020F0502020204030204"/>
            </a:endParaRPr>
          </a:p>
        </p:txBody>
      </p:sp>
      <p:sp>
        <p:nvSpPr>
          <p:cNvPr id="12" name="Text 10"/>
          <p:cNvSpPr/>
          <p:nvPr/>
        </p:nvSpPr>
        <p:spPr>
          <a:xfrm>
            <a:off x="4876800" y="4937760"/>
            <a:ext cx="2438400" cy="365760"/>
          </a:xfrm>
          <a:prstGeom prst="rect">
            <a:avLst/>
          </a:prstGeom>
          <a:noFill/>
          <a:ln/>
        </p:spPr>
        <p:txBody>
          <a:bodyPr wrap="square" lIns="0" tIns="0" rIns="0" bIns="0" rtlCol="0" anchor="ctr"/>
          <a:lstStyle/>
          <a:p>
            <a:pPr algn="ctr" defTabSz="1219170"/>
            <a:r>
              <a:rPr lang="en-US" sz="1467" dirty="0">
                <a:solidFill>
                  <a:srgbClr val="5B6671"/>
                </a:solidFill>
                <a:latin typeface="Microsoft YaHei" pitchFamily="34" charset="0"/>
                <a:ea typeface="Microsoft YaHei" pitchFamily="34" charset="-122"/>
                <a:cs typeface="Microsoft YaHei" pitchFamily="34" charset="-120"/>
              </a:rPr>
              <a:t>MCP endpoint</a:t>
            </a:r>
            <a:endParaRPr lang="en-US" sz="1467" dirty="0">
              <a:solidFill>
                <a:prstClr val="black"/>
              </a:solidFill>
              <a:latin typeface="Calibri" panose="020F0502020204030204"/>
            </a:endParaRPr>
          </a:p>
        </p:txBody>
      </p:sp>
      <p:sp>
        <p:nvSpPr>
          <p:cNvPr id="13" name="Shape 11"/>
          <p:cNvSpPr/>
          <p:nvPr/>
        </p:nvSpPr>
        <p:spPr>
          <a:xfrm>
            <a:off x="609600" y="2072640"/>
            <a:ext cx="2682240" cy="853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4" name="Shape 12"/>
          <p:cNvSpPr/>
          <p:nvPr/>
        </p:nvSpPr>
        <p:spPr>
          <a:xfrm>
            <a:off x="609600" y="2072640"/>
            <a:ext cx="97536" cy="85344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15" name="Text 13"/>
          <p:cNvSpPr/>
          <p:nvPr/>
        </p:nvSpPr>
        <p:spPr>
          <a:xfrm>
            <a:off x="792480" y="2072640"/>
            <a:ext cx="2438400" cy="853440"/>
          </a:xfrm>
          <a:prstGeom prst="rect">
            <a:avLst/>
          </a:prstGeom>
          <a:noFill/>
          <a:ln/>
        </p:spPr>
        <p:txBody>
          <a:bodyPr wrap="square" lIns="0" tIns="0" rIns="0" bIns="0" rtlCol="0" anchor="ctr"/>
          <a:lstStyle/>
          <a:p>
            <a:pPr defTabSz="1219170"/>
            <a:r>
              <a:rPr lang="en-US" sz="1600" b="1" dirty="0">
                <a:solidFill>
                  <a:srgbClr val="00B7C3"/>
                </a:solidFill>
                <a:latin typeface="Microsoft YaHei" pitchFamily="34" charset="0"/>
                <a:ea typeface="Microsoft YaHei" pitchFamily="34" charset="-122"/>
                <a:cs typeface="Microsoft YaHei" pitchFamily="34" charset="-120"/>
              </a:rPr>
              <a:t>Code Interpreter</a:t>
            </a:r>
            <a:endParaRPr lang="en-US" sz="1600" dirty="0">
              <a:solidFill>
                <a:prstClr val="black"/>
              </a:solidFill>
              <a:latin typeface="Calibri" panose="020F0502020204030204"/>
            </a:endParaRPr>
          </a:p>
        </p:txBody>
      </p:sp>
      <p:sp>
        <p:nvSpPr>
          <p:cNvPr id="16" name="Shape 14"/>
          <p:cNvSpPr/>
          <p:nvPr/>
        </p:nvSpPr>
        <p:spPr>
          <a:xfrm>
            <a:off x="3291840" y="2499360"/>
            <a:ext cx="1584960" cy="1524000"/>
          </a:xfrm>
          <a:prstGeom prst="line">
            <a:avLst/>
          </a:prstGeom>
          <a:noFill/>
          <a:ln w="12700">
            <a:solidFill>
              <a:srgbClr val="E1E5EB"/>
            </a:solidFill>
            <a:prstDash val="dash"/>
          </a:ln>
        </p:spPr>
        <p:txBody>
          <a:bodyPr/>
          <a:lstStyle/>
          <a:p>
            <a:pPr defTabSz="1219170"/>
            <a:endParaRPr lang="en-CN" sz="2400">
              <a:solidFill>
                <a:prstClr val="black"/>
              </a:solidFill>
              <a:latin typeface="Calibri" panose="020F0502020204030204"/>
            </a:endParaRPr>
          </a:p>
        </p:txBody>
      </p:sp>
      <p:sp>
        <p:nvSpPr>
          <p:cNvPr id="17" name="Shape 15"/>
          <p:cNvSpPr/>
          <p:nvPr/>
        </p:nvSpPr>
        <p:spPr>
          <a:xfrm>
            <a:off x="8900160" y="2072640"/>
            <a:ext cx="2682240" cy="853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8" name="Shape 16"/>
          <p:cNvSpPr/>
          <p:nvPr/>
        </p:nvSpPr>
        <p:spPr>
          <a:xfrm>
            <a:off x="8900160" y="2072640"/>
            <a:ext cx="97536" cy="8534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9" name="Text 17"/>
          <p:cNvSpPr/>
          <p:nvPr/>
        </p:nvSpPr>
        <p:spPr>
          <a:xfrm>
            <a:off x="9083040" y="2072640"/>
            <a:ext cx="2438400" cy="853440"/>
          </a:xfrm>
          <a:prstGeom prst="rect">
            <a:avLst/>
          </a:prstGeom>
          <a:noFill/>
          <a:ln/>
        </p:spPr>
        <p:txBody>
          <a:bodyPr wrap="square" lIns="0" tIns="0" rIns="0" bIns="0" rtlCol="0" anchor="ctr"/>
          <a:lstStyle/>
          <a:p>
            <a:pPr defTabSz="1219170"/>
            <a:r>
              <a:rPr lang="en-US" sz="1600" b="1" dirty="0">
                <a:solidFill>
                  <a:srgbClr val="FFB900"/>
                </a:solidFill>
                <a:latin typeface="Microsoft YaHei" pitchFamily="34" charset="0"/>
                <a:ea typeface="Microsoft YaHei" pitchFamily="34" charset="-122"/>
                <a:cs typeface="Microsoft YaHei" pitchFamily="34" charset="-120"/>
              </a:rPr>
              <a:t>Web Search</a:t>
            </a:r>
            <a:endParaRPr lang="en-US" sz="1600" dirty="0">
              <a:solidFill>
                <a:prstClr val="black"/>
              </a:solidFill>
              <a:latin typeface="Calibri" panose="020F0502020204030204"/>
            </a:endParaRPr>
          </a:p>
        </p:txBody>
      </p:sp>
      <p:sp>
        <p:nvSpPr>
          <p:cNvPr id="20" name="Shape 18"/>
          <p:cNvSpPr/>
          <p:nvPr/>
        </p:nvSpPr>
        <p:spPr>
          <a:xfrm>
            <a:off x="8900160" y="2499360"/>
            <a:ext cx="1584960" cy="1524000"/>
          </a:xfrm>
          <a:prstGeom prst="line">
            <a:avLst/>
          </a:prstGeom>
          <a:noFill/>
          <a:ln w="12700">
            <a:solidFill>
              <a:srgbClr val="E1E5EB"/>
            </a:solidFill>
            <a:prstDash val="dash"/>
          </a:ln>
        </p:spPr>
        <p:txBody>
          <a:bodyPr/>
          <a:lstStyle/>
          <a:p>
            <a:pPr defTabSz="1219170"/>
            <a:endParaRPr lang="en-CN" sz="2400">
              <a:solidFill>
                <a:prstClr val="black"/>
              </a:solidFill>
              <a:latin typeface="Calibri" panose="020F0502020204030204"/>
            </a:endParaRPr>
          </a:p>
        </p:txBody>
      </p:sp>
      <p:sp>
        <p:nvSpPr>
          <p:cNvPr id="21" name="Shape 19"/>
          <p:cNvSpPr/>
          <p:nvPr/>
        </p:nvSpPr>
        <p:spPr>
          <a:xfrm>
            <a:off x="609600" y="3291840"/>
            <a:ext cx="2682240" cy="853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2" name="Shape 20"/>
          <p:cNvSpPr/>
          <p:nvPr/>
        </p:nvSpPr>
        <p:spPr>
          <a:xfrm>
            <a:off x="609600" y="3291840"/>
            <a:ext cx="97536" cy="85344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3" name="Text 21"/>
          <p:cNvSpPr/>
          <p:nvPr/>
        </p:nvSpPr>
        <p:spPr>
          <a:xfrm>
            <a:off x="792480" y="3291840"/>
            <a:ext cx="2438400" cy="853440"/>
          </a:xfrm>
          <a:prstGeom prst="rect">
            <a:avLst/>
          </a:prstGeom>
          <a:noFill/>
          <a:ln/>
        </p:spPr>
        <p:txBody>
          <a:bodyPr wrap="square" lIns="0" tIns="0" rIns="0" bIns="0" rtlCol="0" anchor="ctr"/>
          <a:lstStyle/>
          <a:p>
            <a:pPr defTabSz="1219170"/>
            <a:r>
              <a:rPr lang="en-US" sz="1600" b="1" dirty="0">
                <a:solidFill>
                  <a:srgbClr val="107C10"/>
                </a:solidFill>
                <a:latin typeface="Microsoft YaHei" pitchFamily="34" charset="0"/>
                <a:ea typeface="Microsoft YaHei" pitchFamily="34" charset="-122"/>
                <a:cs typeface="Microsoft YaHei" pitchFamily="34" charset="-120"/>
              </a:rPr>
              <a:t>Azure AI Search</a:t>
            </a:r>
            <a:endParaRPr lang="en-US" sz="1600" dirty="0">
              <a:solidFill>
                <a:prstClr val="black"/>
              </a:solidFill>
              <a:latin typeface="Calibri" panose="020F0502020204030204"/>
            </a:endParaRPr>
          </a:p>
        </p:txBody>
      </p:sp>
      <p:sp>
        <p:nvSpPr>
          <p:cNvPr id="24" name="Shape 22"/>
          <p:cNvSpPr/>
          <p:nvPr/>
        </p:nvSpPr>
        <p:spPr>
          <a:xfrm>
            <a:off x="3291840" y="3718560"/>
            <a:ext cx="1584960" cy="304800"/>
          </a:xfrm>
          <a:prstGeom prst="line">
            <a:avLst/>
          </a:prstGeom>
          <a:noFill/>
          <a:ln w="12700">
            <a:solidFill>
              <a:srgbClr val="E1E5EB"/>
            </a:solidFill>
            <a:prstDash val="dash"/>
          </a:ln>
        </p:spPr>
        <p:txBody>
          <a:bodyPr/>
          <a:lstStyle/>
          <a:p>
            <a:pPr defTabSz="1219170"/>
            <a:endParaRPr lang="en-CN" sz="2400">
              <a:solidFill>
                <a:prstClr val="black"/>
              </a:solidFill>
              <a:latin typeface="Calibri" panose="020F0502020204030204"/>
            </a:endParaRPr>
          </a:p>
        </p:txBody>
      </p:sp>
      <p:sp>
        <p:nvSpPr>
          <p:cNvPr id="25" name="Shape 23"/>
          <p:cNvSpPr/>
          <p:nvPr/>
        </p:nvSpPr>
        <p:spPr>
          <a:xfrm>
            <a:off x="8900160" y="3291840"/>
            <a:ext cx="2682240" cy="853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6" name="Shape 24"/>
          <p:cNvSpPr/>
          <p:nvPr/>
        </p:nvSpPr>
        <p:spPr>
          <a:xfrm>
            <a:off x="8900160" y="3291840"/>
            <a:ext cx="97536" cy="85344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27" name="Text 25"/>
          <p:cNvSpPr/>
          <p:nvPr/>
        </p:nvSpPr>
        <p:spPr>
          <a:xfrm>
            <a:off x="9083040" y="3291840"/>
            <a:ext cx="2438400" cy="853440"/>
          </a:xfrm>
          <a:prstGeom prst="rect">
            <a:avLst/>
          </a:prstGeom>
          <a:noFill/>
          <a:ln/>
        </p:spPr>
        <p:txBody>
          <a:bodyPr wrap="square" lIns="0" tIns="0" rIns="0" bIns="0" rtlCol="0" anchor="ctr"/>
          <a:lstStyle/>
          <a:p>
            <a:pPr defTabSz="1219170"/>
            <a:r>
              <a:rPr lang="en-US" sz="1600" b="1" dirty="0">
                <a:solidFill>
                  <a:srgbClr val="5C2D91"/>
                </a:solidFill>
                <a:latin typeface="Microsoft YaHei" pitchFamily="34" charset="0"/>
                <a:ea typeface="Microsoft YaHei" pitchFamily="34" charset="-122"/>
                <a:cs typeface="Microsoft YaHei" pitchFamily="34" charset="-120"/>
              </a:rPr>
              <a:t>OpenAPI Tools</a:t>
            </a:r>
            <a:endParaRPr lang="en-US" sz="1600" dirty="0">
              <a:solidFill>
                <a:prstClr val="black"/>
              </a:solidFill>
              <a:latin typeface="Calibri" panose="020F0502020204030204"/>
            </a:endParaRPr>
          </a:p>
        </p:txBody>
      </p:sp>
      <p:sp>
        <p:nvSpPr>
          <p:cNvPr id="28" name="Shape 26"/>
          <p:cNvSpPr/>
          <p:nvPr/>
        </p:nvSpPr>
        <p:spPr>
          <a:xfrm>
            <a:off x="8900160" y="3718560"/>
            <a:ext cx="1584960" cy="304800"/>
          </a:xfrm>
          <a:prstGeom prst="line">
            <a:avLst/>
          </a:prstGeom>
          <a:noFill/>
          <a:ln w="12700">
            <a:solidFill>
              <a:srgbClr val="E1E5EB"/>
            </a:solidFill>
            <a:prstDash val="dash"/>
          </a:ln>
        </p:spPr>
        <p:txBody>
          <a:bodyPr/>
          <a:lstStyle/>
          <a:p>
            <a:pPr defTabSz="1219170"/>
            <a:endParaRPr lang="en-CN" sz="2400">
              <a:solidFill>
                <a:prstClr val="black"/>
              </a:solidFill>
              <a:latin typeface="Calibri" panose="020F0502020204030204"/>
            </a:endParaRPr>
          </a:p>
        </p:txBody>
      </p:sp>
      <p:sp>
        <p:nvSpPr>
          <p:cNvPr id="29" name="Shape 27"/>
          <p:cNvSpPr/>
          <p:nvPr/>
        </p:nvSpPr>
        <p:spPr>
          <a:xfrm>
            <a:off x="609600" y="4511040"/>
            <a:ext cx="2682240" cy="853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0" name="Shape 28"/>
          <p:cNvSpPr/>
          <p:nvPr/>
        </p:nvSpPr>
        <p:spPr>
          <a:xfrm>
            <a:off x="609600" y="4511040"/>
            <a:ext cx="97536" cy="85344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31" name="Text 29"/>
          <p:cNvSpPr/>
          <p:nvPr/>
        </p:nvSpPr>
        <p:spPr>
          <a:xfrm>
            <a:off x="792480" y="4511040"/>
            <a:ext cx="2438400" cy="853440"/>
          </a:xfrm>
          <a:prstGeom prst="rect">
            <a:avLst/>
          </a:prstGeom>
          <a:noFill/>
          <a:ln/>
        </p:spPr>
        <p:txBody>
          <a:bodyPr wrap="square" lIns="0" tIns="0" rIns="0" bIns="0" rtlCol="0" anchor="ctr"/>
          <a:lstStyle/>
          <a:p>
            <a:pPr defTabSz="1219170"/>
            <a:r>
              <a:rPr lang="en-US" sz="1600" b="1" dirty="0">
                <a:solidFill>
                  <a:srgbClr val="E81123"/>
                </a:solidFill>
                <a:latin typeface="Microsoft YaHei" pitchFamily="34" charset="0"/>
                <a:ea typeface="Microsoft YaHei" pitchFamily="34" charset="-122"/>
                <a:cs typeface="Microsoft YaHei" pitchFamily="34" charset="-120"/>
              </a:rPr>
              <a:t>Custom MCP</a:t>
            </a:r>
            <a:endParaRPr lang="en-US" sz="1600" dirty="0">
              <a:solidFill>
                <a:prstClr val="black"/>
              </a:solidFill>
              <a:latin typeface="Calibri" panose="020F0502020204030204"/>
            </a:endParaRPr>
          </a:p>
        </p:txBody>
      </p:sp>
      <p:sp>
        <p:nvSpPr>
          <p:cNvPr id="32" name="Shape 30"/>
          <p:cNvSpPr/>
          <p:nvPr/>
        </p:nvSpPr>
        <p:spPr>
          <a:xfrm>
            <a:off x="3291840" y="4937760"/>
            <a:ext cx="1584960" cy="0"/>
          </a:xfrm>
          <a:prstGeom prst="line">
            <a:avLst/>
          </a:prstGeom>
          <a:noFill/>
          <a:ln w="12700">
            <a:solidFill>
              <a:srgbClr val="E1E5EB"/>
            </a:solidFill>
            <a:prstDash val="dash"/>
          </a:ln>
        </p:spPr>
        <p:txBody>
          <a:bodyPr/>
          <a:lstStyle/>
          <a:p>
            <a:pPr defTabSz="1219170"/>
            <a:endParaRPr lang="en-CN" sz="2400">
              <a:solidFill>
                <a:prstClr val="black"/>
              </a:solidFill>
              <a:latin typeface="Calibri" panose="020F0502020204030204"/>
            </a:endParaRPr>
          </a:p>
        </p:txBody>
      </p:sp>
      <p:sp>
        <p:nvSpPr>
          <p:cNvPr id="33" name="Shape 31"/>
          <p:cNvSpPr/>
          <p:nvPr/>
        </p:nvSpPr>
        <p:spPr>
          <a:xfrm>
            <a:off x="8900160" y="4511040"/>
            <a:ext cx="2682240" cy="853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4" name="Shape 32"/>
          <p:cNvSpPr/>
          <p:nvPr/>
        </p:nvSpPr>
        <p:spPr>
          <a:xfrm>
            <a:off x="8900160" y="4511040"/>
            <a:ext cx="97536" cy="8534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35" name="Text 33"/>
          <p:cNvSpPr/>
          <p:nvPr/>
        </p:nvSpPr>
        <p:spPr>
          <a:xfrm>
            <a:off x="9083040" y="4511040"/>
            <a:ext cx="2438400" cy="853440"/>
          </a:xfrm>
          <a:prstGeom prst="rect">
            <a:avLst/>
          </a:prstGeom>
          <a:noFill/>
          <a:ln/>
        </p:spPr>
        <p:txBody>
          <a:bodyPr wrap="square" lIns="0" tIns="0" rIns="0" bIns="0" rtlCol="0" anchor="ctr"/>
          <a:lstStyle/>
          <a:p>
            <a:pPr defTabSz="1219170"/>
            <a:r>
              <a:rPr lang="en-US" sz="1600" b="1" dirty="0">
                <a:solidFill>
                  <a:srgbClr val="0078D4"/>
                </a:solidFill>
                <a:latin typeface="Microsoft YaHei" pitchFamily="34" charset="0"/>
                <a:ea typeface="Microsoft YaHei" pitchFamily="34" charset="-122"/>
                <a:cs typeface="Microsoft YaHei" pitchFamily="34" charset="-120"/>
              </a:rPr>
              <a:t>A2A Delegation</a:t>
            </a:r>
            <a:endParaRPr lang="en-US" sz="1600" dirty="0">
              <a:solidFill>
                <a:prstClr val="black"/>
              </a:solidFill>
              <a:latin typeface="Calibri" panose="020F0502020204030204"/>
            </a:endParaRPr>
          </a:p>
        </p:txBody>
      </p:sp>
      <p:sp>
        <p:nvSpPr>
          <p:cNvPr id="36" name="Shape 34"/>
          <p:cNvSpPr/>
          <p:nvPr/>
        </p:nvSpPr>
        <p:spPr>
          <a:xfrm>
            <a:off x="8900160" y="4937760"/>
            <a:ext cx="1584960" cy="0"/>
          </a:xfrm>
          <a:prstGeom prst="line">
            <a:avLst/>
          </a:prstGeom>
          <a:noFill/>
          <a:ln w="12700">
            <a:solidFill>
              <a:srgbClr val="E1E5EB"/>
            </a:solidFill>
            <a:prstDash val="dash"/>
          </a:ln>
        </p:spPr>
        <p:txBody>
          <a:bodyPr/>
          <a:lstStyle/>
          <a:p>
            <a:pPr defTabSz="1219170"/>
            <a:endParaRPr lang="en-CN" sz="2400">
              <a:solidFill>
                <a:prstClr val="black"/>
              </a:solidFill>
              <a:latin typeface="Calibri" panose="020F0502020204030204"/>
            </a:endParaRPr>
          </a:p>
        </p:txBody>
      </p:sp>
      <p:sp>
        <p:nvSpPr>
          <p:cNvPr id="37" name="Shape 35"/>
          <p:cNvSpPr/>
          <p:nvPr/>
        </p:nvSpPr>
        <p:spPr>
          <a:xfrm>
            <a:off x="487680" y="5730240"/>
            <a:ext cx="11216640" cy="6705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8" name="Shape 36"/>
          <p:cNvSpPr/>
          <p:nvPr/>
        </p:nvSpPr>
        <p:spPr>
          <a:xfrm>
            <a:off x="487680" y="5730240"/>
            <a:ext cx="97536" cy="67056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39" name="Text 37"/>
          <p:cNvSpPr/>
          <p:nvPr/>
        </p:nvSpPr>
        <p:spPr>
          <a:xfrm>
            <a:off x="487680" y="5730240"/>
            <a:ext cx="11216640" cy="670560"/>
          </a:xfrm>
          <a:prstGeom prst="rect">
            <a:avLst/>
          </a:prstGeom>
          <a:noFill/>
          <a:ln/>
        </p:spPr>
        <p:txBody>
          <a:bodyPr wrap="square" lIns="0" tIns="0" rIns="0" bIns="0" rtlCol="0" anchor="ctr"/>
          <a:lstStyle/>
          <a:p>
            <a:pPr algn="ctr" defTabSz="1219170"/>
            <a:r>
              <a:rPr lang="en-US" sz="1467" b="1" dirty="0">
                <a:solidFill>
                  <a:srgbClr val="0F2A47"/>
                </a:solidFill>
                <a:latin typeface="Microsoft YaHei" pitchFamily="34" charset="0"/>
                <a:ea typeface="Microsoft YaHei" pitchFamily="34" charset="-122"/>
                <a:cs typeface="Microsoft YaHei" pitchFamily="34" charset="-120"/>
              </a:rPr>
              <a:t>Agent code connects to the Toolbox endpoint via a standard MCP client — the platform never auto-injects tools; developers retain full control</a:t>
            </a:r>
            <a:endParaRPr lang="en-US" sz="1467" dirty="0">
              <a:solidFill>
                <a:prstClr val="black"/>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Anthropic</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Anthropic Managed Agents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Claude Platform's managed service — built for long-running Agent tasks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18 / 40</a:t>
            </a:r>
            <a:endParaRPr lang="en-US" sz="1200" dirty="0">
              <a:solidFill>
                <a:prstClr val="black"/>
              </a:solidFill>
              <a:latin typeface="Calibri" panose="020F0502020204030204"/>
            </a:endParaRPr>
          </a:p>
        </p:txBody>
      </p:sp>
      <p:sp>
        <p:nvSpPr>
          <p:cNvPr id="10" name="Shape 8"/>
          <p:cNvSpPr/>
          <p:nvPr/>
        </p:nvSpPr>
        <p:spPr>
          <a:xfrm>
            <a:off x="487680" y="1889760"/>
            <a:ext cx="11216640" cy="182880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182880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10850880" cy="487680"/>
          </a:xfrm>
          <a:prstGeom prst="rect">
            <a:avLst/>
          </a:prstGeom>
          <a:noFill/>
          <a:ln/>
        </p:spPr>
        <p:txBody>
          <a:bodyPr wrap="square" lIns="0" tIns="0" rIns="0" bIns="0" rtlCol="0" anchor="ctr"/>
          <a:lstStyle/>
          <a:p>
            <a:pPr defTabSz="1219170"/>
            <a:r>
              <a:rPr lang="en-US" sz="1867" b="1" i="1" dirty="0">
                <a:solidFill>
                  <a:srgbClr val="0F2A47"/>
                </a:solidFill>
                <a:latin typeface="Microsoft YaHei" pitchFamily="34" charset="0"/>
                <a:ea typeface="Microsoft YaHei" pitchFamily="34" charset="-122"/>
                <a:cs typeface="Microsoft YaHei" pitchFamily="34" charset="-120"/>
              </a:rPr>
              <a:t>"Harnesses encode assumptions that go stale as models improve."</a:t>
            </a:r>
            <a:endParaRPr lang="en-US" sz="1867" dirty="0">
              <a:solidFill>
                <a:prstClr val="black"/>
              </a:solidFill>
              <a:latin typeface="Calibri" panose="020F0502020204030204"/>
            </a:endParaRPr>
          </a:p>
        </p:txBody>
      </p:sp>
      <p:sp>
        <p:nvSpPr>
          <p:cNvPr id="13" name="Text 11"/>
          <p:cNvSpPr/>
          <p:nvPr/>
        </p:nvSpPr>
        <p:spPr>
          <a:xfrm>
            <a:off x="731520" y="2621280"/>
            <a:ext cx="10850880" cy="1036320"/>
          </a:xfrm>
          <a:prstGeom prst="rect">
            <a:avLst/>
          </a:prstGeom>
          <a:noFill/>
          <a:ln/>
        </p:spPr>
        <p:txBody>
          <a:bodyPr wrap="square" lIns="0" tIns="0" rIns="0" bIns="0" rtlCol="0" anchor="t"/>
          <a:lstStyle/>
          <a:p>
            <a:pPr defTabSz="1219170"/>
            <a:r>
              <a:rPr lang="en-US" sz="1533" dirty="0">
                <a:solidFill>
                  <a:srgbClr val="1F2937"/>
                </a:solidFill>
                <a:latin typeface="Microsoft YaHei" pitchFamily="34" charset="0"/>
                <a:ea typeface="Microsoft YaHei" pitchFamily="34" charset="-122"/>
                <a:cs typeface="Microsoft YaHei" pitchFamily="34" charset="-120"/>
              </a:rPr>
              <a:t>A Harness encodes assumptions about model capability — assumptions that grow stale as models improve. Managed Agents are built around a stable interface set, so interfaces outlive any specific implementation.</a:t>
            </a:r>
            <a:endParaRPr lang="en-US" sz="1533" dirty="0">
              <a:solidFill>
                <a:prstClr val="black"/>
              </a:solidFill>
              <a:latin typeface="Calibri" panose="020F0502020204030204"/>
            </a:endParaRPr>
          </a:p>
        </p:txBody>
      </p:sp>
      <p:sp>
        <p:nvSpPr>
          <p:cNvPr id="14" name="Shape 12"/>
          <p:cNvSpPr/>
          <p:nvPr/>
        </p:nvSpPr>
        <p:spPr>
          <a:xfrm>
            <a:off x="487680" y="3962400"/>
            <a:ext cx="3596640" cy="2377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5" name="Shape 13"/>
          <p:cNvSpPr/>
          <p:nvPr/>
        </p:nvSpPr>
        <p:spPr>
          <a:xfrm>
            <a:off x="487680" y="3962400"/>
            <a:ext cx="97536" cy="23774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6" name="Shape 14"/>
          <p:cNvSpPr/>
          <p:nvPr/>
        </p:nvSpPr>
        <p:spPr>
          <a:xfrm>
            <a:off x="731520" y="4145280"/>
            <a:ext cx="609600" cy="609600"/>
          </a:xfrm>
          <a:prstGeom prst="ellipse">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7" name="Text 15"/>
          <p:cNvSpPr/>
          <p:nvPr/>
        </p:nvSpPr>
        <p:spPr>
          <a:xfrm>
            <a:off x="731520" y="4145280"/>
            <a:ext cx="609600" cy="609600"/>
          </a:xfrm>
          <a:prstGeom prst="rect">
            <a:avLst/>
          </a:prstGeom>
          <a:noFill/>
          <a:ln/>
        </p:spPr>
        <p:txBody>
          <a:bodyPr wrap="square" lIns="0" tIns="0" rIns="0" bIns="0" rtlCol="0" anchor="ctr"/>
          <a:lstStyle/>
          <a:p>
            <a:pPr algn="ctr" defTabSz="1219170"/>
            <a:r>
              <a:rPr lang="en-US" sz="1733" b="1" dirty="0">
                <a:solidFill>
                  <a:srgbClr val="FFFFFF"/>
                </a:solidFill>
                <a:latin typeface="Microsoft YaHei" pitchFamily="34" charset="0"/>
                <a:ea typeface="Microsoft YaHei" pitchFamily="34" charset="-122"/>
                <a:cs typeface="Microsoft YaHei" pitchFamily="34" charset="-120"/>
              </a:rPr>
              <a:t>01</a:t>
            </a:r>
            <a:endParaRPr lang="en-US" sz="1733" dirty="0">
              <a:solidFill>
                <a:prstClr val="black"/>
              </a:solidFill>
              <a:latin typeface="Calibri" panose="020F0502020204030204"/>
            </a:endParaRPr>
          </a:p>
        </p:txBody>
      </p:sp>
      <p:sp>
        <p:nvSpPr>
          <p:cNvPr id="18" name="Text 16"/>
          <p:cNvSpPr/>
          <p:nvPr/>
        </p:nvSpPr>
        <p:spPr>
          <a:xfrm>
            <a:off x="1524000" y="4145280"/>
            <a:ext cx="2377440" cy="365760"/>
          </a:xfrm>
          <a:prstGeom prst="rect">
            <a:avLst/>
          </a:prstGeom>
          <a:noFill/>
          <a:ln/>
        </p:spPr>
        <p:txBody>
          <a:bodyPr wrap="square" lIns="0" tIns="0" rIns="0" bIns="0" rtlCol="0" anchor="ctr"/>
          <a:lstStyle/>
          <a:p>
            <a:pPr defTabSz="1219170"/>
            <a:r>
              <a:rPr lang="en-US" sz="1867" b="1" dirty="0">
                <a:solidFill>
                  <a:srgbClr val="0F2A47"/>
                </a:solidFill>
                <a:latin typeface="Microsoft YaHei" pitchFamily="34" charset="0"/>
                <a:ea typeface="Microsoft YaHei" pitchFamily="34" charset="-122"/>
                <a:cs typeface="Microsoft YaHei" pitchFamily="34" charset="-120"/>
              </a:rPr>
              <a:t>Stable interfaces</a:t>
            </a:r>
            <a:endParaRPr lang="en-US" sz="1867" dirty="0">
              <a:solidFill>
                <a:prstClr val="black"/>
              </a:solidFill>
              <a:latin typeface="Calibri" panose="020F0502020204030204"/>
            </a:endParaRPr>
          </a:p>
        </p:txBody>
      </p:sp>
      <p:sp>
        <p:nvSpPr>
          <p:cNvPr id="19" name="Text 17"/>
          <p:cNvSpPr/>
          <p:nvPr/>
        </p:nvSpPr>
        <p:spPr>
          <a:xfrm>
            <a:off x="1524000" y="4511040"/>
            <a:ext cx="2377440" cy="304800"/>
          </a:xfrm>
          <a:prstGeom prst="rect">
            <a:avLst/>
          </a:prstGeom>
          <a:noFill/>
          <a:ln/>
        </p:spPr>
        <p:txBody>
          <a:bodyPr wrap="square" lIns="0" tIns="0" rIns="0" bIns="0" rtlCol="0" anchor="ctr"/>
          <a:lstStyle/>
          <a:p>
            <a:pPr defTabSz="1219170"/>
            <a:r>
              <a:rPr lang="en-US" sz="1200" i="1" dirty="0">
                <a:solidFill>
                  <a:srgbClr val="0078D4"/>
                </a:solidFill>
                <a:latin typeface="Microsoft YaHei" pitchFamily="34" charset="0"/>
                <a:ea typeface="Microsoft YaHei" pitchFamily="34" charset="-122"/>
                <a:cs typeface="Microsoft YaHei" pitchFamily="34" charset="-120"/>
              </a:rPr>
              <a:t>Stable Interfaces</a:t>
            </a:r>
            <a:endParaRPr lang="en-US" sz="1200" dirty="0">
              <a:solidFill>
                <a:prstClr val="black"/>
              </a:solidFill>
              <a:latin typeface="Calibri" panose="020F0502020204030204"/>
            </a:endParaRPr>
          </a:p>
        </p:txBody>
      </p:sp>
      <p:sp>
        <p:nvSpPr>
          <p:cNvPr id="20" name="Text 18"/>
          <p:cNvSpPr/>
          <p:nvPr/>
        </p:nvSpPr>
        <p:spPr>
          <a:xfrm>
            <a:off x="731520" y="4937760"/>
            <a:ext cx="3169920" cy="134112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Like the OS read() — the top-level interface is fixed while the underlying implementation can evolve freely</a:t>
            </a:r>
            <a:endParaRPr lang="en-US" sz="1400" dirty="0">
              <a:solidFill>
                <a:prstClr val="black"/>
              </a:solidFill>
              <a:latin typeface="Calibri" panose="020F0502020204030204"/>
            </a:endParaRPr>
          </a:p>
        </p:txBody>
      </p:sp>
      <p:sp>
        <p:nvSpPr>
          <p:cNvPr id="21" name="Shape 19"/>
          <p:cNvSpPr/>
          <p:nvPr/>
        </p:nvSpPr>
        <p:spPr>
          <a:xfrm>
            <a:off x="4303776" y="3962400"/>
            <a:ext cx="3596640" cy="2377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2" name="Shape 20"/>
          <p:cNvSpPr/>
          <p:nvPr/>
        </p:nvSpPr>
        <p:spPr>
          <a:xfrm>
            <a:off x="4303776" y="3962400"/>
            <a:ext cx="97536" cy="237744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23" name="Shape 21"/>
          <p:cNvSpPr/>
          <p:nvPr/>
        </p:nvSpPr>
        <p:spPr>
          <a:xfrm>
            <a:off x="4547616" y="4145280"/>
            <a:ext cx="609600" cy="609600"/>
          </a:xfrm>
          <a:prstGeom prst="ellipse">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24" name="Text 22"/>
          <p:cNvSpPr/>
          <p:nvPr/>
        </p:nvSpPr>
        <p:spPr>
          <a:xfrm>
            <a:off x="4547616" y="4145280"/>
            <a:ext cx="609600" cy="609600"/>
          </a:xfrm>
          <a:prstGeom prst="rect">
            <a:avLst/>
          </a:prstGeom>
          <a:noFill/>
          <a:ln/>
        </p:spPr>
        <p:txBody>
          <a:bodyPr wrap="square" lIns="0" tIns="0" rIns="0" bIns="0" rtlCol="0" anchor="ctr"/>
          <a:lstStyle/>
          <a:p>
            <a:pPr algn="ctr" defTabSz="1219170"/>
            <a:r>
              <a:rPr lang="en-US" sz="1733" b="1" dirty="0">
                <a:solidFill>
                  <a:srgbClr val="FFFFFF"/>
                </a:solidFill>
                <a:latin typeface="Microsoft YaHei" pitchFamily="34" charset="0"/>
                <a:ea typeface="Microsoft YaHei" pitchFamily="34" charset="-122"/>
                <a:cs typeface="Microsoft YaHei" pitchFamily="34" charset="-120"/>
              </a:rPr>
              <a:t>02</a:t>
            </a:r>
            <a:endParaRPr lang="en-US" sz="1733" dirty="0">
              <a:solidFill>
                <a:prstClr val="black"/>
              </a:solidFill>
              <a:latin typeface="Calibri" panose="020F0502020204030204"/>
            </a:endParaRPr>
          </a:p>
        </p:txBody>
      </p:sp>
      <p:sp>
        <p:nvSpPr>
          <p:cNvPr id="25" name="Text 23"/>
          <p:cNvSpPr/>
          <p:nvPr/>
        </p:nvSpPr>
        <p:spPr>
          <a:xfrm>
            <a:off x="5340096" y="4145280"/>
            <a:ext cx="2377440" cy="365760"/>
          </a:xfrm>
          <a:prstGeom prst="rect">
            <a:avLst/>
          </a:prstGeom>
          <a:noFill/>
          <a:ln/>
        </p:spPr>
        <p:txBody>
          <a:bodyPr wrap="square" lIns="0" tIns="0" rIns="0" bIns="0" rtlCol="0" anchor="ctr"/>
          <a:lstStyle/>
          <a:p>
            <a:pPr defTabSz="1219170"/>
            <a:r>
              <a:rPr lang="en-US" sz="1867" b="1" dirty="0">
                <a:solidFill>
                  <a:srgbClr val="0F2A47"/>
                </a:solidFill>
                <a:latin typeface="Microsoft YaHei" pitchFamily="34" charset="0"/>
                <a:ea typeface="Microsoft YaHei" pitchFamily="34" charset="-122"/>
                <a:cs typeface="Microsoft YaHei" pitchFamily="34" charset="-120"/>
              </a:rPr>
              <a:t>Decoupled components</a:t>
            </a:r>
            <a:endParaRPr lang="en-US" sz="1867" dirty="0">
              <a:solidFill>
                <a:prstClr val="black"/>
              </a:solidFill>
              <a:latin typeface="Calibri" panose="020F0502020204030204"/>
            </a:endParaRPr>
          </a:p>
        </p:txBody>
      </p:sp>
      <p:sp>
        <p:nvSpPr>
          <p:cNvPr id="26" name="Text 24"/>
          <p:cNvSpPr/>
          <p:nvPr/>
        </p:nvSpPr>
        <p:spPr>
          <a:xfrm>
            <a:off x="5340096" y="4511040"/>
            <a:ext cx="2377440" cy="304800"/>
          </a:xfrm>
          <a:prstGeom prst="rect">
            <a:avLst/>
          </a:prstGeom>
          <a:noFill/>
          <a:ln/>
        </p:spPr>
        <p:txBody>
          <a:bodyPr wrap="square" lIns="0" tIns="0" rIns="0" bIns="0" rtlCol="0" anchor="ctr"/>
          <a:lstStyle/>
          <a:p>
            <a:pPr defTabSz="1219170"/>
            <a:r>
              <a:rPr lang="en-US" sz="1200" i="1" dirty="0">
                <a:solidFill>
                  <a:srgbClr val="00B7C3"/>
                </a:solidFill>
                <a:latin typeface="Microsoft YaHei" pitchFamily="34" charset="0"/>
                <a:ea typeface="Microsoft YaHei" pitchFamily="34" charset="-122"/>
                <a:cs typeface="Microsoft YaHei" pitchFamily="34" charset="-120"/>
              </a:rPr>
              <a:t>Decoupled Components</a:t>
            </a:r>
            <a:endParaRPr lang="en-US" sz="1200" dirty="0">
              <a:solidFill>
                <a:prstClr val="black"/>
              </a:solidFill>
              <a:latin typeface="Calibri" panose="020F0502020204030204"/>
            </a:endParaRPr>
          </a:p>
        </p:txBody>
      </p:sp>
      <p:sp>
        <p:nvSpPr>
          <p:cNvPr id="27" name="Text 25"/>
          <p:cNvSpPr/>
          <p:nvPr/>
        </p:nvSpPr>
        <p:spPr>
          <a:xfrm>
            <a:off x="4547616" y="4937760"/>
            <a:ext cx="3169920" cy="134112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Three-way separation of Brain / Hands / Session — independent failure and replacement</a:t>
            </a:r>
            <a:endParaRPr lang="en-US" sz="1400" dirty="0">
              <a:solidFill>
                <a:prstClr val="black"/>
              </a:solidFill>
              <a:latin typeface="Calibri" panose="020F0502020204030204"/>
            </a:endParaRPr>
          </a:p>
        </p:txBody>
      </p:sp>
      <p:sp>
        <p:nvSpPr>
          <p:cNvPr id="28" name="Shape 26"/>
          <p:cNvSpPr/>
          <p:nvPr/>
        </p:nvSpPr>
        <p:spPr>
          <a:xfrm>
            <a:off x="8119872" y="3962400"/>
            <a:ext cx="3596640" cy="2377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9" name="Shape 27"/>
          <p:cNvSpPr/>
          <p:nvPr/>
        </p:nvSpPr>
        <p:spPr>
          <a:xfrm>
            <a:off x="8119872" y="3962400"/>
            <a:ext cx="97536" cy="23774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0" name="Shape 28"/>
          <p:cNvSpPr/>
          <p:nvPr/>
        </p:nvSpPr>
        <p:spPr>
          <a:xfrm>
            <a:off x="8363712" y="4145280"/>
            <a:ext cx="609600" cy="609600"/>
          </a:xfrm>
          <a:prstGeom prst="ellipse">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1" name="Text 29"/>
          <p:cNvSpPr/>
          <p:nvPr/>
        </p:nvSpPr>
        <p:spPr>
          <a:xfrm>
            <a:off x="8363712" y="4145280"/>
            <a:ext cx="609600" cy="609600"/>
          </a:xfrm>
          <a:prstGeom prst="rect">
            <a:avLst/>
          </a:prstGeom>
          <a:noFill/>
          <a:ln/>
        </p:spPr>
        <p:txBody>
          <a:bodyPr wrap="square" lIns="0" tIns="0" rIns="0" bIns="0" rtlCol="0" anchor="ctr"/>
          <a:lstStyle/>
          <a:p>
            <a:pPr algn="ctr" defTabSz="1219170"/>
            <a:r>
              <a:rPr lang="en-US" sz="1733" b="1" dirty="0">
                <a:solidFill>
                  <a:srgbClr val="FFFFFF"/>
                </a:solidFill>
                <a:latin typeface="Microsoft YaHei" pitchFamily="34" charset="0"/>
                <a:ea typeface="Microsoft YaHei" pitchFamily="34" charset="-122"/>
                <a:cs typeface="Microsoft YaHei" pitchFamily="34" charset="-120"/>
              </a:rPr>
              <a:t>03</a:t>
            </a:r>
            <a:endParaRPr lang="en-US" sz="1733" dirty="0">
              <a:solidFill>
                <a:prstClr val="black"/>
              </a:solidFill>
              <a:latin typeface="Calibri" panose="020F0502020204030204"/>
            </a:endParaRPr>
          </a:p>
        </p:txBody>
      </p:sp>
      <p:sp>
        <p:nvSpPr>
          <p:cNvPr id="32" name="Text 30"/>
          <p:cNvSpPr/>
          <p:nvPr/>
        </p:nvSpPr>
        <p:spPr>
          <a:xfrm>
            <a:off x="9156192" y="4145280"/>
            <a:ext cx="2377440" cy="365760"/>
          </a:xfrm>
          <a:prstGeom prst="rect">
            <a:avLst/>
          </a:prstGeom>
          <a:noFill/>
          <a:ln/>
        </p:spPr>
        <p:txBody>
          <a:bodyPr wrap="square" lIns="0" tIns="0" rIns="0" bIns="0" rtlCol="0" anchor="ctr"/>
          <a:lstStyle/>
          <a:p>
            <a:pPr defTabSz="1219170"/>
            <a:r>
              <a:rPr lang="en-US" sz="1867" b="1" dirty="0">
                <a:solidFill>
                  <a:srgbClr val="0F2A47"/>
                </a:solidFill>
                <a:latin typeface="Microsoft YaHei" pitchFamily="34" charset="0"/>
                <a:ea typeface="Microsoft YaHei" pitchFamily="34" charset="-122"/>
                <a:cs typeface="Microsoft YaHei" pitchFamily="34" charset="-120"/>
              </a:rPr>
              <a:t>Meta-Harness</a:t>
            </a:r>
            <a:endParaRPr lang="en-US" sz="1867" dirty="0">
              <a:solidFill>
                <a:prstClr val="black"/>
              </a:solidFill>
              <a:latin typeface="Calibri" panose="020F0502020204030204"/>
            </a:endParaRPr>
          </a:p>
        </p:txBody>
      </p:sp>
      <p:sp>
        <p:nvSpPr>
          <p:cNvPr id="33" name="Text 31"/>
          <p:cNvSpPr/>
          <p:nvPr/>
        </p:nvSpPr>
        <p:spPr>
          <a:xfrm>
            <a:off x="9156192" y="4511040"/>
            <a:ext cx="2377440" cy="304800"/>
          </a:xfrm>
          <a:prstGeom prst="rect">
            <a:avLst/>
          </a:prstGeom>
          <a:noFill/>
          <a:ln/>
        </p:spPr>
        <p:txBody>
          <a:bodyPr wrap="square" lIns="0" tIns="0" rIns="0" bIns="0" rtlCol="0" anchor="ctr"/>
          <a:lstStyle/>
          <a:p>
            <a:pPr defTabSz="1219170"/>
            <a:r>
              <a:rPr lang="en-US" sz="1200" i="1" dirty="0">
                <a:solidFill>
                  <a:srgbClr val="FFB900"/>
                </a:solidFill>
                <a:latin typeface="Microsoft YaHei" pitchFamily="34" charset="0"/>
                <a:ea typeface="Microsoft YaHei" pitchFamily="34" charset="-122"/>
                <a:cs typeface="Microsoft YaHei" pitchFamily="34" charset="-120"/>
              </a:rPr>
              <a:t>Meta-Harness Design</a:t>
            </a:r>
            <a:endParaRPr lang="en-US" sz="1200" dirty="0">
              <a:solidFill>
                <a:prstClr val="black"/>
              </a:solidFill>
              <a:latin typeface="Calibri" panose="020F0502020204030204"/>
            </a:endParaRPr>
          </a:p>
        </p:txBody>
      </p:sp>
      <p:sp>
        <p:nvSpPr>
          <p:cNvPr id="34" name="Text 32"/>
          <p:cNvSpPr/>
          <p:nvPr/>
        </p:nvSpPr>
        <p:spPr>
          <a:xfrm>
            <a:off x="8363712" y="4937760"/>
            <a:ext cx="3169920" cy="134112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Opinionated about interfaces — neutral about underlying implementations</a:t>
            </a:r>
            <a:endParaRPr lang="en-US" sz="1400" dirty="0">
              <a:solidFill>
                <a:prstClr val="black"/>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Anthropic</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Key APIs of the three interfaces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A minimal interface set lets components evolve independently</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19 / 40</a:t>
            </a:r>
            <a:endParaRPr lang="en-US" sz="1200" dirty="0">
              <a:solidFill>
                <a:prstClr val="black"/>
              </a:solidFill>
              <a:latin typeface="Calibri" panose="020F0502020204030204"/>
            </a:endParaRPr>
          </a:p>
        </p:txBody>
      </p:sp>
      <p:sp>
        <p:nvSpPr>
          <p:cNvPr id="10" name="Shape 8"/>
          <p:cNvSpPr/>
          <p:nvPr/>
        </p:nvSpPr>
        <p:spPr>
          <a:xfrm>
            <a:off x="487680" y="1889760"/>
            <a:ext cx="1121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14020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Shape 10"/>
          <p:cNvSpPr/>
          <p:nvPr/>
        </p:nvSpPr>
        <p:spPr>
          <a:xfrm>
            <a:off x="487680" y="1889760"/>
            <a:ext cx="1706880" cy="14020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487680" y="1889760"/>
            <a:ext cx="1706880" cy="140208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Brain</a:t>
            </a:r>
            <a:endParaRPr lang="en-US" sz="2400" dirty="0">
              <a:solidFill>
                <a:prstClr val="black"/>
              </a:solidFill>
              <a:latin typeface="Calibri" panose="020F0502020204030204"/>
            </a:endParaRPr>
          </a:p>
        </p:txBody>
      </p:sp>
      <p:sp>
        <p:nvSpPr>
          <p:cNvPr id="14" name="Text 12"/>
          <p:cNvSpPr/>
          <p:nvPr/>
        </p:nvSpPr>
        <p:spPr>
          <a:xfrm>
            <a:off x="2377440" y="2072640"/>
            <a:ext cx="3048000" cy="487680"/>
          </a:xfrm>
          <a:prstGeom prst="rect">
            <a:avLst/>
          </a:prstGeom>
          <a:noFill/>
          <a:ln/>
        </p:spPr>
        <p:txBody>
          <a:bodyPr wrap="square" lIns="0" tIns="0" rIns="0" bIns="0" rtlCol="0" anchor="t"/>
          <a:lstStyle/>
          <a:p>
            <a:pPr defTabSz="1219170"/>
            <a:r>
              <a:rPr lang="en-US" sz="1333" b="1" dirty="0">
                <a:solidFill>
                  <a:srgbClr val="0078D4"/>
                </a:solidFill>
                <a:latin typeface="Consolas" pitchFamily="34" charset="0"/>
                <a:ea typeface="Consolas" pitchFamily="34" charset="-122"/>
                <a:cs typeface="Consolas" pitchFamily="34" charset="-120"/>
              </a:rPr>
              <a:t>wake(sessionId)</a:t>
            </a:r>
            <a:endParaRPr lang="en-US" sz="1333" dirty="0">
              <a:solidFill>
                <a:prstClr val="black"/>
              </a:solidFill>
              <a:latin typeface="Calibri" panose="020F0502020204030204"/>
            </a:endParaRPr>
          </a:p>
        </p:txBody>
      </p:sp>
      <p:sp>
        <p:nvSpPr>
          <p:cNvPr id="15" name="Text 13"/>
          <p:cNvSpPr/>
          <p:nvPr/>
        </p:nvSpPr>
        <p:spPr>
          <a:xfrm>
            <a:off x="2377440" y="2560320"/>
            <a:ext cx="3048000" cy="67056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Wakes a new Harness process — recovers from the session</a:t>
            </a:r>
            <a:endParaRPr lang="en-US" sz="1333" dirty="0">
              <a:solidFill>
                <a:prstClr val="black"/>
              </a:solidFill>
              <a:latin typeface="Calibri" panose="020F0502020204030204"/>
            </a:endParaRPr>
          </a:p>
        </p:txBody>
      </p:sp>
      <p:sp>
        <p:nvSpPr>
          <p:cNvPr id="16" name="Text 14"/>
          <p:cNvSpPr/>
          <p:nvPr/>
        </p:nvSpPr>
        <p:spPr>
          <a:xfrm>
            <a:off x="5486400" y="2072640"/>
            <a:ext cx="3048000" cy="487680"/>
          </a:xfrm>
          <a:prstGeom prst="rect">
            <a:avLst/>
          </a:prstGeom>
          <a:noFill/>
          <a:ln/>
        </p:spPr>
        <p:txBody>
          <a:bodyPr wrap="square" lIns="0" tIns="0" rIns="0" bIns="0" rtlCol="0" anchor="t"/>
          <a:lstStyle/>
          <a:p>
            <a:pPr defTabSz="1219170"/>
            <a:r>
              <a:rPr lang="en-US" sz="1333" b="1" dirty="0">
                <a:solidFill>
                  <a:srgbClr val="0078D4"/>
                </a:solidFill>
                <a:latin typeface="Consolas" pitchFamily="34" charset="0"/>
                <a:ea typeface="Consolas" pitchFamily="34" charset="-122"/>
                <a:cs typeface="Consolas" pitchFamily="34" charset="-120"/>
              </a:rPr>
              <a:t>execute(name, input) → string</a:t>
            </a:r>
            <a:endParaRPr lang="en-US" sz="1333" dirty="0">
              <a:solidFill>
                <a:prstClr val="black"/>
              </a:solidFill>
              <a:latin typeface="Calibri" panose="020F0502020204030204"/>
            </a:endParaRPr>
          </a:p>
        </p:txBody>
      </p:sp>
      <p:sp>
        <p:nvSpPr>
          <p:cNvPr id="17" name="Text 15"/>
          <p:cNvSpPr/>
          <p:nvPr/>
        </p:nvSpPr>
        <p:spPr>
          <a:xfrm>
            <a:off x="5486400" y="2560320"/>
            <a:ext cx="3048000" cy="67056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Invokes any Hand — unified abstraction for tool calls</a:t>
            </a:r>
            <a:endParaRPr lang="en-US" sz="1333" dirty="0">
              <a:solidFill>
                <a:prstClr val="black"/>
              </a:solidFill>
              <a:latin typeface="Calibri" panose="020F0502020204030204"/>
            </a:endParaRPr>
          </a:p>
        </p:txBody>
      </p:sp>
      <p:sp>
        <p:nvSpPr>
          <p:cNvPr id="18" name="Text 16"/>
          <p:cNvSpPr/>
          <p:nvPr/>
        </p:nvSpPr>
        <p:spPr>
          <a:xfrm>
            <a:off x="8595360" y="2072640"/>
            <a:ext cx="3048000" cy="487680"/>
          </a:xfrm>
          <a:prstGeom prst="rect">
            <a:avLst/>
          </a:prstGeom>
          <a:noFill/>
          <a:ln/>
        </p:spPr>
        <p:txBody>
          <a:bodyPr wrap="square" lIns="0" tIns="0" rIns="0" bIns="0" rtlCol="0" anchor="t"/>
          <a:lstStyle/>
          <a:p>
            <a:pPr defTabSz="1219170"/>
            <a:r>
              <a:rPr lang="en-US" sz="1333" b="1" dirty="0">
                <a:solidFill>
                  <a:srgbClr val="0078D4"/>
                </a:solidFill>
                <a:latin typeface="Consolas" pitchFamily="34" charset="0"/>
                <a:ea typeface="Consolas" pitchFamily="34" charset="-122"/>
                <a:cs typeface="Consolas" pitchFamily="34" charset="-120"/>
              </a:rPr>
              <a:t>emitEvent(id, event)</a:t>
            </a:r>
            <a:endParaRPr lang="en-US" sz="1333" dirty="0">
              <a:solidFill>
                <a:prstClr val="black"/>
              </a:solidFill>
              <a:latin typeface="Calibri" panose="020F0502020204030204"/>
            </a:endParaRPr>
          </a:p>
        </p:txBody>
      </p:sp>
      <p:sp>
        <p:nvSpPr>
          <p:cNvPr id="19" name="Text 17"/>
          <p:cNvSpPr/>
          <p:nvPr/>
        </p:nvSpPr>
        <p:spPr>
          <a:xfrm>
            <a:off x="8595360" y="2560320"/>
            <a:ext cx="3048000" cy="67056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Writes persistent events to the session log</a:t>
            </a:r>
            <a:endParaRPr lang="en-US" sz="1333" dirty="0">
              <a:solidFill>
                <a:prstClr val="black"/>
              </a:solidFill>
              <a:latin typeface="Calibri" panose="020F0502020204030204"/>
            </a:endParaRPr>
          </a:p>
        </p:txBody>
      </p:sp>
      <p:sp>
        <p:nvSpPr>
          <p:cNvPr id="20" name="Shape 18"/>
          <p:cNvSpPr/>
          <p:nvPr/>
        </p:nvSpPr>
        <p:spPr>
          <a:xfrm>
            <a:off x="487680" y="3413760"/>
            <a:ext cx="1121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1" name="Shape 19"/>
          <p:cNvSpPr/>
          <p:nvPr/>
        </p:nvSpPr>
        <p:spPr>
          <a:xfrm>
            <a:off x="487680" y="3413760"/>
            <a:ext cx="97536" cy="140208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22" name="Shape 20"/>
          <p:cNvSpPr/>
          <p:nvPr/>
        </p:nvSpPr>
        <p:spPr>
          <a:xfrm>
            <a:off x="487680" y="3413760"/>
            <a:ext cx="1706880" cy="140208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23" name="Text 21"/>
          <p:cNvSpPr/>
          <p:nvPr/>
        </p:nvSpPr>
        <p:spPr>
          <a:xfrm>
            <a:off x="487680" y="3413760"/>
            <a:ext cx="1706880" cy="140208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Hands</a:t>
            </a:r>
            <a:endParaRPr lang="en-US" sz="2400" dirty="0">
              <a:solidFill>
                <a:prstClr val="black"/>
              </a:solidFill>
              <a:latin typeface="Calibri" panose="020F0502020204030204"/>
            </a:endParaRPr>
          </a:p>
        </p:txBody>
      </p:sp>
      <p:sp>
        <p:nvSpPr>
          <p:cNvPr id="24" name="Text 22"/>
          <p:cNvSpPr/>
          <p:nvPr/>
        </p:nvSpPr>
        <p:spPr>
          <a:xfrm>
            <a:off x="2377440" y="3596640"/>
            <a:ext cx="3048000" cy="487680"/>
          </a:xfrm>
          <a:prstGeom prst="rect">
            <a:avLst/>
          </a:prstGeom>
          <a:noFill/>
          <a:ln/>
        </p:spPr>
        <p:txBody>
          <a:bodyPr wrap="square" lIns="0" tIns="0" rIns="0" bIns="0" rtlCol="0" anchor="t"/>
          <a:lstStyle/>
          <a:p>
            <a:pPr defTabSz="1219170"/>
            <a:r>
              <a:rPr lang="en-US" sz="1333" b="1" dirty="0">
                <a:solidFill>
                  <a:srgbClr val="00B7C3"/>
                </a:solidFill>
                <a:latin typeface="Consolas" pitchFamily="34" charset="0"/>
                <a:ea typeface="Consolas" pitchFamily="34" charset="-122"/>
                <a:cs typeface="Consolas" pitchFamily="34" charset="-120"/>
              </a:rPr>
              <a:t>execute(name, input) → string</a:t>
            </a:r>
            <a:endParaRPr lang="en-US" sz="1333" dirty="0">
              <a:solidFill>
                <a:prstClr val="black"/>
              </a:solidFill>
              <a:latin typeface="Calibri" panose="020F0502020204030204"/>
            </a:endParaRPr>
          </a:p>
        </p:txBody>
      </p:sp>
      <p:sp>
        <p:nvSpPr>
          <p:cNvPr id="25" name="Text 23"/>
          <p:cNvSpPr/>
          <p:nvPr/>
        </p:nvSpPr>
        <p:spPr>
          <a:xfrm>
            <a:off x="2377440" y="4084320"/>
            <a:ext cx="3048000" cy="67056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Brain doesn't see implementation details</a:t>
            </a:r>
            <a:endParaRPr lang="en-US" sz="1333" dirty="0">
              <a:solidFill>
                <a:prstClr val="black"/>
              </a:solidFill>
              <a:latin typeface="Calibri" panose="020F0502020204030204"/>
            </a:endParaRPr>
          </a:p>
        </p:txBody>
      </p:sp>
      <p:sp>
        <p:nvSpPr>
          <p:cNvPr id="26" name="Text 24"/>
          <p:cNvSpPr/>
          <p:nvPr/>
        </p:nvSpPr>
        <p:spPr>
          <a:xfrm>
            <a:off x="5486400" y="3596640"/>
            <a:ext cx="3048000" cy="487680"/>
          </a:xfrm>
          <a:prstGeom prst="rect">
            <a:avLst/>
          </a:prstGeom>
          <a:noFill/>
          <a:ln/>
        </p:spPr>
        <p:txBody>
          <a:bodyPr wrap="square" lIns="0" tIns="0" rIns="0" bIns="0" rtlCol="0" anchor="t"/>
          <a:lstStyle/>
          <a:p>
            <a:pPr defTabSz="1219170"/>
            <a:r>
              <a:rPr lang="en-US" sz="1333" b="1" dirty="0">
                <a:solidFill>
                  <a:srgbClr val="00B7C3"/>
                </a:solidFill>
                <a:latin typeface="Consolas" pitchFamily="34" charset="0"/>
                <a:ea typeface="Consolas" pitchFamily="34" charset="-122"/>
                <a:cs typeface="Consolas" pitchFamily="34" charset="-120"/>
              </a:rPr>
              <a:t>provision({resources})</a:t>
            </a:r>
            <a:endParaRPr lang="en-US" sz="1333" dirty="0">
              <a:solidFill>
                <a:prstClr val="black"/>
              </a:solidFill>
              <a:latin typeface="Calibri" panose="020F0502020204030204"/>
            </a:endParaRPr>
          </a:p>
        </p:txBody>
      </p:sp>
      <p:sp>
        <p:nvSpPr>
          <p:cNvPr id="27" name="Text 25"/>
          <p:cNvSpPr/>
          <p:nvPr/>
        </p:nvSpPr>
        <p:spPr>
          <a:xfrm>
            <a:off x="5486400" y="4084320"/>
            <a:ext cx="3048000" cy="67056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Provisions container/compute resources on demand</a:t>
            </a:r>
            <a:endParaRPr lang="en-US" sz="1333" dirty="0">
              <a:solidFill>
                <a:prstClr val="black"/>
              </a:solidFill>
              <a:latin typeface="Calibri" panose="020F0502020204030204"/>
            </a:endParaRPr>
          </a:p>
        </p:txBody>
      </p:sp>
      <p:sp>
        <p:nvSpPr>
          <p:cNvPr id="28" name="Text 26"/>
          <p:cNvSpPr/>
          <p:nvPr/>
        </p:nvSpPr>
        <p:spPr>
          <a:xfrm>
            <a:off x="8595360" y="3596640"/>
            <a:ext cx="3048000" cy="487680"/>
          </a:xfrm>
          <a:prstGeom prst="rect">
            <a:avLst/>
          </a:prstGeom>
          <a:noFill/>
          <a:ln/>
        </p:spPr>
        <p:txBody>
          <a:bodyPr wrap="square" lIns="0" tIns="0" rIns="0" bIns="0" rtlCol="0" anchor="t"/>
          <a:lstStyle/>
          <a:p>
            <a:pPr defTabSz="1219170"/>
            <a:r>
              <a:rPr lang="en-US" sz="1333" b="1" dirty="0">
                <a:solidFill>
                  <a:srgbClr val="00B7C3"/>
                </a:solidFill>
                <a:latin typeface="Consolas" pitchFamily="34" charset="0"/>
                <a:ea typeface="Consolas" pitchFamily="34" charset="-122"/>
                <a:cs typeface="Consolas" pitchFamily="34" charset="-120"/>
              </a:rPr>
              <a:t>Failure → tool-call error</a:t>
            </a:r>
            <a:endParaRPr lang="en-US" sz="1333" dirty="0">
              <a:solidFill>
                <a:prstClr val="black"/>
              </a:solidFill>
              <a:latin typeface="Calibri" panose="020F0502020204030204"/>
            </a:endParaRPr>
          </a:p>
        </p:txBody>
      </p:sp>
      <p:sp>
        <p:nvSpPr>
          <p:cNvPr id="29" name="Text 27"/>
          <p:cNvSpPr/>
          <p:nvPr/>
        </p:nvSpPr>
        <p:spPr>
          <a:xfrm>
            <a:off x="8595360" y="4084320"/>
            <a:ext cx="3048000" cy="67056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Container death is handled by Brain via retry or routing</a:t>
            </a:r>
            <a:endParaRPr lang="en-US" sz="1333" dirty="0">
              <a:solidFill>
                <a:prstClr val="black"/>
              </a:solidFill>
              <a:latin typeface="Calibri" panose="020F0502020204030204"/>
            </a:endParaRPr>
          </a:p>
        </p:txBody>
      </p:sp>
      <p:sp>
        <p:nvSpPr>
          <p:cNvPr id="30" name="Shape 28"/>
          <p:cNvSpPr/>
          <p:nvPr/>
        </p:nvSpPr>
        <p:spPr>
          <a:xfrm>
            <a:off x="487680" y="4937760"/>
            <a:ext cx="1121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1" name="Shape 29"/>
          <p:cNvSpPr/>
          <p:nvPr/>
        </p:nvSpPr>
        <p:spPr>
          <a:xfrm>
            <a:off x="487680" y="4937760"/>
            <a:ext cx="97536" cy="140208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2" name="Shape 30"/>
          <p:cNvSpPr/>
          <p:nvPr/>
        </p:nvSpPr>
        <p:spPr>
          <a:xfrm>
            <a:off x="487680" y="4937760"/>
            <a:ext cx="1706880" cy="140208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3" name="Text 31"/>
          <p:cNvSpPr/>
          <p:nvPr/>
        </p:nvSpPr>
        <p:spPr>
          <a:xfrm>
            <a:off x="487680" y="4937760"/>
            <a:ext cx="1706880" cy="140208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Session</a:t>
            </a:r>
            <a:endParaRPr lang="en-US" sz="2400" dirty="0">
              <a:solidFill>
                <a:prstClr val="black"/>
              </a:solidFill>
              <a:latin typeface="Calibri" panose="020F0502020204030204"/>
            </a:endParaRPr>
          </a:p>
        </p:txBody>
      </p:sp>
      <p:sp>
        <p:nvSpPr>
          <p:cNvPr id="34" name="Text 32"/>
          <p:cNvSpPr/>
          <p:nvPr/>
        </p:nvSpPr>
        <p:spPr>
          <a:xfrm>
            <a:off x="2377440" y="5120640"/>
            <a:ext cx="3048000" cy="487680"/>
          </a:xfrm>
          <a:prstGeom prst="rect">
            <a:avLst/>
          </a:prstGeom>
          <a:noFill/>
          <a:ln/>
        </p:spPr>
        <p:txBody>
          <a:bodyPr wrap="square" lIns="0" tIns="0" rIns="0" bIns="0" rtlCol="0" anchor="t"/>
          <a:lstStyle/>
          <a:p>
            <a:pPr defTabSz="1219170"/>
            <a:r>
              <a:rPr lang="en-US" sz="1333" b="1" dirty="0">
                <a:solidFill>
                  <a:srgbClr val="FFB900"/>
                </a:solidFill>
                <a:latin typeface="Consolas" pitchFamily="34" charset="0"/>
                <a:ea typeface="Consolas" pitchFamily="34" charset="-122"/>
                <a:cs typeface="Consolas" pitchFamily="34" charset="-120"/>
              </a:rPr>
              <a:t>emitEvent(id, event)</a:t>
            </a:r>
            <a:endParaRPr lang="en-US" sz="1333" dirty="0">
              <a:solidFill>
                <a:prstClr val="black"/>
              </a:solidFill>
              <a:latin typeface="Calibri" panose="020F0502020204030204"/>
            </a:endParaRPr>
          </a:p>
        </p:txBody>
      </p:sp>
      <p:sp>
        <p:nvSpPr>
          <p:cNvPr id="35" name="Text 33"/>
          <p:cNvSpPr/>
          <p:nvPr/>
        </p:nvSpPr>
        <p:spPr>
          <a:xfrm>
            <a:off x="2377440" y="5608320"/>
            <a:ext cx="3048000" cy="67056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Append-only event append</a:t>
            </a:r>
            <a:endParaRPr lang="en-US" sz="1333" dirty="0">
              <a:solidFill>
                <a:prstClr val="black"/>
              </a:solidFill>
              <a:latin typeface="Calibri" panose="020F0502020204030204"/>
            </a:endParaRPr>
          </a:p>
        </p:txBody>
      </p:sp>
      <p:sp>
        <p:nvSpPr>
          <p:cNvPr id="36" name="Text 34"/>
          <p:cNvSpPr/>
          <p:nvPr/>
        </p:nvSpPr>
        <p:spPr>
          <a:xfrm>
            <a:off x="5486400" y="5120640"/>
            <a:ext cx="3048000" cy="487680"/>
          </a:xfrm>
          <a:prstGeom prst="rect">
            <a:avLst/>
          </a:prstGeom>
          <a:noFill/>
          <a:ln/>
        </p:spPr>
        <p:txBody>
          <a:bodyPr wrap="square" lIns="0" tIns="0" rIns="0" bIns="0" rtlCol="0" anchor="t"/>
          <a:lstStyle/>
          <a:p>
            <a:pPr defTabSz="1219170"/>
            <a:r>
              <a:rPr lang="en-US" sz="1333" b="1" dirty="0">
                <a:solidFill>
                  <a:srgbClr val="FFB900"/>
                </a:solidFill>
                <a:latin typeface="Consolas" pitchFamily="34" charset="0"/>
                <a:ea typeface="Consolas" pitchFamily="34" charset="-122"/>
                <a:cs typeface="Consolas" pitchFamily="34" charset="-120"/>
              </a:rPr>
              <a:t>getEvents()</a:t>
            </a:r>
            <a:endParaRPr lang="en-US" sz="1333" dirty="0">
              <a:solidFill>
                <a:prstClr val="black"/>
              </a:solidFill>
              <a:latin typeface="Calibri" panose="020F0502020204030204"/>
            </a:endParaRPr>
          </a:p>
        </p:txBody>
      </p:sp>
      <p:sp>
        <p:nvSpPr>
          <p:cNvPr id="37" name="Text 35"/>
          <p:cNvSpPr/>
          <p:nvPr/>
        </p:nvSpPr>
        <p:spPr>
          <a:xfrm>
            <a:off x="5486400" y="5608320"/>
            <a:ext cx="3048000" cy="67056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Slice context by position to replay</a:t>
            </a:r>
            <a:endParaRPr lang="en-US" sz="1333" dirty="0">
              <a:solidFill>
                <a:prstClr val="black"/>
              </a:solidFill>
              <a:latin typeface="Calibri" panose="020F0502020204030204"/>
            </a:endParaRPr>
          </a:p>
        </p:txBody>
      </p:sp>
      <p:sp>
        <p:nvSpPr>
          <p:cNvPr id="38" name="Text 36"/>
          <p:cNvSpPr/>
          <p:nvPr/>
        </p:nvSpPr>
        <p:spPr>
          <a:xfrm>
            <a:off x="8595360" y="5120640"/>
            <a:ext cx="3048000" cy="487680"/>
          </a:xfrm>
          <a:prstGeom prst="rect">
            <a:avLst/>
          </a:prstGeom>
          <a:noFill/>
          <a:ln/>
        </p:spPr>
        <p:txBody>
          <a:bodyPr wrap="square" lIns="0" tIns="0" rIns="0" bIns="0" rtlCol="0" anchor="t"/>
          <a:lstStyle/>
          <a:p>
            <a:pPr defTabSz="1219170"/>
            <a:r>
              <a:rPr lang="en-US" sz="1333" b="1" dirty="0">
                <a:solidFill>
                  <a:srgbClr val="FFB900"/>
                </a:solidFill>
                <a:latin typeface="Consolas" pitchFamily="34" charset="0"/>
                <a:ea typeface="Consolas" pitchFamily="34" charset="-122"/>
                <a:cs typeface="Consolas" pitchFamily="34" charset="-120"/>
              </a:rPr>
              <a:t>getSession(id)</a:t>
            </a:r>
            <a:endParaRPr lang="en-US" sz="1333" dirty="0">
              <a:solidFill>
                <a:prstClr val="black"/>
              </a:solidFill>
              <a:latin typeface="Calibri" panose="020F0502020204030204"/>
            </a:endParaRPr>
          </a:p>
        </p:txBody>
      </p:sp>
      <p:sp>
        <p:nvSpPr>
          <p:cNvPr id="39" name="Text 37"/>
          <p:cNvSpPr/>
          <p:nvPr/>
        </p:nvSpPr>
        <p:spPr>
          <a:xfrm>
            <a:off x="8595360" y="5608320"/>
            <a:ext cx="3048000" cy="67056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Rebuilds Brain's execution context after a crash</a:t>
            </a:r>
            <a:endParaRPr lang="en-US" sz="1333" dirty="0">
              <a:solidFill>
                <a:prstClr val="black"/>
              </a:solidFill>
              <a:latin typeface="Calibri" panose="020F0502020204030204"/>
            </a:endParaRPr>
          </a:p>
        </p:txBody>
      </p:sp>
      <p:sp>
        <p:nvSpPr>
          <p:cNvPr id="40" name="Text 38"/>
          <p:cNvSpPr/>
          <p:nvPr/>
        </p:nvSpPr>
        <p:spPr>
          <a:xfrm>
            <a:off x="487680" y="6156960"/>
            <a:ext cx="11216640" cy="243840"/>
          </a:xfrm>
          <a:prstGeom prst="rect">
            <a:avLst/>
          </a:prstGeom>
          <a:noFill/>
          <a:ln/>
        </p:spPr>
        <p:txBody>
          <a:bodyPr wrap="square" lIns="0" tIns="0" rIns="0" bIns="0" rtlCol="0" anchor="ctr"/>
          <a:lstStyle/>
          <a:p>
            <a:pPr algn="r" defTabSz="1219170"/>
            <a:r>
              <a:rPr lang="en-US" sz="1067" i="1" dirty="0">
                <a:solidFill>
                  <a:srgbClr val="5B6671"/>
                </a:solidFill>
                <a:latin typeface="Microsoft YaHei" pitchFamily="34" charset="0"/>
                <a:ea typeface="Microsoft YaHei" pitchFamily="34" charset="-122"/>
                <a:cs typeface="Microsoft YaHei" pitchFamily="34" charset="-120"/>
              </a:rPr>
              <a:t>Source: Anthropic Engineering Blog, "Scaling Managed Agents" (2026-04-08)</a:t>
            </a:r>
            <a:endParaRPr lang="en-US" sz="1067" dirty="0">
              <a:solidFill>
                <a:prstClr val="black"/>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Anthropic</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Structured security-boundary design</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Credentials never enter the sandbox: Resource-Bundled Auth + Vault</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20 / 40</a:t>
            </a:r>
            <a:endParaRPr lang="en-US" sz="1200" dirty="0">
              <a:solidFill>
                <a:prstClr val="black"/>
              </a:solidFill>
              <a:latin typeface="Calibri" panose="020F0502020204030204"/>
            </a:endParaRPr>
          </a:p>
        </p:txBody>
      </p:sp>
      <p:sp>
        <p:nvSpPr>
          <p:cNvPr id="10" name="Shape 8"/>
          <p:cNvSpPr/>
          <p:nvPr/>
        </p:nvSpPr>
        <p:spPr>
          <a:xfrm>
            <a:off x="487680" y="1889760"/>
            <a:ext cx="5486400" cy="19507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195072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5120640" cy="390144"/>
          </a:xfrm>
          <a:prstGeom prst="rect">
            <a:avLst/>
          </a:prstGeom>
          <a:noFill/>
          <a:ln/>
        </p:spPr>
        <p:txBody>
          <a:bodyPr wrap="square" lIns="0" tIns="0" rIns="0" bIns="0" rtlCol="0" anchor="ctr"/>
          <a:lstStyle/>
          <a:p>
            <a:pPr defTabSz="1219170"/>
            <a:r>
              <a:rPr lang="en-US" sz="1733" b="1" dirty="0">
                <a:solidFill>
                  <a:srgbClr val="E81123"/>
                </a:solidFill>
                <a:latin typeface="Microsoft YaHei" pitchFamily="34" charset="0"/>
                <a:ea typeface="Microsoft YaHei" pitchFamily="34" charset="-122"/>
                <a:cs typeface="Microsoft YaHei" pitchFamily="34" charset="-120"/>
              </a:rPr>
              <a:t>× Risk: credentials and code share the sandbox</a:t>
            </a:r>
            <a:endParaRPr lang="en-US" sz="1733" dirty="0">
              <a:solidFill>
                <a:prstClr val="black"/>
              </a:solidFill>
              <a:latin typeface="Calibri" panose="020F0502020204030204"/>
            </a:endParaRPr>
          </a:p>
        </p:txBody>
      </p:sp>
      <p:sp>
        <p:nvSpPr>
          <p:cNvPr id="13" name="Text 11"/>
          <p:cNvSpPr/>
          <p:nvPr/>
        </p:nvSpPr>
        <p:spPr>
          <a:xfrm>
            <a:off x="731520" y="2499360"/>
            <a:ext cx="5120640" cy="128016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Prompt Injection only needs to convince Claude to read its own environment to obtain credentials. Once an attacker holds the Token, they can spin up unrestricted sessions and delegate work to them.</a:t>
            </a:r>
            <a:endParaRPr lang="en-US" sz="1400" dirty="0">
              <a:solidFill>
                <a:prstClr val="black"/>
              </a:solidFill>
              <a:latin typeface="Calibri" panose="020F0502020204030204"/>
            </a:endParaRPr>
          </a:p>
        </p:txBody>
      </p:sp>
      <p:sp>
        <p:nvSpPr>
          <p:cNvPr id="14" name="Shape 12"/>
          <p:cNvSpPr/>
          <p:nvPr/>
        </p:nvSpPr>
        <p:spPr>
          <a:xfrm>
            <a:off x="6217920" y="1889760"/>
            <a:ext cx="5486400" cy="19507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5" name="Shape 13"/>
          <p:cNvSpPr/>
          <p:nvPr/>
        </p:nvSpPr>
        <p:spPr>
          <a:xfrm>
            <a:off x="6217920" y="1889760"/>
            <a:ext cx="97536" cy="195072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16" name="Text 14"/>
          <p:cNvSpPr/>
          <p:nvPr/>
        </p:nvSpPr>
        <p:spPr>
          <a:xfrm>
            <a:off x="6461760" y="2072640"/>
            <a:ext cx="5120640" cy="390144"/>
          </a:xfrm>
          <a:prstGeom prst="rect">
            <a:avLst/>
          </a:prstGeom>
          <a:noFill/>
          <a:ln/>
        </p:spPr>
        <p:txBody>
          <a:bodyPr wrap="square" lIns="0" tIns="0" rIns="0" bIns="0" rtlCol="0" anchor="ctr"/>
          <a:lstStyle/>
          <a:p>
            <a:pPr defTabSz="1219170"/>
            <a:r>
              <a:rPr lang="en-US" sz="1733" b="1" dirty="0">
                <a:solidFill>
                  <a:srgbClr val="107C10"/>
                </a:solidFill>
                <a:latin typeface="Microsoft YaHei" pitchFamily="34" charset="0"/>
                <a:ea typeface="Microsoft YaHei" pitchFamily="34" charset="-122"/>
                <a:cs typeface="Microsoft YaHei" pitchFamily="34" charset="-120"/>
              </a:rPr>
              <a:t>✓ Fix: physically isolate credentials</a:t>
            </a:r>
            <a:endParaRPr lang="en-US" sz="1733" dirty="0">
              <a:solidFill>
                <a:prstClr val="black"/>
              </a:solidFill>
              <a:latin typeface="Calibri" panose="020F0502020204030204"/>
            </a:endParaRPr>
          </a:p>
        </p:txBody>
      </p:sp>
      <p:sp>
        <p:nvSpPr>
          <p:cNvPr id="17" name="Text 15"/>
          <p:cNvSpPr/>
          <p:nvPr/>
        </p:nvSpPr>
        <p:spPr>
          <a:xfrm>
            <a:off x="6461760" y="2499360"/>
            <a:ext cx="5120640" cy="128016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Structural fixes guarantee Tokens are never reachable from inside the sandbox. Even as Claude grows smarter, it cannot access any credentials from inside the sandbox.</a:t>
            </a:r>
            <a:endParaRPr lang="en-US" sz="1400" dirty="0">
              <a:solidFill>
                <a:prstClr val="black"/>
              </a:solidFill>
              <a:latin typeface="Calibri" panose="020F0502020204030204"/>
            </a:endParaRPr>
          </a:p>
        </p:txBody>
      </p:sp>
      <p:sp>
        <p:nvSpPr>
          <p:cNvPr id="18" name="Shape 16"/>
          <p:cNvSpPr/>
          <p:nvPr/>
        </p:nvSpPr>
        <p:spPr>
          <a:xfrm>
            <a:off x="487680" y="4023360"/>
            <a:ext cx="5486400" cy="2377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9" name="Shape 17"/>
          <p:cNvSpPr/>
          <p:nvPr/>
        </p:nvSpPr>
        <p:spPr>
          <a:xfrm>
            <a:off x="487680" y="4023360"/>
            <a:ext cx="97536" cy="23774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731520" y="4206240"/>
            <a:ext cx="4998720" cy="390144"/>
          </a:xfrm>
          <a:prstGeom prst="rect">
            <a:avLst/>
          </a:prstGeom>
          <a:noFill/>
          <a:ln/>
        </p:spPr>
        <p:txBody>
          <a:bodyPr wrap="square" lIns="0" tIns="0" rIns="0" bIns="0" rtlCol="0" anchor="ctr"/>
          <a:lstStyle/>
          <a:p>
            <a:pPr defTabSz="1219170"/>
            <a:r>
              <a:rPr lang="en-US" sz="1867" b="1" dirty="0">
                <a:solidFill>
                  <a:srgbClr val="0078D4"/>
                </a:solidFill>
                <a:latin typeface="Microsoft YaHei" pitchFamily="34" charset="0"/>
                <a:ea typeface="Microsoft YaHei" pitchFamily="34" charset="-122"/>
                <a:cs typeface="Microsoft YaHei" pitchFamily="34" charset="-120"/>
              </a:rPr>
              <a:t>Resource-Bundled Auth</a:t>
            </a:r>
            <a:endParaRPr lang="en-US" sz="1867" dirty="0">
              <a:solidFill>
                <a:prstClr val="black"/>
              </a:solidFill>
              <a:latin typeface="Calibri" panose="020F0502020204030204"/>
            </a:endParaRPr>
          </a:p>
        </p:txBody>
      </p:sp>
      <p:sp>
        <p:nvSpPr>
          <p:cNvPr id="21" name="Text 19"/>
          <p:cNvSpPr/>
          <p:nvPr/>
        </p:nvSpPr>
        <p:spPr>
          <a:xfrm>
            <a:off x="731520" y="4572000"/>
            <a:ext cx="4998720" cy="304800"/>
          </a:xfrm>
          <a:prstGeom prst="rect">
            <a:avLst/>
          </a:prstGeom>
          <a:noFill/>
          <a:ln/>
        </p:spPr>
        <p:txBody>
          <a:bodyPr wrap="square" lIns="0" tIns="0" rIns="0" bIns="0" rtlCol="0" anchor="ctr"/>
          <a:lstStyle/>
          <a:p>
            <a:pPr defTabSz="1219170"/>
            <a:r>
              <a:rPr lang="en-US" sz="1333" i="1" dirty="0">
                <a:solidFill>
                  <a:srgbClr val="5B6671"/>
                </a:solidFill>
                <a:latin typeface="Microsoft YaHei" pitchFamily="34" charset="0"/>
                <a:ea typeface="Microsoft YaHei" pitchFamily="34" charset="-122"/>
                <a:cs typeface="Microsoft YaHei" pitchFamily="34" charset="-120"/>
              </a:rPr>
              <a:t>Credentials bundled with resources</a:t>
            </a:r>
            <a:endParaRPr lang="en-US" sz="1333" dirty="0">
              <a:solidFill>
                <a:prstClr val="black"/>
              </a:solidFill>
              <a:latin typeface="Calibri" panose="020F0502020204030204"/>
            </a:endParaRPr>
          </a:p>
        </p:txBody>
      </p:sp>
      <p:sp>
        <p:nvSpPr>
          <p:cNvPr id="22" name="Text 20"/>
          <p:cNvSpPr/>
          <p:nvPr/>
        </p:nvSpPr>
        <p:spPr>
          <a:xfrm>
            <a:off x="731520" y="4937760"/>
            <a:ext cx="4998720" cy="14020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Git example: during sandbox init, use the repo Token to clone and inject the Token into the local git remote. push/pull works normally inside the sandbox — the Agent never handles the Token directly.</a:t>
            </a:r>
            <a:endParaRPr lang="en-US" sz="1400" dirty="0">
              <a:solidFill>
                <a:prstClr val="black"/>
              </a:solidFill>
              <a:latin typeface="Calibri" panose="020F0502020204030204"/>
            </a:endParaRPr>
          </a:p>
        </p:txBody>
      </p:sp>
      <p:sp>
        <p:nvSpPr>
          <p:cNvPr id="23" name="Shape 21"/>
          <p:cNvSpPr/>
          <p:nvPr/>
        </p:nvSpPr>
        <p:spPr>
          <a:xfrm>
            <a:off x="6217920" y="4023360"/>
            <a:ext cx="5486400" cy="2377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4" name="Shape 22"/>
          <p:cNvSpPr/>
          <p:nvPr/>
        </p:nvSpPr>
        <p:spPr>
          <a:xfrm>
            <a:off x="6217920" y="4023360"/>
            <a:ext cx="97536" cy="23774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5" name="Text 23"/>
          <p:cNvSpPr/>
          <p:nvPr/>
        </p:nvSpPr>
        <p:spPr>
          <a:xfrm>
            <a:off x="6461760" y="4206240"/>
            <a:ext cx="4998720" cy="390144"/>
          </a:xfrm>
          <a:prstGeom prst="rect">
            <a:avLst/>
          </a:prstGeom>
          <a:noFill/>
          <a:ln/>
        </p:spPr>
        <p:txBody>
          <a:bodyPr wrap="square" lIns="0" tIns="0" rIns="0" bIns="0" rtlCol="0" anchor="ctr"/>
          <a:lstStyle/>
          <a:p>
            <a:pPr defTabSz="1219170"/>
            <a:r>
              <a:rPr lang="en-US" sz="1867" b="1" dirty="0">
                <a:solidFill>
                  <a:srgbClr val="FFB900"/>
                </a:solidFill>
                <a:latin typeface="Microsoft YaHei" pitchFamily="34" charset="0"/>
                <a:ea typeface="Microsoft YaHei" pitchFamily="34" charset="-122"/>
                <a:cs typeface="Microsoft YaHei" pitchFamily="34" charset="-120"/>
              </a:rPr>
              <a:t>Vault + MCP Proxy</a:t>
            </a:r>
            <a:endParaRPr lang="en-US" sz="1867" dirty="0">
              <a:solidFill>
                <a:prstClr val="black"/>
              </a:solidFill>
              <a:latin typeface="Calibri" panose="020F0502020204030204"/>
            </a:endParaRPr>
          </a:p>
        </p:txBody>
      </p:sp>
      <p:sp>
        <p:nvSpPr>
          <p:cNvPr id="26" name="Text 24"/>
          <p:cNvSpPr/>
          <p:nvPr/>
        </p:nvSpPr>
        <p:spPr>
          <a:xfrm>
            <a:off x="6461760" y="4572000"/>
            <a:ext cx="4998720" cy="304800"/>
          </a:xfrm>
          <a:prstGeom prst="rect">
            <a:avLst/>
          </a:prstGeom>
          <a:noFill/>
          <a:ln/>
        </p:spPr>
        <p:txBody>
          <a:bodyPr wrap="square" lIns="0" tIns="0" rIns="0" bIns="0" rtlCol="0" anchor="ctr"/>
          <a:lstStyle/>
          <a:p>
            <a:pPr defTabSz="1219170"/>
            <a:r>
              <a:rPr lang="en-US" sz="1333" i="1" dirty="0">
                <a:solidFill>
                  <a:srgbClr val="5B6671"/>
                </a:solidFill>
                <a:latin typeface="Microsoft YaHei" pitchFamily="34" charset="0"/>
                <a:ea typeface="Microsoft YaHei" pitchFamily="34" charset="-122"/>
                <a:cs typeface="Microsoft YaHei" pitchFamily="34" charset="-120"/>
              </a:rPr>
              <a:t>Credentials stored in a vault outside the sandbox</a:t>
            </a:r>
            <a:endParaRPr lang="en-US" sz="1333" dirty="0">
              <a:solidFill>
                <a:prstClr val="black"/>
              </a:solidFill>
              <a:latin typeface="Calibri" panose="020F0502020204030204"/>
            </a:endParaRPr>
          </a:p>
        </p:txBody>
      </p:sp>
      <p:sp>
        <p:nvSpPr>
          <p:cNvPr id="27" name="Text 25"/>
          <p:cNvSpPr/>
          <p:nvPr/>
        </p:nvSpPr>
        <p:spPr>
          <a:xfrm>
            <a:off x="6461760" y="4937760"/>
            <a:ext cx="4998720" cy="1402080"/>
          </a:xfrm>
          <a:prstGeom prst="rect">
            <a:avLst/>
          </a:prstGeom>
          <a:noFill/>
          <a:ln/>
        </p:spPr>
        <p:txBody>
          <a:bodyPr wrap="square" lIns="0" tIns="0" rIns="0" bIns="0" rtlCol="0" anchor="t"/>
          <a:lstStyle/>
          <a:p>
            <a:pPr defTabSz="1219170"/>
            <a:r>
              <a:rPr lang="en-US" sz="1400" dirty="0">
                <a:solidFill>
                  <a:srgbClr val="1F2937"/>
                </a:solidFill>
                <a:latin typeface="Microsoft YaHei" pitchFamily="34" charset="0"/>
                <a:ea typeface="Microsoft YaHei" pitchFamily="34" charset="-122"/>
                <a:cs typeface="Microsoft YaHei" pitchFamily="34" charset="-120"/>
              </a:rPr>
              <a:t>OAuth Tokens live in a secure Vault. Claude calls MCP tools through a dedicated proxy, which uses the session Token to fetch the matching credential and then calls downstream services. The Harness never sees the credential.</a:t>
            </a:r>
            <a:endParaRPr lang="en-US" sz="1400" dirty="0">
              <a:solidFill>
                <a:prstClr val="black"/>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Anthropic</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Many Brains, Many Hands architecture</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Scaling dividends from decoupling: lower latency + VPC freedom</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21 / 40</a:t>
            </a:r>
            <a:endParaRPr lang="en-US" sz="1200" dirty="0">
              <a:solidFill>
                <a:prstClr val="black"/>
              </a:solidFill>
              <a:latin typeface="Calibri" panose="020F0502020204030204"/>
            </a:endParaRPr>
          </a:p>
        </p:txBody>
      </p:sp>
      <p:sp>
        <p:nvSpPr>
          <p:cNvPr id="10" name="Shape 8"/>
          <p:cNvSpPr/>
          <p:nvPr/>
        </p:nvSpPr>
        <p:spPr>
          <a:xfrm>
            <a:off x="487680" y="1889760"/>
            <a:ext cx="5608320" cy="2377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23774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5120640" cy="390144"/>
          </a:xfrm>
          <a:prstGeom prst="rect">
            <a:avLst/>
          </a:prstGeom>
          <a:noFill/>
          <a:ln/>
        </p:spPr>
        <p:txBody>
          <a:bodyPr wrap="square" lIns="0" tIns="0" rIns="0" bIns="0" rtlCol="0" anchor="ctr"/>
          <a:lstStyle/>
          <a:p>
            <a:pPr defTabSz="1219170"/>
            <a:r>
              <a:rPr lang="en-US" sz="1867" b="1" dirty="0">
                <a:solidFill>
                  <a:srgbClr val="0078D4"/>
                </a:solidFill>
                <a:latin typeface="Microsoft YaHei" pitchFamily="34" charset="0"/>
                <a:ea typeface="Microsoft YaHei" pitchFamily="34" charset="-122"/>
                <a:cs typeface="Microsoft YaHei" pitchFamily="34" charset="-120"/>
              </a:rPr>
              <a:t>Many Brains</a:t>
            </a:r>
            <a:endParaRPr lang="en-US" sz="1867" dirty="0">
              <a:solidFill>
                <a:prstClr val="black"/>
              </a:solidFill>
              <a:latin typeface="Calibri" panose="020F0502020204030204"/>
            </a:endParaRPr>
          </a:p>
        </p:txBody>
      </p:sp>
      <p:sp>
        <p:nvSpPr>
          <p:cNvPr id="13" name="Text 11"/>
          <p:cNvSpPr/>
          <p:nvPr/>
        </p:nvSpPr>
        <p:spPr>
          <a:xfrm>
            <a:off x="731520" y="2499360"/>
            <a:ext cx="5120640" cy="170688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Once Brain is decoupled from the container, lots of Brains are just stateless processes — starting many Brains is just spawning many processes. Containers are provisioned only on demand via execute() tool calls — no more paying for container startup on sessions that never touch the sandbox.</a:t>
            </a:r>
            <a:endParaRPr lang="en-US" sz="1467" dirty="0">
              <a:solidFill>
                <a:prstClr val="black"/>
              </a:solidFill>
              <a:latin typeface="Calibri" panose="020F0502020204030204"/>
            </a:endParaRPr>
          </a:p>
        </p:txBody>
      </p:sp>
      <p:sp>
        <p:nvSpPr>
          <p:cNvPr id="14" name="Shape 12"/>
          <p:cNvSpPr/>
          <p:nvPr/>
        </p:nvSpPr>
        <p:spPr>
          <a:xfrm>
            <a:off x="6339840" y="1889760"/>
            <a:ext cx="5364480" cy="2377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5" name="Shape 13"/>
          <p:cNvSpPr/>
          <p:nvPr/>
        </p:nvSpPr>
        <p:spPr>
          <a:xfrm>
            <a:off x="6339840" y="1889760"/>
            <a:ext cx="97536" cy="23774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6" name="Text 14"/>
          <p:cNvSpPr/>
          <p:nvPr/>
        </p:nvSpPr>
        <p:spPr>
          <a:xfrm>
            <a:off x="6583680" y="2072640"/>
            <a:ext cx="4876800" cy="390144"/>
          </a:xfrm>
          <a:prstGeom prst="rect">
            <a:avLst/>
          </a:prstGeom>
          <a:noFill/>
          <a:ln/>
        </p:spPr>
        <p:txBody>
          <a:bodyPr wrap="square" lIns="0" tIns="0" rIns="0" bIns="0" rtlCol="0" anchor="ctr"/>
          <a:lstStyle/>
          <a:p>
            <a:pPr defTabSz="1219170"/>
            <a:r>
              <a:rPr lang="en-US" sz="1867" b="1" dirty="0">
                <a:solidFill>
                  <a:srgbClr val="FFB900"/>
                </a:solidFill>
                <a:latin typeface="Microsoft YaHei" pitchFamily="34" charset="0"/>
                <a:ea typeface="Microsoft YaHei" pitchFamily="34" charset="-122"/>
                <a:cs typeface="Microsoft YaHei" pitchFamily="34" charset="-120"/>
              </a:rPr>
              <a:t>Many Hands</a:t>
            </a:r>
            <a:endParaRPr lang="en-US" sz="1867" dirty="0">
              <a:solidFill>
                <a:prstClr val="black"/>
              </a:solidFill>
              <a:latin typeface="Calibri" panose="020F0502020204030204"/>
            </a:endParaRPr>
          </a:p>
        </p:txBody>
      </p:sp>
      <p:sp>
        <p:nvSpPr>
          <p:cNvPr id="17" name="Text 15"/>
          <p:cNvSpPr/>
          <p:nvPr/>
        </p:nvSpPr>
        <p:spPr>
          <a:xfrm>
            <a:off x="6583680" y="2499360"/>
            <a:ext cx="4876800" cy="170688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The execute(name, input) → string interface can carry any tool: containers, MCP Servers, in-house tools. A Hand is not bound to a specific Brain — so Brains can pass Hands to each other.</a:t>
            </a:r>
            <a:endParaRPr lang="en-US" sz="1467" dirty="0">
              <a:solidFill>
                <a:prstClr val="black"/>
              </a:solidFill>
              <a:latin typeface="Calibri" panose="020F0502020204030204"/>
            </a:endParaRPr>
          </a:p>
        </p:txBody>
      </p:sp>
      <p:sp>
        <p:nvSpPr>
          <p:cNvPr id="18" name="Shape 16"/>
          <p:cNvSpPr/>
          <p:nvPr/>
        </p:nvSpPr>
        <p:spPr>
          <a:xfrm>
            <a:off x="487680" y="4450080"/>
            <a:ext cx="11216640" cy="19507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9" name="Shape 17"/>
          <p:cNvSpPr/>
          <p:nvPr/>
        </p:nvSpPr>
        <p:spPr>
          <a:xfrm>
            <a:off x="487680" y="4450080"/>
            <a:ext cx="97536" cy="195072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731520" y="4632960"/>
            <a:ext cx="10850880" cy="426720"/>
          </a:xfrm>
          <a:prstGeom prst="rect">
            <a:avLst/>
          </a:prstGeom>
          <a:noFill/>
          <a:ln/>
        </p:spPr>
        <p:txBody>
          <a:bodyPr wrap="square" lIns="0" tIns="0" rIns="0" bIns="0" rtlCol="0" anchor="ctr"/>
          <a:lstStyle/>
          <a:p>
            <a:pPr defTabSz="1219170"/>
            <a:r>
              <a:rPr lang="en-US" sz="1867" b="1" dirty="0">
                <a:solidFill>
                  <a:srgbClr val="107C10"/>
                </a:solidFill>
                <a:latin typeface="Microsoft YaHei" pitchFamily="34" charset="0"/>
                <a:ea typeface="Microsoft YaHei" pitchFamily="34" charset="-122"/>
                <a:cs typeface="Microsoft YaHei" pitchFamily="34" charset="-120"/>
              </a:rPr>
              <a:t>Performance gains: substantial Time-To-First-Token improvement</a:t>
            </a:r>
            <a:endParaRPr lang="en-US" sz="1867" dirty="0">
              <a:solidFill>
                <a:prstClr val="black"/>
              </a:solidFill>
              <a:latin typeface="Calibri" panose="020F0502020204030204"/>
            </a:endParaRPr>
          </a:p>
        </p:txBody>
      </p:sp>
      <p:sp>
        <p:nvSpPr>
          <p:cNvPr id="21" name="Text 19"/>
          <p:cNvSpPr/>
          <p:nvPr/>
        </p:nvSpPr>
        <p:spPr>
          <a:xfrm>
            <a:off x="853440" y="5120640"/>
            <a:ext cx="3413760" cy="609600"/>
          </a:xfrm>
          <a:prstGeom prst="rect">
            <a:avLst/>
          </a:prstGeom>
          <a:noFill/>
          <a:ln/>
        </p:spPr>
        <p:txBody>
          <a:bodyPr wrap="square" lIns="0" tIns="0" rIns="0" bIns="0" rtlCol="0" anchor="ctr"/>
          <a:lstStyle/>
          <a:p>
            <a:pPr algn="ctr" defTabSz="1219170"/>
            <a:r>
              <a:rPr lang="en-US" sz="4000" b="1" dirty="0">
                <a:solidFill>
                  <a:srgbClr val="107C10"/>
                </a:solidFill>
                <a:latin typeface="Microsoft YaHei" pitchFamily="34" charset="0"/>
                <a:ea typeface="Microsoft YaHei" pitchFamily="34" charset="-122"/>
                <a:cs typeface="Microsoft YaHei" pitchFamily="34" charset="-120"/>
              </a:rPr>
              <a:t>60%</a:t>
            </a:r>
            <a:endParaRPr lang="en-US" sz="4000" dirty="0">
              <a:solidFill>
                <a:prstClr val="black"/>
              </a:solidFill>
              <a:latin typeface="Calibri" panose="020F0502020204030204"/>
            </a:endParaRPr>
          </a:p>
        </p:txBody>
      </p:sp>
      <p:sp>
        <p:nvSpPr>
          <p:cNvPr id="22" name="Text 20"/>
          <p:cNvSpPr/>
          <p:nvPr/>
        </p:nvSpPr>
        <p:spPr>
          <a:xfrm>
            <a:off x="853440" y="5791200"/>
            <a:ext cx="3413760" cy="487680"/>
          </a:xfrm>
          <a:prstGeom prst="rect">
            <a:avLst/>
          </a:prstGeom>
          <a:noFill/>
          <a:ln/>
        </p:spPr>
        <p:txBody>
          <a:bodyPr wrap="square" lIns="0" tIns="0" rIns="0" bIns="0" rtlCol="0" anchor="ctr"/>
          <a:lstStyle/>
          <a:p>
            <a:pPr algn="ctr" defTabSz="1219170"/>
            <a:r>
              <a:rPr lang="en-US" sz="1400" dirty="0">
                <a:solidFill>
                  <a:srgbClr val="1F2937"/>
                </a:solidFill>
                <a:latin typeface="Microsoft YaHei" pitchFamily="34" charset="0"/>
                <a:ea typeface="Microsoft YaHei" pitchFamily="34" charset="-122"/>
                <a:cs typeface="Microsoft YaHei" pitchFamily="34" charset="-120"/>
              </a:rPr>
              <a:t>P50 TTFT down</a:t>
            </a:r>
            <a:endParaRPr lang="en-US" sz="1400" dirty="0">
              <a:solidFill>
                <a:prstClr val="black"/>
              </a:solidFill>
              <a:latin typeface="Calibri" panose="020F0502020204030204"/>
            </a:endParaRPr>
          </a:p>
        </p:txBody>
      </p:sp>
      <p:sp>
        <p:nvSpPr>
          <p:cNvPr id="23" name="Text 21"/>
          <p:cNvSpPr/>
          <p:nvPr/>
        </p:nvSpPr>
        <p:spPr>
          <a:xfrm>
            <a:off x="4511040" y="5120640"/>
            <a:ext cx="3413760" cy="609600"/>
          </a:xfrm>
          <a:prstGeom prst="rect">
            <a:avLst/>
          </a:prstGeom>
          <a:noFill/>
          <a:ln/>
        </p:spPr>
        <p:txBody>
          <a:bodyPr wrap="square" lIns="0" tIns="0" rIns="0" bIns="0" rtlCol="0" anchor="ctr"/>
          <a:lstStyle/>
          <a:p>
            <a:pPr algn="ctr" defTabSz="1219170"/>
            <a:r>
              <a:rPr lang="en-US" sz="4000" b="1" dirty="0">
                <a:solidFill>
                  <a:srgbClr val="107C10"/>
                </a:solidFill>
                <a:latin typeface="Microsoft YaHei" pitchFamily="34" charset="0"/>
                <a:ea typeface="Microsoft YaHei" pitchFamily="34" charset="-122"/>
                <a:cs typeface="Microsoft YaHei" pitchFamily="34" charset="-120"/>
              </a:rPr>
              <a:t>90%+</a:t>
            </a:r>
            <a:endParaRPr lang="en-US" sz="4000" dirty="0">
              <a:solidFill>
                <a:prstClr val="black"/>
              </a:solidFill>
              <a:latin typeface="Calibri" panose="020F0502020204030204"/>
            </a:endParaRPr>
          </a:p>
        </p:txBody>
      </p:sp>
      <p:sp>
        <p:nvSpPr>
          <p:cNvPr id="24" name="Text 22"/>
          <p:cNvSpPr/>
          <p:nvPr/>
        </p:nvSpPr>
        <p:spPr>
          <a:xfrm>
            <a:off x="4511040" y="5791200"/>
            <a:ext cx="3413760" cy="487680"/>
          </a:xfrm>
          <a:prstGeom prst="rect">
            <a:avLst/>
          </a:prstGeom>
          <a:noFill/>
          <a:ln/>
        </p:spPr>
        <p:txBody>
          <a:bodyPr wrap="square" lIns="0" tIns="0" rIns="0" bIns="0" rtlCol="0" anchor="ctr"/>
          <a:lstStyle/>
          <a:p>
            <a:pPr algn="ctr" defTabSz="1219170"/>
            <a:r>
              <a:rPr lang="en-US" sz="1400" dirty="0">
                <a:solidFill>
                  <a:srgbClr val="1F2937"/>
                </a:solidFill>
                <a:latin typeface="Microsoft YaHei" pitchFamily="34" charset="0"/>
                <a:ea typeface="Microsoft YaHei" pitchFamily="34" charset="-122"/>
                <a:cs typeface="Microsoft YaHei" pitchFamily="34" charset="-120"/>
              </a:rPr>
              <a:t>P95 TTFT down</a:t>
            </a:r>
            <a:endParaRPr lang="en-US" sz="1400" dirty="0">
              <a:solidFill>
                <a:prstClr val="black"/>
              </a:solidFill>
              <a:latin typeface="Calibri" panose="020F0502020204030204"/>
            </a:endParaRPr>
          </a:p>
        </p:txBody>
      </p:sp>
      <p:sp>
        <p:nvSpPr>
          <p:cNvPr id="25" name="Text 23"/>
          <p:cNvSpPr/>
          <p:nvPr/>
        </p:nvSpPr>
        <p:spPr>
          <a:xfrm>
            <a:off x="8168640" y="5120640"/>
            <a:ext cx="3413760" cy="609600"/>
          </a:xfrm>
          <a:prstGeom prst="rect">
            <a:avLst/>
          </a:prstGeom>
          <a:noFill/>
          <a:ln/>
        </p:spPr>
        <p:txBody>
          <a:bodyPr wrap="square" lIns="0" tIns="0" rIns="0" bIns="0" rtlCol="0" anchor="ctr"/>
          <a:lstStyle/>
          <a:p>
            <a:pPr algn="ctr" defTabSz="1219170"/>
            <a:r>
              <a:rPr lang="en-US" sz="4000" b="1" dirty="0">
                <a:solidFill>
                  <a:srgbClr val="107C10"/>
                </a:solidFill>
                <a:latin typeface="Microsoft YaHei" pitchFamily="34" charset="0"/>
                <a:ea typeface="Microsoft YaHei" pitchFamily="34" charset="-122"/>
                <a:cs typeface="Microsoft YaHei" pitchFamily="34" charset="-120"/>
              </a:rPr>
              <a:t>0</a:t>
            </a:r>
            <a:endParaRPr lang="en-US" sz="4000" dirty="0">
              <a:solidFill>
                <a:prstClr val="black"/>
              </a:solidFill>
              <a:latin typeface="Calibri" panose="020F0502020204030204"/>
            </a:endParaRPr>
          </a:p>
        </p:txBody>
      </p:sp>
      <p:sp>
        <p:nvSpPr>
          <p:cNvPr id="26" name="Text 24"/>
          <p:cNvSpPr/>
          <p:nvPr/>
        </p:nvSpPr>
        <p:spPr>
          <a:xfrm>
            <a:off x="8168640" y="5791200"/>
            <a:ext cx="3413760" cy="487680"/>
          </a:xfrm>
          <a:prstGeom prst="rect">
            <a:avLst/>
          </a:prstGeom>
          <a:noFill/>
          <a:ln/>
        </p:spPr>
        <p:txBody>
          <a:bodyPr wrap="square" lIns="0" tIns="0" rIns="0" bIns="0" rtlCol="0" anchor="ctr"/>
          <a:lstStyle/>
          <a:p>
            <a:pPr algn="ctr" defTabSz="1219170"/>
            <a:r>
              <a:rPr lang="en-US" sz="1400" dirty="0">
                <a:solidFill>
                  <a:srgbClr val="1F2937"/>
                </a:solidFill>
                <a:latin typeface="Microsoft YaHei" pitchFamily="34" charset="0"/>
                <a:ea typeface="Microsoft YaHei" pitchFamily="34" charset="-122"/>
                <a:cs typeface="Microsoft YaHei" pitchFamily="34" charset="-120"/>
              </a:rPr>
              <a:t>No needless container-startup waits</a:t>
            </a:r>
            <a:endParaRPr lang="en-US" sz="1400" dirty="0">
              <a:solidFill>
                <a:prstClr val="black"/>
              </a:solidFill>
              <a:latin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Anthropic</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Session ≠ Claude's context window</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Recoverable context storage + customizable context engineering</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22 / 40</a:t>
            </a:r>
            <a:endParaRPr lang="en-US" sz="1200" dirty="0">
              <a:solidFill>
                <a:prstClr val="black"/>
              </a:solidFill>
              <a:latin typeface="Calibri" panose="020F0502020204030204"/>
            </a:endParaRPr>
          </a:p>
        </p:txBody>
      </p:sp>
      <p:sp>
        <p:nvSpPr>
          <p:cNvPr id="10" name="Shape 8"/>
          <p:cNvSpPr/>
          <p:nvPr/>
        </p:nvSpPr>
        <p:spPr>
          <a:xfrm>
            <a:off x="487680" y="1889760"/>
            <a:ext cx="5608320" cy="426720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426720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5120640" cy="390144"/>
          </a:xfrm>
          <a:prstGeom prst="rect">
            <a:avLst/>
          </a:prstGeom>
          <a:noFill/>
          <a:ln/>
        </p:spPr>
        <p:txBody>
          <a:bodyPr wrap="square" lIns="0" tIns="0" rIns="0" bIns="0" rtlCol="0" anchor="ctr"/>
          <a:lstStyle/>
          <a:p>
            <a:pPr defTabSz="1219170"/>
            <a:r>
              <a:rPr lang="en-US" sz="1867" b="1" dirty="0">
                <a:solidFill>
                  <a:srgbClr val="E81123"/>
                </a:solidFill>
                <a:latin typeface="Microsoft YaHei" pitchFamily="34" charset="0"/>
                <a:ea typeface="Microsoft YaHei" pitchFamily="34" charset="-122"/>
                <a:cs typeface="Microsoft YaHei" pitchFamily="34" charset="-120"/>
              </a:rPr>
              <a:t>Bottlenecks of the traditional approach</a:t>
            </a:r>
            <a:endParaRPr lang="en-US" sz="1867" dirty="0">
              <a:solidFill>
                <a:prstClr val="black"/>
              </a:solidFill>
              <a:latin typeface="Calibri" panose="020F0502020204030204"/>
            </a:endParaRPr>
          </a:p>
        </p:txBody>
      </p:sp>
      <p:sp>
        <p:nvSpPr>
          <p:cNvPr id="13" name="Text 11"/>
          <p:cNvSpPr/>
          <p:nvPr/>
        </p:nvSpPr>
        <p:spPr>
          <a:xfrm>
            <a:off x="731520" y="2499360"/>
            <a:ext cx="5120640" cy="3596640"/>
          </a:xfrm>
          <a:prstGeom prst="rect">
            <a:avLst/>
          </a:prstGeom>
          <a:noFill/>
          <a:ln/>
        </p:spPr>
        <p:txBody>
          <a:bodyPr wrap="square" rtlCol="0" anchor="t"/>
          <a:lstStyle/>
          <a:p>
            <a:pPr marL="457189" indent="-457189" defTabSz="1219170">
              <a:spcAft>
                <a:spcPts val="800"/>
              </a:spcAft>
              <a:buSzPct val="100000"/>
              <a:buFontTx/>
              <a:buChar char="✕"/>
            </a:pPr>
            <a:r>
              <a:rPr lang="en-US" sz="1467" dirty="0">
                <a:solidFill>
                  <a:srgbClr val="E81123"/>
                </a:solidFill>
                <a:latin typeface="Microsoft YaHei" pitchFamily="34" charset="0"/>
                <a:ea typeface="Microsoft YaHei" pitchFamily="34" charset="-122"/>
                <a:cs typeface="Microsoft YaHei" pitchFamily="34" charset="-120"/>
              </a:rPr>
              <a:t>Long tasks exceed Claude's context window</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E81123"/>
                </a:solidFill>
                <a:latin typeface="Microsoft YaHei" pitchFamily="34" charset="0"/>
                <a:ea typeface="Microsoft YaHei" pitchFamily="34" charset="-122"/>
                <a:cs typeface="Microsoft YaHei" pitchFamily="34" charset="-120"/>
              </a:rPr>
              <a:t>Compaction makes irreversible decisions</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E81123"/>
                </a:solidFill>
                <a:latin typeface="Microsoft YaHei" pitchFamily="34" charset="0"/>
                <a:ea typeface="Microsoft YaHei" pitchFamily="34" charset="-122"/>
                <a:cs typeface="Microsoft YaHei" pitchFamily="34" charset="-120"/>
              </a:rPr>
              <a:t>Context trimming discards Tokens that may be needed later</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E81123"/>
                </a:solidFill>
                <a:latin typeface="Microsoft YaHei" pitchFamily="34" charset="0"/>
                <a:ea typeface="Microsoft YaHei" pitchFamily="34" charset="-122"/>
                <a:cs typeface="Microsoft YaHei" pitchFamily="34" charset="-120"/>
              </a:rPr>
              <a:t>If not stored, compacted messages can't be recovered</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E81123"/>
                </a:solidFill>
                <a:latin typeface="Microsoft YaHei" pitchFamily="34" charset="0"/>
                <a:ea typeface="Microsoft YaHei" pitchFamily="34" charset="-122"/>
                <a:cs typeface="Microsoft YaHei" pitchFamily="34" charset="-120"/>
              </a:rPr>
              <a:t>REPL keeps context but is bound to the sandbox's lifetime</a:t>
            </a:r>
            <a:endParaRPr lang="en-US" sz="1467" dirty="0">
              <a:solidFill>
                <a:prstClr val="black"/>
              </a:solidFill>
              <a:latin typeface="Calibri" panose="020F0502020204030204"/>
            </a:endParaRPr>
          </a:p>
        </p:txBody>
      </p:sp>
      <p:sp>
        <p:nvSpPr>
          <p:cNvPr id="14" name="Shape 12"/>
          <p:cNvSpPr/>
          <p:nvPr/>
        </p:nvSpPr>
        <p:spPr>
          <a:xfrm>
            <a:off x="6339840" y="1889760"/>
            <a:ext cx="5364480" cy="426720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5" name="Shape 13"/>
          <p:cNvSpPr/>
          <p:nvPr/>
        </p:nvSpPr>
        <p:spPr>
          <a:xfrm>
            <a:off x="6339840" y="1889760"/>
            <a:ext cx="97536" cy="426720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16" name="Text 14"/>
          <p:cNvSpPr/>
          <p:nvPr/>
        </p:nvSpPr>
        <p:spPr>
          <a:xfrm>
            <a:off x="6583680" y="2072640"/>
            <a:ext cx="4876800" cy="390144"/>
          </a:xfrm>
          <a:prstGeom prst="rect">
            <a:avLst/>
          </a:prstGeom>
          <a:noFill/>
          <a:ln/>
        </p:spPr>
        <p:txBody>
          <a:bodyPr wrap="square" lIns="0" tIns="0" rIns="0" bIns="0" rtlCol="0" anchor="ctr"/>
          <a:lstStyle/>
          <a:p>
            <a:pPr defTabSz="1219170"/>
            <a:r>
              <a:rPr lang="en-US" sz="1867" b="1" dirty="0">
                <a:solidFill>
                  <a:srgbClr val="107C10"/>
                </a:solidFill>
                <a:latin typeface="Microsoft YaHei" pitchFamily="34" charset="0"/>
                <a:ea typeface="Microsoft YaHei" pitchFamily="34" charset="-122"/>
                <a:cs typeface="Microsoft YaHei" pitchFamily="34" charset="-120"/>
              </a:rPr>
              <a:t>Managed Agents' solution</a:t>
            </a:r>
            <a:endParaRPr lang="en-US" sz="1867" dirty="0">
              <a:solidFill>
                <a:prstClr val="black"/>
              </a:solidFill>
              <a:latin typeface="Calibri" panose="020F0502020204030204"/>
            </a:endParaRPr>
          </a:p>
        </p:txBody>
      </p:sp>
      <p:sp>
        <p:nvSpPr>
          <p:cNvPr id="17" name="Text 15"/>
          <p:cNvSpPr/>
          <p:nvPr/>
        </p:nvSpPr>
        <p:spPr>
          <a:xfrm>
            <a:off x="6583680" y="2499360"/>
            <a:ext cx="4876800" cy="3596640"/>
          </a:xfrm>
          <a:prstGeom prst="rect">
            <a:avLst/>
          </a:prstGeom>
          <a:noFill/>
          <a:ln/>
        </p:spPr>
        <p:txBody>
          <a:bodyPr wrap="square" rtlCol="0" anchor="t"/>
          <a:lstStyle/>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Session = persistent event stream — independent lifespan</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getEvents() exposes a position-slice interface</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Brain can replay any historical slice</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Harness is free to transform data before writing it into context</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Storage and context-engineering concerns are fully separated</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Also optimizes Prompt Cache hit rate</a:t>
            </a:r>
            <a:endParaRPr lang="en-US" sz="1467" dirty="0">
              <a:solidFill>
                <a:prstClr val="black"/>
              </a:solidFill>
              <a:latin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AWS Bedrock</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AWS Bedrock Managed Agents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AWS managed agent platform powered by OpenAI Harness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23 / 40</a:t>
            </a:r>
            <a:endParaRPr lang="en-US" sz="1200" dirty="0">
              <a:solidFill>
                <a:prstClr val="black"/>
              </a:solidFill>
              <a:latin typeface="Calibri" panose="020F0502020204030204"/>
            </a:endParaRPr>
          </a:p>
        </p:txBody>
      </p:sp>
      <p:sp>
        <p:nvSpPr>
          <p:cNvPr id="10" name="Shape 8"/>
          <p:cNvSpPr/>
          <p:nvPr/>
        </p:nvSpPr>
        <p:spPr>
          <a:xfrm>
            <a:off x="487680" y="1889760"/>
            <a:ext cx="11216640" cy="12801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128016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10850880" cy="426720"/>
          </a:xfrm>
          <a:prstGeom prst="rect">
            <a:avLst/>
          </a:prstGeom>
          <a:noFill/>
          <a:ln/>
        </p:spPr>
        <p:txBody>
          <a:bodyPr wrap="square" lIns="0" tIns="0" rIns="0" bIns="0" rtlCol="0" anchor="ctr"/>
          <a:lstStyle/>
          <a:p>
            <a:pPr defTabSz="1219170"/>
            <a:r>
              <a:rPr lang="en-US" sz="2133" b="1" dirty="0">
                <a:solidFill>
                  <a:srgbClr val="0F2A47"/>
                </a:solidFill>
                <a:latin typeface="Microsoft YaHei" pitchFamily="34" charset="0"/>
                <a:ea typeface="Microsoft YaHei" pitchFamily="34" charset="-122"/>
                <a:cs typeface="Microsoft YaHei" pitchFamily="34" charset="-120"/>
              </a:rPr>
              <a:t>Bedrock Managed Agents, powered by OpenAI</a:t>
            </a:r>
            <a:endParaRPr lang="en-US" sz="2133" dirty="0">
              <a:solidFill>
                <a:prstClr val="black"/>
              </a:solidFill>
              <a:latin typeface="Calibri" panose="020F0502020204030204"/>
            </a:endParaRPr>
          </a:p>
        </p:txBody>
      </p:sp>
      <p:sp>
        <p:nvSpPr>
          <p:cNvPr id="13" name="Text 11"/>
          <p:cNvSpPr/>
          <p:nvPr/>
        </p:nvSpPr>
        <p:spPr>
          <a:xfrm>
            <a:off x="731520" y="2499360"/>
            <a:ext cx="10850880" cy="609600"/>
          </a:xfrm>
          <a:prstGeom prst="rect">
            <a:avLst/>
          </a:prstGeom>
          <a:noFill/>
          <a:ln/>
        </p:spPr>
        <p:txBody>
          <a:bodyPr wrap="square" lIns="0" tIns="0" rIns="0" bIns="0" rtlCol="0" anchor="t"/>
          <a:lstStyle/>
          <a:p>
            <a:pPr defTabSz="1219170"/>
            <a:r>
              <a:rPr lang="en-US" sz="1533" dirty="0">
                <a:solidFill>
                  <a:srgbClr val="1F2937"/>
                </a:solidFill>
                <a:latin typeface="Microsoft YaHei" pitchFamily="34" charset="0"/>
                <a:ea typeface="Microsoft YaHei" pitchFamily="34" charset="-122"/>
                <a:cs typeface="Microsoft YaHei" pitchFamily="34" charset="-120"/>
              </a:rPr>
              <a:t>Combines frontier AI models with trusted AWS infrastructure so customers can quickly build production-grade, OpenAI-powered agents in the cloud.</a:t>
            </a:r>
            <a:endParaRPr lang="en-US" sz="1533" dirty="0">
              <a:solidFill>
                <a:prstClr val="black"/>
              </a:solidFill>
              <a:latin typeface="Calibri" panose="020F0502020204030204"/>
            </a:endParaRPr>
          </a:p>
        </p:txBody>
      </p:sp>
      <p:sp>
        <p:nvSpPr>
          <p:cNvPr id="14" name="Shape 12"/>
          <p:cNvSpPr/>
          <p:nvPr/>
        </p:nvSpPr>
        <p:spPr>
          <a:xfrm>
            <a:off x="487680" y="3352800"/>
            <a:ext cx="5486400" cy="1463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5" name="Shape 13"/>
          <p:cNvSpPr/>
          <p:nvPr/>
        </p:nvSpPr>
        <p:spPr>
          <a:xfrm>
            <a:off x="487680" y="3352800"/>
            <a:ext cx="97536" cy="14630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6" name="Text 14"/>
          <p:cNvSpPr/>
          <p:nvPr/>
        </p:nvSpPr>
        <p:spPr>
          <a:xfrm>
            <a:off x="731520" y="3474720"/>
            <a:ext cx="4998720" cy="426720"/>
          </a:xfrm>
          <a:prstGeom prst="rect">
            <a:avLst/>
          </a:prstGeom>
          <a:noFill/>
          <a:ln/>
        </p:spPr>
        <p:txBody>
          <a:bodyPr wrap="square" lIns="0" tIns="0" rIns="0" bIns="0" rtlCol="0" anchor="ctr"/>
          <a:lstStyle/>
          <a:p>
            <a:pPr defTabSz="1219170"/>
            <a:r>
              <a:rPr lang="en-US" sz="1867" b="1" dirty="0">
                <a:solidFill>
                  <a:srgbClr val="0078D4"/>
                </a:solidFill>
                <a:latin typeface="Microsoft YaHei" pitchFamily="34" charset="0"/>
                <a:ea typeface="Microsoft YaHei" pitchFamily="34" charset="-122"/>
                <a:cs typeface="Microsoft YaHei" pitchFamily="34" charset="-120"/>
              </a:rPr>
              <a:t>Frontier intelligence</a:t>
            </a:r>
            <a:endParaRPr lang="en-US" sz="1867" dirty="0">
              <a:solidFill>
                <a:prstClr val="black"/>
              </a:solidFill>
              <a:latin typeface="Calibri" panose="020F0502020204030204"/>
            </a:endParaRPr>
          </a:p>
        </p:txBody>
      </p:sp>
      <p:sp>
        <p:nvSpPr>
          <p:cNvPr id="17" name="Text 15"/>
          <p:cNvSpPr/>
          <p:nvPr/>
        </p:nvSpPr>
        <p:spPr>
          <a:xfrm>
            <a:off x="731520" y="3901440"/>
            <a:ext cx="4998720" cy="85344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Uses OpenAI Harness to unlock frontier-model potential — faster execution, sharper reasoning, controllable long tasks.</a:t>
            </a:r>
            <a:endParaRPr lang="en-US" sz="1467" dirty="0">
              <a:solidFill>
                <a:prstClr val="black"/>
              </a:solidFill>
              <a:latin typeface="Calibri" panose="020F0502020204030204"/>
            </a:endParaRPr>
          </a:p>
        </p:txBody>
      </p:sp>
      <p:sp>
        <p:nvSpPr>
          <p:cNvPr id="18" name="Shape 16"/>
          <p:cNvSpPr/>
          <p:nvPr/>
        </p:nvSpPr>
        <p:spPr>
          <a:xfrm>
            <a:off x="6217920" y="3352800"/>
            <a:ext cx="5486400" cy="1463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9" name="Shape 17"/>
          <p:cNvSpPr/>
          <p:nvPr/>
        </p:nvSpPr>
        <p:spPr>
          <a:xfrm>
            <a:off x="6217920" y="3352800"/>
            <a:ext cx="97536" cy="14630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6461760" y="3474720"/>
            <a:ext cx="4998720" cy="426720"/>
          </a:xfrm>
          <a:prstGeom prst="rect">
            <a:avLst/>
          </a:prstGeom>
          <a:noFill/>
          <a:ln/>
        </p:spPr>
        <p:txBody>
          <a:bodyPr wrap="square" lIns="0" tIns="0" rIns="0" bIns="0" rtlCol="0" anchor="ctr"/>
          <a:lstStyle/>
          <a:p>
            <a:pPr defTabSz="1219170"/>
            <a:r>
              <a:rPr lang="en-US" sz="1867" b="1" dirty="0">
                <a:solidFill>
                  <a:srgbClr val="FFB900"/>
                </a:solidFill>
                <a:latin typeface="Microsoft YaHei" pitchFamily="34" charset="0"/>
                <a:ea typeface="Microsoft YaHei" pitchFamily="34" charset="-122"/>
                <a:cs typeface="Microsoft YaHei" pitchFamily="34" charset="-120"/>
              </a:rPr>
              <a:t>Secure by default</a:t>
            </a:r>
            <a:endParaRPr lang="en-US" sz="1867" dirty="0">
              <a:solidFill>
                <a:prstClr val="black"/>
              </a:solidFill>
              <a:latin typeface="Calibri" panose="020F0502020204030204"/>
            </a:endParaRPr>
          </a:p>
        </p:txBody>
      </p:sp>
      <p:sp>
        <p:nvSpPr>
          <p:cNvPr id="21" name="Text 19"/>
          <p:cNvSpPr/>
          <p:nvPr/>
        </p:nvSpPr>
        <p:spPr>
          <a:xfrm>
            <a:off x="6461760" y="3901440"/>
            <a:ext cx="4998720" cy="85344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Every Agent has its own identity and every action is audited. Runs in the customer's environment — data never leaves AWS.</a:t>
            </a:r>
            <a:endParaRPr lang="en-US" sz="1467" dirty="0">
              <a:solidFill>
                <a:prstClr val="black"/>
              </a:solidFill>
              <a:latin typeface="Calibri" panose="020F0502020204030204"/>
            </a:endParaRPr>
          </a:p>
        </p:txBody>
      </p:sp>
      <p:sp>
        <p:nvSpPr>
          <p:cNvPr id="22" name="Shape 20"/>
          <p:cNvSpPr/>
          <p:nvPr/>
        </p:nvSpPr>
        <p:spPr>
          <a:xfrm>
            <a:off x="487680" y="4937760"/>
            <a:ext cx="5486400" cy="1463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3" name="Shape 21"/>
          <p:cNvSpPr/>
          <p:nvPr/>
        </p:nvSpPr>
        <p:spPr>
          <a:xfrm>
            <a:off x="487680" y="4937760"/>
            <a:ext cx="97536" cy="146304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24" name="Text 22"/>
          <p:cNvSpPr/>
          <p:nvPr/>
        </p:nvSpPr>
        <p:spPr>
          <a:xfrm>
            <a:off x="731520" y="5059680"/>
            <a:ext cx="4998720" cy="426720"/>
          </a:xfrm>
          <a:prstGeom prst="rect">
            <a:avLst/>
          </a:prstGeom>
          <a:noFill/>
          <a:ln/>
        </p:spPr>
        <p:txBody>
          <a:bodyPr wrap="square" lIns="0" tIns="0" rIns="0" bIns="0" rtlCol="0" anchor="ctr"/>
          <a:lstStyle/>
          <a:p>
            <a:pPr defTabSz="1219170"/>
            <a:r>
              <a:rPr lang="en-US" sz="1867" b="1" dirty="0">
                <a:solidFill>
                  <a:srgbClr val="00B7C3"/>
                </a:solidFill>
                <a:latin typeface="Microsoft YaHei" pitchFamily="34" charset="0"/>
                <a:ea typeface="Microsoft YaHei" pitchFamily="34" charset="-122"/>
                <a:cs typeface="Microsoft YaHei" pitchFamily="34" charset="-120"/>
              </a:rPr>
              <a:t>AWS scale</a:t>
            </a:r>
            <a:endParaRPr lang="en-US" sz="1867" dirty="0">
              <a:solidFill>
                <a:prstClr val="black"/>
              </a:solidFill>
              <a:latin typeface="Calibri" panose="020F0502020204030204"/>
            </a:endParaRPr>
          </a:p>
        </p:txBody>
      </p:sp>
      <p:sp>
        <p:nvSpPr>
          <p:cNvPr id="25" name="Text 23"/>
          <p:cNvSpPr/>
          <p:nvPr/>
        </p:nvSpPr>
        <p:spPr>
          <a:xfrm>
            <a:off x="731520" y="5486400"/>
            <a:ext cx="4998720" cy="85344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Connects directly to AWS compute and data services — close to enterprise-grade data and system deployments.</a:t>
            </a:r>
            <a:endParaRPr lang="en-US" sz="1467" dirty="0">
              <a:solidFill>
                <a:prstClr val="black"/>
              </a:solidFill>
              <a:latin typeface="Calibri" panose="020F0502020204030204"/>
            </a:endParaRPr>
          </a:p>
        </p:txBody>
      </p:sp>
      <p:sp>
        <p:nvSpPr>
          <p:cNvPr id="26" name="Shape 24"/>
          <p:cNvSpPr/>
          <p:nvPr/>
        </p:nvSpPr>
        <p:spPr>
          <a:xfrm>
            <a:off x="6217920" y="4937760"/>
            <a:ext cx="5486400" cy="1463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7" name="Shape 25"/>
          <p:cNvSpPr/>
          <p:nvPr/>
        </p:nvSpPr>
        <p:spPr>
          <a:xfrm>
            <a:off x="6217920" y="4937760"/>
            <a:ext cx="97536" cy="146304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28" name="Text 26"/>
          <p:cNvSpPr/>
          <p:nvPr/>
        </p:nvSpPr>
        <p:spPr>
          <a:xfrm>
            <a:off x="6461760" y="5059680"/>
            <a:ext cx="4998720" cy="426720"/>
          </a:xfrm>
          <a:prstGeom prst="rect">
            <a:avLst/>
          </a:prstGeom>
          <a:noFill/>
          <a:ln/>
        </p:spPr>
        <p:txBody>
          <a:bodyPr wrap="square" lIns="0" tIns="0" rIns="0" bIns="0" rtlCol="0" anchor="ctr"/>
          <a:lstStyle/>
          <a:p>
            <a:pPr defTabSz="1219170"/>
            <a:r>
              <a:rPr lang="en-US" sz="1867" b="1" dirty="0">
                <a:solidFill>
                  <a:srgbClr val="5C2D91"/>
                </a:solidFill>
                <a:latin typeface="Microsoft YaHei" pitchFamily="34" charset="0"/>
                <a:ea typeface="Microsoft YaHei" pitchFamily="34" charset="-122"/>
                <a:cs typeface="Microsoft YaHei" pitchFamily="34" charset="-120"/>
              </a:rPr>
              <a:t>AgentCore integration</a:t>
            </a:r>
            <a:endParaRPr lang="en-US" sz="1867" dirty="0">
              <a:solidFill>
                <a:prstClr val="black"/>
              </a:solidFill>
              <a:latin typeface="Calibri" panose="020F0502020204030204"/>
            </a:endParaRPr>
          </a:p>
        </p:txBody>
      </p:sp>
      <p:sp>
        <p:nvSpPr>
          <p:cNvPr id="29" name="Text 27"/>
          <p:cNvSpPr/>
          <p:nvPr/>
        </p:nvSpPr>
        <p:spPr>
          <a:xfrm>
            <a:off x="6461760" y="5486400"/>
            <a:ext cx="4998720" cy="85344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Bedrock AgentCore is the default compute environment — provides policy, discovery, and observability capabilities.</a:t>
            </a:r>
            <a:endParaRPr lang="en-US" sz="1467" dirty="0">
              <a:solidFill>
                <a:prstClr val="black"/>
              </a:solidFill>
              <a:latin typeface="Calibri" panose="020F0502020204030204"/>
            </a:endParaRPr>
          </a:p>
        </p:txBody>
      </p:sp>
      <p:sp>
        <p:nvSpPr>
          <p:cNvPr id="30" name="Text 28"/>
          <p:cNvSpPr/>
          <p:nvPr/>
        </p:nvSpPr>
        <p:spPr>
          <a:xfrm>
            <a:off x="487680" y="6461760"/>
            <a:ext cx="11216640" cy="243840"/>
          </a:xfrm>
          <a:prstGeom prst="rect">
            <a:avLst/>
          </a:prstGeom>
          <a:noFill/>
          <a:ln/>
        </p:spPr>
        <p:txBody>
          <a:bodyPr wrap="square" lIns="0" tIns="0" rIns="0" bIns="0" rtlCol="0" anchor="ctr"/>
          <a:lstStyle/>
          <a:p>
            <a:pPr algn="r" defTabSz="1219170"/>
            <a:r>
              <a:rPr lang="en-US" sz="1200" i="1" dirty="0">
                <a:solidFill>
                  <a:srgbClr val="5B6671"/>
                </a:solidFill>
                <a:latin typeface="Microsoft YaHei" pitchFamily="34" charset="0"/>
                <a:ea typeface="Microsoft YaHei" pitchFamily="34" charset="-122"/>
                <a:cs typeface="Microsoft YaHei" pitchFamily="34" charset="-120"/>
              </a:rPr>
              <a:t>Currently in Limited Preview.</a:t>
            </a:r>
            <a:endParaRPr lang="en-US" sz="1200" dirty="0">
              <a:solidFill>
                <a:prstClr val="black"/>
              </a:solidFill>
              <a:latin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02 · AWS Bedrock</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AWS Bedrock key capabilities in detail</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Powered by the OpenAI Harness + AgentCore dual engines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24 / 40</a:t>
            </a:r>
            <a:endParaRPr lang="en-US" sz="1200" dirty="0">
              <a:solidFill>
                <a:prstClr val="black"/>
              </a:solidFill>
              <a:latin typeface="Calibri" panose="020F0502020204030204"/>
            </a:endParaRPr>
          </a:p>
        </p:txBody>
      </p:sp>
      <p:sp>
        <p:nvSpPr>
          <p:cNvPr id="10" name="Shape 8"/>
          <p:cNvSpPr/>
          <p:nvPr/>
        </p:nvSpPr>
        <p:spPr>
          <a:xfrm>
            <a:off x="487680" y="1889760"/>
            <a:ext cx="5608320" cy="43891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438912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5120640" cy="390144"/>
          </a:xfrm>
          <a:prstGeom prst="rect">
            <a:avLst/>
          </a:prstGeom>
          <a:noFill/>
          <a:ln/>
        </p:spPr>
        <p:txBody>
          <a:bodyPr wrap="square" lIns="0" tIns="0" rIns="0" bIns="0" rtlCol="0" anchor="ctr"/>
          <a:lstStyle/>
          <a:p>
            <a:pPr defTabSz="1219170"/>
            <a:r>
              <a:rPr lang="en-US" sz="1867" b="1" dirty="0">
                <a:solidFill>
                  <a:srgbClr val="0078D4"/>
                </a:solidFill>
                <a:latin typeface="Microsoft YaHei" pitchFamily="34" charset="0"/>
                <a:ea typeface="Microsoft YaHei" pitchFamily="34" charset="-122"/>
                <a:cs typeface="Microsoft YaHei" pitchFamily="34" charset="-120"/>
              </a:rPr>
              <a:t>OpenAI Harness core</a:t>
            </a:r>
            <a:endParaRPr lang="en-US" sz="1867" dirty="0">
              <a:solidFill>
                <a:prstClr val="black"/>
              </a:solidFill>
              <a:latin typeface="Calibri" panose="020F0502020204030204"/>
            </a:endParaRPr>
          </a:p>
        </p:txBody>
      </p:sp>
      <p:sp>
        <p:nvSpPr>
          <p:cNvPr id="13" name="Shape 11"/>
          <p:cNvSpPr/>
          <p:nvPr/>
        </p:nvSpPr>
        <p:spPr>
          <a:xfrm>
            <a:off x="731520" y="2621280"/>
            <a:ext cx="73152" cy="67056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4" name="Text 12"/>
          <p:cNvSpPr/>
          <p:nvPr/>
        </p:nvSpPr>
        <p:spPr>
          <a:xfrm>
            <a:off x="950976" y="2621280"/>
            <a:ext cx="1463040" cy="42672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Inference speed</a:t>
            </a:r>
            <a:endParaRPr lang="en-US" sz="1467" dirty="0">
              <a:solidFill>
                <a:prstClr val="black"/>
              </a:solidFill>
              <a:latin typeface="Calibri" panose="020F0502020204030204"/>
            </a:endParaRPr>
          </a:p>
        </p:txBody>
      </p:sp>
      <p:sp>
        <p:nvSpPr>
          <p:cNvPr id="15" name="Text 13"/>
          <p:cNvSpPr/>
          <p:nvPr/>
        </p:nvSpPr>
        <p:spPr>
          <a:xfrm>
            <a:off x="950976" y="3011424"/>
            <a:ext cx="4754880" cy="280416"/>
          </a:xfrm>
          <a:prstGeom prst="rect">
            <a:avLst/>
          </a:prstGeom>
          <a:noFill/>
          <a:ln/>
        </p:spPr>
        <p:txBody>
          <a:bodyPr wrap="square" lIns="0" tIns="0" rIns="0" bIns="0" rtlCol="0" anchor="ctr"/>
          <a:lstStyle/>
          <a:p>
            <a:pPr defTabSz="1219170"/>
            <a:r>
              <a:rPr lang="en-US" sz="1333" dirty="0">
                <a:solidFill>
                  <a:srgbClr val="5B6671"/>
                </a:solidFill>
                <a:latin typeface="Microsoft YaHei" pitchFamily="34" charset="0"/>
                <a:ea typeface="Microsoft YaHei" pitchFamily="34" charset="-122"/>
                <a:cs typeface="Microsoft YaHei" pitchFamily="34" charset="-120"/>
              </a:rPr>
              <a:t>Execution path deeply optimized for frontier models</a:t>
            </a:r>
            <a:endParaRPr lang="en-US" sz="1333" dirty="0">
              <a:solidFill>
                <a:prstClr val="black"/>
              </a:solidFill>
              <a:latin typeface="Calibri" panose="020F0502020204030204"/>
            </a:endParaRPr>
          </a:p>
        </p:txBody>
      </p:sp>
      <p:sp>
        <p:nvSpPr>
          <p:cNvPr id="16" name="Shape 14"/>
          <p:cNvSpPr/>
          <p:nvPr/>
        </p:nvSpPr>
        <p:spPr>
          <a:xfrm>
            <a:off x="731520" y="3474720"/>
            <a:ext cx="73152" cy="67056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7" name="Text 15"/>
          <p:cNvSpPr/>
          <p:nvPr/>
        </p:nvSpPr>
        <p:spPr>
          <a:xfrm>
            <a:off x="950976" y="3474720"/>
            <a:ext cx="1463040" cy="42672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Inference quality</a:t>
            </a:r>
            <a:endParaRPr lang="en-US" sz="1467" dirty="0">
              <a:solidFill>
                <a:prstClr val="black"/>
              </a:solidFill>
              <a:latin typeface="Calibri" panose="020F0502020204030204"/>
            </a:endParaRPr>
          </a:p>
        </p:txBody>
      </p:sp>
      <p:sp>
        <p:nvSpPr>
          <p:cNvPr id="18" name="Text 16"/>
          <p:cNvSpPr/>
          <p:nvPr/>
        </p:nvSpPr>
        <p:spPr>
          <a:xfrm>
            <a:off x="950976" y="3864864"/>
            <a:ext cx="4754880" cy="280416"/>
          </a:xfrm>
          <a:prstGeom prst="rect">
            <a:avLst/>
          </a:prstGeom>
          <a:noFill/>
          <a:ln/>
        </p:spPr>
        <p:txBody>
          <a:bodyPr wrap="square" lIns="0" tIns="0" rIns="0" bIns="0" rtlCol="0" anchor="ctr"/>
          <a:lstStyle/>
          <a:p>
            <a:pPr defTabSz="1219170"/>
            <a:r>
              <a:rPr lang="en-US" sz="1333" dirty="0">
                <a:solidFill>
                  <a:srgbClr val="5B6671"/>
                </a:solidFill>
                <a:latin typeface="Microsoft YaHei" pitchFamily="34" charset="0"/>
                <a:ea typeface="Microsoft YaHei" pitchFamily="34" charset="-122"/>
                <a:cs typeface="Microsoft YaHei" pitchFamily="34" charset="-120"/>
              </a:rPr>
              <a:t>Unlocks sharper model reasoning</a:t>
            </a:r>
            <a:endParaRPr lang="en-US" sz="1333" dirty="0">
              <a:solidFill>
                <a:prstClr val="black"/>
              </a:solidFill>
              <a:latin typeface="Calibri" panose="020F0502020204030204"/>
            </a:endParaRPr>
          </a:p>
        </p:txBody>
      </p:sp>
      <p:sp>
        <p:nvSpPr>
          <p:cNvPr id="19" name="Shape 17"/>
          <p:cNvSpPr/>
          <p:nvPr/>
        </p:nvSpPr>
        <p:spPr>
          <a:xfrm>
            <a:off x="731520" y="4328160"/>
            <a:ext cx="73152" cy="67056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950976" y="4328160"/>
            <a:ext cx="1463040" cy="42672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Long-running tasks</a:t>
            </a:r>
            <a:endParaRPr lang="en-US" sz="1467" dirty="0">
              <a:solidFill>
                <a:prstClr val="black"/>
              </a:solidFill>
              <a:latin typeface="Calibri" panose="020F0502020204030204"/>
            </a:endParaRPr>
          </a:p>
        </p:txBody>
      </p:sp>
      <p:sp>
        <p:nvSpPr>
          <p:cNvPr id="21" name="Text 19"/>
          <p:cNvSpPr/>
          <p:nvPr/>
        </p:nvSpPr>
        <p:spPr>
          <a:xfrm>
            <a:off x="950976" y="4718304"/>
            <a:ext cx="4754880" cy="280416"/>
          </a:xfrm>
          <a:prstGeom prst="rect">
            <a:avLst/>
          </a:prstGeom>
          <a:noFill/>
          <a:ln/>
        </p:spPr>
        <p:txBody>
          <a:bodyPr wrap="square" lIns="0" tIns="0" rIns="0" bIns="0" rtlCol="0" anchor="ctr"/>
          <a:lstStyle/>
          <a:p>
            <a:pPr defTabSz="1219170"/>
            <a:r>
              <a:rPr lang="en-US" sz="1333" dirty="0">
                <a:solidFill>
                  <a:srgbClr val="5B6671"/>
                </a:solidFill>
                <a:latin typeface="Microsoft YaHei" pitchFamily="34" charset="0"/>
                <a:ea typeface="Microsoft YaHei" pitchFamily="34" charset="-122"/>
                <a:cs typeface="Microsoft YaHei" pitchFamily="34" charset="-120"/>
              </a:rPr>
              <a:t>Reliable long-duration control and state persistence</a:t>
            </a:r>
            <a:endParaRPr lang="en-US" sz="1333" dirty="0">
              <a:solidFill>
                <a:prstClr val="black"/>
              </a:solidFill>
              <a:latin typeface="Calibri" panose="020F0502020204030204"/>
            </a:endParaRPr>
          </a:p>
        </p:txBody>
      </p:sp>
      <p:sp>
        <p:nvSpPr>
          <p:cNvPr id="22" name="Shape 20"/>
          <p:cNvSpPr/>
          <p:nvPr/>
        </p:nvSpPr>
        <p:spPr>
          <a:xfrm>
            <a:off x="731520" y="5181600"/>
            <a:ext cx="73152" cy="67056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3" name="Text 21"/>
          <p:cNvSpPr/>
          <p:nvPr/>
        </p:nvSpPr>
        <p:spPr>
          <a:xfrm>
            <a:off x="950976" y="5181600"/>
            <a:ext cx="1463040" cy="42672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Runtime</a:t>
            </a:r>
            <a:endParaRPr lang="en-US" sz="1467" dirty="0">
              <a:solidFill>
                <a:prstClr val="black"/>
              </a:solidFill>
              <a:latin typeface="Calibri" panose="020F0502020204030204"/>
            </a:endParaRPr>
          </a:p>
        </p:txBody>
      </p:sp>
      <p:sp>
        <p:nvSpPr>
          <p:cNvPr id="24" name="Text 22"/>
          <p:cNvSpPr/>
          <p:nvPr/>
        </p:nvSpPr>
        <p:spPr>
          <a:xfrm>
            <a:off x="950976" y="5571744"/>
            <a:ext cx="4754880" cy="280416"/>
          </a:xfrm>
          <a:prstGeom prst="rect">
            <a:avLst/>
          </a:prstGeom>
          <a:noFill/>
          <a:ln/>
        </p:spPr>
        <p:txBody>
          <a:bodyPr wrap="square" lIns="0" tIns="0" rIns="0" bIns="0" rtlCol="0" anchor="ctr"/>
          <a:lstStyle/>
          <a:p>
            <a:pPr defTabSz="1219170"/>
            <a:r>
              <a:rPr lang="en-US" sz="1333" dirty="0">
                <a:solidFill>
                  <a:srgbClr val="5B6671"/>
                </a:solidFill>
                <a:latin typeface="Microsoft YaHei" pitchFamily="34" charset="0"/>
                <a:ea typeface="Microsoft YaHei" pitchFamily="34" charset="-122"/>
                <a:cs typeface="Microsoft YaHei" pitchFamily="34" charset="-120"/>
              </a:rPr>
              <a:t>Inference + memory + skills managed uniformly inside the customer environment</a:t>
            </a:r>
            <a:endParaRPr lang="en-US" sz="1333" dirty="0">
              <a:solidFill>
                <a:prstClr val="black"/>
              </a:solidFill>
              <a:latin typeface="Calibri" panose="020F0502020204030204"/>
            </a:endParaRPr>
          </a:p>
        </p:txBody>
      </p:sp>
      <p:sp>
        <p:nvSpPr>
          <p:cNvPr id="25" name="Shape 23"/>
          <p:cNvSpPr/>
          <p:nvPr/>
        </p:nvSpPr>
        <p:spPr>
          <a:xfrm>
            <a:off x="6339840" y="1889760"/>
            <a:ext cx="5364480" cy="43891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6" name="Shape 24"/>
          <p:cNvSpPr/>
          <p:nvPr/>
        </p:nvSpPr>
        <p:spPr>
          <a:xfrm>
            <a:off x="6339840" y="1889760"/>
            <a:ext cx="97536" cy="438912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27" name="Text 25"/>
          <p:cNvSpPr/>
          <p:nvPr/>
        </p:nvSpPr>
        <p:spPr>
          <a:xfrm>
            <a:off x="6583680" y="2072640"/>
            <a:ext cx="4876800" cy="390144"/>
          </a:xfrm>
          <a:prstGeom prst="rect">
            <a:avLst/>
          </a:prstGeom>
          <a:noFill/>
          <a:ln/>
        </p:spPr>
        <p:txBody>
          <a:bodyPr wrap="square" lIns="0" tIns="0" rIns="0" bIns="0" rtlCol="0" anchor="ctr"/>
          <a:lstStyle/>
          <a:p>
            <a:pPr defTabSz="1219170"/>
            <a:r>
              <a:rPr lang="en-US" sz="1867" b="1" dirty="0">
                <a:solidFill>
                  <a:srgbClr val="5C2D91"/>
                </a:solidFill>
                <a:latin typeface="Microsoft YaHei" pitchFamily="34" charset="0"/>
                <a:ea typeface="Microsoft YaHei" pitchFamily="34" charset="-122"/>
                <a:cs typeface="Microsoft YaHei" pitchFamily="34" charset="-120"/>
              </a:rPr>
              <a:t>AgentCore default runtime environment</a:t>
            </a:r>
            <a:endParaRPr lang="en-US" sz="1867" dirty="0">
              <a:solidFill>
                <a:prstClr val="black"/>
              </a:solidFill>
              <a:latin typeface="Calibri" panose="020F0502020204030204"/>
            </a:endParaRPr>
          </a:p>
        </p:txBody>
      </p:sp>
      <p:sp>
        <p:nvSpPr>
          <p:cNvPr id="28" name="Shape 26"/>
          <p:cNvSpPr/>
          <p:nvPr/>
        </p:nvSpPr>
        <p:spPr>
          <a:xfrm>
            <a:off x="6583680" y="2621280"/>
            <a:ext cx="73152" cy="67056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29" name="Text 27"/>
          <p:cNvSpPr/>
          <p:nvPr/>
        </p:nvSpPr>
        <p:spPr>
          <a:xfrm>
            <a:off x="6803136" y="2621280"/>
            <a:ext cx="1463040" cy="42672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Open platform</a:t>
            </a:r>
            <a:endParaRPr lang="en-US" sz="1467" dirty="0">
              <a:solidFill>
                <a:prstClr val="black"/>
              </a:solidFill>
              <a:latin typeface="Calibri" panose="020F0502020204030204"/>
            </a:endParaRPr>
          </a:p>
        </p:txBody>
      </p:sp>
      <p:sp>
        <p:nvSpPr>
          <p:cNvPr id="30" name="Text 28"/>
          <p:cNvSpPr/>
          <p:nvPr/>
        </p:nvSpPr>
        <p:spPr>
          <a:xfrm>
            <a:off x="6803136" y="3011424"/>
            <a:ext cx="4511040" cy="280416"/>
          </a:xfrm>
          <a:prstGeom prst="rect">
            <a:avLst/>
          </a:prstGeom>
          <a:noFill/>
          <a:ln/>
        </p:spPr>
        <p:txBody>
          <a:bodyPr wrap="square" lIns="0" tIns="0" rIns="0" bIns="0" rtlCol="0" anchor="ctr"/>
          <a:lstStyle/>
          <a:p>
            <a:pPr defTabSz="1219170"/>
            <a:r>
              <a:rPr lang="en-US" sz="1333" dirty="0">
                <a:solidFill>
                  <a:srgbClr val="5B6671"/>
                </a:solidFill>
                <a:latin typeface="Microsoft YaHei" pitchFamily="34" charset="0"/>
                <a:ea typeface="Microsoft YaHei" pitchFamily="34" charset="-122"/>
                <a:cs typeface="Microsoft YaHei" pitchFamily="34" charset="-120"/>
              </a:rPr>
              <a:t>Supports any model and framework for building Agents</a:t>
            </a:r>
            <a:endParaRPr lang="en-US" sz="1333" dirty="0">
              <a:solidFill>
                <a:prstClr val="black"/>
              </a:solidFill>
              <a:latin typeface="Calibri" panose="020F0502020204030204"/>
            </a:endParaRPr>
          </a:p>
        </p:txBody>
      </p:sp>
      <p:sp>
        <p:nvSpPr>
          <p:cNvPr id="31" name="Shape 29"/>
          <p:cNvSpPr/>
          <p:nvPr/>
        </p:nvSpPr>
        <p:spPr>
          <a:xfrm>
            <a:off x="6583680" y="3474720"/>
            <a:ext cx="73152" cy="67056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32" name="Text 30"/>
          <p:cNvSpPr/>
          <p:nvPr/>
        </p:nvSpPr>
        <p:spPr>
          <a:xfrm>
            <a:off x="6803136" y="3474720"/>
            <a:ext cx="1463040" cy="42672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Authorization policy</a:t>
            </a:r>
            <a:endParaRPr lang="en-US" sz="1467" dirty="0">
              <a:solidFill>
                <a:prstClr val="black"/>
              </a:solidFill>
              <a:latin typeface="Calibri" panose="020F0502020204030204"/>
            </a:endParaRPr>
          </a:p>
        </p:txBody>
      </p:sp>
      <p:sp>
        <p:nvSpPr>
          <p:cNvPr id="33" name="Text 31"/>
          <p:cNvSpPr/>
          <p:nvPr/>
        </p:nvSpPr>
        <p:spPr>
          <a:xfrm>
            <a:off x="6803136" y="3864864"/>
            <a:ext cx="4511040" cy="280416"/>
          </a:xfrm>
          <a:prstGeom prst="rect">
            <a:avLst/>
          </a:prstGeom>
          <a:noFill/>
          <a:ln/>
        </p:spPr>
        <p:txBody>
          <a:bodyPr wrap="square" lIns="0" tIns="0" rIns="0" bIns="0" rtlCol="0" anchor="ctr"/>
          <a:lstStyle/>
          <a:p>
            <a:pPr defTabSz="1219170"/>
            <a:r>
              <a:rPr lang="en-US" sz="1333" dirty="0">
                <a:solidFill>
                  <a:srgbClr val="5B6671"/>
                </a:solidFill>
                <a:latin typeface="Microsoft YaHei" pitchFamily="34" charset="0"/>
                <a:ea typeface="Microsoft YaHei" pitchFamily="34" charset="-122"/>
                <a:cs typeface="Microsoft YaHei" pitchFamily="34" charset="-120"/>
              </a:rPr>
              <a:t>Policy enforcement + unified tool-permission management</a:t>
            </a:r>
            <a:endParaRPr lang="en-US" sz="1333" dirty="0">
              <a:solidFill>
                <a:prstClr val="black"/>
              </a:solidFill>
              <a:latin typeface="Calibri" panose="020F0502020204030204"/>
            </a:endParaRPr>
          </a:p>
        </p:txBody>
      </p:sp>
      <p:sp>
        <p:nvSpPr>
          <p:cNvPr id="34" name="Shape 32"/>
          <p:cNvSpPr/>
          <p:nvPr/>
        </p:nvSpPr>
        <p:spPr>
          <a:xfrm>
            <a:off x="6583680" y="4328160"/>
            <a:ext cx="73152" cy="67056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35" name="Text 33"/>
          <p:cNvSpPr/>
          <p:nvPr/>
        </p:nvSpPr>
        <p:spPr>
          <a:xfrm>
            <a:off x="6803136" y="4328160"/>
            <a:ext cx="1463040" cy="42672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Agent discovery</a:t>
            </a:r>
            <a:endParaRPr lang="en-US" sz="1467" dirty="0">
              <a:solidFill>
                <a:prstClr val="black"/>
              </a:solidFill>
              <a:latin typeface="Calibri" panose="020F0502020204030204"/>
            </a:endParaRPr>
          </a:p>
        </p:txBody>
      </p:sp>
      <p:sp>
        <p:nvSpPr>
          <p:cNvPr id="36" name="Text 34"/>
          <p:cNvSpPr/>
          <p:nvPr/>
        </p:nvSpPr>
        <p:spPr>
          <a:xfrm>
            <a:off x="6803136" y="4718304"/>
            <a:ext cx="4511040" cy="280416"/>
          </a:xfrm>
          <a:prstGeom prst="rect">
            <a:avLst/>
          </a:prstGeom>
          <a:noFill/>
          <a:ln/>
        </p:spPr>
        <p:txBody>
          <a:bodyPr wrap="square" lIns="0" tIns="0" rIns="0" bIns="0" rtlCol="0" anchor="ctr"/>
          <a:lstStyle/>
          <a:p>
            <a:pPr defTabSz="1219170"/>
            <a:r>
              <a:rPr lang="en-US" sz="1333" dirty="0">
                <a:solidFill>
                  <a:srgbClr val="5B6671"/>
                </a:solidFill>
                <a:latin typeface="Microsoft YaHei" pitchFamily="34" charset="0"/>
                <a:ea typeface="Microsoft YaHei" pitchFamily="34" charset="-122"/>
                <a:cs typeface="Microsoft YaHei" pitchFamily="34" charset="-120"/>
              </a:rPr>
              <a:t>Service discovery for Agents and Agent Tools</a:t>
            </a:r>
            <a:endParaRPr lang="en-US" sz="1333" dirty="0">
              <a:solidFill>
                <a:prstClr val="black"/>
              </a:solidFill>
              <a:latin typeface="Calibri" panose="020F0502020204030204"/>
            </a:endParaRPr>
          </a:p>
        </p:txBody>
      </p:sp>
      <p:sp>
        <p:nvSpPr>
          <p:cNvPr id="37" name="Shape 35"/>
          <p:cNvSpPr/>
          <p:nvPr/>
        </p:nvSpPr>
        <p:spPr>
          <a:xfrm>
            <a:off x="6583680" y="5181600"/>
            <a:ext cx="73152" cy="67056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38" name="Text 36"/>
          <p:cNvSpPr/>
          <p:nvPr/>
        </p:nvSpPr>
        <p:spPr>
          <a:xfrm>
            <a:off x="6803136" y="5181600"/>
            <a:ext cx="1463040" cy="42672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Observability</a:t>
            </a:r>
            <a:endParaRPr lang="en-US" sz="1467" dirty="0">
              <a:solidFill>
                <a:prstClr val="black"/>
              </a:solidFill>
              <a:latin typeface="Calibri" panose="020F0502020204030204"/>
            </a:endParaRPr>
          </a:p>
        </p:txBody>
      </p:sp>
      <p:sp>
        <p:nvSpPr>
          <p:cNvPr id="39" name="Text 37"/>
          <p:cNvSpPr/>
          <p:nvPr/>
        </p:nvSpPr>
        <p:spPr>
          <a:xfrm>
            <a:off x="6803136" y="5571744"/>
            <a:ext cx="4511040" cy="280416"/>
          </a:xfrm>
          <a:prstGeom prst="rect">
            <a:avLst/>
          </a:prstGeom>
          <a:noFill/>
          <a:ln/>
        </p:spPr>
        <p:txBody>
          <a:bodyPr wrap="square" lIns="0" tIns="0" rIns="0" bIns="0" rtlCol="0" anchor="ctr"/>
          <a:lstStyle/>
          <a:p>
            <a:pPr defTabSz="1219170"/>
            <a:r>
              <a:rPr lang="en-US" sz="1333" dirty="0">
                <a:solidFill>
                  <a:srgbClr val="5B6671"/>
                </a:solidFill>
                <a:latin typeface="Microsoft YaHei" pitchFamily="34" charset="0"/>
                <a:ea typeface="Microsoft YaHei" pitchFamily="34" charset="-122"/>
                <a:cs typeface="Microsoft YaHei" pitchFamily="34" charset="-120"/>
              </a:rPr>
              <a:t>Evaluation and ops monitoring scale with the enterprise</a:t>
            </a:r>
            <a:endParaRPr lang="en-US" sz="1333" dirty="0">
              <a:solidFill>
                <a:prstClr val="black"/>
              </a:solidFill>
              <a:latin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2A47"/>
        </a:solidFill>
        <a:effectLst/>
      </p:bgPr>
    </p:bg>
    <p:spTree>
      <p:nvGrpSpPr>
        <p:cNvPr id="1" name=""/>
        <p:cNvGrpSpPr/>
        <p:nvPr/>
      </p:nvGrpSpPr>
      <p:grpSpPr>
        <a:xfrm>
          <a:off x="0" y="0"/>
          <a:ext cx="0" cy="0"/>
          <a:chOff x="0" y="0"/>
          <a:chExt cx="0" cy="0"/>
        </a:xfrm>
      </p:grpSpPr>
      <p:sp>
        <p:nvSpPr>
          <p:cNvPr id="2" name="Shape 0"/>
          <p:cNvSpPr/>
          <p:nvPr/>
        </p:nvSpPr>
        <p:spPr>
          <a:xfrm>
            <a:off x="10241280" y="0"/>
            <a:ext cx="1950720" cy="6858000"/>
          </a:xfrm>
          <a:prstGeom prst="rect">
            <a:avLst/>
          </a:prstGeom>
          <a:solidFill>
            <a:srgbClr val="071A30"/>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19456" cy="685800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Shape 2"/>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5" name="Text 3"/>
          <p:cNvSpPr/>
          <p:nvPr/>
        </p:nvSpPr>
        <p:spPr>
          <a:xfrm>
            <a:off x="731520" y="6486144"/>
            <a:ext cx="6096000" cy="304800"/>
          </a:xfrm>
          <a:prstGeom prst="rect">
            <a:avLst/>
          </a:prstGeom>
          <a:noFill/>
          <a:ln/>
        </p:spPr>
        <p:txBody>
          <a:bodyPr wrap="square" rtlCol="0" anchor="ctr"/>
          <a:lstStyle/>
          <a:p>
            <a:pPr defTabSz="1219170"/>
            <a:r>
              <a:rPr lang="en-US" sz="1200" dirty="0">
                <a:solidFill>
                  <a:srgbClr val="CADCFC"/>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6" name="Text 4"/>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CADCFC"/>
                </a:solidFill>
                <a:latin typeface="Microsoft YaHei" pitchFamily="34" charset="0"/>
                <a:ea typeface="Microsoft YaHei" pitchFamily="34" charset="-122"/>
                <a:cs typeface="Microsoft YaHei" pitchFamily="34" charset="-120"/>
              </a:rPr>
              <a:t>25 / 40</a:t>
            </a:r>
            <a:endParaRPr lang="en-US" sz="1200" dirty="0">
              <a:solidFill>
                <a:prstClr val="black"/>
              </a:solidFill>
              <a:latin typeface="Calibri" panose="020F0502020204030204"/>
            </a:endParaRPr>
          </a:p>
        </p:txBody>
      </p:sp>
      <p:sp>
        <p:nvSpPr>
          <p:cNvPr id="7" name="Text 5"/>
          <p:cNvSpPr/>
          <p:nvPr/>
        </p:nvSpPr>
        <p:spPr>
          <a:xfrm>
            <a:off x="731520" y="2072640"/>
            <a:ext cx="9753600" cy="487680"/>
          </a:xfrm>
          <a:prstGeom prst="rect">
            <a:avLst/>
          </a:prstGeom>
          <a:noFill/>
          <a:ln/>
        </p:spPr>
        <p:txBody>
          <a:bodyPr wrap="square" lIns="0" tIns="0" rIns="0" bIns="0" rtlCol="0" anchor="ctr"/>
          <a:lstStyle/>
          <a:p>
            <a:pPr defTabSz="1219170"/>
            <a:r>
              <a:rPr lang="en-US" sz="1867" b="1" kern="0" spc="1333" dirty="0">
                <a:solidFill>
                  <a:srgbClr val="FFB900"/>
                </a:solidFill>
                <a:latin typeface="Microsoft YaHei" pitchFamily="34" charset="0"/>
                <a:ea typeface="Microsoft YaHei" pitchFamily="34" charset="-122"/>
                <a:cs typeface="Microsoft YaHei" pitchFamily="34" charset="-120"/>
              </a:rPr>
              <a:t>PART  03</a:t>
            </a:r>
            <a:endParaRPr lang="en-US" sz="1867" dirty="0">
              <a:solidFill>
                <a:prstClr val="black"/>
              </a:solidFill>
              <a:latin typeface="Calibri" panose="020F0502020204030204"/>
            </a:endParaRPr>
          </a:p>
        </p:txBody>
      </p:sp>
      <p:sp>
        <p:nvSpPr>
          <p:cNvPr id="8" name="Shape 6"/>
          <p:cNvSpPr/>
          <p:nvPr/>
        </p:nvSpPr>
        <p:spPr>
          <a:xfrm>
            <a:off x="731520" y="2621280"/>
            <a:ext cx="731520" cy="48768"/>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9" name="Text 7"/>
          <p:cNvSpPr/>
          <p:nvPr/>
        </p:nvSpPr>
        <p:spPr>
          <a:xfrm>
            <a:off x="731520" y="2865120"/>
            <a:ext cx="9753600" cy="1036320"/>
          </a:xfrm>
          <a:prstGeom prst="rect">
            <a:avLst/>
          </a:prstGeom>
          <a:noFill/>
          <a:ln/>
        </p:spPr>
        <p:txBody>
          <a:bodyPr wrap="square" lIns="0" tIns="0" rIns="0" bIns="0" rtlCol="0" anchor="ctr"/>
          <a:lstStyle/>
          <a:p>
            <a:pPr defTabSz="1219170"/>
            <a:r>
              <a:rPr lang="en-US" sz="7200" b="1" dirty="0">
                <a:solidFill>
                  <a:srgbClr val="FFFFFF"/>
                </a:solidFill>
                <a:latin typeface="Microsoft YaHei" pitchFamily="34" charset="0"/>
                <a:ea typeface="Microsoft YaHei" pitchFamily="34" charset="-122"/>
                <a:cs typeface="Microsoft YaHei" pitchFamily="34" charset="-120"/>
              </a:rPr>
              <a:t>Architecture comparison</a:t>
            </a:r>
            <a:endParaRPr lang="en-US" sz="7200" dirty="0">
              <a:solidFill>
                <a:prstClr val="black"/>
              </a:solidFill>
              <a:latin typeface="Calibri" panose="020F0502020204030204"/>
            </a:endParaRPr>
          </a:p>
        </p:txBody>
      </p:sp>
      <p:sp>
        <p:nvSpPr>
          <p:cNvPr id="10" name="Text 8"/>
          <p:cNvSpPr/>
          <p:nvPr/>
        </p:nvSpPr>
        <p:spPr>
          <a:xfrm>
            <a:off x="731520" y="4145280"/>
            <a:ext cx="9753600" cy="609600"/>
          </a:xfrm>
          <a:prstGeom prst="rect">
            <a:avLst/>
          </a:prstGeom>
          <a:noFill/>
          <a:ln/>
        </p:spPr>
        <p:txBody>
          <a:bodyPr wrap="square" lIns="0" tIns="0" rIns="0" bIns="0" rtlCol="0" anchor="ctr"/>
          <a:lstStyle/>
          <a:p>
            <a:pPr defTabSz="1219170"/>
            <a:r>
              <a:rPr lang="en-US" sz="2133" dirty="0">
                <a:solidFill>
                  <a:srgbClr val="CADCFC"/>
                </a:solidFill>
                <a:latin typeface="Microsoft YaHei" pitchFamily="34" charset="0"/>
                <a:ea typeface="Microsoft YaHei" pitchFamily="34" charset="-122"/>
                <a:cs typeface="Microsoft YaHei" pitchFamily="34" charset="-120"/>
              </a:rPr>
              <a:t>Comprehensive comparison across isolation models, protocols, security, and observability</a:t>
            </a:r>
            <a:endParaRPr lang="en-US" sz="2133" dirty="0">
              <a:solidFill>
                <a:prstClr val="black"/>
              </a:solidFill>
              <a:latin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03 · Comparison</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Three-platform architecture comparison matrix</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Dimension × platform — one table for the key differences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26 / 40</a:t>
            </a:r>
            <a:endParaRPr lang="en-US" sz="1200" dirty="0">
              <a:solidFill>
                <a:prstClr val="black"/>
              </a:solidFill>
              <a:latin typeface="Calibri" panose="020F0502020204030204"/>
            </a:endParaRPr>
          </a:p>
        </p:txBody>
      </p:sp>
      <p:sp>
        <p:nvSpPr>
          <p:cNvPr id="10" name="Shape 8"/>
          <p:cNvSpPr/>
          <p:nvPr/>
        </p:nvSpPr>
        <p:spPr>
          <a:xfrm>
            <a:off x="487680" y="1889760"/>
            <a:ext cx="2072640" cy="548640"/>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11" name="Text 9"/>
          <p:cNvSpPr/>
          <p:nvPr/>
        </p:nvSpPr>
        <p:spPr>
          <a:xfrm>
            <a:off x="609600" y="1889760"/>
            <a:ext cx="1828800" cy="548640"/>
          </a:xfrm>
          <a:prstGeom prst="rect">
            <a:avLst/>
          </a:prstGeom>
          <a:noFill/>
          <a:ln/>
        </p:spPr>
        <p:txBody>
          <a:bodyPr wrap="square" lIns="0" tIns="0" rIns="0" bIns="0" rtlCol="0" anchor="ctr"/>
          <a:lstStyle/>
          <a:p>
            <a:pPr defTabSz="1219170"/>
            <a:r>
              <a:rPr lang="en-US" sz="1467" b="1" dirty="0">
                <a:solidFill>
                  <a:srgbClr val="FFFFFF"/>
                </a:solidFill>
                <a:latin typeface="Microsoft YaHei" pitchFamily="34" charset="0"/>
                <a:ea typeface="Microsoft YaHei" pitchFamily="34" charset="-122"/>
                <a:cs typeface="Microsoft YaHei" pitchFamily="34" charset="-120"/>
              </a:rPr>
              <a:t>Dimension</a:t>
            </a:r>
            <a:endParaRPr lang="en-US" sz="1467" dirty="0">
              <a:solidFill>
                <a:prstClr val="black"/>
              </a:solidFill>
              <a:latin typeface="Calibri" panose="020F0502020204030204"/>
            </a:endParaRPr>
          </a:p>
        </p:txBody>
      </p:sp>
      <p:sp>
        <p:nvSpPr>
          <p:cNvPr id="12" name="Shape 10"/>
          <p:cNvSpPr/>
          <p:nvPr/>
        </p:nvSpPr>
        <p:spPr>
          <a:xfrm>
            <a:off x="2560320" y="1889760"/>
            <a:ext cx="3048000" cy="5486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2682240" y="1889760"/>
            <a:ext cx="2804160" cy="548640"/>
          </a:xfrm>
          <a:prstGeom prst="rect">
            <a:avLst/>
          </a:prstGeom>
          <a:noFill/>
          <a:ln/>
        </p:spPr>
        <p:txBody>
          <a:bodyPr wrap="square" lIns="0" tIns="0" rIns="0" bIns="0" rtlCol="0" anchor="ctr"/>
          <a:lstStyle/>
          <a:p>
            <a:pPr defTabSz="1219170"/>
            <a:r>
              <a:rPr lang="en-US" sz="1467" b="1" dirty="0">
                <a:solidFill>
                  <a:srgbClr val="FFFFFF"/>
                </a:solidFill>
                <a:latin typeface="Microsoft YaHei" pitchFamily="34" charset="0"/>
                <a:ea typeface="Microsoft YaHei" pitchFamily="34" charset="-122"/>
                <a:cs typeface="Microsoft YaHei" pitchFamily="34" charset="-120"/>
              </a:rPr>
              <a:t>Azure Foundry</a:t>
            </a:r>
            <a:endParaRPr lang="en-US" sz="1467" dirty="0">
              <a:solidFill>
                <a:prstClr val="black"/>
              </a:solidFill>
              <a:latin typeface="Calibri" panose="020F0502020204030204"/>
            </a:endParaRPr>
          </a:p>
        </p:txBody>
      </p:sp>
      <p:sp>
        <p:nvSpPr>
          <p:cNvPr id="14" name="Shape 12"/>
          <p:cNvSpPr/>
          <p:nvPr/>
        </p:nvSpPr>
        <p:spPr>
          <a:xfrm>
            <a:off x="5608320" y="1889760"/>
            <a:ext cx="3048000" cy="5486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5" name="Text 13"/>
          <p:cNvSpPr/>
          <p:nvPr/>
        </p:nvSpPr>
        <p:spPr>
          <a:xfrm>
            <a:off x="5730240" y="1889760"/>
            <a:ext cx="2804160" cy="54864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Anthropic</a:t>
            </a:r>
            <a:endParaRPr lang="en-US" sz="1467" dirty="0">
              <a:solidFill>
                <a:prstClr val="black"/>
              </a:solidFill>
              <a:latin typeface="Calibri" panose="020F0502020204030204"/>
            </a:endParaRPr>
          </a:p>
        </p:txBody>
      </p:sp>
      <p:sp>
        <p:nvSpPr>
          <p:cNvPr id="16" name="Shape 14"/>
          <p:cNvSpPr/>
          <p:nvPr/>
        </p:nvSpPr>
        <p:spPr>
          <a:xfrm>
            <a:off x="8656320" y="1889760"/>
            <a:ext cx="3048000" cy="54864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17" name="Text 15"/>
          <p:cNvSpPr/>
          <p:nvPr/>
        </p:nvSpPr>
        <p:spPr>
          <a:xfrm>
            <a:off x="8778240" y="1889760"/>
            <a:ext cx="2804160" cy="548640"/>
          </a:xfrm>
          <a:prstGeom prst="rect">
            <a:avLst/>
          </a:prstGeom>
          <a:noFill/>
          <a:ln/>
        </p:spPr>
        <p:txBody>
          <a:bodyPr wrap="square" lIns="0" tIns="0" rIns="0" bIns="0" rtlCol="0" anchor="ctr"/>
          <a:lstStyle/>
          <a:p>
            <a:pPr defTabSz="1219170"/>
            <a:r>
              <a:rPr lang="en-US" sz="1467" b="1" dirty="0">
                <a:solidFill>
                  <a:srgbClr val="FFFFFF"/>
                </a:solidFill>
                <a:latin typeface="Microsoft YaHei" pitchFamily="34" charset="0"/>
                <a:ea typeface="Microsoft YaHei" pitchFamily="34" charset="-122"/>
                <a:cs typeface="Microsoft YaHei" pitchFamily="34" charset="-120"/>
              </a:rPr>
              <a:t>AWS Bedrock</a:t>
            </a:r>
            <a:endParaRPr lang="en-US" sz="1467" dirty="0">
              <a:solidFill>
                <a:prstClr val="black"/>
              </a:solidFill>
              <a:latin typeface="Calibri" panose="020F0502020204030204"/>
            </a:endParaRPr>
          </a:p>
        </p:txBody>
      </p:sp>
      <p:sp>
        <p:nvSpPr>
          <p:cNvPr id="18" name="Shape 16"/>
          <p:cNvSpPr/>
          <p:nvPr/>
        </p:nvSpPr>
        <p:spPr>
          <a:xfrm>
            <a:off x="487680" y="2438400"/>
            <a:ext cx="11216640" cy="475488"/>
          </a:xfrm>
          <a:prstGeom prst="rect">
            <a:avLst/>
          </a:prstGeom>
          <a:solidFill>
            <a:srgbClr val="FFFFFF"/>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19" name="Text 17"/>
          <p:cNvSpPr/>
          <p:nvPr/>
        </p:nvSpPr>
        <p:spPr>
          <a:xfrm>
            <a:off x="609600" y="2438400"/>
            <a:ext cx="1828800" cy="475488"/>
          </a:xfrm>
          <a:prstGeom prst="rect">
            <a:avLst/>
          </a:prstGeom>
          <a:noFill/>
          <a:ln/>
        </p:spPr>
        <p:txBody>
          <a:bodyPr wrap="square" lIns="0" tIns="0" rIns="0" bIns="0" rtlCol="0" anchor="ctr"/>
          <a:lstStyle/>
          <a:p>
            <a:pPr defTabSz="1219170"/>
            <a:r>
              <a:rPr lang="en-US" sz="1400" b="1" dirty="0">
                <a:solidFill>
                  <a:srgbClr val="0F2A47"/>
                </a:solidFill>
                <a:latin typeface="Microsoft YaHei" pitchFamily="34" charset="0"/>
                <a:ea typeface="Microsoft YaHei" pitchFamily="34" charset="-122"/>
                <a:cs typeface="Microsoft YaHei" pitchFamily="34" charset="-120"/>
              </a:rPr>
              <a:t>Runtime mode</a:t>
            </a:r>
            <a:endParaRPr lang="en-US" sz="1400" dirty="0">
              <a:solidFill>
                <a:prstClr val="black"/>
              </a:solidFill>
              <a:latin typeface="Calibri" panose="020F0502020204030204"/>
            </a:endParaRPr>
          </a:p>
        </p:txBody>
      </p:sp>
      <p:sp>
        <p:nvSpPr>
          <p:cNvPr id="20" name="Text 18"/>
          <p:cNvSpPr/>
          <p:nvPr/>
        </p:nvSpPr>
        <p:spPr>
          <a:xfrm>
            <a:off x="2682240" y="2438400"/>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BYOC container</a:t>
            </a:r>
            <a:endParaRPr lang="en-US" sz="1333" dirty="0">
              <a:solidFill>
                <a:prstClr val="black"/>
              </a:solidFill>
              <a:latin typeface="Calibri" panose="020F0502020204030204"/>
            </a:endParaRPr>
          </a:p>
        </p:txBody>
      </p:sp>
      <p:sp>
        <p:nvSpPr>
          <p:cNvPr id="21" name="Text 19"/>
          <p:cNvSpPr/>
          <p:nvPr/>
        </p:nvSpPr>
        <p:spPr>
          <a:xfrm>
            <a:off x="5730240" y="2438400"/>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Managed decoupled components</a:t>
            </a:r>
            <a:endParaRPr lang="en-US" sz="1333" dirty="0">
              <a:solidFill>
                <a:prstClr val="black"/>
              </a:solidFill>
              <a:latin typeface="Calibri" panose="020F0502020204030204"/>
            </a:endParaRPr>
          </a:p>
        </p:txBody>
      </p:sp>
      <p:sp>
        <p:nvSpPr>
          <p:cNvPr id="22" name="Text 20"/>
          <p:cNvSpPr/>
          <p:nvPr/>
        </p:nvSpPr>
        <p:spPr>
          <a:xfrm>
            <a:off x="8778240" y="2438400"/>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Managed + AgentCore</a:t>
            </a:r>
            <a:endParaRPr lang="en-US" sz="1333" dirty="0">
              <a:solidFill>
                <a:prstClr val="black"/>
              </a:solidFill>
              <a:latin typeface="Calibri" panose="020F0502020204030204"/>
            </a:endParaRPr>
          </a:p>
        </p:txBody>
      </p:sp>
      <p:sp>
        <p:nvSpPr>
          <p:cNvPr id="23" name="Shape 21"/>
          <p:cNvSpPr/>
          <p:nvPr/>
        </p:nvSpPr>
        <p:spPr>
          <a:xfrm>
            <a:off x="487680" y="2913888"/>
            <a:ext cx="11216640" cy="475488"/>
          </a:xfrm>
          <a:prstGeom prst="rect">
            <a:avLst/>
          </a:prstGeom>
          <a:solidFill>
            <a:srgbClr val="F8F9FB"/>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24" name="Text 22"/>
          <p:cNvSpPr/>
          <p:nvPr/>
        </p:nvSpPr>
        <p:spPr>
          <a:xfrm>
            <a:off x="609600" y="2913888"/>
            <a:ext cx="1828800" cy="475488"/>
          </a:xfrm>
          <a:prstGeom prst="rect">
            <a:avLst/>
          </a:prstGeom>
          <a:noFill/>
          <a:ln/>
        </p:spPr>
        <p:txBody>
          <a:bodyPr wrap="square" lIns="0" tIns="0" rIns="0" bIns="0" rtlCol="0" anchor="ctr"/>
          <a:lstStyle/>
          <a:p>
            <a:pPr defTabSz="1219170"/>
            <a:r>
              <a:rPr lang="en-US" sz="1400" b="1" dirty="0">
                <a:solidFill>
                  <a:srgbClr val="0F2A47"/>
                </a:solidFill>
                <a:latin typeface="Microsoft YaHei" pitchFamily="34" charset="0"/>
                <a:ea typeface="Microsoft YaHei" pitchFamily="34" charset="-122"/>
                <a:cs typeface="Microsoft YaHei" pitchFamily="34" charset="-120"/>
              </a:rPr>
              <a:t>Framework support</a:t>
            </a:r>
            <a:endParaRPr lang="en-US" sz="1400" dirty="0">
              <a:solidFill>
                <a:prstClr val="black"/>
              </a:solidFill>
              <a:latin typeface="Calibri" panose="020F0502020204030204"/>
            </a:endParaRPr>
          </a:p>
        </p:txBody>
      </p:sp>
      <p:sp>
        <p:nvSpPr>
          <p:cNvPr id="25" name="Text 23"/>
          <p:cNvSpPr/>
          <p:nvPr/>
        </p:nvSpPr>
        <p:spPr>
          <a:xfrm>
            <a:off x="2682240" y="2913888"/>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Agent FW / LangGraph / SK</a:t>
            </a:r>
            <a:endParaRPr lang="en-US" sz="1333" dirty="0">
              <a:solidFill>
                <a:prstClr val="black"/>
              </a:solidFill>
              <a:latin typeface="Calibri" panose="020F0502020204030204"/>
            </a:endParaRPr>
          </a:p>
        </p:txBody>
      </p:sp>
      <p:sp>
        <p:nvSpPr>
          <p:cNvPr id="26" name="Text 24"/>
          <p:cNvSpPr/>
          <p:nvPr/>
        </p:nvSpPr>
        <p:spPr>
          <a:xfrm>
            <a:off x="5730240" y="2913888"/>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Claude SDK</a:t>
            </a:r>
            <a:endParaRPr lang="en-US" sz="1333" dirty="0">
              <a:solidFill>
                <a:prstClr val="black"/>
              </a:solidFill>
              <a:latin typeface="Calibri" panose="020F0502020204030204"/>
            </a:endParaRPr>
          </a:p>
        </p:txBody>
      </p:sp>
      <p:sp>
        <p:nvSpPr>
          <p:cNvPr id="27" name="Text 25"/>
          <p:cNvSpPr/>
          <p:nvPr/>
        </p:nvSpPr>
        <p:spPr>
          <a:xfrm>
            <a:off x="8778240" y="2913888"/>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OpenAI Harness</a:t>
            </a:r>
            <a:endParaRPr lang="en-US" sz="1333" dirty="0">
              <a:solidFill>
                <a:prstClr val="black"/>
              </a:solidFill>
              <a:latin typeface="Calibri" panose="020F0502020204030204"/>
            </a:endParaRPr>
          </a:p>
        </p:txBody>
      </p:sp>
      <p:sp>
        <p:nvSpPr>
          <p:cNvPr id="28" name="Shape 26"/>
          <p:cNvSpPr/>
          <p:nvPr/>
        </p:nvSpPr>
        <p:spPr>
          <a:xfrm>
            <a:off x="487680" y="3389376"/>
            <a:ext cx="11216640" cy="475488"/>
          </a:xfrm>
          <a:prstGeom prst="rect">
            <a:avLst/>
          </a:prstGeom>
          <a:solidFill>
            <a:srgbClr val="FFFFFF"/>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29" name="Text 27"/>
          <p:cNvSpPr/>
          <p:nvPr/>
        </p:nvSpPr>
        <p:spPr>
          <a:xfrm>
            <a:off x="609600" y="3389376"/>
            <a:ext cx="1828800" cy="475488"/>
          </a:xfrm>
          <a:prstGeom prst="rect">
            <a:avLst/>
          </a:prstGeom>
          <a:noFill/>
          <a:ln/>
        </p:spPr>
        <p:txBody>
          <a:bodyPr wrap="square" lIns="0" tIns="0" rIns="0" bIns="0" rtlCol="0" anchor="ctr"/>
          <a:lstStyle/>
          <a:p>
            <a:pPr defTabSz="1219170"/>
            <a:r>
              <a:rPr lang="en-US" sz="1400" b="1" dirty="0">
                <a:solidFill>
                  <a:srgbClr val="0F2A47"/>
                </a:solidFill>
                <a:latin typeface="Microsoft YaHei" pitchFamily="34" charset="0"/>
                <a:ea typeface="Microsoft YaHei" pitchFamily="34" charset="-122"/>
                <a:cs typeface="Microsoft YaHei" pitchFamily="34" charset="-120"/>
              </a:rPr>
              <a:t>Isolation unit</a:t>
            </a:r>
            <a:endParaRPr lang="en-US" sz="1400" dirty="0">
              <a:solidFill>
                <a:prstClr val="black"/>
              </a:solidFill>
              <a:latin typeface="Calibri" panose="020F0502020204030204"/>
            </a:endParaRPr>
          </a:p>
        </p:txBody>
      </p:sp>
      <p:sp>
        <p:nvSpPr>
          <p:cNvPr id="30" name="Text 28"/>
          <p:cNvSpPr/>
          <p:nvPr/>
        </p:nvSpPr>
        <p:spPr>
          <a:xfrm>
            <a:off x="2682240" y="3389376"/>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Per-session VM sandbox</a:t>
            </a:r>
            <a:endParaRPr lang="en-US" sz="1333" dirty="0">
              <a:solidFill>
                <a:prstClr val="black"/>
              </a:solidFill>
              <a:latin typeface="Calibri" panose="020F0502020204030204"/>
            </a:endParaRPr>
          </a:p>
        </p:txBody>
      </p:sp>
      <p:sp>
        <p:nvSpPr>
          <p:cNvPr id="31" name="Text 29"/>
          <p:cNvSpPr/>
          <p:nvPr/>
        </p:nvSpPr>
        <p:spPr>
          <a:xfrm>
            <a:off x="5730240" y="3389376"/>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Sandbox container (swappable)</a:t>
            </a:r>
            <a:endParaRPr lang="en-US" sz="1333" dirty="0">
              <a:solidFill>
                <a:prstClr val="black"/>
              </a:solidFill>
              <a:latin typeface="Calibri" panose="020F0502020204030204"/>
            </a:endParaRPr>
          </a:p>
        </p:txBody>
      </p:sp>
      <p:sp>
        <p:nvSpPr>
          <p:cNvPr id="32" name="Text 30"/>
          <p:cNvSpPr/>
          <p:nvPr/>
        </p:nvSpPr>
        <p:spPr>
          <a:xfrm>
            <a:off x="8778240" y="3389376"/>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Customer AWS environment</a:t>
            </a:r>
            <a:endParaRPr lang="en-US" sz="1333" dirty="0">
              <a:solidFill>
                <a:prstClr val="black"/>
              </a:solidFill>
              <a:latin typeface="Calibri" panose="020F0502020204030204"/>
            </a:endParaRPr>
          </a:p>
        </p:txBody>
      </p:sp>
      <p:sp>
        <p:nvSpPr>
          <p:cNvPr id="33" name="Shape 31"/>
          <p:cNvSpPr/>
          <p:nvPr/>
        </p:nvSpPr>
        <p:spPr>
          <a:xfrm>
            <a:off x="487680" y="3864864"/>
            <a:ext cx="11216640" cy="475488"/>
          </a:xfrm>
          <a:prstGeom prst="rect">
            <a:avLst/>
          </a:prstGeom>
          <a:solidFill>
            <a:srgbClr val="F8F9FB"/>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34" name="Text 32"/>
          <p:cNvSpPr/>
          <p:nvPr/>
        </p:nvSpPr>
        <p:spPr>
          <a:xfrm>
            <a:off x="609600" y="3864864"/>
            <a:ext cx="1828800" cy="475488"/>
          </a:xfrm>
          <a:prstGeom prst="rect">
            <a:avLst/>
          </a:prstGeom>
          <a:noFill/>
          <a:ln/>
        </p:spPr>
        <p:txBody>
          <a:bodyPr wrap="square" lIns="0" tIns="0" rIns="0" bIns="0" rtlCol="0" anchor="ctr"/>
          <a:lstStyle/>
          <a:p>
            <a:pPr defTabSz="1219170"/>
            <a:r>
              <a:rPr lang="en-US" sz="1400" b="1" dirty="0">
                <a:solidFill>
                  <a:srgbClr val="0F2A47"/>
                </a:solidFill>
                <a:latin typeface="Microsoft YaHei" pitchFamily="34" charset="0"/>
                <a:ea typeface="Microsoft YaHei" pitchFamily="34" charset="-122"/>
                <a:cs typeface="Microsoft YaHei" pitchFamily="34" charset="-120"/>
              </a:rPr>
              <a:t>Primary protocol</a:t>
            </a:r>
            <a:endParaRPr lang="en-US" sz="1400" dirty="0">
              <a:solidFill>
                <a:prstClr val="black"/>
              </a:solidFill>
              <a:latin typeface="Calibri" panose="020F0502020204030204"/>
            </a:endParaRPr>
          </a:p>
        </p:txBody>
      </p:sp>
      <p:sp>
        <p:nvSpPr>
          <p:cNvPr id="35" name="Text 33"/>
          <p:cNvSpPr/>
          <p:nvPr/>
        </p:nvSpPr>
        <p:spPr>
          <a:xfrm>
            <a:off x="2682240" y="3864864"/>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Responses + Invocations</a:t>
            </a:r>
            <a:endParaRPr lang="en-US" sz="1333" dirty="0">
              <a:solidFill>
                <a:prstClr val="black"/>
              </a:solidFill>
              <a:latin typeface="Calibri" panose="020F0502020204030204"/>
            </a:endParaRPr>
          </a:p>
        </p:txBody>
      </p:sp>
      <p:sp>
        <p:nvSpPr>
          <p:cNvPr id="36" name="Text 34"/>
          <p:cNvSpPr/>
          <p:nvPr/>
        </p:nvSpPr>
        <p:spPr>
          <a:xfrm>
            <a:off x="5730240" y="3864864"/>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Brain/Hand/Session API</a:t>
            </a:r>
            <a:endParaRPr lang="en-US" sz="1333" dirty="0">
              <a:solidFill>
                <a:prstClr val="black"/>
              </a:solidFill>
              <a:latin typeface="Calibri" panose="020F0502020204030204"/>
            </a:endParaRPr>
          </a:p>
        </p:txBody>
      </p:sp>
      <p:sp>
        <p:nvSpPr>
          <p:cNvPr id="37" name="Text 35"/>
          <p:cNvSpPr/>
          <p:nvPr/>
        </p:nvSpPr>
        <p:spPr>
          <a:xfrm>
            <a:off x="8778240" y="3864864"/>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OpenAI-compatible</a:t>
            </a:r>
            <a:endParaRPr lang="en-US" sz="1333" dirty="0">
              <a:solidFill>
                <a:prstClr val="black"/>
              </a:solidFill>
              <a:latin typeface="Calibri" panose="020F0502020204030204"/>
            </a:endParaRPr>
          </a:p>
        </p:txBody>
      </p:sp>
      <p:sp>
        <p:nvSpPr>
          <p:cNvPr id="38" name="Shape 36"/>
          <p:cNvSpPr/>
          <p:nvPr/>
        </p:nvSpPr>
        <p:spPr>
          <a:xfrm>
            <a:off x="487680" y="4340352"/>
            <a:ext cx="11216640" cy="475488"/>
          </a:xfrm>
          <a:prstGeom prst="rect">
            <a:avLst/>
          </a:prstGeom>
          <a:solidFill>
            <a:srgbClr val="FFFFFF"/>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39" name="Text 37"/>
          <p:cNvSpPr/>
          <p:nvPr/>
        </p:nvSpPr>
        <p:spPr>
          <a:xfrm>
            <a:off x="609600" y="4340352"/>
            <a:ext cx="1828800" cy="475488"/>
          </a:xfrm>
          <a:prstGeom prst="rect">
            <a:avLst/>
          </a:prstGeom>
          <a:noFill/>
          <a:ln/>
        </p:spPr>
        <p:txBody>
          <a:bodyPr wrap="square" lIns="0" tIns="0" rIns="0" bIns="0" rtlCol="0" anchor="ctr"/>
          <a:lstStyle/>
          <a:p>
            <a:pPr defTabSz="1219170"/>
            <a:r>
              <a:rPr lang="en-US" sz="1400" b="1" dirty="0">
                <a:solidFill>
                  <a:srgbClr val="0F2A47"/>
                </a:solidFill>
                <a:latin typeface="Microsoft YaHei" pitchFamily="34" charset="0"/>
                <a:ea typeface="Microsoft YaHei" pitchFamily="34" charset="-122"/>
                <a:cs typeface="Microsoft YaHei" pitchFamily="34" charset="-120"/>
              </a:rPr>
              <a:t>Identity model</a:t>
            </a:r>
            <a:endParaRPr lang="en-US" sz="1400" dirty="0">
              <a:solidFill>
                <a:prstClr val="black"/>
              </a:solidFill>
              <a:latin typeface="Calibri" panose="020F0502020204030204"/>
            </a:endParaRPr>
          </a:p>
        </p:txBody>
      </p:sp>
      <p:sp>
        <p:nvSpPr>
          <p:cNvPr id="40" name="Text 38"/>
          <p:cNvSpPr/>
          <p:nvPr/>
        </p:nvSpPr>
        <p:spPr>
          <a:xfrm>
            <a:off x="2682240" y="4340352"/>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Microsoft Entra ID</a:t>
            </a:r>
            <a:endParaRPr lang="en-US" sz="1333" dirty="0">
              <a:solidFill>
                <a:prstClr val="black"/>
              </a:solidFill>
              <a:latin typeface="Calibri" panose="020F0502020204030204"/>
            </a:endParaRPr>
          </a:p>
        </p:txBody>
      </p:sp>
      <p:sp>
        <p:nvSpPr>
          <p:cNvPr id="41" name="Text 39"/>
          <p:cNvSpPr/>
          <p:nvPr/>
        </p:nvSpPr>
        <p:spPr>
          <a:xfrm>
            <a:off x="5730240" y="4340352"/>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MCP Token + Vault</a:t>
            </a:r>
            <a:endParaRPr lang="en-US" sz="1333" dirty="0">
              <a:solidFill>
                <a:prstClr val="black"/>
              </a:solidFill>
              <a:latin typeface="Calibri" panose="020F0502020204030204"/>
            </a:endParaRPr>
          </a:p>
        </p:txBody>
      </p:sp>
      <p:sp>
        <p:nvSpPr>
          <p:cNvPr id="42" name="Text 40"/>
          <p:cNvSpPr/>
          <p:nvPr/>
        </p:nvSpPr>
        <p:spPr>
          <a:xfrm>
            <a:off x="8778240" y="4340352"/>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Per-Agent independent identity</a:t>
            </a:r>
            <a:endParaRPr lang="en-US" sz="1333" dirty="0">
              <a:solidFill>
                <a:prstClr val="black"/>
              </a:solidFill>
              <a:latin typeface="Calibri" panose="020F0502020204030204"/>
            </a:endParaRPr>
          </a:p>
        </p:txBody>
      </p:sp>
      <p:sp>
        <p:nvSpPr>
          <p:cNvPr id="43" name="Shape 41"/>
          <p:cNvSpPr/>
          <p:nvPr/>
        </p:nvSpPr>
        <p:spPr>
          <a:xfrm>
            <a:off x="487680" y="4815840"/>
            <a:ext cx="11216640" cy="475488"/>
          </a:xfrm>
          <a:prstGeom prst="rect">
            <a:avLst/>
          </a:prstGeom>
          <a:solidFill>
            <a:srgbClr val="F8F9FB"/>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44" name="Text 42"/>
          <p:cNvSpPr/>
          <p:nvPr/>
        </p:nvSpPr>
        <p:spPr>
          <a:xfrm>
            <a:off x="609600" y="4815840"/>
            <a:ext cx="1828800" cy="475488"/>
          </a:xfrm>
          <a:prstGeom prst="rect">
            <a:avLst/>
          </a:prstGeom>
          <a:noFill/>
          <a:ln/>
        </p:spPr>
        <p:txBody>
          <a:bodyPr wrap="square" lIns="0" tIns="0" rIns="0" bIns="0" rtlCol="0" anchor="ctr"/>
          <a:lstStyle/>
          <a:p>
            <a:pPr defTabSz="1219170"/>
            <a:r>
              <a:rPr lang="en-US" sz="1400" b="1" dirty="0">
                <a:solidFill>
                  <a:srgbClr val="0F2A47"/>
                </a:solidFill>
                <a:latin typeface="Microsoft YaHei" pitchFamily="34" charset="0"/>
                <a:ea typeface="Microsoft YaHei" pitchFamily="34" charset="-122"/>
                <a:cs typeface="Microsoft YaHei" pitchFamily="34" charset="-120"/>
              </a:rPr>
              <a:t>State layer</a:t>
            </a:r>
            <a:endParaRPr lang="en-US" sz="1400" dirty="0">
              <a:solidFill>
                <a:prstClr val="black"/>
              </a:solidFill>
              <a:latin typeface="Calibri" panose="020F0502020204030204"/>
            </a:endParaRPr>
          </a:p>
        </p:txBody>
      </p:sp>
      <p:sp>
        <p:nvSpPr>
          <p:cNvPr id="45" name="Text 43"/>
          <p:cNvSpPr/>
          <p:nvPr/>
        </p:nvSpPr>
        <p:spPr>
          <a:xfrm>
            <a:off x="2682240" y="4815840"/>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Session + Conversation</a:t>
            </a:r>
            <a:endParaRPr lang="en-US" sz="1333" dirty="0">
              <a:solidFill>
                <a:prstClr val="black"/>
              </a:solidFill>
              <a:latin typeface="Calibri" panose="020F0502020204030204"/>
            </a:endParaRPr>
          </a:p>
        </p:txBody>
      </p:sp>
      <p:sp>
        <p:nvSpPr>
          <p:cNvPr id="46" name="Text 44"/>
          <p:cNvSpPr/>
          <p:nvPr/>
        </p:nvSpPr>
        <p:spPr>
          <a:xfrm>
            <a:off x="5730240" y="4815840"/>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Session event stream</a:t>
            </a:r>
            <a:endParaRPr lang="en-US" sz="1333" dirty="0">
              <a:solidFill>
                <a:prstClr val="black"/>
              </a:solidFill>
              <a:latin typeface="Calibri" panose="020F0502020204030204"/>
            </a:endParaRPr>
          </a:p>
        </p:txBody>
      </p:sp>
      <p:sp>
        <p:nvSpPr>
          <p:cNvPr id="47" name="Text 45"/>
          <p:cNvSpPr/>
          <p:nvPr/>
        </p:nvSpPr>
        <p:spPr>
          <a:xfrm>
            <a:off x="8778240" y="4815840"/>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Runtime-managed</a:t>
            </a:r>
            <a:endParaRPr lang="en-US" sz="1333" dirty="0">
              <a:solidFill>
                <a:prstClr val="black"/>
              </a:solidFill>
              <a:latin typeface="Calibri" panose="020F0502020204030204"/>
            </a:endParaRPr>
          </a:p>
        </p:txBody>
      </p:sp>
      <p:sp>
        <p:nvSpPr>
          <p:cNvPr id="48" name="Shape 46"/>
          <p:cNvSpPr/>
          <p:nvPr/>
        </p:nvSpPr>
        <p:spPr>
          <a:xfrm>
            <a:off x="487680" y="5291328"/>
            <a:ext cx="11216640" cy="475488"/>
          </a:xfrm>
          <a:prstGeom prst="rect">
            <a:avLst/>
          </a:prstGeom>
          <a:solidFill>
            <a:srgbClr val="FFFFFF"/>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49" name="Text 47"/>
          <p:cNvSpPr/>
          <p:nvPr/>
        </p:nvSpPr>
        <p:spPr>
          <a:xfrm>
            <a:off x="609600" y="5291328"/>
            <a:ext cx="1828800" cy="475488"/>
          </a:xfrm>
          <a:prstGeom prst="rect">
            <a:avLst/>
          </a:prstGeom>
          <a:noFill/>
          <a:ln/>
        </p:spPr>
        <p:txBody>
          <a:bodyPr wrap="square" lIns="0" tIns="0" rIns="0" bIns="0" rtlCol="0" anchor="ctr"/>
          <a:lstStyle/>
          <a:p>
            <a:pPr defTabSz="1219170"/>
            <a:r>
              <a:rPr lang="en-US" sz="1400" b="1" dirty="0">
                <a:solidFill>
                  <a:srgbClr val="0F2A47"/>
                </a:solidFill>
                <a:latin typeface="Microsoft YaHei" pitchFamily="34" charset="0"/>
                <a:ea typeface="Microsoft YaHei" pitchFamily="34" charset="-122"/>
                <a:cs typeface="Microsoft YaHei" pitchFamily="34" charset="-120"/>
              </a:rPr>
              <a:t>Observability</a:t>
            </a:r>
            <a:endParaRPr lang="en-US" sz="1400" dirty="0">
              <a:solidFill>
                <a:prstClr val="black"/>
              </a:solidFill>
              <a:latin typeface="Calibri" panose="020F0502020204030204"/>
            </a:endParaRPr>
          </a:p>
        </p:txBody>
      </p:sp>
      <p:sp>
        <p:nvSpPr>
          <p:cNvPr id="50" name="Text 48"/>
          <p:cNvSpPr/>
          <p:nvPr/>
        </p:nvSpPr>
        <p:spPr>
          <a:xfrm>
            <a:off x="2682240" y="5291328"/>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OpenTelemetry built-in</a:t>
            </a:r>
            <a:endParaRPr lang="en-US" sz="1333" dirty="0">
              <a:solidFill>
                <a:prstClr val="black"/>
              </a:solidFill>
              <a:latin typeface="Calibri" panose="020F0502020204030204"/>
            </a:endParaRPr>
          </a:p>
        </p:txBody>
      </p:sp>
      <p:sp>
        <p:nvSpPr>
          <p:cNvPr id="51" name="Text 49"/>
          <p:cNvSpPr/>
          <p:nvPr/>
        </p:nvSpPr>
        <p:spPr>
          <a:xfrm>
            <a:off x="5730240" y="5291328"/>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Replayable event stream</a:t>
            </a:r>
            <a:endParaRPr lang="en-US" sz="1333" dirty="0">
              <a:solidFill>
                <a:prstClr val="black"/>
              </a:solidFill>
              <a:latin typeface="Calibri" panose="020F0502020204030204"/>
            </a:endParaRPr>
          </a:p>
        </p:txBody>
      </p:sp>
      <p:sp>
        <p:nvSpPr>
          <p:cNvPr id="52" name="Text 50"/>
          <p:cNvSpPr/>
          <p:nvPr/>
        </p:nvSpPr>
        <p:spPr>
          <a:xfrm>
            <a:off x="8778240" y="5291328"/>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AgentCore monitoring</a:t>
            </a:r>
            <a:endParaRPr lang="en-US" sz="1333" dirty="0">
              <a:solidFill>
                <a:prstClr val="black"/>
              </a:solidFill>
              <a:latin typeface="Calibri" panose="020F0502020204030204"/>
            </a:endParaRPr>
          </a:p>
        </p:txBody>
      </p:sp>
      <p:sp>
        <p:nvSpPr>
          <p:cNvPr id="53" name="Shape 51"/>
          <p:cNvSpPr/>
          <p:nvPr/>
        </p:nvSpPr>
        <p:spPr>
          <a:xfrm>
            <a:off x="487680" y="5766816"/>
            <a:ext cx="11216640" cy="475488"/>
          </a:xfrm>
          <a:prstGeom prst="rect">
            <a:avLst/>
          </a:prstGeom>
          <a:solidFill>
            <a:srgbClr val="F8F9FB"/>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54" name="Text 52"/>
          <p:cNvSpPr/>
          <p:nvPr/>
        </p:nvSpPr>
        <p:spPr>
          <a:xfrm>
            <a:off x="609600" y="5766816"/>
            <a:ext cx="1828800" cy="475488"/>
          </a:xfrm>
          <a:prstGeom prst="rect">
            <a:avLst/>
          </a:prstGeom>
          <a:noFill/>
          <a:ln/>
        </p:spPr>
        <p:txBody>
          <a:bodyPr wrap="square" lIns="0" tIns="0" rIns="0" bIns="0" rtlCol="0" anchor="ctr"/>
          <a:lstStyle/>
          <a:p>
            <a:pPr defTabSz="1219170"/>
            <a:r>
              <a:rPr lang="en-US" sz="1400" b="1" dirty="0">
                <a:solidFill>
                  <a:srgbClr val="0F2A47"/>
                </a:solidFill>
                <a:latin typeface="Microsoft YaHei" pitchFamily="34" charset="0"/>
                <a:ea typeface="Microsoft YaHei" pitchFamily="34" charset="-122"/>
                <a:cs typeface="Microsoft YaHei" pitchFamily="34" charset="-120"/>
              </a:rPr>
              <a:t>Stage</a:t>
            </a:r>
            <a:endParaRPr lang="en-US" sz="1400" dirty="0">
              <a:solidFill>
                <a:prstClr val="black"/>
              </a:solidFill>
              <a:latin typeface="Calibri" panose="020F0502020204030204"/>
            </a:endParaRPr>
          </a:p>
        </p:txBody>
      </p:sp>
      <p:sp>
        <p:nvSpPr>
          <p:cNvPr id="55" name="Text 53"/>
          <p:cNvSpPr/>
          <p:nvPr/>
        </p:nvSpPr>
        <p:spPr>
          <a:xfrm>
            <a:off x="2682240" y="5766816"/>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Preview</a:t>
            </a:r>
            <a:endParaRPr lang="en-US" sz="1333" dirty="0">
              <a:solidFill>
                <a:prstClr val="black"/>
              </a:solidFill>
              <a:latin typeface="Calibri" panose="020F0502020204030204"/>
            </a:endParaRPr>
          </a:p>
        </p:txBody>
      </p:sp>
      <p:sp>
        <p:nvSpPr>
          <p:cNvPr id="56" name="Text 54"/>
          <p:cNvSpPr/>
          <p:nvPr/>
        </p:nvSpPr>
        <p:spPr>
          <a:xfrm>
            <a:off x="5730240" y="5766816"/>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Public release</a:t>
            </a:r>
            <a:endParaRPr lang="en-US" sz="1333" dirty="0">
              <a:solidFill>
                <a:prstClr val="black"/>
              </a:solidFill>
              <a:latin typeface="Calibri" panose="020F0502020204030204"/>
            </a:endParaRPr>
          </a:p>
        </p:txBody>
      </p:sp>
      <p:sp>
        <p:nvSpPr>
          <p:cNvPr id="57" name="Text 55"/>
          <p:cNvSpPr/>
          <p:nvPr/>
        </p:nvSpPr>
        <p:spPr>
          <a:xfrm>
            <a:off x="8778240" y="5766816"/>
            <a:ext cx="2804160" cy="475488"/>
          </a:xfrm>
          <a:prstGeom prst="rect">
            <a:avLst/>
          </a:prstGeom>
          <a:noFill/>
          <a:ln/>
        </p:spPr>
        <p:txBody>
          <a:bodyPr wrap="square" lIns="0" tIns="0" rIns="0" bIns="0" rtlCol="0" anchor="ctr"/>
          <a:lstStyle/>
          <a:p>
            <a:pPr defTabSz="1219170"/>
            <a:r>
              <a:rPr lang="en-US" sz="1333" dirty="0">
                <a:solidFill>
                  <a:srgbClr val="1F2937"/>
                </a:solidFill>
                <a:latin typeface="Microsoft YaHei" pitchFamily="34" charset="0"/>
                <a:ea typeface="Microsoft YaHei" pitchFamily="34" charset="-122"/>
                <a:cs typeface="Microsoft YaHei" pitchFamily="34" charset="-120"/>
              </a:rPr>
              <a:t>Limited Preview</a:t>
            </a:r>
            <a:endParaRPr lang="en-US" sz="1333" dirty="0">
              <a:solidFill>
                <a:prstClr val="black"/>
              </a:solidFill>
              <a:latin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03 · Comparison</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Containerization and isolation models compared</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Three isolation philosophies map to three engineering trade-offs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27 / 40</a:t>
            </a:r>
            <a:endParaRPr lang="en-US" sz="1200" dirty="0">
              <a:solidFill>
                <a:prstClr val="black"/>
              </a:solidFill>
              <a:latin typeface="Calibri" panose="020F0502020204030204"/>
            </a:endParaRPr>
          </a:p>
        </p:txBody>
      </p:sp>
      <p:sp>
        <p:nvSpPr>
          <p:cNvPr id="10" name="Shape 8"/>
          <p:cNvSpPr/>
          <p:nvPr/>
        </p:nvSpPr>
        <p:spPr>
          <a:xfrm>
            <a:off x="487680" y="1889760"/>
            <a:ext cx="3596640" cy="4450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44500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Shape 10"/>
          <p:cNvSpPr/>
          <p:nvPr/>
        </p:nvSpPr>
        <p:spPr>
          <a:xfrm>
            <a:off x="487680" y="1889760"/>
            <a:ext cx="3596640" cy="103632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731520" y="2011680"/>
            <a:ext cx="3169920" cy="426720"/>
          </a:xfrm>
          <a:prstGeom prst="rect">
            <a:avLst/>
          </a:prstGeom>
          <a:noFill/>
          <a:ln/>
        </p:spPr>
        <p:txBody>
          <a:bodyPr wrap="square" lIns="0" tIns="0" rIns="0" bIns="0" rtlCol="0" anchor="ctr"/>
          <a:lstStyle/>
          <a:p>
            <a:pPr defTabSz="1219170"/>
            <a:r>
              <a:rPr lang="en-US" sz="1733" b="1" dirty="0">
                <a:solidFill>
                  <a:srgbClr val="FFFFFF"/>
                </a:solidFill>
                <a:latin typeface="Microsoft YaHei" pitchFamily="34" charset="0"/>
                <a:ea typeface="Microsoft YaHei" pitchFamily="34" charset="-122"/>
                <a:cs typeface="Microsoft YaHei" pitchFamily="34" charset="-120"/>
              </a:rPr>
              <a:t>Azure: VM-level session isolation</a:t>
            </a:r>
            <a:endParaRPr lang="en-US" sz="1733" dirty="0">
              <a:solidFill>
                <a:prstClr val="black"/>
              </a:solidFill>
              <a:latin typeface="Calibri" panose="020F0502020204030204"/>
            </a:endParaRPr>
          </a:p>
        </p:txBody>
      </p:sp>
      <p:sp>
        <p:nvSpPr>
          <p:cNvPr id="14" name="Text 12"/>
          <p:cNvSpPr/>
          <p:nvPr/>
        </p:nvSpPr>
        <p:spPr>
          <a:xfrm>
            <a:off x="731520" y="2438400"/>
            <a:ext cx="3169920" cy="365760"/>
          </a:xfrm>
          <a:prstGeom prst="rect">
            <a:avLst/>
          </a:prstGeom>
          <a:noFill/>
          <a:ln/>
        </p:spPr>
        <p:txBody>
          <a:bodyPr wrap="square" lIns="0" tIns="0" rIns="0" bIns="0" rtlCol="0" anchor="ctr"/>
          <a:lstStyle/>
          <a:p>
            <a:pPr defTabSz="1219170"/>
            <a:r>
              <a:rPr lang="en-US" sz="1333" i="1" dirty="0">
                <a:solidFill>
                  <a:srgbClr val="CADCFC"/>
                </a:solidFill>
                <a:latin typeface="Microsoft YaHei" pitchFamily="34" charset="0"/>
                <a:ea typeface="Microsoft YaHei" pitchFamily="34" charset="-122"/>
                <a:cs typeface="Microsoft YaHei" pitchFamily="34" charset="-120"/>
              </a:rPr>
              <a:t>Per-session VM Sandbox</a:t>
            </a:r>
            <a:endParaRPr lang="en-US" sz="1333" dirty="0">
              <a:solidFill>
                <a:prstClr val="black"/>
              </a:solidFill>
              <a:latin typeface="Calibri" panose="020F0502020204030204"/>
            </a:endParaRPr>
          </a:p>
        </p:txBody>
      </p:sp>
      <p:sp>
        <p:nvSpPr>
          <p:cNvPr id="15" name="Text 13"/>
          <p:cNvSpPr/>
          <p:nvPr/>
        </p:nvSpPr>
        <p:spPr>
          <a:xfrm>
            <a:off x="731520" y="3108960"/>
            <a:ext cx="3169920" cy="3108960"/>
          </a:xfrm>
          <a:prstGeom prst="rect">
            <a:avLst/>
          </a:prstGeom>
          <a:noFill/>
          <a:ln/>
        </p:spPr>
        <p:txBody>
          <a:bodyPr wrap="square" rtlCol="0" anchor="t"/>
          <a:lstStyle/>
          <a:p>
            <a:pPr marL="457189" indent="-457189" defTabSz="1219170">
              <a:spcAft>
                <a:spcPts val="800"/>
              </a:spcAft>
              <a:buSzPct val="100000"/>
              <a:buFontTx/>
              <a:buChar char="●"/>
            </a:pPr>
            <a:r>
              <a:rPr lang="en-US" sz="1467" dirty="0">
                <a:solidFill>
                  <a:srgbClr val="0078D4"/>
                </a:solidFill>
                <a:latin typeface="Microsoft YaHei" pitchFamily="34" charset="0"/>
                <a:ea typeface="Microsoft YaHei" pitchFamily="34" charset="-122"/>
                <a:cs typeface="Microsoft YaHei" pitchFamily="34" charset="-120"/>
              </a:rPr>
              <a:t>Each session gets its own VM — extremely strong isolation boundary</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0078D4"/>
                </a:solidFill>
                <a:latin typeface="Microsoft YaHei" pitchFamily="34" charset="0"/>
                <a:ea typeface="Microsoft YaHei" pitchFamily="34" charset="-122"/>
                <a:cs typeface="Microsoft YaHei" pitchFamily="34" charset="-120"/>
              </a:rPr>
              <a:t>$HOME and /files auto-persisted</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0078D4"/>
                </a:solidFill>
                <a:latin typeface="Microsoft YaHei" pitchFamily="34" charset="0"/>
                <a:ea typeface="Microsoft YaHei" pitchFamily="34" charset="-122"/>
                <a:cs typeface="Microsoft YaHei" pitchFamily="34" charset="-120"/>
              </a:rPr>
              <a:t>Scale-to-zero + state recovery together</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0078D4"/>
                </a:solidFill>
                <a:latin typeface="Microsoft YaHei" pitchFamily="34" charset="0"/>
                <a:ea typeface="Microsoft YaHei" pitchFamily="34" charset="-122"/>
                <a:cs typeface="Microsoft YaHei" pitchFamily="34" charset="-120"/>
              </a:rPr>
              <a:t>Predictable cold starts — suitable for enterprise compliance</a:t>
            </a:r>
            <a:endParaRPr lang="en-US" sz="1467" dirty="0">
              <a:solidFill>
                <a:prstClr val="black"/>
              </a:solidFill>
              <a:latin typeface="Calibri" panose="020F0502020204030204"/>
            </a:endParaRPr>
          </a:p>
        </p:txBody>
      </p:sp>
      <p:sp>
        <p:nvSpPr>
          <p:cNvPr id="16" name="Shape 14"/>
          <p:cNvSpPr/>
          <p:nvPr/>
        </p:nvSpPr>
        <p:spPr>
          <a:xfrm>
            <a:off x="4303776" y="1889760"/>
            <a:ext cx="3596640" cy="4450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7" name="Shape 15"/>
          <p:cNvSpPr/>
          <p:nvPr/>
        </p:nvSpPr>
        <p:spPr>
          <a:xfrm>
            <a:off x="4303776" y="1889760"/>
            <a:ext cx="97536" cy="445008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8" name="Shape 16"/>
          <p:cNvSpPr/>
          <p:nvPr/>
        </p:nvSpPr>
        <p:spPr>
          <a:xfrm>
            <a:off x="4303776" y="1889760"/>
            <a:ext cx="3596640" cy="103632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9" name="Text 17"/>
          <p:cNvSpPr/>
          <p:nvPr/>
        </p:nvSpPr>
        <p:spPr>
          <a:xfrm>
            <a:off x="4547616" y="2011680"/>
            <a:ext cx="3169920" cy="426720"/>
          </a:xfrm>
          <a:prstGeom prst="rect">
            <a:avLst/>
          </a:prstGeom>
          <a:noFill/>
          <a:ln/>
        </p:spPr>
        <p:txBody>
          <a:bodyPr wrap="square" lIns="0" tIns="0" rIns="0" bIns="0" rtlCol="0" anchor="ctr"/>
          <a:lstStyle/>
          <a:p>
            <a:pPr defTabSz="1219170"/>
            <a:r>
              <a:rPr lang="en-US" sz="1733" b="1" dirty="0">
                <a:solidFill>
                  <a:srgbClr val="FFFFFF"/>
                </a:solidFill>
                <a:latin typeface="Microsoft YaHei" pitchFamily="34" charset="0"/>
                <a:ea typeface="Microsoft YaHei" pitchFamily="34" charset="-122"/>
                <a:cs typeface="Microsoft YaHei" pitchFamily="34" charset="-120"/>
              </a:rPr>
              <a:t>Anthropic: containers as cattle</a:t>
            </a:r>
            <a:endParaRPr lang="en-US" sz="1733" dirty="0">
              <a:solidFill>
                <a:prstClr val="black"/>
              </a:solidFill>
              <a:latin typeface="Calibri" panose="020F0502020204030204"/>
            </a:endParaRPr>
          </a:p>
        </p:txBody>
      </p:sp>
      <p:sp>
        <p:nvSpPr>
          <p:cNvPr id="20" name="Text 18"/>
          <p:cNvSpPr/>
          <p:nvPr/>
        </p:nvSpPr>
        <p:spPr>
          <a:xfrm>
            <a:off x="4547616" y="2438400"/>
            <a:ext cx="3169920" cy="365760"/>
          </a:xfrm>
          <a:prstGeom prst="rect">
            <a:avLst/>
          </a:prstGeom>
          <a:noFill/>
          <a:ln/>
        </p:spPr>
        <p:txBody>
          <a:bodyPr wrap="square" lIns="0" tIns="0" rIns="0" bIns="0" rtlCol="0" anchor="ctr"/>
          <a:lstStyle/>
          <a:p>
            <a:pPr defTabSz="1219170"/>
            <a:r>
              <a:rPr lang="en-US" sz="1333" i="1" dirty="0">
                <a:solidFill>
                  <a:srgbClr val="0F2A47"/>
                </a:solidFill>
                <a:latin typeface="Microsoft YaHei" pitchFamily="34" charset="0"/>
                <a:ea typeface="Microsoft YaHei" pitchFamily="34" charset="-122"/>
                <a:cs typeface="Microsoft YaHei" pitchFamily="34" charset="-120"/>
              </a:rPr>
              <a:t>Container as Cattle</a:t>
            </a:r>
            <a:endParaRPr lang="en-US" sz="1333" dirty="0">
              <a:solidFill>
                <a:prstClr val="black"/>
              </a:solidFill>
              <a:latin typeface="Calibri" panose="020F0502020204030204"/>
            </a:endParaRPr>
          </a:p>
        </p:txBody>
      </p:sp>
      <p:sp>
        <p:nvSpPr>
          <p:cNvPr id="21" name="Text 19"/>
          <p:cNvSpPr/>
          <p:nvPr/>
        </p:nvSpPr>
        <p:spPr>
          <a:xfrm>
            <a:off x="4547616" y="3108960"/>
            <a:ext cx="3169920" cy="3108960"/>
          </a:xfrm>
          <a:prstGeom prst="rect">
            <a:avLst/>
          </a:prstGeom>
          <a:noFill/>
          <a:ln/>
        </p:spPr>
        <p:txBody>
          <a:bodyPr wrap="square" rtlCol="0" anchor="t"/>
          <a:lstStyle/>
          <a:p>
            <a:pPr marL="457189" indent="-457189" defTabSz="1219170">
              <a:spcAft>
                <a:spcPts val="800"/>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Sandbox is just an execute() tool implementation</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Failures are handled by Brain as tool errors</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Hand can run inside the customer's VPC</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FFB900"/>
                </a:solidFill>
                <a:latin typeface="Microsoft YaHei" pitchFamily="34" charset="0"/>
                <a:ea typeface="Microsoft YaHei" pitchFamily="34" charset="-122"/>
                <a:cs typeface="Microsoft YaHei" pitchFamily="34" charset="-120"/>
              </a:rPr>
              <a:t>Brain decoupled from container — easy to swap</a:t>
            </a:r>
            <a:endParaRPr lang="en-US" sz="1467" dirty="0">
              <a:solidFill>
                <a:prstClr val="black"/>
              </a:solidFill>
              <a:latin typeface="Calibri" panose="020F0502020204030204"/>
            </a:endParaRPr>
          </a:p>
        </p:txBody>
      </p:sp>
      <p:sp>
        <p:nvSpPr>
          <p:cNvPr id="22" name="Shape 20"/>
          <p:cNvSpPr/>
          <p:nvPr/>
        </p:nvSpPr>
        <p:spPr>
          <a:xfrm>
            <a:off x="8119872" y="1889760"/>
            <a:ext cx="3596640" cy="4450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3" name="Shape 21"/>
          <p:cNvSpPr/>
          <p:nvPr/>
        </p:nvSpPr>
        <p:spPr>
          <a:xfrm>
            <a:off x="8119872" y="1889760"/>
            <a:ext cx="97536" cy="445008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4" name="Shape 22"/>
          <p:cNvSpPr/>
          <p:nvPr/>
        </p:nvSpPr>
        <p:spPr>
          <a:xfrm>
            <a:off x="8119872" y="1889760"/>
            <a:ext cx="3596640" cy="103632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5" name="Text 23"/>
          <p:cNvSpPr/>
          <p:nvPr/>
        </p:nvSpPr>
        <p:spPr>
          <a:xfrm>
            <a:off x="8363712" y="2011680"/>
            <a:ext cx="3169920" cy="426720"/>
          </a:xfrm>
          <a:prstGeom prst="rect">
            <a:avLst/>
          </a:prstGeom>
          <a:noFill/>
          <a:ln/>
        </p:spPr>
        <p:txBody>
          <a:bodyPr wrap="square" lIns="0" tIns="0" rIns="0" bIns="0" rtlCol="0" anchor="ctr"/>
          <a:lstStyle/>
          <a:p>
            <a:pPr defTabSz="1219170"/>
            <a:r>
              <a:rPr lang="en-US" sz="1733" b="1" dirty="0">
                <a:solidFill>
                  <a:srgbClr val="FFFFFF"/>
                </a:solidFill>
                <a:latin typeface="Microsoft YaHei" pitchFamily="34" charset="0"/>
                <a:ea typeface="Microsoft YaHei" pitchFamily="34" charset="-122"/>
                <a:cs typeface="Microsoft YaHei" pitchFamily="34" charset="-120"/>
              </a:rPr>
              <a:t>AWS: AgentCore default environment</a:t>
            </a:r>
            <a:endParaRPr lang="en-US" sz="1733" dirty="0">
              <a:solidFill>
                <a:prstClr val="black"/>
              </a:solidFill>
              <a:latin typeface="Calibri" panose="020F0502020204030204"/>
            </a:endParaRPr>
          </a:p>
        </p:txBody>
      </p:sp>
      <p:sp>
        <p:nvSpPr>
          <p:cNvPr id="26" name="Text 24"/>
          <p:cNvSpPr/>
          <p:nvPr/>
        </p:nvSpPr>
        <p:spPr>
          <a:xfrm>
            <a:off x="8363712" y="2438400"/>
            <a:ext cx="3169920" cy="365760"/>
          </a:xfrm>
          <a:prstGeom prst="rect">
            <a:avLst/>
          </a:prstGeom>
          <a:noFill/>
          <a:ln/>
        </p:spPr>
        <p:txBody>
          <a:bodyPr wrap="square" lIns="0" tIns="0" rIns="0" bIns="0" rtlCol="0" anchor="ctr"/>
          <a:lstStyle/>
          <a:p>
            <a:pPr defTabSz="1219170"/>
            <a:r>
              <a:rPr lang="en-US" sz="1333" i="1" dirty="0">
                <a:solidFill>
                  <a:srgbClr val="CADCFC"/>
                </a:solidFill>
                <a:latin typeface="Microsoft YaHei" pitchFamily="34" charset="0"/>
                <a:ea typeface="Microsoft YaHei" pitchFamily="34" charset="-122"/>
                <a:cs typeface="Microsoft YaHei" pitchFamily="34" charset="-120"/>
              </a:rPr>
              <a:t>Customer Environment</a:t>
            </a:r>
            <a:endParaRPr lang="en-US" sz="1333" dirty="0">
              <a:solidFill>
                <a:prstClr val="black"/>
              </a:solidFill>
              <a:latin typeface="Calibri" panose="020F0502020204030204"/>
            </a:endParaRPr>
          </a:p>
        </p:txBody>
      </p:sp>
      <p:sp>
        <p:nvSpPr>
          <p:cNvPr id="27" name="Text 25"/>
          <p:cNvSpPr/>
          <p:nvPr/>
        </p:nvSpPr>
        <p:spPr>
          <a:xfrm>
            <a:off x="8363712" y="3108960"/>
            <a:ext cx="3169920" cy="3108960"/>
          </a:xfrm>
          <a:prstGeom prst="rect">
            <a:avLst/>
          </a:prstGeom>
          <a:noFill/>
          <a:ln/>
        </p:spPr>
        <p:txBody>
          <a:bodyPr wrap="square" rtlCol="0" anchor="t"/>
          <a:lstStyle/>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Agent runs in the customer's AWS environment</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Data never leaves AWS</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Leverages AWS compute / storage / network</a:t>
            </a:r>
            <a:endParaRPr lang="en-US" sz="1467" dirty="0">
              <a:solidFill>
                <a:prstClr val="black"/>
              </a:solidFill>
              <a:latin typeface="Calibri" panose="020F0502020204030204"/>
            </a:endParaRPr>
          </a:p>
          <a:p>
            <a:pPr marL="457189" indent="-457189" defTabSz="1219170">
              <a:spcAft>
                <a:spcPts val="800"/>
              </a:spcAft>
              <a:buSzPct val="100000"/>
              <a:buFontTx/>
              <a:buChar char="●"/>
            </a:pPr>
            <a:r>
              <a:rPr lang="en-US" sz="1467" dirty="0">
                <a:solidFill>
                  <a:srgbClr val="107C10"/>
                </a:solidFill>
                <a:latin typeface="Microsoft YaHei" pitchFamily="34" charset="0"/>
                <a:ea typeface="Microsoft YaHei" pitchFamily="34" charset="-122"/>
                <a:cs typeface="Microsoft YaHei" pitchFamily="34" charset="-120"/>
              </a:rPr>
              <a:t>AgentCore provides horizontal-scaling capability</a:t>
            </a:r>
            <a:endParaRPr lang="en-US" sz="1467" dirty="0">
              <a:solidFill>
                <a:prstClr val="black"/>
              </a:solidFill>
              <a:latin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03 · Comparison</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Protocol and interface design philosophies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OpenAI-compatible vs. Meta-Harness internal API vs. dual-protocol hybrid</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28 / 40</a:t>
            </a:r>
            <a:endParaRPr lang="en-US" sz="1200" dirty="0">
              <a:solidFill>
                <a:prstClr val="black"/>
              </a:solidFill>
              <a:latin typeface="Calibri" panose="020F0502020204030204"/>
            </a:endParaRPr>
          </a:p>
        </p:txBody>
      </p:sp>
      <p:sp>
        <p:nvSpPr>
          <p:cNvPr id="10" name="Shape 8"/>
          <p:cNvSpPr/>
          <p:nvPr/>
        </p:nvSpPr>
        <p:spPr>
          <a:xfrm>
            <a:off x="487680" y="1889760"/>
            <a:ext cx="3596640" cy="4511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3596640" cy="67056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670560" y="1889760"/>
            <a:ext cx="3230880" cy="670560"/>
          </a:xfrm>
          <a:prstGeom prst="rect">
            <a:avLst/>
          </a:prstGeom>
          <a:noFill/>
          <a:ln/>
        </p:spPr>
        <p:txBody>
          <a:bodyPr wrap="square" lIns="0" tIns="0" rIns="0" bIns="0" rtlCol="0" anchor="ctr"/>
          <a:lstStyle/>
          <a:p>
            <a:pPr defTabSz="1219170"/>
            <a:r>
              <a:rPr lang="en-US" sz="1733" b="1" dirty="0">
                <a:solidFill>
                  <a:srgbClr val="FFFFFF"/>
                </a:solidFill>
                <a:latin typeface="Microsoft YaHei" pitchFamily="34" charset="0"/>
                <a:ea typeface="Microsoft YaHei" pitchFamily="34" charset="-122"/>
                <a:cs typeface="Microsoft YaHei" pitchFamily="34" charset="-120"/>
              </a:rPr>
              <a:t>Azure: Dual protocols coexist</a:t>
            </a:r>
            <a:endParaRPr lang="en-US" sz="1733" dirty="0">
              <a:solidFill>
                <a:prstClr val="black"/>
              </a:solidFill>
              <a:latin typeface="Calibri" panose="020F0502020204030204"/>
            </a:endParaRPr>
          </a:p>
        </p:txBody>
      </p:sp>
      <p:sp>
        <p:nvSpPr>
          <p:cNvPr id="13" name="Text 11"/>
          <p:cNvSpPr/>
          <p:nvPr/>
        </p:nvSpPr>
        <p:spPr>
          <a:xfrm>
            <a:off x="731520" y="2743200"/>
            <a:ext cx="3169920" cy="365760"/>
          </a:xfrm>
          <a:prstGeom prst="rect">
            <a:avLst/>
          </a:prstGeom>
          <a:noFill/>
          <a:ln/>
        </p:spPr>
        <p:txBody>
          <a:bodyPr wrap="square" lIns="0" tIns="0" rIns="0" bIns="0" rtlCol="0" anchor="ctr"/>
          <a:lstStyle/>
          <a:p>
            <a:pPr defTabSz="1219170"/>
            <a:r>
              <a:rPr lang="en-US" sz="1467" b="1" dirty="0">
                <a:solidFill>
                  <a:srgbClr val="107C10"/>
                </a:solidFill>
                <a:latin typeface="Microsoft YaHei" pitchFamily="34" charset="0"/>
                <a:ea typeface="Microsoft YaHei" pitchFamily="34" charset="-122"/>
                <a:cs typeface="Microsoft YaHei" pitchFamily="34" charset="-120"/>
              </a:rPr>
              <a:t>Advantages</a:t>
            </a:r>
            <a:endParaRPr lang="en-US" sz="1467" dirty="0">
              <a:solidFill>
                <a:prstClr val="black"/>
              </a:solidFill>
              <a:latin typeface="Calibri" panose="020F0502020204030204"/>
            </a:endParaRPr>
          </a:p>
        </p:txBody>
      </p:sp>
      <p:sp>
        <p:nvSpPr>
          <p:cNvPr id="14" name="Text 12"/>
          <p:cNvSpPr/>
          <p:nvPr/>
        </p:nvSpPr>
        <p:spPr>
          <a:xfrm>
            <a:off x="731520" y="3108960"/>
            <a:ext cx="3169920" cy="170688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Responses works out of the box</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Invocations is flexibly customizable</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Layerable with Activity / A2A</a:t>
            </a:r>
            <a:endParaRPr lang="en-US" sz="1333" dirty="0">
              <a:solidFill>
                <a:prstClr val="black"/>
              </a:solidFill>
              <a:latin typeface="Calibri" panose="020F0502020204030204"/>
            </a:endParaRPr>
          </a:p>
        </p:txBody>
      </p:sp>
      <p:sp>
        <p:nvSpPr>
          <p:cNvPr id="15" name="Text 13"/>
          <p:cNvSpPr/>
          <p:nvPr/>
        </p:nvSpPr>
        <p:spPr>
          <a:xfrm>
            <a:off x="731520" y="4937760"/>
            <a:ext cx="3169920" cy="365760"/>
          </a:xfrm>
          <a:prstGeom prst="rect">
            <a:avLst/>
          </a:prstGeom>
          <a:noFill/>
          <a:ln/>
        </p:spPr>
        <p:txBody>
          <a:bodyPr wrap="square" lIns="0" tIns="0" rIns="0" bIns="0" rtlCol="0" anchor="ctr"/>
          <a:lstStyle/>
          <a:p>
            <a:pPr defTabSz="1219170"/>
            <a:r>
              <a:rPr lang="en-US" sz="1467" b="1" dirty="0">
                <a:solidFill>
                  <a:srgbClr val="E81123"/>
                </a:solidFill>
                <a:latin typeface="Microsoft YaHei" pitchFamily="34" charset="0"/>
                <a:ea typeface="Microsoft YaHei" pitchFamily="34" charset="-122"/>
                <a:cs typeface="Microsoft YaHei" pitchFamily="34" charset="-120"/>
              </a:rPr>
              <a:t>Limitations</a:t>
            </a:r>
            <a:endParaRPr lang="en-US" sz="1467" dirty="0">
              <a:solidFill>
                <a:prstClr val="black"/>
              </a:solidFill>
              <a:latin typeface="Calibri" panose="020F0502020204030204"/>
            </a:endParaRPr>
          </a:p>
        </p:txBody>
      </p:sp>
      <p:sp>
        <p:nvSpPr>
          <p:cNvPr id="16" name="Text 14"/>
          <p:cNvSpPr/>
          <p:nvPr/>
        </p:nvSpPr>
        <p:spPr>
          <a:xfrm>
            <a:off x="731520" y="5303520"/>
            <a:ext cx="3169920" cy="103632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E81123"/>
                </a:solidFill>
                <a:latin typeface="Microsoft YaHei" pitchFamily="34" charset="0"/>
                <a:ea typeface="Microsoft YaHei" pitchFamily="34" charset="-122"/>
                <a:cs typeface="Microsoft YaHei" pitchFamily="34" charset="-120"/>
              </a:rPr>
              <a:t>Must pick a primary protocol</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E81123"/>
                </a:solidFill>
                <a:latin typeface="Microsoft YaHei" pitchFamily="34" charset="0"/>
                <a:ea typeface="Microsoft YaHei" pitchFamily="34" charset="-122"/>
                <a:cs typeface="Microsoft YaHei" pitchFamily="34" charset="-120"/>
              </a:rPr>
              <a:t>Coexistence adds operational complexity</a:t>
            </a:r>
            <a:endParaRPr lang="en-US" sz="1333" dirty="0">
              <a:solidFill>
                <a:prstClr val="black"/>
              </a:solidFill>
              <a:latin typeface="Calibri" panose="020F0502020204030204"/>
            </a:endParaRPr>
          </a:p>
        </p:txBody>
      </p:sp>
      <p:sp>
        <p:nvSpPr>
          <p:cNvPr id="17" name="Shape 15"/>
          <p:cNvSpPr/>
          <p:nvPr/>
        </p:nvSpPr>
        <p:spPr>
          <a:xfrm>
            <a:off x="4303776" y="1889760"/>
            <a:ext cx="3596640" cy="4511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8" name="Shape 16"/>
          <p:cNvSpPr/>
          <p:nvPr/>
        </p:nvSpPr>
        <p:spPr>
          <a:xfrm>
            <a:off x="4303776" y="1889760"/>
            <a:ext cx="3596640" cy="67056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9" name="Text 17"/>
          <p:cNvSpPr/>
          <p:nvPr/>
        </p:nvSpPr>
        <p:spPr>
          <a:xfrm>
            <a:off x="4486656" y="1889760"/>
            <a:ext cx="3230880" cy="670560"/>
          </a:xfrm>
          <a:prstGeom prst="rect">
            <a:avLst/>
          </a:prstGeom>
          <a:noFill/>
          <a:ln/>
        </p:spPr>
        <p:txBody>
          <a:bodyPr wrap="square" lIns="0" tIns="0" rIns="0" bIns="0" rtlCol="0" anchor="ctr"/>
          <a:lstStyle/>
          <a:p>
            <a:pPr defTabSz="1219170"/>
            <a:r>
              <a:rPr lang="en-US" sz="1733" b="1" dirty="0">
                <a:solidFill>
                  <a:srgbClr val="0F2A47"/>
                </a:solidFill>
                <a:latin typeface="Microsoft YaHei" pitchFamily="34" charset="0"/>
                <a:ea typeface="Microsoft YaHei" pitchFamily="34" charset="-122"/>
                <a:cs typeface="Microsoft YaHei" pitchFamily="34" charset="-120"/>
              </a:rPr>
              <a:t>Anthropic: Internal-API design</a:t>
            </a:r>
            <a:endParaRPr lang="en-US" sz="1733" dirty="0">
              <a:solidFill>
                <a:prstClr val="black"/>
              </a:solidFill>
              <a:latin typeface="Calibri" panose="020F0502020204030204"/>
            </a:endParaRPr>
          </a:p>
        </p:txBody>
      </p:sp>
      <p:sp>
        <p:nvSpPr>
          <p:cNvPr id="20" name="Text 18"/>
          <p:cNvSpPr/>
          <p:nvPr/>
        </p:nvSpPr>
        <p:spPr>
          <a:xfrm>
            <a:off x="4547616" y="2743200"/>
            <a:ext cx="3169920" cy="365760"/>
          </a:xfrm>
          <a:prstGeom prst="rect">
            <a:avLst/>
          </a:prstGeom>
          <a:noFill/>
          <a:ln/>
        </p:spPr>
        <p:txBody>
          <a:bodyPr wrap="square" lIns="0" tIns="0" rIns="0" bIns="0" rtlCol="0" anchor="ctr"/>
          <a:lstStyle/>
          <a:p>
            <a:pPr defTabSz="1219170"/>
            <a:r>
              <a:rPr lang="en-US" sz="1467" b="1" dirty="0">
                <a:solidFill>
                  <a:srgbClr val="107C10"/>
                </a:solidFill>
                <a:latin typeface="Microsoft YaHei" pitchFamily="34" charset="0"/>
                <a:ea typeface="Microsoft YaHei" pitchFamily="34" charset="-122"/>
                <a:cs typeface="Microsoft YaHei" pitchFamily="34" charset="-120"/>
              </a:rPr>
              <a:t>Advantages</a:t>
            </a:r>
            <a:endParaRPr lang="en-US" sz="1467" dirty="0">
              <a:solidFill>
                <a:prstClr val="black"/>
              </a:solidFill>
              <a:latin typeface="Calibri" panose="020F0502020204030204"/>
            </a:endParaRPr>
          </a:p>
        </p:txBody>
      </p:sp>
      <p:sp>
        <p:nvSpPr>
          <p:cNvPr id="21" name="Text 19"/>
          <p:cNvSpPr/>
          <p:nvPr/>
        </p:nvSpPr>
        <p:spPr>
          <a:xfrm>
            <a:off x="4547616" y="3108960"/>
            <a:ext cx="3169920" cy="170688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Stable Brain/Hand/Session interfaces</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Designed for "programs yet to come"</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High evolvability</a:t>
            </a:r>
            <a:endParaRPr lang="en-US" sz="1333" dirty="0">
              <a:solidFill>
                <a:prstClr val="black"/>
              </a:solidFill>
              <a:latin typeface="Calibri" panose="020F0502020204030204"/>
            </a:endParaRPr>
          </a:p>
        </p:txBody>
      </p:sp>
      <p:sp>
        <p:nvSpPr>
          <p:cNvPr id="22" name="Text 20"/>
          <p:cNvSpPr/>
          <p:nvPr/>
        </p:nvSpPr>
        <p:spPr>
          <a:xfrm>
            <a:off x="4547616" y="4937760"/>
            <a:ext cx="3169920" cy="365760"/>
          </a:xfrm>
          <a:prstGeom prst="rect">
            <a:avLst/>
          </a:prstGeom>
          <a:noFill/>
          <a:ln/>
        </p:spPr>
        <p:txBody>
          <a:bodyPr wrap="square" lIns="0" tIns="0" rIns="0" bIns="0" rtlCol="0" anchor="ctr"/>
          <a:lstStyle/>
          <a:p>
            <a:pPr defTabSz="1219170"/>
            <a:r>
              <a:rPr lang="en-US" sz="1467" b="1" dirty="0">
                <a:solidFill>
                  <a:srgbClr val="E81123"/>
                </a:solidFill>
                <a:latin typeface="Microsoft YaHei" pitchFamily="34" charset="0"/>
                <a:ea typeface="Microsoft YaHei" pitchFamily="34" charset="-122"/>
                <a:cs typeface="Microsoft YaHei" pitchFamily="34" charset="-120"/>
              </a:rPr>
              <a:t>Limitations</a:t>
            </a:r>
            <a:endParaRPr lang="en-US" sz="1467" dirty="0">
              <a:solidFill>
                <a:prstClr val="black"/>
              </a:solidFill>
              <a:latin typeface="Calibri" panose="020F0502020204030204"/>
            </a:endParaRPr>
          </a:p>
        </p:txBody>
      </p:sp>
      <p:sp>
        <p:nvSpPr>
          <p:cNvPr id="23" name="Text 21"/>
          <p:cNvSpPr/>
          <p:nvPr/>
        </p:nvSpPr>
        <p:spPr>
          <a:xfrm>
            <a:off x="4547616" y="5303520"/>
            <a:ext cx="3169920" cy="103632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E81123"/>
                </a:solidFill>
                <a:latin typeface="Microsoft YaHei" pitchFamily="34" charset="0"/>
                <a:ea typeface="Microsoft YaHei" pitchFamily="34" charset="-122"/>
                <a:cs typeface="Microsoft YaHei" pitchFamily="34" charset="-120"/>
              </a:rPr>
              <a:t>Tied to the Claude platform</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E81123"/>
                </a:solidFill>
                <a:latin typeface="Microsoft YaHei" pitchFamily="34" charset="0"/>
                <a:ea typeface="Microsoft YaHei" pitchFamily="34" charset="-122"/>
                <a:cs typeface="Microsoft YaHei" pitchFamily="34" charset="-120"/>
              </a:rPr>
              <a:t>Requires familiarity with Managed Agents API</a:t>
            </a:r>
            <a:endParaRPr lang="en-US" sz="1333" dirty="0">
              <a:solidFill>
                <a:prstClr val="black"/>
              </a:solidFill>
              <a:latin typeface="Calibri" panose="020F0502020204030204"/>
            </a:endParaRPr>
          </a:p>
        </p:txBody>
      </p:sp>
      <p:sp>
        <p:nvSpPr>
          <p:cNvPr id="24" name="Shape 22"/>
          <p:cNvSpPr/>
          <p:nvPr/>
        </p:nvSpPr>
        <p:spPr>
          <a:xfrm>
            <a:off x="8119872" y="1889760"/>
            <a:ext cx="3596640" cy="4511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5" name="Shape 23"/>
          <p:cNvSpPr/>
          <p:nvPr/>
        </p:nvSpPr>
        <p:spPr>
          <a:xfrm>
            <a:off x="8119872" y="1889760"/>
            <a:ext cx="3596640" cy="67056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6" name="Text 24"/>
          <p:cNvSpPr/>
          <p:nvPr/>
        </p:nvSpPr>
        <p:spPr>
          <a:xfrm>
            <a:off x="8302752" y="1889760"/>
            <a:ext cx="3230880" cy="670560"/>
          </a:xfrm>
          <a:prstGeom prst="rect">
            <a:avLst/>
          </a:prstGeom>
          <a:noFill/>
          <a:ln/>
        </p:spPr>
        <p:txBody>
          <a:bodyPr wrap="square" lIns="0" tIns="0" rIns="0" bIns="0" rtlCol="0" anchor="ctr"/>
          <a:lstStyle/>
          <a:p>
            <a:pPr defTabSz="1219170"/>
            <a:r>
              <a:rPr lang="en-US" sz="1733" b="1" dirty="0">
                <a:solidFill>
                  <a:srgbClr val="FFFFFF"/>
                </a:solidFill>
                <a:latin typeface="Microsoft YaHei" pitchFamily="34" charset="0"/>
                <a:ea typeface="Microsoft YaHei" pitchFamily="34" charset="-122"/>
                <a:cs typeface="Microsoft YaHei" pitchFamily="34" charset="-120"/>
              </a:rPr>
              <a:t>AWS: OpenAI-compatible first</a:t>
            </a:r>
            <a:endParaRPr lang="en-US" sz="1733" dirty="0">
              <a:solidFill>
                <a:prstClr val="black"/>
              </a:solidFill>
              <a:latin typeface="Calibri" panose="020F0502020204030204"/>
            </a:endParaRPr>
          </a:p>
        </p:txBody>
      </p:sp>
      <p:sp>
        <p:nvSpPr>
          <p:cNvPr id="27" name="Text 25"/>
          <p:cNvSpPr/>
          <p:nvPr/>
        </p:nvSpPr>
        <p:spPr>
          <a:xfrm>
            <a:off x="8363712" y="2743200"/>
            <a:ext cx="3169920" cy="365760"/>
          </a:xfrm>
          <a:prstGeom prst="rect">
            <a:avLst/>
          </a:prstGeom>
          <a:noFill/>
          <a:ln/>
        </p:spPr>
        <p:txBody>
          <a:bodyPr wrap="square" lIns="0" tIns="0" rIns="0" bIns="0" rtlCol="0" anchor="ctr"/>
          <a:lstStyle/>
          <a:p>
            <a:pPr defTabSz="1219170"/>
            <a:r>
              <a:rPr lang="en-US" sz="1467" b="1" dirty="0">
                <a:solidFill>
                  <a:srgbClr val="107C10"/>
                </a:solidFill>
                <a:latin typeface="Microsoft YaHei" pitchFamily="34" charset="0"/>
                <a:ea typeface="Microsoft YaHei" pitchFamily="34" charset="-122"/>
                <a:cs typeface="Microsoft YaHei" pitchFamily="34" charset="-120"/>
              </a:rPr>
              <a:t>Advantages</a:t>
            </a:r>
            <a:endParaRPr lang="en-US" sz="1467" dirty="0">
              <a:solidFill>
                <a:prstClr val="black"/>
              </a:solidFill>
              <a:latin typeface="Calibri" panose="020F0502020204030204"/>
            </a:endParaRPr>
          </a:p>
        </p:txBody>
      </p:sp>
      <p:sp>
        <p:nvSpPr>
          <p:cNvPr id="28" name="Text 26"/>
          <p:cNvSpPr/>
          <p:nvPr/>
        </p:nvSpPr>
        <p:spPr>
          <a:xfrm>
            <a:off x="8363712" y="3108960"/>
            <a:ext cx="3169920" cy="170688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Familiar ecosystem</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Clear migration path</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OpenAI Harness performance optimization</a:t>
            </a:r>
            <a:endParaRPr lang="en-US" sz="1333" dirty="0">
              <a:solidFill>
                <a:prstClr val="black"/>
              </a:solidFill>
              <a:latin typeface="Calibri" panose="020F0502020204030204"/>
            </a:endParaRPr>
          </a:p>
        </p:txBody>
      </p:sp>
      <p:sp>
        <p:nvSpPr>
          <p:cNvPr id="29" name="Text 27"/>
          <p:cNvSpPr/>
          <p:nvPr/>
        </p:nvSpPr>
        <p:spPr>
          <a:xfrm>
            <a:off x="8363712" y="4937760"/>
            <a:ext cx="3169920" cy="365760"/>
          </a:xfrm>
          <a:prstGeom prst="rect">
            <a:avLst/>
          </a:prstGeom>
          <a:noFill/>
          <a:ln/>
        </p:spPr>
        <p:txBody>
          <a:bodyPr wrap="square" lIns="0" tIns="0" rIns="0" bIns="0" rtlCol="0" anchor="ctr"/>
          <a:lstStyle/>
          <a:p>
            <a:pPr defTabSz="1219170"/>
            <a:r>
              <a:rPr lang="en-US" sz="1467" b="1" dirty="0">
                <a:solidFill>
                  <a:srgbClr val="E81123"/>
                </a:solidFill>
                <a:latin typeface="Microsoft YaHei" pitchFamily="34" charset="0"/>
                <a:ea typeface="Microsoft YaHei" pitchFamily="34" charset="-122"/>
                <a:cs typeface="Microsoft YaHei" pitchFamily="34" charset="-120"/>
              </a:rPr>
              <a:t>Limitations</a:t>
            </a:r>
            <a:endParaRPr lang="en-US" sz="1467" dirty="0">
              <a:solidFill>
                <a:prstClr val="black"/>
              </a:solidFill>
              <a:latin typeface="Calibri" panose="020F0502020204030204"/>
            </a:endParaRPr>
          </a:p>
        </p:txBody>
      </p:sp>
      <p:sp>
        <p:nvSpPr>
          <p:cNvPr id="30" name="Text 28"/>
          <p:cNvSpPr/>
          <p:nvPr/>
        </p:nvSpPr>
        <p:spPr>
          <a:xfrm>
            <a:off x="8363712" y="5303520"/>
            <a:ext cx="3169920" cy="103632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E81123"/>
                </a:solidFill>
                <a:latin typeface="Microsoft YaHei" pitchFamily="34" charset="0"/>
                <a:ea typeface="Microsoft YaHei" pitchFamily="34" charset="-122"/>
                <a:cs typeface="Microsoft YaHei" pitchFamily="34" charset="-120"/>
              </a:rPr>
              <a:t>Centered on OpenAI models</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E81123"/>
                </a:solidFill>
                <a:latin typeface="Microsoft YaHei" pitchFamily="34" charset="0"/>
                <a:ea typeface="Microsoft YaHei" pitchFamily="34" charset="-122"/>
                <a:cs typeface="Microsoft YaHei" pitchFamily="34" charset="-120"/>
              </a:rPr>
              <a:t>Cross-vendor interface not aligned</a:t>
            </a:r>
            <a:endParaRPr lang="en-US" sz="1333" dirty="0">
              <a:solidFill>
                <a:prstClr val="black"/>
              </a:solidFill>
              <a:latin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03 · Comparison</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Security and identity management compared</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Three approaches to credentials, isolation, and audit</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29 / 40</a:t>
            </a:r>
            <a:endParaRPr lang="en-US" sz="1200" dirty="0">
              <a:solidFill>
                <a:prstClr val="black"/>
              </a:solidFill>
              <a:latin typeface="Calibri" panose="020F0502020204030204"/>
            </a:endParaRPr>
          </a:p>
        </p:txBody>
      </p:sp>
      <p:sp>
        <p:nvSpPr>
          <p:cNvPr id="10" name="Shape 8"/>
          <p:cNvSpPr/>
          <p:nvPr/>
        </p:nvSpPr>
        <p:spPr>
          <a:xfrm>
            <a:off x="487680" y="1889760"/>
            <a:ext cx="3535680" cy="487680"/>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11" name="Text 9"/>
          <p:cNvSpPr/>
          <p:nvPr/>
        </p:nvSpPr>
        <p:spPr>
          <a:xfrm>
            <a:off x="487680" y="1889760"/>
            <a:ext cx="3535680" cy="487680"/>
          </a:xfrm>
          <a:prstGeom prst="rect">
            <a:avLst/>
          </a:prstGeom>
          <a:noFill/>
          <a:ln/>
        </p:spPr>
        <p:txBody>
          <a:bodyPr wrap="square" lIns="0" tIns="0" rIns="0" bIns="0" rtlCol="0" anchor="ctr"/>
          <a:lstStyle/>
          <a:p>
            <a:pPr algn="ctr" defTabSz="1219170"/>
            <a:r>
              <a:rPr lang="en-US" sz="1467" b="1" dirty="0">
                <a:solidFill>
                  <a:srgbClr val="FFFFFF"/>
                </a:solidFill>
                <a:latin typeface="Microsoft YaHei" pitchFamily="34" charset="0"/>
                <a:ea typeface="Microsoft YaHei" pitchFamily="34" charset="-122"/>
                <a:cs typeface="Microsoft YaHei" pitchFamily="34" charset="-120"/>
              </a:rPr>
              <a:t>Dimension</a:t>
            </a:r>
            <a:endParaRPr lang="en-US" sz="1467" dirty="0">
              <a:solidFill>
                <a:prstClr val="black"/>
              </a:solidFill>
              <a:latin typeface="Calibri" panose="020F0502020204030204"/>
            </a:endParaRPr>
          </a:p>
        </p:txBody>
      </p:sp>
      <p:sp>
        <p:nvSpPr>
          <p:cNvPr id="12" name="Shape 10"/>
          <p:cNvSpPr/>
          <p:nvPr/>
        </p:nvSpPr>
        <p:spPr>
          <a:xfrm>
            <a:off x="4389120" y="1889760"/>
            <a:ext cx="2316480" cy="4876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4389120" y="1889760"/>
            <a:ext cx="2316480" cy="487680"/>
          </a:xfrm>
          <a:prstGeom prst="rect">
            <a:avLst/>
          </a:prstGeom>
          <a:noFill/>
          <a:ln/>
        </p:spPr>
        <p:txBody>
          <a:bodyPr wrap="square" lIns="0" tIns="0" rIns="0" bIns="0" rtlCol="0" anchor="ctr"/>
          <a:lstStyle/>
          <a:p>
            <a:pPr algn="ctr" defTabSz="1219170"/>
            <a:r>
              <a:rPr lang="en-US" sz="1467" b="1" dirty="0">
                <a:solidFill>
                  <a:srgbClr val="FFFFFF"/>
                </a:solidFill>
                <a:latin typeface="Microsoft YaHei" pitchFamily="34" charset="0"/>
                <a:ea typeface="Microsoft YaHei" pitchFamily="34" charset="-122"/>
                <a:cs typeface="Microsoft YaHei" pitchFamily="34" charset="-120"/>
              </a:rPr>
              <a:t>Azure</a:t>
            </a:r>
            <a:endParaRPr lang="en-US" sz="1467" dirty="0">
              <a:solidFill>
                <a:prstClr val="black"/>
              </a:solidFill>
              <a:latin typeface="Calibri" panose="020F0502020204030204"/>
            </a:endParaRPr>
          </a:p>
        </p:txBody>
      </p:sp>
      <p:sp>
        <p:nvSpPr>
          <p:cNvPr id="14" name="Shape 12"/>
          <p:cNvSpPr/>
          <p:nvPr/>
        </p:nvSpPr>
        <p:spPr>
          <a:xfrm>
            <a:off x="6949440" y="1889760"/>
            <a:ext cx="2316480" cy="48768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5" name="Text 13"/>
          <p:cNvSpPr/>
          <p:nvPr/>
        </p:nvSpPr>
        <p:spPr>
          <a:xfrm>
            <a:off x="6949440" y="1889760"/>
            <a:ext cx="2316480" cy="487680"/>
          </a:xfrm>
          <a:prstGeom prst="rect">
            <a:avLst/>
          </a:prstGeom>
          <a:noFill/>
          <a:ln/>
        </p:spPr>
        <p:txBody>
          <a:bodyPr wrap="square" lIns="0" tIns="0" rIns="0" bIns="0" rtlCol="0" anchor="ctr"/>
          <a:lstStyle/>
          <a:p>
            <a:pPr algn="ctr" defTabSz="1219170"/>
            <a:r>
              <a:rPr lang="en-US" sz="1467" b="1" dirty="0">
                <a:solidFill>
                  <a:srgbClr val="0F2A47"/>
                </a:solidFill>
                <a:latin typeface="Microsoft YaHei" pitchFamily="34" charset="0"/>
                <a:ea typeface="Microsoft YaHei" pitchFamily="34" charset="-122"/>
                <a:cs typeface="Microsoft YaHei" pitchFamily="34" charset="-120"/>
              </a:rPr>
              <a:t>Anthropic</a:t>
            </a:r>
            <a:endParaRPr lang="en-US" sz="1467" dirty="0">
              <a:solidFill>
                <a:prstClr val="black"/>
              </a:solidFill>
              <a:latin typeface="Calibri" panose="020F0502020204030204"/>
            </a:endParaRPr>
          </a:p>
        </p:txBody>
      </p:sp>
      <p:sp>
        <p:nvSpPr>
          <p:cNvPr id="16" name="Shape 14"/>
          <p:cNvSpPr/>
          <p:nvPr/>
        </p:nvSpPr>
        <p:spPr>
          <a:xfrm>
            <a:off x="9509760" y="1889760"/>
            <a:ext cx="2316480" cy="48768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17" name="Text 15"/>
          <p:cNvSpPr/>
          <p:nvPr/>
        </p:nvSpPr>
        <p:spPr>
          <a:xfrm>
            <a:off x="9509760" y="1889760"/>
            <a:ext cx="2316480" cy="487680"/>
          </a:xfrm>
          <a:prstGeom prst="rect">
            <a:avLst/>
          </a:prstGeom>
          <a:noFill/>
          <a:ln/>
        </p:spPr>
        <p:txBody>
          <a:bodyPr wrap="square" lIns="0" tIns="0" rIns="0" bIns="0" rtlCol="0" anchor="ctr"/>
          <a:lstStyle/>
          <a:p>
            <a:pPr algn="ctr" defTabSz="1219170"/>
            <a:r>
              <a:rPr lang="en-US" sz="1467" b="1" dirty="0">
                <a:solidFill>
                  <a:srgbClr val="FFFFFF"/>
                </a:solidFill>
                <a:latin typeface="Microsoft YaHei" pitchFamily="34" charset="0"/>
                <a:ea typeface="Microsoft YaHei" pitchFamily="34" charset="-122"/>
                <a:cs typeface="Microsoft YaHei" pitchFamily="34" charset="-120"/>
              </a:rPr>
              <a:t>AWS</a:t>
            </a:r>
            <a:endParaRPr lang="en-US" sz="1467" dirty="0">
              <a:solidFill>
                <a:prstClr val="black"/>
              </a:solidFill>
              <a:latin typeface="Calibri" panose="020F0502020204030204"/>
            </a:endParaRPr>
          </a:p>
        </p:txBody>
      </p:sp>
      <p:sp>
        <p:nvSpPr>
          <p:cNvPr id="18" name="Shape 16"/>
          <p:cNvSpPr/>
          <p:nvPr/>
        </p:nvSpPr>
        <p:spPr>
          <a:xfrm>
            <a:off x="487680" y="2499360"/>
            <a:ext cx="11460480" cy="609600"/>
          </a:xfrm>
          <a:prstGeom prst="rect">
            <a:avLst/>
          </a:prstGeom>
          <a:solidFill>
            <a:srgbClr val="FFFFFF"/>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19" name="Text 17"/>
          <p:cNvSpPr/>
          <p:nvPr/>
        </p:nvSpPr>
        <p:spPr>
          <a:xfrm>
            <a:off x="609600" y="2499360"/>
            <a:ext cx="3657600" cy="60960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Per-Agent independent identity</a:t>
            </a:r>
            <a:endParaRPr lang="en-US" sz="1467" dirty="0">
              <a:solidFill>
                <a:prstClr val="black"/>
              </a:solidFill>
              <a:latin typeface="Calibri" panose="020F0502020204030204"/>
            </a:endParaRPr>
          </a:p>
        </p:txBody>
      </p:sp>
      <p:sp>
        <p:nvSpPr>
          <p:cNvPr id="20" name="Shape 18"/>
          <p:cNvSpPr/>
          <p:nvPr/>
        </p:nvSpPr>
        <p:spPr>
          <a:xfrm>
            <a:off x="4572000" y="271881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21" name="Shape 19"/>
          <p:cNvSpPr/>
          <p:nvPr/>
        </p:nvSpPr>
        <p:spPr>
          <a:xfrm>
            <a:off x="4572000" y="2718816"/>
            <a:ext cx="1950720" cy="170688"/>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2" name="Text 20"/>
          <p:cNvSpPr/>
          <p:nvPr/>
        </p:nvSpPr>
        <p:spPr>
          <a:xfrm>
            <a:off x="6096000" y="2499360"/>
            <a:ext cx="609600" cy="609600"/>
          </a:xfrm>
          <a:prstGeom prst="rect">
            <a:avLst/>
          </a:prstGeom>
          <a:noFill/>
          <a:ln/>
        </p:spPr>
        <p:txBody>
          <a:bodyPr wrap="square" lIns="0" tIns="0" rIns="0" bIns="0" rtlCol="0" anchor="ctr"/>
          <a:lstStyle/>
          <a:p>
            <a:pPr defTabSz="1219170"/>
            <a:r>
              <a:rPr lang="en-US" sz="1333" b="1" dirty="0">
                <a:solidFill>
                  <a:srgbClr val="0078D4"/>
                </a:solidFill>
                <a:latin typeface="Microsoft YaHei" pitchFamily="34" charset="0"/>
                <a:ea typeface="Microsoft YaHei" pitchFamily="34" charset="-122"/>
                <a:cs typeface="Microsoft YaHei" pitchFamily="34" charset="-120"/>
              </a:rPr>
              <a:t>5/5</a:t>
            </a:r>
            <a:endParaRPr lang="en-US" sz="1333" dirty="0">
              <a:solidFill>
                <a:prstClr val="black"/>
              </a:solidFill>
              <a:latin typeface="Calibri" panose="020F0502020204030204"/>
            </a:endParaRPr>
          </a:p>
        </p:txBody>
      </p:sp>
      <p:sp>
        <p:nvSpPr>
          <p:cNvPr id="23" name="Shape 21"/>
          <p:cNvSpPr/>
          <p:nvPr/>
        </p:nvSpPr>
        <p:spPr>
          <a:xfrm>
            <a:off x="7132320" y="271881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24" name="Shape 22"/>
          <p:cNvSpPr/>
          <p:nvPr/>
        </p:nvSpPr>
        <p:spPr>
          <a:xfrm>
            <a:off x="7132320" y="2718816"/>
            <a:ext cx="1560576" cy="170688"/>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5" name="Text 23"/>
          <p:cNvSpPr/>
          <p:nvPr/>
        </p:nvSpPr>
        <p:spPr>
          <a:xfrm>
            <a:off x="8656320" y="2499360"/>
            <a:ext cx="609600" cy="609600"/>
          </a:xfrm>
          <a:prstGeom prst="rect">
            <a:avLst/>
          </a:prstGeom>
          <a:noFill/>
          <a:ln/>
        </p:spPr>
        <p:txBody>
          <a:bodyPr wrap="square" lIns="0" tIns="0" rIns="0" bIns="0" rtlCol="0" anchor="ctr"/>
          <a:lstStyle/>
          <a:p>
            <a:pPr defTabSz="1219170"/>
            <a:r>
              <a:rPr lang="en-US" sz="1333" b="1" dirty="0">
                <a:solidFill>
                  <a:srgbClr val="FFB900"/>
                </a:solidFill>
                <a:latin typeface="Microsoft YaHei" pitchFamily="34" charset="0"/>
                <a:ea typeface="Microsoft YaHei" pitchFamily="34" charset="-122"/>
                <a:cs typeface="Microsoft YaHei" pitchFamily="34" charset="-120"/>
              </a:rPr>
              <a:t>4/5</a:t>
            </a:r>
            <a:endParaRPr lang="en-US" sz="1333" dirty="0">
              <a:solidFill>
                <a:prstClr val="black"/>
              </a:solidFill>
              <a:latin typeface="Calibri" panose="020F0502020204030204"/>
            </a:endParaRPr>
          </a:p>
        </p:txBody>
      </p:sp>
      <p:sp>
        <p:nvSpPr>
          <p:cNvPr id="26" name="Shape 24"/>
          <p:cNvSpPr/>
          <p:nvPr/>
        </p:nvSpPr>
        <p:spPr>
          <a:xfrm>
            <a:off x="9692640" y="271881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27" name="Shape 25"/>
          <p:cNvSpPr/>
          <p:nvPr/>
        </p:nvSpPr>
        <p:spPr>
          <a:xfrm>
            <a:off x="9692640" y="2718816"/>
            <a:ext cx="1950720" cy="170688"/>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8" name="Text 26"/>
          <p:cNvSpPr/>
          <p:nvPr/>
        </p:nvSpPr>
        <p:spPr>
          <a:xfrm>
            <a:off x="11216640" y="2499360"/>
            <a:ext cx="609600" cy="609600"/>
          </a:xfrm>
          <a:prstGeom prst="rect">
            <a:avLst/>
          </a:prstGeom>
          <a:noFill/>
          <a:ln/>
        </p:spPr>
        <p:txBody>
          <a:bodyPr wrap="square" lIns="0" tIns="0" rIns="0" bIns="0" rtlCol="0" anchor="ctr"/>
          <a:lstStyle/>
          <a:p>
            <a:pPr defTabSz="1219170"/>
            <a:r>
              <a:rPr lang="en-US" sz="1333" b="1" dirty="0">
                <a:solidFill>
                  <a:srgbClr val="107C10"/>
                </a:solidFill>
                <a:latin typeface="Microsoft YaHei" pitchFamily="34" charset="0"/>
                <a:ea typeface="Microsoft YaHei" pitchFamily="34" charset="-122"/>
                <a:cs typeface="Microsoft YaHei" pitchFamily="34" charset="-120"/>
              </a:rPr>
              <a:t>5/5</a:t>
            </a:r>
            <a:endParaRPr lang="en-US" sz="1333" dirty="0">
              <a:solidFill>
                <a:prstClr val="black"/>
              </a:solidFill>
              <a:latin typeface="Calibri" panose="020F0502020204030204"/>
            </a:endParaRPr>
          </a:p>
        </p:txBody>
      </p:sp>
      <p:sp>
        <p:nvSpPr>
          <p:cNvPr id="29" name="Shape 27"/>
          <p:cNvSpPr/>
          <p:nvPr/>
        </p:nvSpPr>
        <p:spPr>
          <a:xfrm>
            <a:off x="487680" y="3169920"/>
            <a:ext cx="11460480" cy="609600"/>
          </a:xfrm>
          <a:prstGeom prst="rect">
            <a:avLst/>
          </a:prstGeom>
          <a:solidFill>
            <a:srgbClr val="F8F9FB"/>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30" name="Text 28"/>
          <p:cNvSpPr/>
          <p:nvPr/>
        </p:nvSpPr>
        <p:spPr>
          <a:xfrm>
            <a:off x="609600" y="3169920"/>
            <a:ext cx="3657600" cy="60960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Credential-isolation strength</a:t>
            </a:r>
            <a:endParaRPr lang="en-US" sz="1467" dirty="0">
              <a:solidFill>
                <a:prstClr val="black"/>
              </a:solidFill>
              <a:latin typeface="Calibri" panose="020F0502020204030204"/>
            </a:endParaRPr>
          </a:p>
        </p:txBody>
      </p:sp>
      <p:sp>
        <p:nvSpPr>
          <p:cNvPr id="31" name="Shape 29"/>
          <p:cNvSpPr/>
          <p:nvPr/>
        </p:nvSpPr>
        <p:spPr>
          <a:xfrm>
            <a:off x="4572000" y="338937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32" name="Shape 30"/>
          <p:cNvSpPr/>
          <p:nvPr/>
        </p:nvSpPr>
        <p:spPr>
          <a:xfrm>
            <a:off x="4572000" y="3389376"/>
            <a:ext cx="1560576" cy="170688"/>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33" name="Text 31"/>
          <p:cNvSpPr/>
          <p:nvPr/>
        </p:nvSpPr>
        <p:spPr>
          <a:xfrm>
            <a:off x="6096000" y="3169920"/>
            <a:ext cx="609600" cy="609600"/>
          </a:xfrm>
          <a:prstGeom prst="rect">
            <a:avLst/>
          </a:prstGeom>
          <a:noFill/>
          <a:ln/>
        </p:spPr>
        <p:txBody>
          <a:bodyPr wrap="square" lIns="0" tIns="0" rIns="0" bIns="0" rtlCol="0" anchor="ctr"/>
          <a:lstStyle/>
          <a:p>
            <a:pPr defTabSz="1219170"/>
            <a:r>
              <a:rPr lang="en-US" sz="1333" b="1" dirty="0">
                <a:solidFill>
                  <a:srgbClr val="0078D4"/>
                </a:solidFill>
                <a:latin typeface="Microsoft YaHei" pitchFamily="34" charset="0"/>
                <a:ea typeface="Microsoft YaHei" pitchFamily="34" charset="-122"/>
                <a:cs typeface="Microsoft YaHei" pitchFamily="34" charset="-120"/>
              </a:rPr>
              <a:t>4/5</a:t>
            </a:r>
            <a:endParaRPr lang="en-US" sz="1333" dirty="0">
              <a:solidFill>
                <a:prstClr val="black"/>
              </a:solidFill>
              <a:latin typeface="Calibri" panose="020F0502020204030204"/>
            </a:endParaRPr>
          </a:p>
        </p:txBody>
      </p:sp>
      <p:sp>
        <p:nvSpPr>
          <p:cNvPr id="34" name="Shape 32"/>
          <p:cNvSpPr/>
          <p:nvPr/>
        </p:nvSpPr>
        <p:spPr>
          <a:xfrm>
            <a:off x="7132320" y="338937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35" name="Shape 33"/>
          <p:cNvSpPr/>
          <p:nvPr/>
        </p:nvSpPr>
        <p:spPr>
          <a:xfrm>
            <a:off x="7132320" y="3389376"/>
            <a:ext cx="1950720" cy="170688"/>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6" name="Text 34"/>
          <p:cNvSpPr/>
          <p:nvPr/>
        </p:nvSpPr>
        <p:spPr>
          <a:xfrm>
            <a:off x="8656320" y="3169920"/>
            <a:ext cx="609600" cy="609600"/>
          </a:xfrm>
          <a:prstGeom prst="rect">
            <a:avLst/>
          </a:prstGeom>
          <a:noFill/>
          <a:ln/>
        </p:spPr>
        <p:txBody>
          <a:bodyPr wrap="square" lIns="0" tIns="0" rIns="0" bIns="0" rtlCol="0" anchor="ctr"/>
          <a:lstStyle/>
          <a:p>
            <a:pPr defTabSz="1219170"/>
            <a:r>
              <a:rPr lang="en-US" sz="1333" b="1" dirty="0">
                <a:solidFill>
                  <a:srgbClr val="FFB900"/>
                </a:solidFill>
                <a:latin typeface="Microsoft YaHei" pitchFamily="34" charset="0"/>
                <a:ea typeface="Microsoft YaHei" pitchFamily="34" charset="-122"/>
                <a:cs typeface="Microsoft YaHei" pitchFamily="34" charset="-120"/>
              </a:rPr>
              <a:t>5/5</a:t>
            </a:r>
            <a:endParaRPr lang="en-US" sz="1333" dirty="0">
              <a:solidFill>
                <a:prstClr val="black"/>
              </a:solidFill>
              <a:latin typeface="Calibri" panose="020F0502020204030204"/>
            </a:endParaRPr>
          </a:p>
        </p:txBody>
      </p:sp>
      <p:sp>
        <p:nvSpPr>
          <p:cNvPr id="37" name="Shape 35"/>
          <p:cNvSpPr/>
          <p:nvPr/>
        </p:nvSpPr>
        <p:spPr>
          <a:xfrm>
            <a:off x="9692640" y="338937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38" name="Shape 36"/>
          <p:cNvSpPr/>
          <p:nvPr/>
        </p:nvSpPr>
        <p:spPr>
          <a:xfrm>
            <a:off x="9692640" y="3389376"/>
            <a:ext cx="1560576" cy="170688"/>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39" name="Text 37"/>
          <p:cNvSpPr/>
          <p:nvPr/>
        </p:nvSpPr>
        <p:spPr>
          <a:xfrm>
            <a:off x="11216640" y="3169920"/>
            <a:ext cx="609600" cy="609600"/>
          </a:xfrm>
          <a:prstGeom prst="rect">
            <a:avLst/>
          </a:prstGeom>
          <a:noFill/>
          <a:ln/>
        </p:spPr>
        <p:txBody>
          <a:bodyPr wrap="square" lIns="0" tIns="0" rIns="0" bIns="0" rtlCol="0" anchor="ctr"/>
          <a:lstStyle/>
          <a:p>
            <a:pPr defTabSz="1219170"/>
            <a:r>
              <a:rPr lang="en-US" sz="1333" b="1" dirty="0">
                <a:solidFill>
                  <a:srgbClr val="107C10"/>
                </a:solidFill>
                <a:latin typeface="Microsoft YaHei" pitchFamily="34" charset="0"/>
                <a:ea typeface="Microsoft YaHei" pitchFamily="34" charset="-122"/>
                <a:cs typeface="Microsoft YaHei" pitchFamily="34" charset="-120"/>
              </a:rPr>
              <a:t>4/5</a:t>
            </a:r>
            <a:endParaRPr lang="en-US" sz="1333" dirty="0">
              <a:solidFill>
                <a:prstClr val="black"/>
              </a:solidFill>
              <a:latin typeface="Calibri" panose="020F0502020204030204"/>
            </a:endParaRPr>
          </a:p>
        </p:txBody>
      </p:sp>
      <p:sp>
        <p:nvSpPr>
          <p:cNvPr id="40" name="Shape 38"/>
          <p:cNvSpPr/>
          <p:nvPr/>
        </p:nvSpPr>
        <p:spPr>
          <a:xfrm>
            <a:off x="487680" y="3840480"/>
            <a:ext cx="11460480" cy="609600"/>
          </a:xfrm>
          <a:prstGeom prst="rect">
            <a:avLst/>
          </a:prstGeom>
          <a:solidFill>
            <a:srgbClr val="FFFFFF"/>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41" name="Text 39"/>
          <p:cNvSpPr/>
          <p:nvPr/>
        </p:nvSpPr>
        <p:spPr>
          <a:xfrm>
            <a:off x="609600" y="3840480"/>
            <a:ext cx="3657600" cy="60960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Network-isolation capability</a:t>
            </a:r>
            <a:endParaRPr lang="en-US" sz="1467" dirty="0">
              <a:solidFill>
                <a:prstClr val="black"/>
              </a:solidFill>
              <a:latin typeface="Calibri" panose="020F0502020204030204"/>
            </a:endParaRPr>
          </a:p>
        </p:txBody>
      </p:sp>
      <p:sp>
        <p:nvSpPr>
          <p:cNvPr id="42" name="Shape 40"/>
          <p:cNvSpPr/>
          <p:nvPr/>
        </p:nvSpPr>
        <p:spPr>
          <a:xfrm>
            <a:off x="4572000" y="405993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43" name="Shape 41"/>
          <p:cNvSpPr/>
          <p:nvPr/>
        </p:nvSpPr>
        <p:spPr>
          <a:xfrm>
            <a:off x="4572000" y="4059936"/>
            <a:ext cx="1560576" cy="170688"/>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44" name="Text 42"/>
          <p:cNvSpPr/>
          <p:nvPr/>
        </p:nvSpPr>
        <p:spPr>
          <a:xfrm>
            <a:off x="6096000" y="3840480"/>
            <a:ext cx="609600" cy="609600"/>
          </a:xfrm>
          <a:prstGeom prst="rect">
            <a:avLst/>
          </a:prstGeom>
          <a:noFill/>
          <a:ln/>
        </p:spPr>
        <p:txBody>
          <a:bodyPr wrap="square" lIns="0" tIns="0" rIns="0" bIns="0" rtlCol="0" anchor="ctr"/>
          <a:lstStyle/>
          <a:p>
            <a:pPr defTabSz="1219170"/>
            <a:r>
              <a:rPr lang="en-US" sz="1333" b="1" dirty="0">
                <a:solidFill>
                  <a:srgbClr val="0078D4"/>
                </a:solidFill>
                <a:latin typeface="Microsoft YaHei" pitchFamily="34" charset="0"/>
                <a:ea typeface="Microsoft YaHei" pitchFamily="34" charset="-122"/>
                <a:cs typeface="Microsoft YaHei" pitchFamily="34" charset="-120"/>
              </a:rPr>
              <a:t>4/5</a:t>
            </a:r>
            <a:endParaRPr lang="en-US" sz="1333" dirty="0">
              <a:solidFill>
                <a:prstClr val="black"/>
              </a:solidFill>
              <a:latin typeface="Calibri" panose="020F0502020204030204"/>
            </a:endParaRPr>
          </a:p>
        </p:txBody>
      </p:sp>
      <p:sp>
        <p:nvSpPr>
          <p:cNvPr id="45" name="Shape 43"/>
          <p:cNvSpPr/>
          <p:nvPr/>
        </p:nvSpPr>
        <p:spPr>
          <a:xfrm>
            <a:off x="7132320" y="405993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46" name="Shape 44"/>
          <p:cNvSpPr/>
          <p:nvPr/>
        </p:nvSpPr>
        <p:spPr>
          <a:xfrm>
            <a:off x="7132320" y="4059936"/>
            <a:ext cx="1560576" cy="170688"/>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7" name="Text 45"/>
          <p:cNvSpPr/>
          <p:nvPr/>
        </p:nvSpPr>
        <p:spPr>
          <a:xfrm>
            <a:off x="8656320" y="3840480"/>
            <a:ext cx="609600" cy="609600"/>
          </a:xfrm>
          <a:prstGeom prst="rect">
            <a:avLst/>
          </a:prstGeom>
          <a:noFill/>
          <a:ln/>
        </p:spPr>
        <p:txBody>
          <a:bodyPr wrap="square" lIns="0" tIns="0" rIns="0" bIns="0" rtlCol="0" anchor="ctr"/>
          <a:lstStyle/>
          <a:p>
            <a:pPr defTabSz="1219170"/>
            <a:r>
              <a:rPr lang="en-US" sz="1333" b="1" dirty="0">
                <a:solidFill>
                  <a:srgbClr val="FFB900"/>
                </a:solidFill>
                <a:latin typeface="Microsoft YaHei" pitchFamily="34" charset="0"/>
                <a:ea typeface="Microsoft YaHei" pitchFamily="34" charset="-122"/>
                <a:cs typeface="Microsoft YaHei" pitchFamily="34" charset="-120"/>
              </a:rPr>
              <a:t>4/5</a:t>
            </a:r>
            <a:endParaRPr lang="en-US" sz="1333" dirty="0">
              <a:solidFill>
                <a:prstClr val="black"/>
              </a:solidFill>
              <a:latin typeface="Calibri" panose="020F0502020204030204"/>
            </a:endParaRPr>
          </a:p>
        </p:txBody>
      </p:sp>
      <p:sp>
        <p:nvSpPr>
          <p:cNvPr id="48" name="Shape 46"/>
          <p:cNvSpPr/>
          <p:nvPr/>
        </p:nvSpPr>
        <p:spPr>
          <a:xfrm>
            <a:off x="9692640" y="405993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49" name="Shape 47"/>
          <p:cNvSpPr/>
          <p:nvPr/>
        </p:nvSpPr>
        <p:spPr>
          <a:xfrm>
            <a:off x="9692640" y="4059936"/>
            <a:ext cx="1950720" cy="170688"/>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50" name="Text 48"/>
          <p:cNvSpPr/>
          <p:nvPr/>
        </p:nvSpPr>
        <p:spPr>
          <a:xfrm>
            <a:off x="11216640" y="3840480"/>
            <a:ext cx="609600" cy="609600"/>
          </a:xfrm>
          <a:prstGeom prst="rect">
            <a:avLst/>
          </a:prstGeom>
          <a:noFill/>
          <a:ln/>
        </p:spPr>
        <p:txBody>
          <a:bodyPr wrap="square" lIns="0" tIns="0" rIns="0" bIns="0" rtlCol="0" anchor="ctr"/>
          <a:lstStyle/>
          <a:p>
            <a:pPr defTabSz="1219170"/>
            <a:r>
              <a:rPr lang="en-US" sz="1333" b="1" dirty="0">
                <a:solidFill>
                  <a:srgbClr val="107C10"/>
                </a:solidFill>
                <a:latin typeface="Microsoft YaHei" pitchFamily="34" charset="0"/>
                <a:ea typeface="Microsoft YaHei" pitchFamily="34" charset="-122"/>
                <a:cs typeface="Microsoft YaHei" pitchFamily="34" charset="-120"/>
              </a:rPr>
              <a:t>5/5</a:t>
            </a:r>
            <a:endParaRPr lang="en-US" sz="1333" dirty="0">
              <a:solidFill>
                <a:prstClr val="black"/>
              </a:solidFill>
              <a:latin typeface="Calibri" panose="020F0502020204030204"/>
            </a:endParaRPr>
          </a:p>
        </p:txBody>
      </p:sp>
      <p:sp>
        <p:nvSpPr>
          <p:cNvPr id="51" name="Shape 49"/>
          <p:cNvSpPr/>
          <p:nvPr/>
        </p:nvSpPr>
        <p:spPr>
          <a:xfrm>
            <a:off x="487680" y="4511040"/>
            <a:ext cx="11460480" cy="609600"/>
          </a:xfrm>
          <a:prstGeom prst="rect">
            <a:avLst/>
          </a:prstGeom>
          <a:solidFill>
            <a:srgbClr val="F8F9FB"/>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52" name="Text 50"/>
          <p:cNvSpPr/>
          <p:nvPr/>
        </p:nvSpPr>
        <p:spPr>
          <a:xfrm>
            <a:off x="609600" y="4511040"/>
            <a:ext cx="3657600" cy="60960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OBO / delegated authorization</a:t>
            </a:r>
            <a:endParaRPr lang="en-US" sz="1467" dirty="0">
              <a:solidFill>
                <a:prstClr val="black"/>
              </a:solidFill>
              <a:latin typeface="Calibri" panose="020F0502020204030204"/>
            </a:endParaRPr>
          </a:p>
        </p:txBody>
      </p:sp>
      <p:sp>
        <p:nvSpPr>
          <p:cNvPr id="53" name="Shape 51"/>
          <p:cNvSpPr/>
          <p:nvPr/>
        </p:nvSpPr>
        <p:spPr>
          <a:xfrm>
            <a:off x="4572000" y="473049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54" name="Shape 52"/>
          <p:cNvSpPr/>
          <p:nvPr/>
        </p:nvSpPr>
        <p:spPr>
          <a:xfrm>
            <a:off x="4572000" y="4730496"/>
            <a:ext cx="1950720" cy="170688"/>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55" name="Text 53"/>
          <p:cNvSpPr/>
          <p:nvPr/>
        </p:nvSpPr>
        <p:spPr>
          <a:xfrm>
            <a:off x="6096000" y="4511040"/>
            <a:ext cx="609600" cy="609600"/>
          </a:xfrm>
          <a:prstGeom prst="rect">
            <a:avLst/>
          </a:prstGeom>
          <a:noFill/>
          <a:ln/>
        </p:spPr>
        <p:txBody>
          <a:bodyPr wrap="square" lIns="0" tIns="0" rIns="0" bIns="0" rtlCol="0" anchor="ctr"/>
          <a:lstStyle/>
          <a:p>
            <a:pPr defTabSz="1219170"/>
            <a:r>
              <a:rPr lang="en-US" sz="1333" b="1" dirty="0">
                <a:solidFill>
                  <a:srgbClr val="0078D4"/>
                </a:solidFill>
                <a:latin typeface="Microsoft YaHei" pitchFamily="34" charset="0"/>
                <a:ea typeface="Microsoft YaHei" pitchFamily="34" charset="-122"/>
                <a:cs typeface="Microsoft YaHei" pitchFamily="34" charset="-120"/>
              </a:rPr>
              <a:t>5/5</a:t>
            </a:r>
            <a:endParaRPr lang="en-US" sz="1333" dirty="0">
              <a:solidFill>
                <a:prstClr val="black"/>
              </a:solidFill>
              <a:latin typeface="Calibri" panose="020F0502020204030204"/>
            </a:endParaRPr>
          </a:p>
        </p:txBody>
      </p:sp>
      <p:sp>
        <p:nvSpPr>
          <p:cNvPr id="56" name="Shape 54"/>
          <p:cNvSpPr/>
          <p:nvPr/>
        </p:nvSpPr>
        <p:spPr>
          <a:xfrm>
            <a:off x="7132320" y="473049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57" name="Shape 55"/>
          <p:cNvSpPr/>
          <p:nvPr/>
        </p:nvSpPr>
        <p:spPr>
          <a:xfrm>
            <a:off x="7132320" y="4730496"/>
            <a:ext cx="1170432" cy="170688"/>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58" name="Text 56"/>
          <p:cNvSpPr/>
          <p:nvPr/>
        </p:nvSpPr>
        <p:spPr>
          <a:xfrm>
            <a:off x="8656320" y="4511040"/>
            <a:ext cx="609600" cy="609600"/>
          </a:xfrm>
          <a:prstGeom prst="rect">
            <a:avLst/>
          </a:prstGeom>
          <a:noFill/>
          <a:ln/>
        </p:spPr>
        <p:txBody>
          <a:bodyPr wrap="square" lIns="0" tIns="0" rIns="0" bIns="0" rtlCol="0" anchor="ctr"/>
          <a:lstStyle/>
          <a:p>
            <a:pPr defTabSz="1219170"/>
            <a:r>
              <a:rPr lang="en-US" sz="1333" b="1" dirty="0">
                <a:solidFill>
                  <a:srgbClr val="FFB900"/>
                </a:solidFill>
                <a:latin typeface="Microsoft YaHei" pitchFamily="34" charset="0"/>
                <a:ea typeface="Microsoft YaHei" pitchFamily="34" charset="-122"/>
                <a:cs typeface="Microsoft YaHei" pitchFamily="34" charset="-120"/>
              </a:rPr>
              <a:t>3/5</a:t>
            </a:r>
            <a:endParaRPr lang="en-US" sz="1333" dirty="0">
              <a:solidFill>
                <a:prstClr val="black"/>
              </a:solidFill>
              <a:latin typeface="Calibri" panose="020F0502020204030204"/>
            </a:endParaRPr>
          </a:p>
        </p:txBody>
      </p:sp>
      <p:sp>
        <p:nvSpPr>
          <p:cNvPr id="59" name="Shape 57"/>
          <p:cNvSpPr/>
          <p:nvPr/>
        </p:nvSpPr>
        <p:spPr>
          <a:xfrm>
            <a:off x="9692640" y="473049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60" name="Shape 58"/>
          <p:cNvSpPr/>
          <p:nvPr/>
        </p:nvSpPr>
        <p:spPr>
          <a:xfrm>
            <a:off x="9692640" y="4730496"/>
            <a:ext cx="1560576" cy="170688"/>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61" name="Text 59"/>
          <p:cNvSpPr/>
          <p:nvPr/>
        </p:nvSpPr>
        <p:spPr>
          <a:xfrm>
            <a:off x="11216640" y="4511040"/>
            <a:ext cx="609600" cy="609600"/>
          </a:xfrm>
          <a:prstGeom prst="rect">
            <a:avLst/>
          </a:prstGeom>
          <a:noFill/>
          <a:ln/>
        </p:spPr>
        <p:txBody>
          <a:bodyPr wrap="square" lIns="0" tIns="0" rIns="0" bIns="0" rtlCol="0" anchor="ctr"/>
          <a:lstStyle/>
          <a:p>
            <a:pPr defTabSz="1219170"/>
            <a:r>
              <a:rPr lang="en-US" sz="1333" b="1" dirty="0">
                <a:solidFill>
                  <a:srgbClr val="107C10"/>
                </a:solidFill>
                <a:latin typeface="Microsoft YaHei" pitchFamily="34" charset="0"/>
                <a:ea typeface="Microsoft YaHei" pitchFamily="34" charset="-122"/>
                <a:cs typeface="Microsoft YaHei" pitchFamily="34" charset="-120"/>
              </a:rPr>
              <a:t>4/5</a:t>
            </a:r>
            <a:endParaRPr lang="en-US" sz="1333" dirty="0">
              <a:solidFill>
                <a:prstClr val="black"/>
              </a:solidFill>
              <a:latin typeface="Calibri" panose="020F0502020204030204"/>
            </a:endParaRPr>
          </a:p>
        </p:txBody>
      </p:sp>
      <p:sp>
        <p:nvSpPr>
          <p:cNvPr id="62" name="Shape 60"/>
          <p:cNvSpPr/>
          <p:nvPr/>
        </p:nvSpPr>
        <p:spPr>
          <a:xfrm>
            <a:off x="487680" y="5181600"/>
            <a:ext cx="11460480" cy="609600"/>
          </a:xfrm>
          <a:prstGeom prst="rect">
            <a:avLst/>
          </a:prstGeom>
          <a:solidFill>
            <a:srgbClr val="FFFFFF"/>
          </a:solidFill>
          <a:ln w="635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63" name="Text 61"/>
          <p:cNvSpPr/>
          <p:nvPr/>
        </p:nvSpPr>
        <p:spPr>
          <a:xfrm>
            <a:off x="609600" y="5181600"/>
            <a:ext cx="3657600" cy="60960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Audit-log completeness</a:t>
            </a:r>
            <a:endParaRPr lang="en-US" sz="1467" dirty="0">
              <a:solidFill>
                <a:prstClr val="black"/>
              </a:solidFill>
              <a:latin typeface="Calibri" panose="020F0502020204030204"/>
            </a:endParaRPr>
          </a:p>
        </p:txBody>
      </p:sp>
      <p:sp>
        <p:nvSpPr>
          <p:cNvPr id="64" name="Shape 62"/>
          <p:cNvSpPr/>
          <p:nvPr/>
        </p:nvSpPr>
        <p:spPr>
          <a:xfrm>
            <a:off x="4572000" y="540105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65" name="Shape 63"/>
          <p:cNvSpPr/>
          <p:nvPr/>
        </p:nvSpPr>
        <p:spPr>
          <a:xfrm>
            <a:off x="4572000" y="5401056"/>
            <a:ext cx="1560576" cy="170688"/>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66" name="Text 64"/>
          <p:cNvSpPr/>
          <p:nvPr/>
        </p:nvSpPr>
        <p:spPr>
          <a:xfrm>
            <a:off x="6096000" y="5181600"/>
            <a:ext cx="609600" cy="609600"/>
          </a:xfrm>
          <a:prstGeom prst="rect">
            <a:avLst/>
          </a:prstGeom>
          <a:noFill/>
          <a:ln/>
        </p:spPr>
        <p:txBody>
          <a:bodyPr wrap="square" lIns="0" tIns="0" rIns="0" bIns="0" rtlCol="0" anchor="ctr"/>
          <a:lstStyle/>
          <a:p>
            <a:pPr defTabSz="1219170"/>
            <a:r>
              <a:rPr lang="en-US" sz="1333" b="1" dirty="0">
                <a:solidFill>
                  <a:srgbClr val="0078D4"/>
                </a:solidFill>
                <a:latin typeface="Microsoft YaHei" pitchFamily="34" charset="0"/>
                <a:ea typeface="Microsoft YaHei" pitchFamily="34" charset="-122"/>
                <a:cs typeface="Microsoft YaHei" pitchFamily="34" charset="-120"/>
              </a:rPr>
              <a:t>4/5</a:t>
            </a:r>
            <a:endParaRPr lang="en-US" sz="1333" dirty="0">
              <a:solidFill>
                <a:prstClr val="black"/>
              </a:solidFill>
              <a:latin typeface="Calibri" panose="020F0502020204030204"/>
            </a:endParaRPr>
          </a:p>
        </p:txBody>
      </p:sp>
      <p:sp>
        <p:nvSpPr>
          <p:cNvPr id="67" name="Shape 65"/>
          <p:cNvSpPr/>
          <p:nvPr/>
        </p:nvSpPr>
        <p:spPr>
          <a:xfrm>
            <a:off x="7132320" y="540105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68" name="Shape 66"/>
          <p:cNvSpPr/>
          <p:nvPr/>
        </p:nvSpPr>
        <p:spPr>
          <a:xfrm>
            <a:off x="7132320" y="5401056"/>
            <a:ext cx="1560576" cy="170688"/>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69" name="Text 67"/>
          <p:cNvSpPr/>
          <p:nvPr/>
        </p:nvSpPr>
        <p:spPr>
          <a:xfrm>
            <a:off x="8656320" y="5181600"/>
            <a:ext cx="609600" cy="609600"/>
          </a:xfrm>
          <a:prstGeom prst="rect">
            <a:avLst/>
          </a:prstGeom>
          <a:noFill/>
          <a:ln/>
        </p:spPr>
        <p:txBody>
          <a:bodyPr wrap="square" lIns="0" tIns="0" rIns="0" bIns="0" rtlCol="0" anchor="ctr"/>
          <a:lstStyle/>
          <a:p>
            <a:pPr defTabSz="1219170"/>
            <a:r>
              <a:rPr lang="en-US" sz="1333" b="1" dirty="0">
                <a:solidFill>
                  <a:srgbClr val="FFB900"/>
                </a:solidFill>
                <a:latin typeface="Microsoft YaHei" pitchFamily="34" charset="0"/>
                <a:ea typeface="Microsoft YaHei" pitchFamily="34" charset="-122"/>
                <a:cs typeface="Microsoft YaHei" pitchFamily="34" charset="-120"/>
              </a:rPr>
              <a:t>4/5</a:t>
            </a:r>
            <a:endParaRPr lang="en-US" sz="1333" dirty="0">
              <a:solidFill>
                <a:prstClr val="black"/>
              </a:solidFill>
              <a:latin typeface="Calibri" panose="020F0502020204030204"/>
            </a:endParaRPr>
          </a:p>
        </p:txBody>
      </p:sp>
      <p:sp>
        <p:nvSpPr>
          <p:cNvPr id="70" name="Shape 68"/>
          <p:cNvSpPr/>
          <p:nvPr/>
        </p:nvSpPr>
        <p:spPr>
          <a:xfrm>
            <a:off x="9692640" y="5401056"/>
            <a:ext cx="1950720" cy="170688"/>
          </a:xfrm>
          <a:prstGeom prst="rect">
            <a:avLst/>
          </a:prstGeom>
          <a:solidFill>
            <a:srgbClr val="E1E5EB"/>
          </a:solidFill>
          <a:ln/>
        </p:spPr>
        <p:txBody>
          <a:bodyPr/>
          <a:lstStyle/>
          <a:p>
            <a:pPr defTabSz="1219170"/>
            <a:endParaRPr lang="en-CN" sz="2400">
              <a:solidFill>
                <a:prstClr val="black"/>
              </a:solidFill>
              <a:latin typeface="Calibri" panose="020F0502020204030204"/>
            </a:endParaRPr>
          </a:p>
        </p:txBody>
      </p:sp>
      <p:sp>
        <p:nvSpPr>
          <p:cNvPr id="71" name="Shape 69"/>
          <p:cNvSpPr/>
          <p:nvPr/>
        </p:nvSpPr>
        <p:spPr>
          <a:xfrm>
            <a:off x="9692640" y="5401056"/>
            <a:ext cx="1950720" cy="170688"/>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72" name="Text 70"/>
          <p:cNvSpPr/>
          <p:nvPr/>
        </p:nvSpPr>
        <p:spPr>
          <a:xfrm>
            <a:off x="11216640" y="5181600"/>
            <a:ext cx="609600" cy="609600"/>
          </a:xfrm>
          <a:prstGeom prst="rect">
            <a:avLst/>
          </a:prstGeom>
          <a:noFill/>
          <a:ln/>
        </p:spPr>
        <p:txBody>
          <a:bodyPr wrap="square" lIns="0" tIns="0" rIns="0" bIns="0" rtlCol="0" anchor="ctr"/>
          <a:lstStyle/>
          <a:p>
            <a:pPr defTabSz="1219170"/>
            <a:r>
              <a:rPr lang="en-US" sz="1333" b="1" dirty="0">
                <a:solidFill>
                  <a:srgbClr val="107C10"/>
                </a:solidFill>
                <a:latin typeface="Microsoft YaHei" pitchFamily="34" charset="0"/>
                <a:ea typeface="Microsoft YaHei" pitchFamily="34" charset="-122"/>
                <a:cs typeface="Microsoft YaHei" pitchFamily="34" charset="-120"/>
              </a:rPr>
              <a:t>5/5</a:t>
            </a:r>
            <a:endParaRPr lang="en-US" sz="1333" dirty="0">
              <a:solidFill>
                <a:prstClr val="black"/>
              </a:solidFill>
              <a:latin typeface="Calibri" panose="020F0502020204030204"/>
            </a:endParaRPr>
          </a:p>
        </p:txBody>
      </p:sp>
      <p:sp>
        <p:nvSpPr>
          <p:cNvPr id="73" name="Text 71"/>
          <p:cNvSpPr/>
          <p:nvPr/>
        </p:nvSpPr>
        <p:spPr>
          <a:xfrm>
            <a:off x="487680" y="6096000"/>
            <a:ext cx="11460480" cy="365760"/>
          </a:xfrm>
          <a:prstGeom prst="rect">
            <a:avLst/>
          </a:prstGeom>
          <a:noFill/>
          <a:ln/>
        </p:spPr>
        <p:txBody>
          <a:bodyPr wrap="square" lIns="0" tIns="0" rIns="0" bIns="0" rtlCol="0" anchor="ctr"/>
          <a:lstStyle/>
          <a:p>
            <a:pPr algn="r" defTabSz="1219170"/>
            <a:r>
              <a:rPr lang="en-US" sz="1200" i="1" dirty="0">
                <a:solidFill>
                  <a:srgbClr val="5B6671"/>
                </a:solidFill>
                <a:latin typeface="Microsoft YaHei" pitchFamily="34" charset="0"/>
                <a:ea typeface="Microsoft YaHei" pitchFamily="34" charset="-122"/>
                <a:cs typeface="Microsoft YaHei" pitchFamily="34" charset="-120"/>
              </a:rPr>
              <a:t>Note: scores are only relative indicators based on public documentation and design philosophy — not absolute quantification.</a:t>
            </a:r>
            <a:endParaRPr lang="en-US" sz="1200" dirty="0">
              <a:solidFill>
                <a:prstClr val="black"/>
              </a:solidFill>
              <a:latin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03 · Comparison</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Observability, billing, and scalability compared</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Three key operational differences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30 / 40</a:t>
            </a:r>
            <a:endParaRPr lang="en-US" sz="1200" dirty="0">
              <a:solidFill>
                <a:prstClr val="black"/>
              </a:solidFill>
              <a:latin typeface="Calibri" panose="020F0502020204030204"/>
            </a:endParaRPr>
          </a:p>
        </p:txBody>
      </p:sp>
      <p:sp>
        <p:nvSpPr>
          <p:cNvPr id="10" name="Shape 8"/>
          <p:cNvSpPr/>
          <p:nvPr/>
        </p:nvSpPr>
        <p:spPr>
          <a:xfrm>
            <a:off x="487680" y="1889760"/>
            <a:ext cx="1121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1402080"/>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12" name="Shape 10"/>
          <p:cNvSpPr/>
          <p:nvPr/>
        </p:nvSpPr>
        <p:spPr>
          <a:xfrm>
            <a:off x="487680" y="1889760"/>
            <a:ext cx="1950720" cy="1402080"/>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487680" y="1889760"/>
            <a:ext cx="1950720" cy="1402080"/>
          </a:xfrm>
          <a:prstGeom prst="rect">
            <a:avLst/>
          </a:prstGeom>
          <a:noFill/>
          <a:ln/>
        </p:spPr>
        <p:txBody>
          <a:bodyPr wrap="square" lIns="0" tIns="0" rIns="0" bIns="0" rtlCol="0" anchor="ctr"/>
          <a:lstStyle/>
          <a:p>
            <a:pPr algn="ctr" defTabSz="1219170"/>
            <a:r>
              <a:rPr lang="en-US" sz="1867" b="1" dirty="0">
                <a:solidFill>
                  <a:srgbClr val="FFFFFF"/>
                </a:solidFill>
                <a:latin typeface="Microsoft YaHei" pitchFamily="34" charset="0"/>
                <a:ea typeface="Microsoft YaHei" pitchFamily="34" charset="-122"/>
                <a:cs typeface="Microsoft YaHei" pitchFamily="34" charset="-120"/>
              </a:rPr>
              <a:t>Observability</a:t>
            </a:r>
            <a:endParaRPr lang="en-US" sz="1867" dirty="0">
              <a:solidFill>
                <a:prstClr val="black"/>
              </a:solidFill>
              <a:latin typeface="Calibri" panose="020F0502020204030204"/>
            </a:endParaRPr>
          </a:p>
        </p:txBody>
      </p:sp>
      <p:sp>
        <p:nvSpPr>
          <p:cNvPr id="14" name="Shape 12"/>
          <p:cNvSpPr/>
          <p:nvPr/>
        </p:nvSpPr>
        <p:spPr>
          <a:xfrm>
            <a:off x="2621280" y="2011680"/>
            <a:ext cx="73152" cy="11582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5" name="Text 13"/>
          <p:cNvSpPr/>
          <p:nvPr/>
        </p:nvSpPr>
        <p:spPr>
          <a:xfrm>
            <a:off x="2804160" y="2072640"/>
            <a:ext cx="2682240" cy="365760"/>
          </a:xfrm>
          <a:prstGeom prst="rect">
            <a:avLst/>
          </a:prstGeom>
          <a:noFill/>
          <a:ln/>
        </p:spPr>
        <p:txBody>
          <a:bodyPr wrap="square" lIns="0" tIns="0" rIns="0" bIns="0" rtlCol="0" anchor="ctr"/>
          <a:lstStyle/>
          <a:p>
            <a:pPr defTabSz="1219170"/>
            <a:r>
              <a:rPr lang="en-US" sz="1467" b="1" dirty="0">
                <a:solidFill>
                  <a:srgbClr val="0078D4"/>
                </a:solidFill>
                <a:latin typeface="Microsoft YaHei" pitchFamily="34" charset="0"/>
                <a:ea typeface="Microsoft YaHei" pitchFamily="34" charset="-122"/>
                <a:cs typeface="Microsoft YaHei" pitchFamily="34" charset="-120"/>
              </a:rPr>
              <a:t>Azure</a:t>
            </a:r>
            <a:endParaRPr lang="en-US" sz="1467" dirty="0">
              <a:solidFill>
                <a:prstClr val="black"/>
              </a:solidFill>
              <a:latin typeface="Calibri" panose="020F0502020204030204"/>
            </a:endParaRPr>
          </a:p>
        </p:txBody>
      </p:sp>
      <p:sp>
        <p:nvSpPr>
          <p:cNvPr id="16" name="Text 14"/>
          <p:cNvSpPr/>
          <p:nvPr/>
        </p:nvSpPr>
        <p:spPr>
          <a:xfrm>
            <a:off x="2804160" y="2438400"/>
            <a:ext cx="2865120" cy="792480"/>
          </a:xfrm>
          <a:prstGeom prst="rect">
            <a:avLst/>
          </a:prstGeom>
          <a:noFill/>
          <a:ln/>
        </p:spPr>
        <p:txBody>
          <a:bodyPr wrap="square" lIns="0" tIns="0" rIns="0" bIns="0" rtlCol="0" anchor="t"/>
          <a:lstStyle/>
          <a:p>
            <a:pPr defTabSz="1219170"/>
            <a:r>
              <a:rPr lang="en-US" sz="1333" dirty="0">
                <a:solidFill>
                  <a:srgbClr val="1F2937"/>
                </a:solidFill>
                <a:latin typeface="Microsoft YaHei" pitchFamily="34" charset="0"/>
                <a:ea typeface="Microsoft YaHei" pitchFamily="34" charset="-122"/>
                <a:cs typeface="Microsoft YaHei" pitchFamily="34" charset="-120"/>
              </a:rPr>
              <a:t>OpenTelemetry + Foundry Tracing + Evaluators</a:t>
            </a:r>
            <a:endParaRPr lang="en-US" sz="1333" dirty="0">
              <a:solidFill>
                <a:prstClr val="black"/>
              </a:solidFill>
              <a:latin typeface="Calibri" panose="020F0502020204030204"/>
            </a:endParaRPr>
          </a:p>
        </p:txBody>
      </p:sp>
      <p:sp>
        <p:nvSpPr>
          <p:cNvPr id="17" name="Shape 15"/>
          <p:cNvSpPr/>
          <p:nvPr/>
        </p:nvSpPr>
        <p:spPr>
          <a:xfrm>
            <a:off x="5730240" y="2011680"/>
            <a:ext cx="73152" cy="11582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8" name="Text 16"/>
          <p:cNvSpPr/>
          <p:nvPr/>
        </p:nvSpPr>
        <p:spPr>
          <a:xfrm>
            <a:off x="5913120" y="2072640"/>
            <a:ext cx="2682240" cy="365760"/>
          </a:xfrm>
          <a:prstGeom prst="rect">
            <a:avLst/>
          </a:prstGeom>
          <a:noFill/>
          <a:ln/>
        </p:spPr>
        <p:txBody>
          <a:bodyPr wrap="square" lIns="0" tIns="0" rIns="0" bIns="0" rtlCol="0" anchor="ctr"/>
          <a:lstStyle/>
          <a:p>
            <a:pPr defTabSz="1219170"/>
            <a:r>
              <a:rPr lang="en-US" sz="1467" b="1" dirty="0">
                <a:solidFill>
                  <a:srgbClr val="FFB900"/>
                </a:solidFill>
                <a:latin typeface="Microsoft YaHei" pitchFamily="34" charset="0"/>
                <a:ea typeface="Microsoft YaHei" pitchFamily="34" charset="-122"/>
                <a:cs typeface="Microsoft YaHei" pitchFamily="34" charset="-120"/>
              </a:rPr>
              <a:t>Anthropic</a:t>
            </a:r>
            <a:endParaRPr lang="en-US" sz="1467" dirty="0">
              <a:solidFill>
                <a:prstClr val="black"/>
              </a:solidFill>
              <a:latin typeface="Calibri" panose="020F0502020204030204"/>
            </a:endParaRPr>
          </a:p>
        </p:txBody>
      </p:sp>
      <p:sp>
        <p:nvSpPr>
          <p:cNvPr id="19" name="Text 17"/>
          <p:cNvSpPr/>
          <p:nvPr/>
        </p:nvSpPr>
        <p:spPr>
          <a:xfrm>
            <a:off x="5913120" y="2438400"/>
            <a:ext cx="2865120" cy="792480"/>
          </a:xfrm>
          <a:prstGeom prst="rect">
            <a:avLst/>
          </a:prstGeom>
          <a:noFill/>
          <a:ln/>
        </p:spPr>
        <p:txBody>
          <a:bodyPr wrap="square" lIns="0" tIns="0" rIns="0" bIns="0" rtlCol="0" anchor="t"/>
          <a:lstStyle/>
          <a:p>
            <a:pPr defTabSz="1219170"/>
            <a:r>
              <a:rPr lang="en-US" sz="1333" dirty="0">
                <a:solidFill>
                  <a:srgbClr val="1F2937"/>
                </a:solidFill>
                <a:latin typeface="Microsoft YaHei" pitchFamily="34" charset="0"/>
                <a:ea typeface="Microsoft YaHei" pitchFamily="34" charset="-122"/>
                <a:cs typeface="Microsoft YaHei" pitchFamily="34" charset="-120"/>
              </a:rPr>
              <a:t>Session event log fully replayable</a:t>
            </a:r>
            <a:endParaRPr lang="en-US" sz="1333" dirty="0">
              <a:solidFill>
                <a:prstClr val="black"/>
              </a:solidFill>
              <a:latin typeface="Calibri" panose="020F0502020204030204"/>
            </a:endParaRPr>
          </a:p>
        </p:txBody>
      </p:sp>
      <p:sp>
        <p:nvSpPr>
          <p:cNvPr id="20" name="Shape 18"/>
          <p:cNvSpPr/>
          <p:nvPr/>
        </p:nvSpPr>
        <p:spPr>
          <a:xfrm>
            <a:off x="8839200" y="2011680"/>
            <a:ext cx="73152" cy="115824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1" name="Text 19"/>
          <p:cNvSpPr/>
          <p:nvPr/>
        </p:nvSpPr>
        <p:spPr>
          <a:xfrm>
            <a:off x="9022080" y="2072640"/>
            <a:ext cx="2682240" cy="365760"/>
          </a:xfrm>
          <a:prstGeom prst="rect">
            <a:avLst/>
          </a:prstGeom>
          <a:noFill/>
          <a:ln/>
        </p:spPr>
        <p:txBody>
          <a:bodyPr wrap="square" lIns="0" tIns="0" rIns="0" bIns="0" rtlCol="0" anchor="ctr"/>
          <a:lstStyle/>
          <a:p>
            <a:pPr defTabSz="1219170"/>
            <a:r>
              <a:rPr lang="en-US" sz="1467" b="1" dirty="0">
                <a:solidFill>
                  <a:srgbClr val="107C10"/>
                </a:solidFill>
                <a:latin typeface="Microsoft YaHei" pitchFamily="34" charset="0"/>
                <a:ea typeface="Microsoft YaHei" pitchFamily="34" charset="-122"/>
                <a:cs typeface="Microsoft YaHei" pitchFamily="34" charset="-120"/>
              </a:rPr>
              <a:t>AWS</a:t>
            </a:r>
            <a:endParaRPr lang="en-US" sz="1467" dirty="0">
              <a:solidFill>
                <a:prstClr val="black"/>
              </a:solidFill>
              <a:latin typeface="Calibri" panose="020F0502020204030204"/>
            </a:endParaRPr>
          </a:p>
        </p:txBody>
      </p:sp>
      <p:sp>
        <p:nvSpPr>
          <p:cNvPr id="22" name="Text 20"/>
          <p:cNvSpPr/>
          <p:nvPr/>
        </p:nvSpPr>
        <p:spPr>
          <a:xfrm>
            <a:off x="9022080" y="2438400"/>
            <a:ext cx="2865120" cy="792480"/>
          </a:xfrm>
          <a:prstGeom prst="rect">
            <a:avLst/>
          </a:prstGeom>
          <a:noFill/>
          <a:ln/>
        </p:spPr>
        <p:txBody>
          <a:bodyPr wrap="square" lIns="0" tIns="0" rIns="0" bIns="0" rtlCol="0" anchor="t"/>
          <a:lstStyle/>
          <a:p>
            <a:pPr defTabSz="1219170"/>
            <a:r>
              <a:rPr lang="en-US" sz="1333" dirty="0">
                <a:solidFill>
                  <a:srgbClr val="1F2937"/>
                </a:solidFill>
                <a:latin typeface="Microsoft YaHei" pitchFamily="34" charset="0"/>
                <a:ea typeface="Microsoft YaHei" pitchFamily="34" charset="-122"/>
                <a:cs typeface="Microsoft YaHei" pitchFamily="34" charset="-120"/>
              </a:rPr>
              <a:t>AgentCore evaluation, monitoring, Agent discovery</a:t>
            </a:r>
            <a:endParaRPr lang="en-US" sz="1333" dirty="0">
              <a:solidFill>
                <a:prstClr val="black"/>
              </a:solidFill>
              <a:latin typeface="Calibri" panose="020F0502020204030204"/>
            </a:endParaRPr>
          </a:p>
        </p:txBody>
      </p:sp>
      <p:sp>
        <p:nvSpPr>
          <p:cNvPr id="23" name="Shape 21"/>
          <p:cNvSpPr/>
          <p:nvPr/>
        </p:nvSpPr>
        <p:spPr>
          <a:xfrm>
            <a:off x="487680" y="3413760"/>
            <a:ext cx="1121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4" name="Shape 22"/>
          <p:cNvSpPr/>
          <p:nvPr/>
        </p:nvSpPr>
        <p:spPr>
          <a:xfrm>
            <a:off x="487680" y="3413760"/>
            <a:ext cx="97536" cy="1402080"/>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25" name="Shape 23"/>
          <p:cNvSpPr/>
          <p:nvPr/>
        </p:nvSpPr>
        <p:spPr>
          <a:xfrm>
            <a:off x="487680" y="3413760"/>
            <a:ext cx="1950720" cy="1402080"/>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26" name="Text 24"/>
          <p:cNvSpPr/>
          <p:nvPr/>
        </p:nvSpPr>
        <p:spPr>
          <a:xfrm>
            <a:off x="487680" y="3413760"/>
            <a:ext cx="1950720" cy="1402080"/>
          </a:xfrm>
          <a:prstGeom prst="rect">
            <a:avLst/>
          </a:prstGeom>
          <a:noFill/>
          <a:ln/>
        </p:spPr>
        <p:txBody>
          <a:bodyPr wrap="square" lIns="0" tIns="0" rIns="0" bIns="0" rtlCol="0" anchor="ctr"/>
          <a:lstStyle/>
          <a:p>
            <a:pPr algn="ctr" defTabSz="1219170"/>
            <a:r>
              <a:rPr lang="en-US" sz="1867" b="1" dirty="0">
                <a:solidFill>
                  <a:srgbClr val="FFFFFF"/>
                </a:solidFill>
                <a:latin typeface="Microsoft YaHei" pitchFamily="34" charset="0"/>
                <a:ea typeface="Microsoft YaHei" pitchFamily="34" charset="-122"/>
                <a:cs typeface="Microsoft YaHei" pitchFamily="34" charset="-120"/>
              </a:rPr>
              <a:t>Billing model</a:t>
            </a:r>
            <a:endParaRPr lang="en-US" sz="1867" dirty="0">
              <a:solidFill>
                <a:prstClr val="black"/>
              </a:solidFill>
              <a:latin typeface="Calibri" panose="020F0502020204030204"/>
            </a:endParaRPr>
          </a:p>
        </p:txBody>
      </p:sp>
      <p:sp>
        <p:nvSpPr>
          <p:cNvPr id="27" name="Shape 25"/>
          <p:cNvSpPr/>
          <p:nvPr/>
        </p:nvSpPr>
        <p:spPr>
          <a:xfrm>
            <a:off x="2621280" y="3535680"/>
            <a:ext cx="73152" cy="11582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8" name="Text 26"/>
          <p:cNvSpPr/>
          <p:nvPr/>
        </p:nvSpPr>
        <p:spPr>
          <a:xfrm>
            <a:off x="2804160" y="3596640"/>
            <a:ext cx="2682240" cy="365760"/>
          </a:xfrm>
          <a:prstGeom prst="rect">
            <a:avLst/>
          </a:prstGeom>
          <a:noFill/>
          <a:ln/>
        </p:spPr>
        <p:txBody>
          <a:bodyPr wrap="square" lIns="0" tIns="0" rIns="0" bIns="0" rtlCol="0" anchor="ctr"/>
          <a:lstStyle/>
          <a:p>
            <a:pPr defTabSz="1219170"/>
            <a:r>
              <a:rPr lang="en-US" sz="1467" b="1" dirty="0">
                <a:solidFill>
                  <a:srgbClr val="0078D4"/>
                </a:solidFill>
                <a:latin typeface="Microsoft YaHei" pitchFamily="34" charset="0"/>
                <a:ea typeface="Microsoft YaHei" pitchFamily="34" charset="-122"/>
                <a:cs typeface="Microsoft YaHei" pitchFamily="34" charset="-120"/>
              </a:rPr>
              <a:t>Azure</a:t>
            </a:r>
            <a:endParaRPr lang="en-US" sz="1467" dirty="0">
              <a:solidFill>
                <a:prstClr val="black"/>
              </a:solidFill>
              <a:latin typeface="Calibri" panose="020F0502020204030204"/>
            </a:endParaRPr>
          </a:p>
        </p:txBody>
      </p:sp>
      <p:sp>
        <p:nvSpPr>
          <p:cNvPr id="29" name="Text 27"/>
          <p:cNvSpPr/>
          <p:nvPr/>
        </p:nvSpPr>
        <p:spPr>
          <a:xfrm>
            <a:off x="2804160" y="3962400"/>
            <a:ext cx="2865120" cy="792480"/>
          </a:xfrm>
          <a:prstGeom prst="rect">
            <a:avLst/>
          </a:prstGeom>
          <a:noFill/>
          <a:ln/>
        </p:spPr>
        <p:txBody>
          <a:bodyPr wrap="square" lIns="0" tIns="0" rIns="0" bIns="0" rtlCol="0" anchor="t"/>
          <a:lstStyle/>
          <a:p>
            <a:pPr defTabSz="1219170"/>
            <a:r>
              <a:rPr lang="en-US" sz="1333" dirty="0">
                <a:solidFill>
                  <a:srgbClr val="1F2937"/>
                </a:solidFill>
                <a:latin typeface="Microsoft YaHei" pitchFamily="34" charset="0"/>
                <a:ea typeface="Microsoft YaHei" pitchFamily="34" charset="-122"/>
                <a:cs typeface="Microsoft YaHei" pitchFamily="34" charset="-120"/>
              </a:rPr>
              <a:t>Billed on active-session CPU + Memory consumption</a:t>
            </a:r>
            <a:endParaRPr lang="en-US" sz="1333" dirty="0">
              <a:solidFill>
                <a:prstClr val="black"/>
              </a:solidFill>
              <a:latin typeface="Calibri" panose="020F0502020204030204"/>
            </a:endParaRPr>
          </a:p>
        </p:txBody>
      </p:sp>
      <p:sp>
        <p:nvSpPr>
          <p:cNvPr id="30" name="Shape 28"/>
          <p:cNvSpPr/>
          <p:nvPr/>
        </p:nvSpPr>
        <p:spPr>
          <a:xfrm>
            <a:off x="5730240" y="3535680"/>
            <a:ext cx="73152" cy="11582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1" name="Text 29"/>
          <p:cNvSpPr/>
          <p:nvPr/>
        </p:nvSpPr>
        <p:spPr>
          <a:xfrm>
            <a:off x="5913120" y="3596640"/>
            <a:ext cx="2682240" cy="365760"/>
          </a:xfrm>
          <a:prstGeom prst="rect">
            <a:avLst/>
          </a:prstGeom>
          <a:noFill/>
          <a:ln/>
        </p:spPr>
        <p:txBody>
          <a:bodyPr wrap="square" lIns="0" tIns="0" rIns="0" bIns="0" rtlCol="0" anchor="ctr"/>
          <a:lstStyle/>
          <a:p>
            <a:pPr defTabSz="1219170"/>
            <a:r>
              <a:rPr lang="en-US" sz="1467" b="1" dirty="0">
                <a:solidFill>
                  <a:srgbClr val="FFB900"/>
                </a:solidFill>
                <a:latin typeface="Microsoft YaHei" pitchFamily="34" charset="0"/>
                <a:ea typeface="Microsoft YaHei" pitchFamily="34" charset="-122"/>
                <a:cs typeface="Microsoft YaHei" pitchFamily="34" charset="-120"/>
              </a:rPr>
              <a:t>Anthropic</a:t>
            </a:r>
            <a:endParaRPr lang="en-US" sz="1467" dirty="0">
              <a:solidFill>
                <a:prstClr val="black"/>
              </a:solidFill>
              <a:latin typeface="Calibri" panose="020F0502020204030204"/>
            </a:endParaRPr>
          </a:p>
        </p:txBody>
      </p:sp>
      <p:sp>
        <p:nvSpPr>
          <p:cNvPr id="32" name="Text 30"/>
          <p:cNvSpPr/>
          <p:nvPr/>
        </p:nvSpPr>
        <p:spPr>
          <a:xfrm>
            <a:off x="5913120" y="3962400"/>
            <a:ext cx="2865120" cy="792480"/>
          </a:xfrm>
          <a:prstGeom prst="rect">
            <a:avLst/>
          </a:prstGeom>
          <a:noFill/>
          <a:ln/>
        </p:spPr>
        <p:txBody>
          <a:bodyPr wrap="square" lIns="0" tIns="0" rIns="0" bIns="0" rtlCol="0" anchor="t"/>
          <a:lstStyle/>
          <a:p>
            <a:pPr defTabSz="1219170"/>
            <a:r>
              <a:rPr lang="en-US" sz="1333" dirty="0">
                <a:solidFill>
                  <a:srgbClr val="1F2937"/>
                </a:solidFill>
                <a:latin typeface="Microsoft YaHei" pitchFamily="34" charset="0"/>
                <a:ea typeface="Microsoft YaHei" pitchFamily="34" charset="-122"/>
                <a:cs typeface="Microsoft YaHei" pitchFamily="34" charset="-120"/>
              </a:rPr>
              <a:t>By Token + Sandbox resources</a:t>
            </a:r>
            <a:endParaRPr lang="en-US" sz="1333" dirty="0">
              <a:solidFill>
                <a:prstClr val="black"/>
              </a:solidFill>
              <a:latin typeface="Calibri" panose="020F0502020204030204"/>
            </a:endParaRPr>
          </a:p>
        </p:txBody>
      </p:sp>
      <p:sp>
        <p:nvSpPr>
          <p:cNvPr id="33" name="Shape 31"/>
          <p:cNvSpPr/>
          <p:nvPr/>
        </p:nvSpPr>
        <p:spPr>
          <a:xfrm>
            <a:off x="8839200" y="3535680"/>
            <a:ext cx="73152" cy="115824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34" name="Text 32"/>
          <p:cNvSpPr/>
          <p:nvPr/>
        </p:nvSpPr>
        <p:spPr>
          <a:xfrm>
            <a:off x="9022080" y="3596640"/>
            <a:ext cx="2682240" cy="365760"/>
          </a:xfrm>
          <a:prstGeom prst="rect">
            <a:avLst/>
          </a:prstGeom>
          <a:noFill/>
          <a:ln/>
        </p:spPr>
        <p:txBody>
          <a:bodyPr wrap="square" lIns="0" tIns="0" rIns="0" bIns="0" rtlCol="0" anchor="ctr"/>
          <a:lstStyle/>
          <a:p>
            <a:pPr defTabSz="1219170"/>
            <a:r>
              <a:rPr lang="en-US" sz="1467" b="1" dirty="0">
                <a:solidFill>
                  <a:srgbClr val="107C10"/>
                </a:solidFill>
                <a:latin typeface="Microsoft YaHei" pitchFamily="34" charset="0"/>
                <a:ea typeface="Microsoft YaHei" pitchFamily="34" charset="-122"/>
                <a:cs typeface="Microsoft YaHei" pitchFamily="34" charset="-120"/>
              </a:rPr>
              <a:t>AWS</a:t>
            </a:r>
            <a:endParaRPr lang="en-US" sz="1467" dirty="0">
              <a:solidFill>
                <a:prstClr val="black"/>
              </a:solidFill>
              <a:latin typeface="Calibri" panose="020F0502020204030204"/>
            </a:endParaRPr>
          </a:p>
        </p:txBody>
      </p:sp>
      <p:sp>
        <p:nvSpPr>
          <p:cNvPr id="35" name="Text 33"/>
          <p:cNvSpPr/>
          <p:nvPr/>
        </p:nvSpPr>
        <p:spPr>
          <a:xfrm>
            <a:off x="9022080" y="3962400"/>
            <a:ext cx="2865120" cy="792480"/>
          </a:xfrm>
          <a:prstGeom prst="rect">
            <a:avLst/>
          </a:prstGeom>
          <a:noFill/>
          <a:ln/>
        </p:spPr>
        <p:txBody>
          <a:bodyPr wrap="square" lIns="0" tIns="0" rIns="0" bIns="0" rtlCol="0" anchor="t"/>
          <a:lstStyle/>
          <a:p>
            <a:pPr defTabSz="1219170"/>
            <a:r>
              <a:rPr lang="en-US" sz="1333" dirty="0">
                <a:solidFill>
                  <a:srgbClr val="1F2937"/>
                </a:solidFill>
                <a:latin typeface="Microsoft YaHei" pitchFamily="34" charset="0"/>
                <a:ea typeface="Microsoft YaHei" pitchFamily="34" charset="-122"/>
                <a:cs typeface="Microsoft YaHei" pitchFamily="34" charset="-120"/>
              </a:rPr>
              <a:t>By Bedrock inference + AgentCore resources</a:t>
            </a:r>
            <a:endParaRPr lang="en-US" sz="1333" dirty="0">
              <a:solidFill>
                <a:prstClr val="black"/>
              </a:solidFill>
              <a:latin typeface="Calibri" panose="020F0502020204030204"/>
            </a:endParaRPr>
          </a:p>
        </p:txBody>
      </p:sp>
      <p:sp>
        <p:nvSpPr>
          <p:cNvPr id="36" name="Shape 34"/>
          <p:cNvSpPr/>
          <p:nvPr/>
        </p:nvSpPr>
        <p:spPr>
          <a:xfrm>
            <a:off x="487680" y="4937760"/>
            <a:ext cx="1121664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7" name="Shape 35"/>
          <p:cNvSpPr/>
          <p:nvPr/>
        </p:nvSpPr>
        <p:spPr>
          <a:xfrm>
            <a:off x="487680" y="4937760"/>
            <a:ext cx="97536" cy="1402080"/>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8" name="Shape 36"/>
          <p:cNvSpPr/>
          <p:nvPr/>
        </p:nvSpPr>
        <p:spPr>
          <a:xfrm>
            <a:off x="487680" y="4937760"/>
            <a:ext cx="1950720" cy="1402080"/>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9" name="Text 37"/>
          <p:cNvSpPr/>
          <p:nvPr/>
        </p:nvSpPr>
        <p:spPr>
          <a:xfrm>
            <a:off x="487680" y="4937760"/>
            <a:ext cx="1950720" cy="1402080"/>
          </a:xfrm>
          <a:prstGeom prst="rect">
            <a:avLst/>
          </a:prstGeom>
          <a:noFill/>
          <a:ln/>
        </p:spPr>
        <p:txBody>
          <a:bodyPr wrap="square" lIns="0" tIns="0" rIns="0" bIns="0" rtlCol="0" anchor="ctr"/>
          <a:lstStyle/>
          <a:p>
            <a:pPr algn="ctr" defTabSz="1219170"/>
            <a:r>
              <a:rPr lang="en-US" sz="1867" b="1" dirty="0">
                <a:solidFill>
                  <a:srgbClr val="FFFFFF"/>
                </a:solidFill>
                <a:latin typeface="Microsoft YaHei" pitchFamily="34" charset="0"/>
                <a:ea typeface="Microsoft YaHei" pitchFamily="34" charset="-122"/>
                <a:cs typeface="Microsoft YaHei" pitchFamily="34" charset="-120"/>
              </a:rPr>
              <a:t>Scalability</a:t>
            </a:r>
            <a:endParaRPr lang="en-US" sz="1867" dirty="0">
              <a:solidFill>
                <a:prstClr val="black"/>
              </a:solidFill>
              <a:latin typeface="Calibri" panose="020F0502020204030204"/>
            </a:endParaRPr>
          </a:p>
        </p:txBody>
      </p:sp>
      <p:sp>
        <p:nvSpPr>
          <p:cNvPr id="40" name="Shape 38"/>
          <p:cNvSpPr/>
          <p:nvPr/>
        </p:nvSpPr>
        <p:spPr>
          <a:xfrm>
            <a:off x="2621280" y="5059680"/>
            <a:ext cx="73152" cy="11582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41" name="Text 39"/>
          <p:cNvSpPr/>
          <p:nvPr/>
        </p:nvSpPr>
        <p:spPr>
          <a:xfrm>
            <a:off x="2804160" y="5120640"/>
            <a:ext cx="2682240" cy="365760"/>
          </a:xfrm>
          <a:prstGeom prst="rect">
            <a:avLst/>
          </a:prstGeom>
          <a:noFill/>
          <a:ln/>
        </p:spPr>
        <p:txBody>
          <a:bodyPr wrap="square" lIns="0" tIns="0" rIns="0" bIns="0" rtlCol="0" anchor="ctr"/>
          <a:lstStyle/>
          <a:p>
            <a:pPr defTabSz="1219170"/>
            <a:r>
              <a:rPr lang="en-US" sz="1467" b="1" dirty="0">
                <a:solidFill>
                  <a:srgbClr val="0078D4"/>
                </a:solidFill>
                <a:latin typeface="Microsoft YaHei" pitchFamily="34" charset="0"/>
                <a:ea typeface="Microsoft YaHei" pitchFamily="34" charset="-122"/>
                <a:cs typeface="Microsoft YaHei" pitchFamily="34" charset="-120"/>
              </a:rPr>
              <a:t>Azure</a:t>
            </a:r>
            <a:endParaRPr lang="en-US" sz="1467" dirty="0">
              <a:solidFill>
                <a:prstClr val="black"/>
              </a:solidFill>
              <a:latin typeface="Calibri" panose="020F0502020204030204"/>
            </a:endParaRPr>
          </a:p>
        </p:txBody>
      </p:sp>
      <p:sp>
        <p:nvSpPr>
          <p:cNvPr id="42" name="Text 40"/>
          <p:cNvSpPr/>
          <p:nvPr/>
        </p:nvSpPr>
        <p:spPr>
          <a:xfrm>
            <a:off x="2804160" y="5486400"/>
            <a:ext cx="2865120" cy="792480"/>
          </a:xfrm>
          <a:prstGeom prst="rect">
            <a:avLst/>
          </a:prstGeom>
          <a:noFill/>
          <a:ln/>
        </p:spPr>
        <p:txBody>
          <a:bodyPr wrap="square" lIns="0" tIns="0" rIns="0" bIns="0" rtlCol="0" anchor="t"/>
          <a:lstStyle/>
          <a:p>
            <a:pPr defTabSz="1219170"/>
            <a:r>
              <a:rPr lang="en-US" sz="1333" dirty="0">
                <a:solidFill>
                  <a:srgbClr val="1F2937"/>
                </a:solidFill>
                <a:latin typeface="Microsoft YaHei" pitchFamily="34" charset="0"/>
                <a:ea typeface="Microsoft YaHei" pitchFamily="34" charset="-122"/>
                <a:cs typeface="Microsoft YaHei" pitchFamily="34" charset="-120"/>
              </a:rPr>
              <a:t>Default 50 concurrent sessions/subscription — quota expandable</a:t>
            </a:r>
            <a:endParaRPr lang="en-US" sz="1333" dirty="0">
              <a:solidFill>
                <a:prstClr val="black"/>
              </a:solidFill>
              <a:latin typeface="Calibri" panose="020F0502020204030204"/>
            </a:endParaRPr>
          </a:p>
        </p:txBody>
      </p:sp>
      <p:sp>
        <p:nvSpPr>
          <p:cNvPr id="43" name="Shape 41"/>
          <p:cNvSpPr/>
          <p:nvPr/>
        </p:nvSpPr>
        <p:spPr>
          <a:xfrm>
            <a:off x="5730240" y="5059680"/>
            <a:ext cx="73152" cy="11582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4" name="Text 42"/>
          <p:cNvSpPr/>
          <p:nvPr/>
        </p:nvSpPr>
        <p:spPr>
          <a:xfrm>
            <a:off x="5913120" y="5120640"/>
            <a:ext cx="2682240" cy="365760"/>
          </a:xfrm>
          <a:prstGeom prst="rect">
            <a:avLst/>
          </a:prstGeom>
          <a:noFill/>
          <a:ln/>
        </p:spPr>
        <p:txBody>
          <a:bodyPr wrap="square" lIns="0" tIns="0" rIns="0" bIns="0" rtlCol="0" anchor="ctr"/>
          <a:lstStyle/>
          <a:p>
            <a:pPr defTabSz="1219170"/>
            <a:r>
              <a:rPr lang="en-US" sz="1467" b="1" dirty="0">
                <a:solidFill>
                  <a:srgbClr val="FFB900"/>
                </a:solidFill>
                <a:latin typeface="Microsoft YaHei" pitchFamily="34" charset="0"/>
                <a:ea typeface="Microsoft YaHei" pitchFamily="34" charset="-122"/>
                <a:cs typeface="Microsoft YaHei" pitchFamily="34" charset="-120"/>
              </a:rPr>
              <a:t>Anthropic</a:t>
            </a:r>
            <a:endParaRPr lang="en-US" sz="1467" dirty="0">
              <a:solidFill>
                <a:prstClr val="black"/>
              </a:solidFill>
              <a:latin typeface="Calibri" panose="020F0502020204030204"/>
            </a:endParaRPr>
          </a:p>
        </p:txBody>
      </p:sp>
      <p:sp>
        <p:nvSpPr>
          <p:cNvPr id="45" name="Text 43"/>
          <p:cNvSpPr/>
          <p:nvPr/>
        </p:nvSpPr>
        <p:spPr>
          <a:xfrm>
            <a:off x="5913120" y="5486400"/>
            <a:ext cx="2865120" cy="792480"/>
          </a:xfrm>
          <a:prstGeom prst="rect">
            <a:avLst/>
          </a:prstGeom>
          <a:noFill/>
          <a:ln/>
        </p:spPr>
        <p:txBody>
          <a:bodyPr wrap="square" lIns="0" tIns="0" rIns="0" bIns="0" rtlCol="0" anchor="t"/>
          <a:lstStyle/>
          <a:p>
            <a:pPr defTabSz="1219170"/>
            <a:r>
              <a:rPr lang="en-US" sz="1333" dirty="0">
                <a:solidFill>
                  <a:srgbClr val="1F2937"/>
                </a:solidFill>
                <a:latin typeface="Microsoft YaHei" pitchFamily="34" charset="0"/>
                <a:ea typeface="Microsoft YaHei" pitchFamily="34" charset="-122"/>
                <a:cs typeface="Microsoft YaHei" pitchFamily="34" charset="-120"/>
              </a:rPr>
              <a:t>Brain is stateless — horizontal scaling is easy</a:t>
            </a:r>
            <a:endParaRPr lang="en-US" sz="1333" dirty="0">
              <a:solidFill>
                <a:prstClr val="black"/>
              </a:solidFill>
              <a:latin typeface="Calibri" panose="020F0502020204030204"/>
            </a:endParaRPr>
          </a:p>
        </p:txBody>
      </p:sp>
      <p:sp>
        <p:nvSpPr>
          <p:cNvPr id="46" name="Shape 44"/>
          <p:cNvSpPr/>
          <p:nvPr/>
        </p:nvSpPr>
        <p:spPr>
          <a:xfrm>
            <a:off x="8839200" y="5059680"/>
            <a:ext cx="73152" cy="115824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47" name="Text 45"/>
          <p:cNvSpPr/>
          <p:nvPr/>
        </p:nvSpPr>
        <p:spPr>
          <a:xfrm>
            <a:off x="9022080" y="5120640"/>
            <a:ext cx="2682240" cy="365760"/>
          </a:xfrm>
          <a:prstGeom prst="rect">
            <a:avLst/>
          </a:prstGeom>
          <a:noFill/>
          <a:ln/>
        </p:spPr>
        <p:txBody>
          <a:bodyPr wrap="square" lIns="0" tIns="0" rIns="0" bIns="0" rtlCol="0" anchor="ctr"/>
          <a:lstStyle/>
          <a:p>
            <a:pPr defTabSz="1219170"/>
            <a:r>
              <a:rPr lang="en-US" sz="1467" b="1" dirty="0">
                <a:solidFill>
                  <a:srgbClr val="107C10"/>
                </a:solidFill>
                <a:latin typeface="Microsoft YaHei" pitchFamily="34" charset="0"/>
                <a:ea typeface="Microsoft YaHei" pitchFamily="34" charset="-122"/>
                <a:cs typeface="Microsoft YaHei" pitchFamily="34" charset="-120"/>
              </a:rPr>
              <a:t>AWS</a:t>
            </a:r>
            <a:endParaRPr lang="en-US" sz="1467" dirty="0">
              <a:solidFill>
                <a:prstClr val="black"/>
              </a:solidFill>
              <a:latin typeface="Calibri" panose="020F0502020204030204"/>
            </a:endParaRPr>
          </a:p>
        </p:txBody>
      </p:sp>
      <p:sp>
        <p:nvSpPr>
          <p:cNvPr id="48" name="Text 46"/>
          <p:cNvSpPr/>
          <p:nvPr/>
        </p:nvSpPr>
        <p:spPr>
          <a:xfrm>
            <a:off x="9022080" y="5486400"/>
            <a:ext cx="2865120" cy="792480"/>
          </a:xfrm>
          <a:prstGeom prst="rect">
            <a:avLst/>
          </a:prstGeom>
          <a:noFill/>
          <a:ln/>
        </p:spPr>
        <p:txBody>
          <a:bodyPr wrap="square" lIns="0" tIns="0" rIns="0" bIns="0" rtlCol="0" anchor="t"/>
          <a:lstStyle/>
          <a:p>
            <a:pPr defTabSz="1219170"/>
            <a:r>
              <a:rPr lang="en-US" sz="1333" dirty="0">
                <a:solidFill>
                  <a:srgbClr val="1F2937"/>
                </a:solidFill>
                <a:latin typeface="Microsoft YaHei" pitchFamily="34" charset="0"/>
                <a:ea typeface="Microsoft YaHei" pitchFamily="34" charset="-122"/>
                <a:cs typeface="Microsoft YaHei" pitchFamily="34" charset="-120"/>
              </a:rPr>
              <a:t>Aligned with AWS compute and data scale</a:t>
            </a:r>
            <a:endParaRPr lang="en-US" sz="1333" dirty="0">
              <a:solidFill>
                <a:prstClr val="black"/>
              </a:solidFill>
              <a:latin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03 · Decision</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Platform-selection decision framework</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Three-step decision based on scenario, ecosystem, and compliance constraints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31 / 40</a:t>
            </a:r>
            <a:endParaRPr lang="en-US" sz="1200" dirty="0">
              <a:solidFill>
                <a:prstClr val="black"/>
              </a:solidFill>
              <a:latin typeface="Calibri" panose="020F0502020204030204"/>
            </a:endParaRPr>
          </a:p>
        </p:txBody>
      </p:sp>
      <p:sp>
        <p:nvSpPr>
          <p:cNvPr id="10" name="Shape 8"/>
          <p:cNvSpPr/>
          <p:nvPr/>
        </p:nvSpPr>
        <p:spPr>
          <a:xfrm>
            <a:off x="4876800" y="1889760"/>
            <a:ext cx="2438400" cy="975360"/>
          </a:xfrm>
          <a:prstGeom prst="ellipse">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11" name="Text 9"/>
          <p:cNvSpPr/>
          <p:nvPr/>
        </p:nvSpPr>
        <p:spPr>
          <a:xfrm>
            <a:off x="4876800" y="1889760"/>
            <a:ext cx="2438400" cy="975360"/>
          </a:xfrm>
          <a:prstGeom prst="rect">
            <a:avLst/>
          </a:prstGeom>
          <a:noFill/>
          <a:ln/>
        </p:spPr>
        <p:txBody>
          <a:bodyPr wrap="square" lIns="0" tIns="0" rIns="0" bIns="0" rtlCol="0" anchor="ctr"/>
          <a:lstStyle/>
          <a:p>
            <a:pPr algn="ctr" defTabSz="1219170"/>
            <a:r>
              <a:rPr lang="en-US" sz="1467" b="1" dirty="0">
                <a:solidFill>
                  <a:srgbClr val="FFFFFF"/>
                </a:solidFill>
                <a:latin typeface="Microsoft YaHei" pitchFamily="34" charset="0"/>
                <a:ea typeface="Microsoft YaHei" pitchFamily="34" charset="-122"/>
                <a:cs typeface="Microsoft YaHei" pitchFamily="34" charset="-120"/>
              </a:rPr>
              <a:t>Starting point: what's your Agent workload?</a:t>
            </a:r>
            <a:endParaRPr lang="en-US" sz="1467" dirty="0">
              <a:solidFill>
                <a:prstClr val="black"/>
              </a:solidFill>
              <a:latin typeface="Calibri" panose="020F0502020204030204"/>
            </a:endParaRPr>
          </a:p>
        </p:txBody>
      </p:sp>
      <p:sp>
        <p:nvSpPr>
          <p:cNvPr id="12" name="Shape 10"/>
          <p:cNvSpPr/>
          <p:nvPr/>
        </p:nvSpPr>
        <p:spPr>
          <a:xfrm>
            <a:off x="6096000" y="2865120"/>
            <a:ext cx="0" cy="670560"/>
          </a:xfrm>
          <a:prstGeom prst="line">
            <a:avLst/>
          </a:prstGeom>
          <a:noFill/>
          <a:ln w="25400">
            <a:solidFill>
              <a:srgbClr val="0078D4"/>
            </a:solidFill>
            <a:prstDash val="solid"/>
          </a:ln>
        </p:spPr>
        <p:txBody>
          <a:bodyPr/>
          <a:lstStyle/>
          <a:p>
            <a:pPr defTabSz="1219170"/>
            <a:endParaRPr lang="en-CN" sz="2400">
              <a:solidFill>
                <a:prstClr val="black"/>
              </a:solidFill>
              <a:latin typeface="Calibri" panose="020F0502020204030204"/>
            </a:endParaRPr>
          </a:p>
        </p:txBody>
      </p:sp>
      <p:sp>
        <p:nvSpPr>
          <p:cNvPr id="13" name="Shape 11"/>
          <p:cNvSpPr/>
          <p:nvPr/>
        </p:nvSpPr>
        <p:spPr>
          <a:xfrm>
            <a:off x="487680" y="3596640"/>
            <a:ext cx="3535680" cy="10363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4" name="Shape 12"/>
          <p:cNvSpPr/>
          <p:nvPr/>
        </p:nvSpPr>
        <p:spPr>
          <a:xfrm>
            <a:off x="487680" y="3596640"/>
            <a:ext cx="97536" cy="103632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5" name="Text 13"/>
          <p:cNvSpPr/>
          <p:nvPr/>
        </p:nvSpPr>
        <p:spPr>
          <a:xfrm>
            <a:off x="609600" y="3596640"/>
            <a:ext cx="3291840" cy="1036320"/>
          </a:xfrm>
          <a:prstGeom prst="rect">
            <a:avLst/>
          </a:prstGeom>
          <a:noFill/>
          <a:ln/>
        </p:spPr>
        <p:txBody>
          <a:bodyPr wrap="square" lIns="0" tIns="0" rIns="0" bIns="0" rtlCol="0" anchor="ctr"/>
          <a:lstStyle/>
          <a:p>
            <a:pPr algn="ctr" defTabSz="1219170"/>
            <a:r>
              <a:rPr lang="en-US" sz="1467" i="1" dirty="0">
                <a:solidFill>
                  <a:srgbClr val="1F2937"/>
                </a:solidFill>
                <a:latin typeface="Microsoft YaHei" pitchFamily="34" charset="0"/>
                <a:ea typeface="Microsoft YaHei" pitchFamily="34" charset="-122"/>
                <a:cs typeface="Microsoft YaHei" pitchFamily="34" charset="-120"/>
              </a:rPr>
              <a:t>Already on the Microsoft ecosystem</a:t>
            </a:r>
            <a:endParaRPr lang="en-US" sz="1467" dirty="0">
              <a:solidFill>
                <a:prstClr val="black"/>
              </a:solidFill>
              <a:latin typeface="Calibri" panose="020F0502020204030204"/>
            </a:endParaRPr>
          </a:p>
          <a:p>
            <a:pPr algn="ctr" defTabSz="1219170"/>
            <a:r>
              <a:rPr lang="en-US" sz="1467" i="1" dirty="0">
                <a:solidFill>
                  <a:srgbClr val="1F2937"/>
                </a:solidFill>
                <a:latin typeface="Microsoft YaHei" pitchFamily="34" charset="0"/>
                <a:ea typeface="Microsoft YaHei" pitchFamily="34" charset="-122"/>
                <a:cs typeface="Microsoft YaHei" pitchFamily="34" charset="-120"/>
              </a:rPr>
              <a:t>or need Teams/M365 integration</a:t>
            </a:r>
            <a:endParaRPr lang="en-US" sz="1467" dirty="0">
              <a:solidFill>
                <a:prstClr val="black"/>
              </a:solidFill>
              <a:latin typeface="Calibri" panose="020F0502020204030204"/>
            </a:endParaRPr>
          </a:p>
        </p:txBody>
      </p:sp>
      <p:sp>
        <p:nvSpPr>
          <p:cNvPr id="16" name="Shape 14"/>
          <p:cNvSpPr/>
          <p:nvPr/>
        </p:nvSpPr>
        <p:spPr>
          <a:xfrm>
            <a:off x="487680" y="4815840"/>
            <a:ext cx="3535680" cy="60960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7" name="Text 15"/>
          <p:cNvSpPr/>
          <p:nvPr/>
        </p:nvSpPr>
        <p:spPr>
          <a:xfrm>
            <a:off x="487680" y="4815840"/>
            <a:ext cx="3535680" cy="609600"/>
          </a:xfrm>
          <a:prstGeom prst="rect">
            <a:avLst/>
          </a:prstGeom>
          <a:noFill/>
          <a:ln/>
        </p:spPr>
        <p:txBody>
          <a:bodyPr wrap="square" lIns="0" tIns="0" rIns="0" bIns="0" rtlCol="0" anchor="ctr"/>
          <a:lstStyle/>
          <a:p>
            <a:pPr algn="ctr" defTabSz="1219170"/>
            <a:r>
              <a:rPr lang="en-US" sz="1867" b="1" dirty="0">
                <a:solidFill>
                  <a:srgbClr val="FFFFFF"/>
                </a:solidFill>
                <a:latin typeface="Microsoft YaHei" pitchFamily="34" charset="0"/>
                <a:ea typeface="Microsoft YaHei" pitchFamily="34" charset="-122"/>
                <a:cs typeface="Microsoft YaHei" pitchFamily="34" charset="-120"/>
              </a:rPr>
              <a:t>Azure Foundry</a:t>
            </a:r>
            <a:endParaRPr lang="en-US" sz="1867" dirty="0">
              <a:solidFill>
                <a:prstClr val="black"/>
              </a:solidFill>
              <a:latin typeface="Calibri" panose="020F0502020204030204"/>
            </a:endParaRPr>
          </a:p>
        </p:txBody>
      </p:sp>
      <p:sp>
        <p:nvSpPr>
          <p:cNvPr id="18" name="Shape 16"/>
          <p:cNvSpPr/>
          <p:nvPr/>
        </p:nvSpPr>
        <p:spPr>
          <a:xfrm>
            <a:off x="487680" y="5486400"/>
            <a:ext cx="3535680" cy="91440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9" name="Text 17"/>
          <p:cNvSpPr/>
          <p:nvPr/>
        </p:nvSpPr>
        <p:spPr>
          <a:xfrm>
            <a:off x="670560" y="5547360"/>
            <a:ext cx="3169920" cy="792480"/>
          </a:xfrm>
          <a:prstGeom prst="rect">
            <a:avLst/>
          </a:prstGeom>
          <a:noFill/>
          <a:ln/>
        </p:spPr>
        <p:txBody>
          <a:bodyPr wrap="square" rtlCol="0" anchor="t"/>
          <a:lstStyle/>
          <a:p>
            <a:pPr marL="457189" indent="-457189" defTabSz="1219170">
              <a:spcAft>
                <a:spcPts val="267"/>
              </a:spcAft>
              <a:buSzPct val="100000"/>
              <a:buFontTx/>
              <a:buChar char="▸"/>
            </a:pPr>
            <a:r>
              <a:rPr lang="en-US" sz="1267" dirty="0">
                <a:solidFill>
                  <a:srgbClr val="0078D4"/>
                </a:solidFill>
                <a:latin typeface="Microsoft YaHei" pitchFamily="34" charset="0"/>
                <a:ea typeface="Microsoft YaHei" pitchFamily="34" charset="-122"/>
                <a:cs typeface="Microsoft YaHei" pitchFamily="34" charset="-120"/>
              </a:rPr>
              <a:t>In-enterprise AI assistant</a:t>
            </a:r>
            <a:endParaRPr lang="en-US" sz="1267" dirty="0">
              <a:solidFill>
                <a:prstClr val="black"/>
              </a:solidFill>
              <a:latin typeface="Calibri" panose="020F0502020204030204"/>
            </a:endParaRPr>
          </a:p>
          <a:p>
            <a:pPr marL="457189" indent="-457189" defTabSz="1219170">
              <a:spcAft>
                <a:spcPts val="267"/>
              </a:spcAft>
              <a:buSzPct val="100000"/>
              <a:buFontTx/>
              <a:buChar char="▸"/>
            </a:pPr>
            <a:r>
              <a:rPr lang="en-US" sz="1267" dirty="0">
                <a:solidFill>
                  <a:srgbClr val="0078D4"/>
                </a:solidFill>
                <a:latin typeface="Microsoft YaHei" pitchFamily="34" charset="0"/>
                <a:ea typeface="Microsoft YaHei" pitchFamily="34" charset="-122"/>
                <a:cs typeface="Microsoft YaHei" pitchFamily="34" charset="-120"/>
              </a:rPr>
              <a:t>Microsoft 365 Copilot extension</a:t>
            </a:r>
            <a:endParaRPr lang="en-US" sz="1267" dirty="0">
              <a:solidFill>
                <a:prstClr val="black"/>
              </a:solidFill>
              <a:latin typeface="Calibri" panose="020F0502020204030204"/>
            </a:endParaRPr>
          </a:p>
          <a:p>
            <a:pPr marL="457189" indent="-457189" defTabSz="1219170">
              <a:spcAft>
                <a:spcPts val="267"/>
              </a:spcAft>
              <a:buSzPct val="100000"/>
              <a:buFontTx/>
              <a:buChar char="▸"/>
            </a:pPr>
            <a:r>
              <a:rPr lang="en-US" sz="1267" dirty="0">
                <a:solidFill>
                  <a:srgbClr val="0078D4"/>
                </a:solidFill>
                <a:latin typeface="Microsoft YaHei" pitchFamily="34" charset="0"/>
                <a:ea typeface="Microsoft YaHei" pitchFamily="34" charset="-122"/>
                <a:cs typeface="Microsoft YaHei" pitchFamily="34" charset="-120"/>
              </a:rPr>
              <a:t>Needs Entra ID identity governance</a:t>
            </a:r>
            <a:endParaRPr lang="en-US" sz="1267" dirty="0">
              <a:solidFill>
                <a:prstClr val="black"/>
              </a:solidFill>
              <a:latin typeface="Calibri" panose="020F0502020204030204"/>
            </a:endParaRPr>
          </a:p>
        </p:txBody>
      </p:sp>
      <p:sp>
        <p:nvSpPr>
          <p:cNvPr id="20" name="Shape 18"/>
          <p:cNvSpPr/>
          <p:nvPr/>
        </p:nvSpPr>
        <p:spPr>
          <a:xfrm>
            <a:off x="6096000" y="2865120"/>
            <a:ext cx="182880" cy="670560"/>
          </a:xfrm>
          <a:prstGeom prst="line">
            <a:avLst/>
          </a:prstGeom>
          <a:noFill/>
          <a:ln w="25400">
            <a:solidFill>
              <a:srgbClr val="FFB900"/>
            </a:solidFill>
            <a:prstDash val="solid"/>
          </a:ln>
        </p:spPr>
        <p:txBody>
          <a:bodyPr/>
          <a:lstStyle/>
          <a:p>
            <a:pPr defTabSz="1219170"/>
            <a:endParaRPr lang="en-CN" sz="2400">
              <a:solidFill>
                <a:prstClr val="black"/>
              </a:solidFill>
              <a:latin typeface="Calibri" panose="020F0502020204030204"/>
            </a:endParaRPr>
          </a:p>
        </p:txBody>
      </p:sp>
      <p:sp>
        <p:nvSpPr>
          <p:cNvPr id="21" name="Shape 19"/>
          <p:cNvSpPr/>
          <p:nvPr/>
        </p:nvSpPr>
        <p:spPr>
          <a:xfrm>
            <a:off x="4511040" y="3596640"/>
            <a:ext cx="3535680" cy="10363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2" name="Shape 20"/>
          <p:cNvSpPr/>
          <p:nvPr/>
        </p:nvSpPr>
        <p:spPr>
          <a:xfrm>
            <a:off x="4511040" y="3596640"/>
            <a:ext cx="97536" cy="103632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3" name="Text 21"/>
          <p:cNvSpPr/>
          <p:nvPr/>
        </p:nvSpPr>
        <p:spPr>
          <a:xfrm>
            <a:off x="4632960" y="3596640"/>
            <a:ext cx="3291840" cy="1036320"/>
          </a:xfrm>
          <a:prstGeom prst="rect">
            <a:avLst/>
          </a:prstGeom>
          <a:noFill/>
          <a:ln/>
        </p:spPr>
        <p:txBody>
          <a:bodyPr wrap="square" lIns="0" tIns="0" rIns="0" bIns="0" rtlCol="0" anchor="ctr"/>
          <a:lstStyle/>
          <a:p>
            <a:pPr algn="ctr" defTabSz="1219170"/>
            <a:r>
              <a:rPr lang="en-US" sz="1467" i="1" dirty="0">
                <a:solidFill>
                  <a:srgbClr val="1F2937"/>
                </a:solidFill>
                <a:latin typeface="Microsoft YaHei" pitchFamily="34" charset="0"/>
                <a:ea typeface="Microsoft YaHei" pitchFamily="34" charset="-122"/>
                <a:cs typeface="Microsoft YaHei" pitchFamily="34" charset="-120"/>
              </a:rPr>
              <a:t>Claude-first</a:t>
            </a:r>
            <a:endParaRPr lang="en-US" sz="1467" dirty="0">
              <a:solidFill>
                <a:prstClr val="black"/>
              </a:solidFill>
              <a:latin typeface="Calibri" panose="020F0502020204030204"/>
            </a:endParaRPr>
          </a:p>
          <a:p>
            <a:pPr algn="ctr" defTabSz="1219170"/>
            <a:r>
              <a:rPr lang="en-US" sz="1467" i="1" dirty="0">
                <a:solidFill>
                  <a:srgbClr val="1F2937"/>
                </a:solidFill>
                <a:latin typeface="Microsoft YaHei" pitchFamily="34" charset="0"/>
                <a:ea typeface="Microsoft YaHei" pitchFamily="34" charset="-122"/>
                <a:cs typeface="Microsoft YaHei" pitchFamily="34" charset="-120"/>
              </a:rPr>
              <a:t>Long-running tasks dominant</a:t>
            </a:r>
            <a:endParaRPr lang="en-US" sz="1467" dirty="0">
              <a:solidFill>
                <a:prstClr val="black"/>
              </a:solidFill>
              <a:latin typeface="Calibri" panose="020F0502020204030204"/>
            </a:endParaRPr>
          </a:p>
        </p:txBody>
      </p:sp>
      <p:sp>
        <p:nvSpPr>
          <p:cNvPr id="24" name="Shape 22"/>
          <p:cNvSpPr/>
          <p:nvPr/>
        </p:nvSpPr>
        <p:spPr>
          <a:xfrm>
            <a:off x="4511040" y="4815840"/>
            <a:ext cx="3535680" cy="60960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5" name="Text 23"/>
          <p:cNvSpPr/>
          <p:nvPr/>
        </p:nvSpPr>
        <p:spPr>
          <a:xfrm>
            <a:off x="4511040" y="4815840"/>
            <a:ext cx="3535680" cy="609600"/>
          </a:xfrm>
          <a:prstGeom prst="rect">
            <a:avLst/>
          </a:prstGeom>
          <a:noFill/>
          <a:ln/>
        </p:spPr>
        <p:txBody>
          <a:bodyPr wrap="square" lIns="0" tIns="0" rIns="0" bIns="0" rtlCol="0" anchor="ctr"/>
          <a:lstStyle/>
          <a:p>
            <a:pPr algn="ctr" defTabSz="1219170"/>
            <a:r>
              <a:rPr lang="en-US" sz="1867" b="1" dirty="0">
                <a:solidFill>
                  <a:srgbClr val="0F2A47"/>
                </a:solidFill>
                <a:latin typeface="Microsoft YaHei" pitchFamily="34" charset="0"/>
                <a:ea typeface="Microsoft YaHei" pitchFamily="34" charset="-122"/>
                <a:cs typeface="Microsoft YaHei" pitchFamily="34" charset="-120"/>
              </a:rPr>
              <a:t>Anthropic Managed</a:t>
            </a:r>
            <a:endParaRPr lang="en-US" sz="1867" dirty="0">
              <a:solidFill>
                <a:prstClr val="black"/>
              </a:solidFill>
              <a:latin typeface="Calibri" panose="020F0502020204030204"/>
            </a:endParaRPr>
          </a:p>
        </p:txBody>
      </p:sp>
      <p:sp>
        <p:nvSpPr>
          <p:cNvPr id="26" name="Shape 24"/>
          <p:cNvSpPr/>
          <p:nvPr/>
        </p:nvSpPr>
        <p:spPr>
          <a:xfrm>
            <a:off x="4511040" y="5486400"/>
            <a:ext cx="3535680" cy="91440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7" name="Text 25"/>
          <p:cNvSpPr/>
          <p:nvPr/>
        </p:nvSpPr>
        <p:spPr>
          <a:xfrm>
            <a:off x="4693920" y="5547360"/>
            <a:ext cx="3169920" cy="792480"/>
          </a:xfrm>
          <a:prstGeom prst="rect">
            <a:avLst/>
          </a:prstGeom>
          <a:noFill/>
          <a:ln/>
        </p:spPr>
        <p:txBody>
          <a:bodyPr wrap="square" rtlCol="0" anchor="t"/>
          <a:lstStyle/>
          <a:p>
            <a:pPr marL="457189" indent="-457189" defTabSz="1219170">
              <a:spcAft>
                <a:spcPts val="267"/>
              </a:spcAft>
              <a:buSzPct val="100000"/>
              <a:buFontTx/>
              <a:buChar char="▸"/>
            </a:pPr>
            <a:r>
              <a:rPr lang="en-US" sz="1267" dirty="0">
                <a:solidFill>
                  <a:srgbClr val="FFB900"/>
                </a:solidFill>
                <a:latin typeface="Microsoft YaHei" pitchFamily="34" charset="0"/>
                <a:ea typeface="Microsoft YaHei" pitchFamily="34" charset="-122"/>
                <a:cs typeface="Microsoft YaHei" pitchFamily="34" charset="-120"/>
              </a:rPr>
              <a:t>Coding Agent / Claude Code</a:t>
            </a:r>
            <a:endParaRPr lang="en-US" sz="1267" dirty="0">
              <a:solidFill>
                <a:prstClr val="black"/>
              </a:solidFill>
              <a:latin typeface="Calibri" panose="020F0502020204030204"/>
            </a:endParaRPr>
          </a:p>
          <a:p>
            <a:pPr marL="457189" indent="-457189" defTabSz="1219170">
              <a:spcAft>
                <a:spcPts val="267"/>
              </a:spcAft>
              <a:buSzPct val="100000"/>
              <a:buFontTx/>
              <a:buChar char="▸"/>
            </a:pPr>
            <a:r>
              <a:rPr lang="en-US" sz="1267" dirty="0">
                <a:solidFill>
                  <a:srgbClr val="FFB900"/>
                </a:solidFill>
                <a:latin typeface="Microsoft YaHei" pitchFamily="34" charset="0"/>
                <a:ea typeface="Microsoft YaHei" pitchFamily="34" charset="-122"/>
                <a:cs typeface="Microsoft YaHei" pitchFamily="34" charset="-120"/>
              </a:rPr>
              <a:t>Deep research / long sessions</a:t>
            </a:r>
            <a:endParaRPr lang="en-US" sz="1267" dirty="0">
              <a:solidFill>
                <a:prstClr val="black"/>
              </a:solidFill>
              <a:latin typeface="Calibri" panose="020F0502020204030204"/>
            </a:endParaRPr>
          </a:p>
          <a:p>
            <a:pPr marL="457189" indent="-457189" defTabSz="1219170">
              <a:spcAft>
                <a:spcPts val="267"/>
              </a:spcAft>
              <a:buSzPct val="100000"/>
              <a:buFontTx/>
              <a:buChar char="▸"/>
            </a:pPr>
            <a:r>
              <a:rPr lang="en-US" sz="1267" dirty="0">
                <a:solidFill>
                  <a:srgbClr val="FFB900"/>
                </a:solidFill>
                <a:latin typeface="Microsoft YaHei" pitchFamily="34" charset="0"/>
                <a:ea typeface="Microsoft YaHei" pitchFamily="34" charset="-122"/>
                <a:cs typeface="Microsoft YaHei" pitchFamily="34" charset="-120"/>
              </a:rPr>
              <a:t>Needs flexible MCP integration</a:t>
            </a:r>
            <a:endParaRPr lang="en-US" sz="1267" dirty="0">
              <a:solidFill>
                <a:prstClr val="black"/>
              </a:solidFill>
              <a:latin typeface="Calibri" panose="020F0502020204030204"/>
            </a:endParaRPr>
          </a:p>
        </p:txBody>
      </p:sp>
      <p:sp>
        <p:nvSpPr>
          <p:cNvPr id="28" name="Shape 26"/>
          <p:cNvSpPr/>
          <p:nvPr/>
        </p:nvSpPr>
        <p:spPr>
          <a:xfrm>
            <a:off x="6096000" y="2865120"/>
            <a:ext cx="4206240" cy="670560"/>
          </a:xfrm>
          <a:prstGeom prst="line">
            <a:avLst/>
          </a:prstGeom>
          <a:noFill/>
          <a:ln w="25400">
            <a:solidFill>
              <a:srgbClr val="107C10"/>
            </a:solidFill>
            <a:prstDash val="solid"/>
          </a:ln>
        </p:spPr>
        <p:txBody>
          <a:bodyPr/>
          <a:lstStyle/>
          <a:p>
            <a:pPr defTabSz="1219170"/>
            <a:endParaRPr lang="en-CN" sz="2400">
              <a:solidFill>
                <a:prstClr val="black"/>
              </a:solidFill>
              <a:latin typeface="Calibri" panose="020F0502020204030204"/>
            </a:endParaRPr>
          </a:p>
        </p:txBody>
      </p:sp>
      <p:sp>
        <p:nvSpPr>
          <p:cNvPr id="29" name="Shape 27"/>
          <p:cNvSpPr/>
          <p:nvPr/>
        </p:nvSpPr>
        <p:spPr>
          <a:xfrm>
            <a:off x="8534400" y="3596640"/>
            <a:ext cx="3535680" cy="10363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0" name="Shape 28"/>
          <p:cNvSpPr/>
          <p:nvPr/>
        </p:nvSpPr>
        <p:spPr>
          <a:xfrm>
            <a:off x="8534400" y="3596640"/>
            <a:ext cx="97536" cy="103632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31" name="Text 29"/>
          <p:cNvSpPr/>
          <p:nvPr/>
        </p:nvSpPr>
        <p:spPr>
          <a:xfrm>
            <a:off x="8656320" y="3596640"/>
            <a:ext cx="3291840" cy="1036320"/>
          </a:xfrm>
          <a:prstGeom prst="rect">
            <a:avLst/>
          </a:prstGeom>
          <a:noFill/>
          <a:ln/>
        </p:spPr>
        <p:txBody>
          <a:bodyPr wrap="square" lIns="0" tIns="0" rIns="0" bIns="0" rtlCol="0" anchor="ctr"/>
          <a:lstStyle/>
          <a:p>
            <a:pPr algn="ctr" defTabSz="1219170"/>
            <a:r>
              <a:rPr lang="en-US" sz="1467" i="1" dirty="0">
                <a:solidFill>
                  <a:srgbClr val="1F2937"/>
                </a:solidFill>
                <a:latin typeface="Microsoft YaHei" pitchFamily="34" charset="0"/>
                <a:ea typeface="Microsoft YaHei" pitchFamily="34" charset="-122"/>
                <a:cs typeface="Microsoft YaHei" pitchFamily="34" charset="-120"/>
              </a:rPr>
              <a:t>AWS as the data home</a:t>
            </a:r>
            <a:endParaRPr lang="en-US" sz="1467" dirty="0">
              <a:solidFill>
                <a:prstClr val="black"/>
              </a:solidFill>
              <a:latin typeface="Calibri" panose="020F0502020204030204"/>
            </a:endParaRPr>
          </a:p>
          <a:p>
            <a:pPr algn="ctr" defTabSz="1219170"/>
            <a:r>
              <a:rPr lang="en-US" sz="1467" i="1" dirty="0">
                <a:solidFill>
                  <a:srgbClr val="1F2937"/>
                </a:solidFill>
                <a:latin typeface="Microsoft YaHei" pitchFamily="34" charset="0"/>
                <a:ea typeface="Microsoft YaHei" pitchFamily="34" charset="-122"/>
                <a:cs typeface="Microsoft YaHei" pitchFamily="34" charset="-120"/>
              </a:rPr>
              <a:t>OpenAI model preference</a:t>
            </a:r>
            <a:endParaRPr lang="en-US" sz="1467" dirty="0">
              <a:solidFill>
                <a:prstClr val="black"/>
              </a:solidFill>
              <a:latin typeface="Calibri" panose="020F0502020204030204"/>
            </a:endParaRPr>
          </a:p>
        </p:txBody>
      </p:sp>
      <p:sp>
        <p:nvSpPr>
          <p:cNvPr id="32" name="Shape 30"/>
          <p:cNvSpPr/>
          <p:nvPr/>
        </p:nvSpPr>
        <p:spPr>
          <a:xfrm>
            <a:off x="8534400" y="4815840"/>
            <a:ext cx="3535680" cy="60960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33" name="Text 31"/>
          <p:cNvSpPr/>
          <p:nvPr/>
        </p:nvSpPr>
        <p:spPr>
          <a:xfrm>
            <a:off x="8534400" y="4815840"/>
            <a:ext cx="3535680" cy="609600"/>
          </a:xfrm>
          <a:prstGeom prst="rect">
            <a:avLst/>
          </a:prstGeom>
          <a:noFill/>
          <a:ln/>
        </p:spPr>
        <p:txBody>
          <a:bodyPr wrap="square" lIns="0" tIns="0" rIns="0" bIns="0" rtlCol="0" anchor="ctr"/>
          <a:lstStyle/>
          <a:p>
            <a:pPr algn="ctr" defTabSz="1219170"/>
            <a:r>
              <a:rPr lang="en-US" sz="1867" b="1" dirty="0">
                <a:solidFill>
                  <a:srgbClr val="FFFFFF"/>
                </a:solidFill>
                <a:latin typeface="Microsoft YaHei" pitchFamily="34" charset="0"/>
                <a:ea typeface="Microsoft YaHei" pitchFamily="34" charset="-122"/>
                <a:cs typeface="Microsoft YaHei" pitchFamily="34" charset="-120"/>
              </a:rPr>
              <a:t>AWS Bedrock</a:t>
            </a:r>
            <a:endParaRPr lang="en-US" sz="1867" dirty="0">
              <a:solidFill>
                <a:prstClr val="black"/>
              </a:solidFill>
              <a:latin typeface="Calibri" panose="020F0502020204030204"/>
            </a:endParaRPr>
          </a:p>
        </p:txBody>
      </p:sp>
      <p:sp>
        <p:nvSpPr>
          <p:cNvPr id="34" name="Shape 32"/>
          <p:cNvSpPr/>
          <p:nvPr/>
        </p:nvSpPr>
        <p:spPr>
          <a:xfrm>
            <a:off x="8534400" y="5486400"/>
            <a:ext cx="3535680" cy="91440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5" name="Text 33"/>
          <p:cNvSpPr/>
          <p:nvPr/>
        </p:nvSpPr>
        <p:spPr>
          <a:xfrm>
            <a:off x="8717280" y="5547360"/>
            <a:ext cx="3169920" cy="792480"/>
          </a:xfrm>
          <a:prstGeom prst="rect">
            <a:avLst/>
          </a:prstGeom>
          <a:noFill/>
          <a:ln/>
        </p:spPr>
        <p:txBody>
          <a:bodyPr wrap="square" rtlCol="0" anchor="t"/>
          <a:lstStyle/>
          <a:p>
            <a:pPr marL="457189" indent="-457189" defTabSz="1219170">
              <a:spcAft>
                <a:spcPts val="267"/>
              </a:spcAft>
              <a:buSzPct val="100000"/>
              <a:buFontTx/>
              <a:buChar char="▸"/>
            </a:pPr>
            <a:r>
              <a:rPr lang="en-US" sz="1267" dirty="0">
                <a:solidFill>
                  <a:srgbClr val="107C10"/>
                </a:solidFill>
                <a:latin typeface="Microsoft YaHei" pitchFamily="34" charset="0"/>
                <a:ea typeface="Microsoft YaHei" pitchFamily="34" charset="-122"/>
                <a:cs typeface="Microsoft YaHei" pitchFamily="34" charset="-120"/>
              </a:rPr>
              <a:t>OpenAI workloads on AWS</a:t>
            </a:r>
            <a:endParaRPr lang="en-US" sz="1267" dirty="0">
              <a:solidFill>
                <a:prstClr val="black"/>
              </a:solidFill>
              <a:latin typeface="Calibri" panose="020F0502020204030204"/>
            </a:endParaRPr>
          </a:p>
          <a:p>
            <a:pPr marL="457189" indent="-457189" defTabSz="1219170">
              <a:spcAft>
                <a:spcPts val="267"/>
              </a:spcAft>
              <a:buSzPct val="100000"/>
              <a:buFontTx/>
              <a:buChar char="▸"/>
            </a:pPr>
            <a:r>
              <a:rPr lang="en-US" sz="1267" dirty="0">
                <a:solidFill>
                  <a:srgbClr val="107C10"/>
                </a:solidFill>
                <a:latin typeface="Microsoft YaHei" pitchFamily="34" charset="0"/>
                <a:ea typeface="Microsoft YaHei" pitchFamily="34" charset="-122"/>
                <a:cs typeface="Microsoft YaHei" pitchFamily="34" charset="-120"/>
              </a:rPr>
              <a:t>Data compliance requires staying on AWS</a:t>
            </a:r>
            <a:endParaRPr lang="en-US" sz="1267" dirty="0">
              <a:solidFill>
                <a:prstClr val="black"/>
              </a:solidFill>
              <a:latin typeface="Calibri" panose="020F0502020204030204"/>
            </a:endParaRPr>
          </a:p>
          <a:p>
            <a:pPr marL="457189" indent="-457189" defTabSz="1219170">
              <a:spcAft>
                <a:spcPts val="267"/>
              </a:spcAft>
              <a:buSzPct val="100000"/>
              <a:buFontTx/>
              <a:buChar char="▸"/>
            </a:pPr>
            <a:r>
              <a:rPr lang="en-US" sz="1267" dirty="0">
                <a:solidFill>
                  <a:srgbClr val="107C10"/>
                </a:solidFill>
                <a:latin typeface="Microsoft YaHei" pitchFamily="34" charset="0"/>
                <a:ea typeface="Microsoft YaHei" pitchFamily="34" charset="-122"/>
                <a:cs typeface="Microsoft YaHei" pitchFamily="34" charset="-120"/>
              </a:rPr>
              <a:t>Already invested in AgentCore</a:t>
            </a:r>
            <a:endParaRPr lang="en-US" sz="1267" dirty="0">
              <a:solidFill>
                <a:prstClr val="black"/>
              </a:solidFill>
              <a:latin typeface="Calibri" panose="020F050202020403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2A47"/>
        </a:solidFill>
        <a:effectLst/>
      </p:bgPr>
    </p:bg>
    <p:spTree>
      <p:nvGrpSpPr>
        <p:cNvPr id="1" name=""/>
        <p:cNvGrpSpPr/>
        <p:nvPr/>
      </p:nvGrpSpPr>
      <p:grpSpPr>
        <a:xfrm>
          <a:off x="0" y="0"/>
          <a:ext cx="0" cy="0"/>
          <a:chOff x="0" y="0"/>
          <a:chExt cx="0" cy="0"/>
        </a:xfrm>
      </p:grpSpPr>
      <p:sp>
        <p:nvSpPr>
          <p:cNvPr id="2" name="Shape 0"/>
          <p:cNvSpPr/>
          <p:nvPr/>
        </p:nvSpPr>
        <p:spPr>
          <a:xfrm>
            <a:off x="10241280" y="0"/>
            <a:ext cx="1950720" cy="6858000"/>
          </a:xfrm>
          <a:prstGeom prst="rect">
            <a:avLst/>
          </a:prstGeom>
          <a:solidFill>
            <a:srgbClr val="071A30"/>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19456" cy="685800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Shape 2"/>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5" name="Text 3"/>
          <p:cNvSpPr/>
          <p:nvPr/>
        </p:nvSpPr>
        <p:spPr>
          <a:xfrm>
            <a:off x="731520" y="6486144"/>
            <a:ext cx="6096000" cy="304800"/>
          </a:xfrm>
          <a:prstGeom prst="rect">
            <a:avLst/>
          </a:prstGeom>
          <a:noFill/>
          <a:ln/>
        </p:spPr>
        <p:txBody>
          <a:bodyPr wrap="square" rtlCol="0" anchor="ctr"/>
          <a:lstStyle/>
          <a:p>
            <a:pPr defTabSz="1219170"/>
            <a:r>
              <a:rPr lang="en-US" sz="1200" dirty="0">
                <a:solidFill>
                  <a:srgbClr val="CADCFC"/>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6" name="Text 4"/>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CADCFC"/>
                </a:solidFill>
                <a:latin typeface="Microsoft YaHei" pitchFamily="34" charset="0"/>
                <a:ea typeface="Microsoft YaHei" pitchFamily="34" charset="-122"/>
                <a:cs typeface="Microsoft YaHei" pitchFamily="34" charset="-120"/>
              </a:rPr>
              <a:t>32 / 40</a:t>
            </a:r>
            <a:endParaRPr lang="en-US" sz="1200" dirty="0">
              <a:solidFill>
                <a:prstClr val="black"/>
              </a:solidFill>
              <a:latin typeface="Calibri" panose="020F0502020204030204"/>
            </a:endParaRPr>
          </a:p>
        </p:txBody>
      </p:sp>
      <p:sp>
        <p:nvSpPr>
          <p:cNvPr id="7" name="Text 5"/>
          <p:cNvSpPr/>
          <p:nvPr/>
        </p:nvSpPr>
        <p:spPr>
          <a:xfrm>
            <a:off x="731520" y="2072640"/>
            <a:ext cx="9753600" cy="487680"/>
          </a:xfrm>
          <a:prstGeom prst="rect">
            <a:avLst/>
          </a:prstGeom>
          <a:noFill/>
          <a:ln/>
        </p:spPr>
        <p:txBody>
          <a:bodyPr wrap="square" lIns="0" tIns="0" rIns="0" bIns="0" rtlCol="0" anchor="ctr"/>
          <a:lstStyle/>
          <a:p>
            <a:pPr defTabSz="1219170"/>
            <a:r>
              <a:rPr lang="en-US" sz="1867" b="1" kern="0" spc="1333" dirty="0">
                <a:solidFill>
                  <a:srgbClr val="FFB900"/>
                </a:solidFill>
                <a:latin typeface="Microsoft YaHei" pitchFamily="34" charset="0"/>
                <a:ea typeface="Microsoft YaHei" pitchFamily="34" charset="-122"/>
                <a:cs typeface="Microsoft YaHei" pitchFamily="34" charset="-120"/>
              </a:rPr>
              <a:t>PART  04</a:t>
            </a:r>
            <a:endParaRPr lang="en-US" sz="1867" dirty="0">
              <a:solidFill>
                <a:prstClr val="black"/>
              </a:solidFill>
              <a:latin typeface="Calibri" panose="020F0502020204030204"/>
            </a:endParaRPr>
          </a:p>
        </p:txBody>
      </p:sp>
      <p:sp>
        <p:nvSpPr>
          <p:cNvPr id="8" name="Shape 6"/>
          <p:cNvSpPr/>
          <p:nvPr/>
        </p:nvSpPr>
        <p:spPr>
          <a:xfrm>
            <a:off x="731520" y="2621280"/>
            <a:ext cx="731520" cy="48768"/>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9" name="Text 7"/>
          <p:cNvSpPr/>
          <p:nvPr/>
        </p:nvSpPr>
        <p:spPr>
          <a:xfrm>
            <a:off x="731520" y="2865120"/>
            <a:ext cx="9753600" cy="1036320"/>
          </a:xfrm>
          <a:prstGeom prst="rect">
            <a:avLst/>
          </a:prstGeom>
          <a:noFill/>
          <a:ln/>
        </p:spPr>
        <p:txBody>
          <a:bodyPr wrap="square" lIns="0" tIns="0" rIns="0" bIns="0" rtlCol="0" anchor="ctr"/>
          <a:lstStyle/>
          <a:p>
            <a:pPr defTabSz="1219170"/>
            <a:r>
              <a:rPr lang="en-US" sz="7200" b="1" dirty="0">
                <a:solidFill>
                  <a:srgbClr val="FFFFFF"/>
                </a:solidFill>
                <a:latin typeface="Microsoft YaHei" pitchFamily="34" charset="0"/>
                <a:ea typeface="Microsoft YaHei" pitchFamily="34" charset="-122"/>
                <a:cs typeface="Microsoft YaHei" pitchFamily="34" charset="-120"/>
              </a:rPr>
              <a:t>Practical guide</a:t>
            </a:r>
            <a:endParaRPr lang="en-US" sz="7200" dirty="0">
              <a:solidFill>
                <a:prstClr val="black"/>
              </a:solidFill>
              <a:latin typeface="Calibri" panose="020F0502020204030204"/>
            </a:endParaRPr>
          </a:p>
        </p:txBody>
      </p:sp>
      <p:sp>
        <p:nvSpPr>
          <p:cNvPr id="10" name="Text 8"/>
          <p:cNvSpPr/>
          <p:nvPr/>
        </p:nvSpPr>
        <p:spPr>
          <a:xfrm>
            <a:off x="731520" y="4145280"/>
            <a:ext cx="9753600" cy="609600"/>
          </a:xfrm>
          <a:prstGeom prst="rect">
            <a:avLst/>
          </a:prstGeom>
          <a:noFill/>
          <a:ln/>
        </p:spPr>
        <p:txBody>
          <a:bodyPr wrap="square" lIns="0" tIns="0" rIns="0" bIns="0" rtlCol="0" anchor="ctr"/>
          <a:lstStyle/>
          <a:p>
            <a:pPr defTabSz="1219170"/>
            <a:r>
              <a:rPr lang="en-US" sz="2133" dirty="0">
                <a:solidFill>
                  <a:srgbClr val="CADCFC"/>
                </a:solidFill>
                <a:latin typeface="Microsoft YaHei" pitchFamily="34" charset="0"/>
                <a:ea typeface="Microsoft YaHei" pitchFamily="34" charset="-122"/>
                <a:cs typeface="Microsoft YaHei" pitchFamily="34" charset="-120"/>
              </a:rPr>
              <a:t>From dev workflow to context engineering, from performance optimization to security practices</a:t>
            </a:r>
            <a:endParaRPr lang="en-US" sz="2133" dirty="0">
              <a:solidFill>
                <a:prstClr val="black"/>
              </a:solidFill>
              <a:latin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04 · Practice</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Hosted Agent end-to-end dev workflow</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Using Azure Foundry as example — a six-stage dev loop</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33 / 40</a:t>
            </a:r>
            <a:endParaRPr lang="en-US" sz="1200" dirty="0">
              <a:solidFill>
                <a:prstClr val="black"/>
              </a:solidFill>
              <a:latin typeface="Calibri" panose="020F0502020204030204"/>
            </a:endParaRPr>
          </a:p>
        </p:txBody>
      </p:sp>
      <p:sp>
        <p:nvSpPr>
          <p:cNvPr id="10" name="Shape 8"/>
          <p:cNvSpPr/>
          <p:nvPr/>
        </p:nvSpPr>
        <p:spPr>
          <a:xfrm>
            <a:off x="853440" y="4023360"/>
            <a:ext cx="10485120" cy="0"/>
          </a:xfrm>
          <a:prstGeom prst="line">
            <a:avLst/>
          </a:prstGeom>
          <a:noFill/>
          <a:ln w="25400">
            <a:solidFill>
              <a:srgbClr val="E1E5EB"/>
            </a:solidFill>
            <a:prstDash val="solid"/>
          </a:ln>
        </p:spPr>
        <p:txBody>
          <a:bodyPr/>
          <a:lstStyle/>
          <a:p>
            <a:pPr defTabSz="1219170"/>
            <a:endParaRPr lang="en-CN" sz="2400">
              <a:solidFill>
                <a:prstClr val="black"/>
              </a:solidFill>
              <a:latin typeface="Calibri" panose="020F0502020204030204"/>
            </a:endParaRPr>
          </a:p>
        </p:txBody>
      </p:sp>
      <p:sp>
        <p:nvSpPr>
          <p:cNvPr id="11" name="Shape 9"/>
          <p:cNvSpPr/>
          <p:nvPr/>
        </p:nvSpPr>
        <p:spPr>
          <a:xfrm>
            <a:off x="1036320" y="3657600"/>
            <a:ext cx="731520" cy="731520"/>
          </a:xfrm>
          <a:prstGeom prst="ellipse">
            <a:avLst/>
          </a:prstGeom>
          <a:solidFill>
            <a:srgbClr val="0078D4"/>
          </a:solidFill>
          <a:ln w="38100">
            <a:solidFill>
              <a:srgbClr val="FFFFFF"/>
            </a:solidFill>
            <a:prstDash val="solid"/>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1036320" y="3657600"/>
            <a:ext cx="731520" cy="73152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1</a:t>
            </a:r>
            <a:endParaRPr lang="en-US" sz="2400" dirty="0">
              <a:solidFill>
                <a:prstClr val="black"/>
              </a:solidFill>
              <a:latin typeface="Calibri" panose="020F0502020204030204"/>
            </a:endParaRPr>
          </a:p>
        </p:txBody>
      </p:sp>
      <p:sp>
        <p:nvSpPr>
          <p:cNvPr id="13" name="Shape 11"/>
          <p:cNvSpPr/>
          <p:nvPr/>
        </p:nvSpPr>
        <p:spPr>
          <a:xfrm>
            <a:off x="487680" y="2072640"/>
            <a:ext cx="1828800" cy="1463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4" name="Shape 12"/>
          <p:cNvSpPr/>
          <p:nvPr/>
        </p:nvSpPr>
        <p:spPr>
          <a:xfrm>
            <a:off x="487680" y="2072640"/>
            <a:ext cx="97536" cy="14630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5" name="Text 13"/>
          <p:cNvSpPr/>
          <p:nvPr/>
        </p:nvSpPr>
        <p:spPr>
          <a:xfrm>
            <a:off x="609600" y="2194560"/>
            <a:ext cx="1584960" cy="390144"/>
          </a:xfrm>
          <a:prstGeom prst="rect">
            <a:avLst/>
          </a:prstGeom>
          <a:noFill/>
          <a:ln/>
        </p:spPr>
        <p:txBody>
          <a:bodyPr wrap="square" lIns="0" tIns="0" rIns="0" bIns="0" rtlCol="0" anchor="ctr"/>
          <a:lstStyle/>
          <a:p>
            <a:pPr algn="ctr" defTabSz="1219170"/>
            <a:r>
              <a:rPr lang="en-US" sz="1600" b="1" dirty="0">
                <a:solidFill>
                  <a:srgbClr val="0078D4"/>
                </a:solidFill>
                <a:latin typeface="Microsoft YaHei" pitchFamily="34" charset="0"/>
                <a:ea typeface="Microsoft YaHei" pitchFamily="34" charset="-122"/>
                <a:cs typeface="Microsoft YaHei" pitchFamily="34" charset="-120"/>
              </a:rPr>
              <a:t>Local development</a:t>
            </a:r>
            <a:endParaRPr lang="en-US" sz="1600" dirty="0">
              <a:solidFill>
                <a:prstClr val="black"/>
              </a:solidFill>
              <a:latin typeface="Calibri" panose="020F0502020204030204"/>
            </a:endParaRPr>
          </a:p>
        </p:txBody>
      </p:sp>
      <p:sp>
        <p:nvSpPr>
          <p:cNvPr id="16" name="Text 14"/>
          <p:cNvSpPr/>
          <p:nvPr/>
        </p:nvSpPr>
        <p:spPr>
          <a:xfrm>
            <a:off x="609600" y="2621280"/>
            <a:ext cx="1584960" cy="853440"/>
          </a:xfrm>
          <a:prstGeom prst="rect">
            <a:avLst/>
          </a:prstGeom>
          <a:noFill/>
          <a:ln/>
        </p:spPr>
        <p:txBody>
          <a:bodyPr wrap="square" lIns="0" tIns="0" rIns="0" bIns="0" rtlCol="0" anchor="t"/>
          <a:lstStyle/>
          <a:p>
            <a:pPr algn="ctr" defTabSz="1219170"/>
            <a:r>
              <a:rPr lang="en-US" sz="1267" dirty="0">
                <a:solidFill>
                  <a:srgbClr val="1F2937"/>
                </a:solidFill>
                <a:latin typeface="Microsoft YaHei" pitchFamily="34" charset="0"/>
                <a:ea typeface="Microsoft YaHei" pitchFamily="34" charset="-122"/>
                <a:cs typeface="Microsoft YaHei" pitchFamily="34" charset="-120"/>
              </a:rPr>
              <a:t>Python / C# + chosen Agent framework</a:t>
            </a:r>
            <a:endParaRPr lang="en-US" sz="1267" dirty="0">
              <a:solidFill>
                <a:prstClr val="black"/>
              </a:solidFill>
              <a:latin typeface="Calibri" panose="020F0502020204030204"/>
            </a:endParaRPr>
          </a:p>
        </p:txBody>
      </p:sp>
      <p:sp>
        <p:nvSpPr>
          <p:cNvPr id="17" name="Shape 15"/>
          <p:cNvSpPr/>
          <p:nvPr/>
        </p:nvSpPr>
        <p:spPr>
          <a:xfrm>
            <a:off x="2987040" y="3657600"/>
            <a:ext cx="731520" cy="731520"/>
          </a:xfrm>
          <a:prstGeom prst="ellipse">
            <a:avLst/>
          </a:prstGeom>
          <a:solidFill>
            <a:srgbClr val="00B7C3"/>
          </a:solidFill>
          <a:ln w="38100">
            <a:solidFill>
              <a:srgbClr val="FFFFFF"/>
            </a:solidFill>
            <a:prstDash val="solid"/>
          </a:ln>
        </p:spPr>
        <p:txBody>
          <a:bodyPr/>
          <a:lstStyle/>
          <a:p>
            <a:pPr defTabSz="1219170"/>
            <a:endParaRPr lang="en-CN" sz="2400">
              <a:solidFill>
                <a:prstClr val="black"/>
              </a:solidFill>
              <a:latin typeface="Calibri" panose="020F0502020204030204"/>
            </a:endParaRPr>
          </a:p>
        </p:txBody>
      </p:sp>
      <p:sp>
        <p:nvSpPr>
          <p:cNvPr id="18" name="Text 16"/>
          <p:cNvSpPr/>
          <p:nvPr/>
        </p:nvSpPr>
        <p:spPr>
          <a:xfrm>
            <a:off x="2987040" y="3657600"/>
            <a:ext cx="731520" cy="73152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2</a:t>
            </a:r>
            <a:endParaRPr lang="en-US" sz="2400" dirty="0">
              <a:solidFill>
                <a:prstClr val="black"/>
              </a:solidFill>
              <a:latin typeface="Calibri" panose="020F0502020204030204"/>
            </a:endParaRPr>
          </a:p>
        </p:txBody>
      </p:sp>
      <p:sp>
        <p:nvSpPr>
          <p:cNvPr id="19" name="Shape 17"/>
          <p:cNvSpPr/>
          <p:nvPr/>
        </p:nvSpPr>
        <p:spPr>
          <a:xfrm>
            <a:off x="2438400" y="4693920"/>
            <a:ext cx="1828800" cy="1463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0" name="Shape 18"/>
          <p:cNvSpPr/>
          <p:nvPr/>
        </p:nvSpPr>
        <p:spPr>
          <a:xfrm>
            <a:off x="2438400" y="4693920"/>
            <a:ext cx="97536" cy="146304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21" name="Text 19"/>
          <p:cNvSpPr/>
          <p:nvPr/>
        </p:nvSpPr>
        <p:spPr>
          <a:xfrm>
            <a:off x="2560320" y="4815840"/>
            <a:ext cx="1584960" cy="390144"/>
          </a:xfrm>
          <a:prstGeom prst="rect">
            <a:avLst/>
          </a:prstGeom>
          <a:noFill/>
          <a:ln/>
        </p:spPr>
        <p:txBody>
          <a:bodyPr wrap="square" lIns="0" tIns="0" rIns="0" bIns="0" rtlCol="0" anchor="ctr"/>
          <a:lstStyle/>
          <a:p>
            <a:pPr algn="ctr" defTabSz="1219170"/>
            <a:r>
              <a:rPr lang="en-US" sz="1600" b="1" dirty="0">
                <a:solidFill>
                  <a:srgbClr val="00B7C3"/>
                </a:solidFill>
                <a:latin typeface="Microsoft YaHei" pitchFamily="34" charset="0"/>
                <a:ea typeface="Microsoft YaHei" pitchFamily="34" charset="-122"/>
                <a:cs typeface="Microsoft YaHei" pitchFamily="34" charset="-120"/>
              </a:rPr>
              <a:t>Protocol integration</a:t>
            </a:r>
            <a:endParaRPr lang="en-US" sz="1600" dirty="0">
              <a:solidFill>
                <a:prstClr val="black"/>
              </a:solidFill>
              <a:latin typeface="Calibri" panose="020F0502020204030204"/>
            </a:endParaRPr>
          </a:p>
        </p:txBody>
      </p:sp>
      <p:sp>
        <p:nvSpPr>
          <p:cNvPr id="22" name="Text 20"/>
          <p:cNvSpPr/>
          <p:nvPr/>
        </p:nvSpPr>
        <p:spPr>
          <a:xfrm>
            <a:off x="2560320" y="5242560"/>
            <a:ext cx="1584960" cy="853440"/>
          </a:xfrm>
          <a:prstGeom prst="rect">
            <a:avLst/>
          </a:prstGeom>
          <a:noFill/>
          <a:ln/>
        </p:spPr>
        <p:txBody>
          <a:bodyPr wrap="square" lIns="0" tIns="0" rIns="0" bIns="0" rtlCol="0" anchor="t"/>
          <a:lstStyle/>
          <a:p>
            <a:pPr algn="ctr" defTabSz="1219170"/>
            <a:r>
              <a:rPr lang="en-US" sz="1267" dirty="0">
                <a:solidFill>
                  <a:srgbClr val="1F2937"/>
                </a:solidFill>
                <a:latin typeface="Microsoft YaHei" pitchFamily="34" charset="0"/>
                <a:ea typeface="Microsoft YaHei" pitchFamily="34" charset="-122"/>
                <a:cs typeface="Microsoft YaHei" pitchFamily="34" charset="-120"/>
              </a:rPr>
              <a:t>Responses or Invocations — Activity / A2A layerable</a:t>
            </a:r>
            <a:endParaRPr lang="en-US" sz="1267" dirty="0">
              <a:solidFill>
                <a:prstClr val="black"/>
              </a:solidFill>
              <a:latin typeface="Calibri" panose="020F0502020204030204"/>
            </a:endParaRPr>
          </a:p>
        </p:txBody>
      </p:sp>
      <p:sp>
        <p:nvSpPr>
          <p:cNvPr id="23" name="Shape 21"/>
          <p:cNvSpPr/>
          <p:nvPr/>
        </p:nvSpPr>
        <p:spPr>
          <a:xfrm>
            <a:off x="4937760" y="3657600"/>
            <a:ext cx="731520" cy="731520"/>
          </a:xfrm>
          <a:prstGeom prst="ellipse">
            <a:avLst/>
          </a:prstGeom>
          <a:solidFill>
            <a:srgbClr val="FFB900"/>
          </a:solidFill>
          <a:ln w="38100">
            <a:solidFill>
              <a:srgbClr val="FFFFFF"/>
            </a:solidFill>
            <a:prstDash val="solid"/>
          </a:ln>
        </p:spPr>
        <p:txBody>
          <a:bodyPr/>
          <a:lstStyle/>
          <a:p>
            <a:pPr defTabSz="1219170"/>
            <a:endParaRPr lang="en-CN" sz="2400">
              <a:solidFill>
                <a:prstClr val="black"/>
              </a:solidFill>
              <a:latin typeface="Calibri" panose="020F0502020204030204"/>
            </a:endParaRPr>
          </a:p>
        </p:txBody>
      </p:sp>
      <p:sp>
        <p:nvSpPr>
          <p:cNvPr id="24" name="Text 22"/>
          <p:cNvSpPr/>
          <p:nvPr/>
        </p:nvSpPr>
        <p:spPr>
          <a:xfrm>
            <a:off x="4937760" y="3657600"/>
            <a:ext cx="731520" cy="73152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3</a:t>
            </a:r>
            <a:endParaRPr lang="en-US" sz="2400" dirty="0">
              <a:solidFill>
                <a:prstClr val="black"/>
              </a:solidFill>
              <a:latin typeface="Calibri" panose="020F0502020204030204"/>
            </a:endParaRPr>
          </a:p>
        </p:txBody>
      </p:sp>
      <p:sp>
        <p:nvSpPr>
          <p:cNvPr id="25" name="Shape 23"/>
          <p:cNvSpPr/>
          <p:nvPr/>
        </p:nvSpPr>
        <p:spPr>
          <a:xfrm>
            <a:off x="4389120" y="2072640"/>
            <a:ext cx="1828800" cy="1463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6" name="Shape 24"/>
          <p:cNvSpPr/>
          <p:nvPr/>
        </p:nvSpPr>
        <p:spPr>
          <a:xfrm>
            <a:off x="4389120" y="2072640"/>
            <a:ext cx="97536" cy="14630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7" name="Text 25"/>
          <p:cNvSpPr/>
          <p:nvPr/>
        </p:nvSpPr>
        <p:spPr>
          <a:xfrm>
            <a:off x="4511040" y="2194560"/>
            <a:ext cx="1584960" cy="390144"/>
          </a:xfrm>
          <a:prstGeom prst="rect">
            <a:avLst/>
          </a:prstGeom>
          <a:noFill/>
          <a:ln/>
        </p:spPr>
        <p:txBody>
          <a:bodyPr wrap="square" lIns="0" tIns="0" rIns="0" bIns="0" rtlCol="0" anchor="ctr"/>
          <a:lstStyle/>
          <a:p>
            <a:pPr algn="ctr" defTabSz="1219170"/>
            <a:r>
              <a:rPr lang="en-US" sz="1600" b="1" dirty="0">
                <a:solidFill>
                  <a:srgbClr val="FFB900"/>
                </a:solidFill>
                <a:latin typeface="Microsoft YaHei" pitchFamily="34" charset="0"/>
                <a:ea typeface="Microsoft YaHei" pitchFamily="34" charset="-122"/>
                <a:cs typeface="Microsoft YaHei" pitchFamily="34" charset="-120"/>
              </a:rPr>
              <a:t>Image build</a:t>
            </a:r>
            <a:endParaRPr lang="en-US" sz="1600" dirty="0">
              <a:solidFill>
                <a:prstClr val="black"/>
              </a:solidFill>
              <a:latin typeface="Calibri" panose="020F0502020204030204"/>
            </a:endParaRPr>
          </a:p>
        </p:txBody>
      </p:sp>
      <p:sp>
        <p:nvSpPr>
          <p:cNvPr id="28" name="Text 26"/>
          <p:cNvSpPr/>
          <p:nvPr/>
        </p:nvSpPr>
        <p:spPr>
          <a:xfrm>
            <a:off x="4511040" y="2621280"/>
            <a:ext cx="1584960" cy="853440"/>
          </a:xfrm>
          <a:prstGeom prst="rect">
            <a:avLst/>
          </a:prstGeom>
          <a:noFill/>
          <a:ln/>
        </p:spPr>
        <p:txBody>
          <a:bodyPr wrap="square" lIns="0" tIns="0" rIns="0" bIns="0" rtlCol="0" anchor="t"/>
          <a:lstStyle/>
          <a:p>
            <a:pPr algn="ctr" defTabSz="1219170"/>
            <a:r>
              <a:rPr lang="en-US" sz="1267" dirty="0">
                <a:solidFill>
                  <a:srgbClr val="1F2937"/>
                </a:solidFill>
                <a:latin typeface="Microsoft YaHei" pitchFamily="34" charset="0"/>
                <a:ea typeface="Microsoft YaHei" pitchFamily="34" charset="-122"/>
                <a:cs typeface="Microsoft YaHei" pitchFamily="34" charset="-120"/>
              </a:rPr>
              <a:t>Dockerfile + agent.yaml describe protocol and resources</a:t>
            </a:r>
            <a:endParaRPr lang="en-US" sz="1267" dirty="0">
              <a:solidFill>
                <a:prstClr val="black"/>
              </a:solidFill>
              <a:latin typeface="Calibri" panose="020F0502020204030204"/>
            </a:endParaRPr>
          </a:p>
        </p:txBody>
      </p:sp>
      <p:sp>
        <p:nvSpPr>
          <p:cNvPr id="29" name="Shape 27"/>
          <p:cNvSpPr/>
          <p:nvPr/>
        </p:nvSpPr>
        <p:spPr>
          <a:xfrm>
            <a:off x="6888480" y="3657600"/>
            <a:ext cx="731520" cy="731520"/>
          </a:xfrm>
          <a:prstGeom prst="ellipse">
            <a:avLst/>
          </a:prstGeom>
          <a:solidFill>
            <a:srgbClr val="107C10"/>
          </a:solidFill>
          <a:ln w="38100">
            <a:solidFill>
              <a:srgbClr val="FFFFFF"/>
            </a:solidFill>
            <a:prstDash val="solid"/>
          </a:ln>
        </p:spPr>
        <p:txBody>
          <a:bodyPr/>
          <a:lstStyle/>
          <a:p>
            <a:pPr defTabSz="1219170"/>
            <a:endParaRPr lang="en-CN" sz="2400">
              <a:solidFill>
                <a:prstClr val="black"/>
              </a:solidFill>
              <a:latin typeface="Calibri" panose="020F0502020204030204"/>
            </a:endParaRPr>
          </a:p>
        </p:txBody>
      </p:sp>
      <p:sp>
        <p:nvSpPr>
          <p:cNvPr id="30" name="Text 28"/>
          <p:cNvSpPr/>
          <p:nvPr/>
        </p:nvSpPr>
        <p:spPr>
          <a:xfrm>
            <a:off x="6888480" y="3657600"/>
            <a:ext cx="731520" cy="73152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4</a:t>
            </a:r>
            <a:endParaRPr lang="en-US" sz="2400" dirty="0">
              <a:solidFill>
                <a:prstClr val="black"/>
              </a:solidFill>
              <a:latin typeface="Calibri" panose="020F0502020204030204"/>
            </a:endParaRPr>
          </a:p>
        </p:txBody>
      </p:sp>
      <p:sp>
        <p:nvSpPr>
          <p:cNvPr id="31" name="Shape 29"/>
          <p:cNvSpPr/>
          <p:nvPr/>
        </p:nvSpPr>
        <p:spPr>
          <a:xfrm>
            <a:off x="6339840" y="4693920"/>
            <a:ext cx="1828800" cy="1463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2" name="Shape 30"/>
          <p:cNvSpPr/>
          <p:nvPr/>
        </p:nvSpPr>
        <p:spPr>
          <a:xfrm>
            <a:off x="6339840" y="4693920"/>
            <a:ext cx="97536" cy="146304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33" name="Text 31"/>
          <p:cNvSpPr/>
          <p:nvPr/>
        </p:nvSpPr>
        <p:spPr>
          <a:xfrm>
            <a:off x="6461760" y="4815840"/>
            <a:ext cx="1584960" cy="390144"/>
          </a:xfrm>
          <a:prstGeom prst="rect">
            <a:avLst/>
          </a:prstGeom>
          <a:noFill/>
          <a:ln/>
        </p:spPr>
        <p:txBody>
          <a:bodyPr wrap="square" lIns="0" tIns="0" rIns="0" bIns="0" rtlCol="0" anchor="ctr"/>
          <a:lstStyle/>
          <a:p>
            <a:pPr algn="ctr" defTabSz="1219170"/>
            <a:r>
              <a:rPr lang="en-US" sz="1600" b="1" dirty="0">
                <a:solidFill>
                  <a:srgbClr val="107C10"/>
                </a:solidFill>
                <a:latin typeface="Microsoft YaHei" pitchFamily="34" charset="0"/>
                <a:ea typeface="Microsoft YaHei" pitchFamily="34" charset="-122"/>
                <a:cs typeface="Microsoft YaHei" pitchFamily="34" charset="-120"/>
              </a:rPr>
              <a:t>Push &amp; deploy</a:t>
            </a:r>
            <a:endParaRPr lang="en-US" sz="1600" dirty="0">
              <a:solidFill>
                <a:prstClr val="black"/>
              </a:solidFill>
              <a:latin typeface="Calibri" panose="020F0502020204030204"/>
            </a:endParaRPr>
          </a:p>
        </p:txBody>
      </p:sp>
      <p:sp>
        <p:nvSpPr>
          <p:cNvPr id="34" name="Text 32"/>
          <p:cNvSpPr/>
          <p:nvPr/>
        </p:nvSpPr>
        <p:spPr>
          <a:xfrm>
            <a:off x="6461760" y="5242560"/>
            <a:ext cx="1584960" cy="853440"/>
          </a:xfrm>
          <a:prstGeom prst="rect">
            <a:avLst/>
          </a:prstGeom>
          <a:noFill/>
          <a:ln/>
        </p:spPr>
        <p:txBody>
          <a:bodyPr wrap="square" lIns="0" tIns="0" rIns="0" bIns="0" rtlCol="0" anchor="t"/>
          <a:lstStyle/>
          <a:p>
            <a:pPr algn="ctr" defTabSz="1219170"/>
            <a:r>
              <a:rPr lang="en-US" sz="1267" dirty="0">
                <a:solidFill>
                  <a:srgbClr val="1F2937"/>
                </a:solidFill>
                <a:latin typeface="Microsoft YaHei" pitchFamily="34" charset="0"/>
                <a:ea typeface="Microsoft YaHei" pitchFamily="34" charset="-122"/>
                <a:cs typeface="Microsoft YaHei" pitchFamily="34" charset="-120"/>
              </a:rPr>
              <a:t>Push to ACR — deploy versions via azd or SDK</a:t>
            </a:r>
            <a:endParaRPr lang="en-US" sz="1267" dirty="0">
              <a:solidFill>
                <a:prstClr val="black"/>
              </a:solidFill>
              <a:latin typeface="Calibri" panose="020F0502020204030204"/>
            </a:endParaRPr>
          </a:p>
        </p:txBody>
      </p:sp>
      <p:sp>
        <p:nvSpPr>
          <p:cNvPr id="35" name="Shape 33"/>
          <p:cNvSpPr/>
          <p:nvPr/>
        </p:nvSpPr>
        <p:spPr>
          <a:xfrm>
            <a:off x="8839200" y="3657600"/>
            <a:ext cx="731520" cy="731520"/>
          </a:xfrm>
          <a:prstGeom prst="ellipse">
            <a:avLst/>
          </a:prstGeom>
          <a:solidFill>
            <a:srgbClr val="5C2D91"/>
          </a:solidFill>
          <a:ln w="38100">
            <a:solidFill>
              <a:srgbClr val="FFFFFF"/>
            </a:solidFill>
            <a:prstDash val="solid"/>
          </a:ln>
        </p:spPr>
        <p:txBody>
          <a:bodyPr/>
          <a:lstStyle/>
          <a:p>
            <a:pPr defTabSz="1219170"/>
            <a:endParaRPr lang="en-CN" sz="2400">
              <a:solidFill>
                <a:prstClr val="black"/>
              </a:solidFill>
              <a:latin typeface="Calibri" panose="020F0502020204030204"/>
            </a:endParaRPr>
          </a:p>
        </p:txBody>
      </p:sp>
      <p:sp>
        <p:nvSpPr>
          <p:cNvPr id="36" name="Text 34"/>
          <p:cNvSpPr/>
          <p:nvPr/>
        </p:nvSpPr>
        <p:spPr>
          <a:xfrm>
            <a:off x="8839200" y="3657600"/>
            <a:ext cx="731520" cy="73152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5</a:t>
            </a:r>
            <a:endParaRPr lang="en-US" sz="2400" dirty="0">
              <a:solidFill>
                <a:prstClr val="black"/>
              </a:solidFill>
              <a:latin typeface="Calibri" panose="020F0502020204030204"/>
            </a:endParaRPr>
          </a:p>
        </p:txBody>
      </p:sp>
      <p:sp>
        <p:nvSpPr>
          <p:cNvPr id="37" name="Shape 35"/>
          <p:cNvSpPr/>
          <p:nvPr/>
        </p:nvSpPr>
        <p:spPr>
          <a:xfrm>
            <a:off x="8290560" y="2072640"/>
            <a:ext cx="1828800" cy="1463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8" name="Shape 36"/>
          <p:cNvSpPr/>
          <p:nvPr/>
        </p:nvSpPr>
        <p:spPr>
          <a:xfrm>
            <a:off x="8290560" y="2072640"/>
            <a:ext cx="97536" cy="146304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39" name="Text 37"/>
          <p:cNvSpPr/>
          <p:nvPr/>
        </p:nvSpPr>
        <p:spPr>
          <a:xfrm>
            <a:off x="8412480" y="2194560"/>
            <a:ext cx="1584960" cy="390144"/>
          </a:xfrm>
          <a:prstGeom prst="rect">
            <a:avLst/>
          </a:prstGeom>
          <a:noFill/>
          <a:ln/>
        </p:spPr>
        <p:txBody>
          <a:bodyPr wrap="square" lIns="0" tIns="0" rIns="0" bIns="0" rtlCol="0" anchor="ctr"/>
          <a:lstStyle/>
          <a:p>
            <a:pPr algn="ctr" defTabSz="1219170"/>
            <a:r>
              <a:rPr lang="en-US" sz="1600" b="1" dirty="0">
                <a:solidFill>
                  <a:srgbClr val="5C2D91"/>
                </a:solidFill>
                <a:latin typeface="Microsoft YaHei" pitchFamily="34" charset="0"/>
                <a:ea typeface="Microsoft YaHei" pitchFamily="34" charset="-122"/>
                <a:cs typeface="Microsoft YaHei" pitchFamily="34" charset="-120"/>
              </a:rPr>
              <a:t>Run &amp; monitor</a:t>
            </a:r>
            <a:endParaRPr lang="en-US" sz="1600" dirty="0">
              <a:solidFill>
                <a:prstClr val="black"/>
              </a:solidFill>
              <a:latin typeface="Calibri" panose="020F0502020204030204"/>
            </a:endParaRPr>
          </a:p>
        </p:txBody>
      </p:sp>
      <p:sp>
        <p:nvSpPr>
          <p:cNvPr id="40" name="Text 38"/>
          <p:cNvSpPr/>
          <p:nvPr/>
        </p:nvSpPr>
        <p:spPr>
          <a:xfrm>
            <a:off x="8412480" y="2621280"/>
            <a:ext cx="1584960" cy="853440"/>
          </a:xfrm>
          <a:prstGeom prst="rect">
            <a:avLst/>
          </a:prstGeom>
          <a:noFill/>
          <a:ln/>
        </p:spPr>
        <p:txBody>
          <a:bodyPr wrap="square" lIns="0" tIns="0" rIns="0" bIns="0" rtlCol="0" anchor="t"/>
          <a:lstStyle/>
          <a:p>
            <a:pPr algn="ctr" defTabSz="1219170"/>
            <a:r>
              <a:rPr lang="en-US" sz="1267" dirty="0">
                <a:solidFill>
                  <a:srgbClr val="1F2937"/>
                </a:solidFill>
                <a:latin typeface="Microsoft YaHei" pitchFamily="34" charset="0"/>
                <a:ea typeface="Microsoft YaHei" pitchFamily="34" charset="-122"/>
                <a:cs typeface="Microsoft YaHei" pitchFamily="34" charset="-120"/>
              </a:rPr>
              <a:t>OpenTelemetry tracing + Foundry Evaluators</a:t>
            </a:r>
            <a:endParaRPr lang="en-US" sz="1267" dirty="0">
              <a:solidFill>
                <a:prstClr val="black"/>
              </a:solidFill>
              <a:latin typeface="Calibri" panose="020F0502020204030204"/>
            </a:endParaRPr>
          </a:p>
        </p:txBody>
      </p:sp>
      <p:sp>
        <p:nvSpPr>
          <p:cNvPr id="41" name="Shape 39"/>
          <p:cNvSpPr/>
          <p:nvPr/>
        </p:nvSpPr>
        <p:spPr>
          <a:xfrm>
            <a:off x="10789920" y="3657600"/>
            <a:ext cx="731520" cy="731520"/>
          </a:xfrm>
          <a:prstGeom prst="ellipse">
            <a:avLst/>
          </a:prstGeom>
          <a:solidFill>
            <a:srgbClr val="E81123"/>
          </a:solidFill>
          <a:ln w="38100">
            <a:solidFill>
              <a:srgbClr val="FFFFFF"/>
            </a:solidFill>
            <a:prstDash val="solid"/>
          </a:ln>
        </p:spPr>
        <p:txBody>
          <a:bodyPr/>
          <a:lstStyle/>
          <a:p>
            <a:pPr defTabSz="1219170"/>
            <a:endParaRPr lang="en-CN" sz="2400">
              <a:solidFill>
                <a:prstClr val="black"/>
              </a:solidFill>
              <a:latin typeface="Calibri" panose="020F0502020204030204"/>
            </a:endParaRPr>
          </a:p>
        </p:txBody>
      </p:sp>
      <p:sp>
        <p:nvSpPr>
          <p:cNvPr id="42" name="Text 40"/>
          <p:cNvSpPr/>
          <p:nvPr/>
        </p:nvSpPr>
        <p:spPr>
          <a:xfrm>
            <a:off x="10789920" y="3657600"/>
            <a:ext cx="731520" cy="73152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6</a:t>
            </a:r>
            <a:endParaRPr lang="en-US" sz="2400" dirty="0">
              <a:solidFill>
                <a:prstClr val="black"/>
              </a:solidFill>
              <a:latin typeface="Calibri" panose="020F0502020204030204"/>
            </a:endParaRPr>
          </a:p>
        </p:txBody>
      </p:sp>
      <p:sp>
        <p:nvSpPr>
          <p:cNvPr id="43" name="Shape 41"/>
          <p:cNvSpPr/>
          <p:nvPr/>
        </p:nvSpPr>
        <p:spPr>
          <a:xfrm>
            <a:off x="10241280" y="4693920"/>
            <a:ext cx="1828800" cy="1463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44" name="Shape 42"/>
          <p:cNvSpPr/>
          <p:nvPr/>
        </p:nvSpPr>
        <p:spPr>
          <a:xfrm>
            <a:off x="10241280" y="4693920"/>
            <a:ext cx="97536" cy="146304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45" name="Text 43"/>
          <p:cNvSpPr/>
          <p:nvPr/>
        </p:nvSpPr>
        <p:spPr>
          <a:xfrm>
            <a:off x="10363200" y="4815840"/>
            <a:ext cx="1584960" cy="390144"/>
          </a:xfrm>
          <a:prstGeom prst="rect">
            <a:avLst/>
          </a:prstGeom>
          <a:noFill/>
          <a:ln/>
        </p:spPr>
        <p:txBody>
          <a:bodyPr wrap="square" lIns="0" tIns="0" rIns="0" bIns="0" rtlCol="0" anchor="ctr"/>
          <a:lstStyle/>
          <a:p>
            <a:pPr algn="ctr" defTabSz="1219170"/>
            <a:r>
              <a:rPr lang="en-US" sz="1600" b="1" dirty="0">
                <a:solidFill>
                  <a:srgbClr val="E81123"/>
                </a:solidFill>
                <a:latin typeface="Microsoft YaHei" pitchFamily="34" charset="0"/>
                <a:ea typeface="Microsoft YaHei" pitchFamily="34" charset="-122"/>
                <a:cs typeface="Microsoft YaHei" pitchFamily="34" charset="-120"/>
              </a:rPr>
              <a:t>Gradual release</a:t>
            </a:r>
            <a:endParaRPr lang="en-US" sz="1600" dirty="0">
              <a:solidFill>
                <a:prstClr val="black"/>
              </a:solidFill>
              <a:latin typeface="Calibri" panose="020F0502020204030204"/>
            </a:endParaRPr>
          </a:p>
        </p:txBody>
      </p:sp>
      <p:sp>
        <p:nvSpPr>
          <p:cNvPr id="46" name="Text 44"/>
          <p:cNvSpPr/>
          <p:nvPr/>
        </p:nvSpPr>
        <p:spPr>
          <a:xfrm>
            <a:off x="10363200" y="5242560"/>
            <a:ext cx="1584960" cy="853440"/>
          </a:xfrm>
          <a:prstGeom prst="rect">
            <a:avLst/>
          </a:prstGeom>
          <a:noFill/>
          <a:ln/>
        </p:spPr>
        <p:txBody>
          <a:bodyPr wrap="square" lIns="0" tIns="0" rIns="0" bIns="0" rtlCol="0" anchor="t"/>
          <a:lstStyle/>
          <a:p>
            <a:pPr algn="ctr" defTabSz="1219170"/>
            <a:r>
              <a:rPr lang="en-US" sz="1267" dirty="0">
                <a:solidFill>
                  <a:srgbClr val="1F2937"/>
                </a:solidFill>
                <a:latin typeface="Microsoft YaHei" pitchFamily="34" charset="0"/>
                <a:ea typeface="Microsoft YaHei" pitchFamily="34" charset="-122"/>
                <a:cs typeface="Microsoft YaHei" pitchFamily="34" charset="-120"/>
              </a:rPr>
              <a:t>Weight-based traffic shifting — canary / blue-green deployment</a:t>
            </a:r>
            <a:endParaRPr lang="en-US" sz="1267" dirty="0">
              <a:solidFill>
                <a:prstClr val="black"/>
              </a:solidFill>
              <a:latin typeface="Calibri" panose="020F0502020204030204"/>
            </a:endParaRPr>
          </a:p>
        </p:txBody>
      </p:sp>
      <p:sp>
        <p:nvSpPr>
          <p:cNvPr id="47" name="Shape 45"/>
          <p:cNvSpPr/>
          <p:nvPr/>
        </p:nvSpPr>
        <p:spPr>
          <a:xfrm>
            <a:off x="487680" y="5998464"/>
            <a:ext cx="11216640" cy="390144"/>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48" name="Shape 46"/>
          <p:cNvSpPr/>
          <p:nvPr/>
        </p:nvSpPr>
        <p:spPr>
          <a:xfrm>
            <a:off x="487680" y="5998464"/>
            <a:ext cx="97536" cy="390144"/>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49" name="Text 47"/>
          <p:cNvSpPr/>
          <p:nvPr/>
        </p:nvSpPr>
        <p:spPr>
          <a:xfrm>
            <a:off x="487680" y="5998464"/>
            <a:ext cx="11216640" cy="390144"/>
          </a:xfrm>
          <a:prstGeom prst="rect">
            <a:avLst/>
          </a:prstGeom>
          <a:noFill/>
          <a:ln/>
        </p:spPr>
        <p:txBody>
          <a:bodyPr wrap="square" lIns="0" tIns="0" rIns="0" bIns="0" rtlCol="0" anchor="ctr"/>
          <a:lstStyle/>
          <a:p>
            <a:pPr algn="ctr" defTabSz="1219170"/>
            <a:r>
              <a:rPr lang="en-US" sz="1467" b="1" dirty="0">
                <a:solidFill>
                  <a:srgbClr val="FFFFFF"/>
                </a:solidFill>
                <a:latin typeface="Microsoft YaHei" pitchFamily="34" charset="0"/>
                <a:ea typeface="Microsoft YaHei" pitchFamily="34" charset="-122"/>
                <a:cs typeface="Microsoft YaHei" pitchFamily="34" charset="-120"/>
              </a:rPr>
              <a:t>Loop key: every model upgrade should re-examine whether Harness assumptions are still necessary</a:t>
            </a:r>
            <a:endParaRPr lang="en-US" sz="1467" dirty="0">
              <a:solidFill>
                <a:prstClr val="black"/>
              </a:solidFill>
              <a:latin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04 · Practice</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6 principles for well-designed Agent Harness</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Distilled engineering wisdom: balance stable interfaces and evolvable implementations</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34 / 40</a:t>
            </a:r>
            <a:endParaRPr lang="en-US" sz="1200" dirty="0">
              <a:solidFill>
                <a:prstClr val="black"/>
              </a:solidFill>
              <a:latin typeface="Calibri" panose="020F0502020204030204"/>
            </a:endParaRPr>
          </a:p>
        </p:txBody>
      </p:sp>
      <p:sp>
        <p:nvSpPr>
          <p:cNvPr id="10" name="Shape 8"/>
          <p:cNvSpPr/>
          <p:nvPr/>
        </p:nvSpPr>
        <p:spPr>
          <a:xfrm>
            <a:off x="487680" y="188976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20726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853440" cy="487680"/>
          </a:xfrm>
          <a:prstGeom prst="rect">
            <a:avLst/>
          </a:prstGeom>
          <a:noFill/>
          <a:ln/>
        </p:spPr>
        <p:txBody>
          <a:bodyPr wrap="square" lIns="0" tIns="0" rIns="0" bIns="0" rtlCol="0" anchor="ctr"/>
          <a:lstStyle/>
          <a:p>
            <a:pPr defTabSz="1219170"/>
            <a:r>
              <a:rPr lang="en-US" sz="2933" b="1" dirty="0">
                <a:solidFill>
                  <a:srgbClr val="0078D4"/>
                </a:solidFill>
                <a:latin typeface="Microsoft YaHei" pitchFamily="34" charset="0"/>
                <a:ea typeface="Microsoft YaHei" pitchFamily="34" charset="-122"/>
                <a:cs typeface="Microsoft YaHei" pitchFamily="34" charset="-120"/>
              </a:rPr>
              <a:t>01</a:t>
            </a:r>
            <a:endParaRPr lang="en-US" sz="2933" dirty="0">
              <a:solidFill>
                <a:prstClr val="black"/>
              </a:solidFill>
              <a:latin typeface="Calibri" panose="020F0502020204030204"/>
            </a:endParaRPr>
          </a:p>
        </p:txBody>
      </p:sp>
      <p:sp>
        <p:nvSpPr>
          <p:cNvPr id="13" name="Shape 11"/>
          <p:cNvSpPr/>
          <p:nvPr/>
        </p:nvSpPr>
        <p:spPr>
          <a:xfrm>
            <a:off x="1645920" y="2133600"/>
            <a:ext cx="0" cy="365760"/>
          </a:xfrm>
          <a:prstGeom prst="line">
            <a:avLst/>
          </a:prstGeom>
          <a:noFill/>
          <a:ln w="12700">
            <a:solidFill>
              <a:srgbClr val="0078D4"/>
            </a:solidFill>
            <a:prstDash val="solid"/>
          </a:ln>
        </p:spPr>
        <p:txBody>
          <a:bodyPr/>
          <a:lstStyle/>
          <a:p>
            <a:pPr defTabSz="1219170"/>
            <a:endParaRPr lang="en-CN" sz="2400">
              <a:solidFill>
                <a:prstClr val="black"/>
              </a:solidFill>
              <a:latin typeface="Calibri" panose="020F0502020204030204"/>
            </a:endParaRPr>
          </a:p>
        </p:txBody>
      </p:sp>
      <p:sp>
        <p:nvSpPr>
          <p:cNvPr id="14" name="Text 12"/>
          <p:cNvSpPr/>
          <p:nvPr/>
        </p:nvSpPr>
        <p:spPr>
          <a:xfrm>
            <a:off x="1828800" y="2109216"/>
            <a:ext cx="2072640" cy="487680"/>
          </a:xfrm>
          <a:prstGeom prst="rect">
            <a:avLst/>
          </a:prstGeom>
          <a:noFill/>
          <a:ln/>
        </p:spPr>
        <p:txBody>
          <a:bodyPr wrap="square" lIns="0" tIns="0" rIns="0" bIns="0" rtlCol="0" anchor="t"/>
          <a:lstStyle/>
          <a:p>
            <a:pPr defTabSz="1219170"/>
            <a:r>
              <a:rPr lang="en-US" sz="1733" b="1" dirty="0">
                <a:solidFill>
                  <a:srgbClr val="0F2A47"/>
                </a:solidFill>
                <a:latin typeface="Microsoft YaHei" pitchFamily="34" charset="0"/>
                <a:ea typeface="Microsoft YaHei" pitchFamily="34" charset="-122"/>
                <a:cs typeface="Microsoft YaHei" pitchFamily="34" charset="-120"/>
              </a:rPr>
              <a:t>Stable interfaces first</a:t>
            </a:r>
            <a:endParaRPr lang="en-US" sz="1733" dirty="0">
              <a:solidFill>
                <a:prstClr val="black"/>
              </a:solidFill>
              <a:latin typeface="Calibri" panose="020F0502020204030204"/>
            </a:endParaRPr>
          </a:p>
        </p:txBody>
      </p:sp>
      <p:sp>
        <p:nvSpPr>
          <p:cNvPr id="15" name="Text 13"/>
          <p:cNvSpPr/>
          <p:nvPr/>
        </p:nvSpPr>
        <p:spPr>
          <a:xfrm>
            <a:off x="731520" y="2743200"/>
            <a:ext cx="3169920" cy="115824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Design interfaces like OS abstractions — let the implementation evolve freely</a:t>
            </a:r>
            <a:endParaRPr lang="en-US" sz="1467" dirty="0">
              <a:solidFill>
                <a:prstClr val="black"/>
              </a:solidFill>
              <a:latin typeface="Calibri" panose="020F0502020204030204"/>
            </a:endParaRPr>
          </a:p>
        </p:txBody>
      </p:sp>
      <p:sp>
        <p:nvSpPr>
          <p:cNvPr id="16" name="Shape 14"/>
          <p:cNvSpPr/>
          <p:nvPr/>
        </p:nvSpPr>
        <p:spPr>
          <a:xfrm>
            <a:off x="4303776" y="188976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7" name="Shape 15"/>
          <p:cNvSpPr/>
          <p:nvPr/>
        </p:nvSpPr>
        <p:spPr>
          <a:xfrm>
            <a:off x="4303776" y="1889760"/>
            <a:ext cx="97536" cy="207264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18" name="Text 16"/>
          <p:cNvSpPr/>
          <p:nvPr/>
        </p:nvSpPr>
        <p:spPr>
          <a:xfrm>
            <a:off x="4547616" y="2072640"/>
            <a:ext cx="853440" cy="487680"/>
          </a:xfrm>
          <a:prstGeom prst="rect">
            <a:avLst/>
          </a:prstGeom>
          <a:noFill/>
          <a:ln/>
        </p:spPr>
        <p:txBody>
          <a:bodyPr wrap="square" lIns="0" tIns="0" rIns="0" bIns="0" rtlCol="0" anchor="ctr"/>
          <a:lstStyle/>
          <a:p>
            <a:pPr defTabSz="1219170"/>
            <a:r>
              <a:rPr lang="en-US" sz="2933" b="1" dirty="0">
                <a:solidFill>
                  <a:srgbClr val="00B7C3"/>
                </a:solidFill>
                <a:latin typeface="Microsoft YaHei" pitchFamily="34" charset="0"/>
                <a:ea typeface="Microsoft YaHei" pitchFamily="34" charset="-122"/>
                <a:cs typeface="Microsoft YaHei" pitchFamily="34" charset="-120"/>
              </a:rPr>
              <a:t>02</a:t>
            </a:r>
            <a:endParaRPr lang="en-US" sz="2933" dirty="0">
              <a:solidFill>
                <a:prstClr val="black"/>
              </a:solidFill>
              <a:latin typeface="Calibri" panose="020F0502020204030204"/>
            </a:endParaRPr>
          </a:p>
        </p:txBody>
      </p:sp>
      <p:sp>
        <p:nvSpPr>
          <p:cNvPr id="19" name="Shape 17"/>
          <p:cNvSpPr/>
          <p:nvPr/>
        </p:nvSpPr>
        <p:spPr>
          <a:xfrm>
            <a:off x="5462016" y="2133600"/>
            <a:ext cx="0" cy="365760"/>
          </a:xfrm>
          <a:prstGeom prst="line">
            <a:avLst/>
          </a:prstGeom>
          <a:noFill/>
          <a:ln w="12700">
            <a:solidFill>
              <a:srgbClr val="00B7C3"/>
            </a:solidFill>
            <a:prstDash val="solid"/>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5644896" y="2109216"/>
            <a:ext cx="2072640" cy="487680"/>
          </a:xfrm>
          <a:prstGeom prst="rect">
            <a:avLst/>
          </a:prstGeom>
          <a:noFill/>
          <a:ln/>
        </p:spPr>
        <p:txBody>
          <a:bodyPr wrap="square" lIns="0" tIns="0" rIns="0" bIns="0" rtlCol="0" anchor="t"/>
          <a:lstStyle/>
          <a:p>
            <a:pPr defTabSz="1219170"/>
            <a:r>
              <a:rPr lang="en-US" sz="1733" b="1" dirty="0">
                <a:solidFill>
                  <a:srgbClr val="0F2A47"/>
                </a:solidFill>
                <a:latin typeface="Microsoft YaHei" pitchFamily="34" charset="0"/>
                <a:ea typeface="Microsoft YaHei" pitchFamily="34" charset="-122"/>
                <a:cs typeface="Microsoft YaHei" pitchFamily="34" charset="-120"/>
              </a:rPr>
              <a:t>Decouple before coupling</a:t>
            </a:r>
            <a:endParaRPr lang="en-US" sz="1733" dirty="0">
              <a:solidFill>
                <a:prstClr val="black"/>
              </a:solidFill>
              <a:latin typeface="Calibri" panose="020F0502020204030204"/>
            </a:endParaRPr>
          </a:p>
        </p:txBody>
      </p:sp>
      <p:sp>
        <p:nvSpPr>
          <p:cNvPr id="21" name="Text 19"/>
          <p:cNvSpPr/>
          <p:nvPr/>
        </p:nvSpPr>
        <p:spPr>
          <a:xfrm>
            <a:off x="4547616" y="2743200"/>
            <a:ext cx="3169920" cy="115824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Components fail, are replaced, and scale independently</a:t>
            </a:r>
            <a:endParaRPr lang="en-US" sz="1467" dirty="0">
              <a:solidFill>
                <a:prstClr val="black"/>
              </a:solidFill>
              <a:latin typeface="Calibri" panose="020F0502020204030204"/>
            </a:endParaRPr>
          </a:p>
        </p:txBody>
      </p:sp>
      <p:sp>
        <p:nvSpPr>
          <p:cNvPr id="22" name="Shape 20"/>
          <p:cNvSpPr/>
          <p:nvPr/>
        </p:nvSpPr>
        <p:spPr>
          <a:xfrm>
            <a:off x="8119872" y="188976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3" name="Shape 21"/>
          <p:cNvSpPr/>
          <p:nvPr/>
        </p:nvSpPr>
        <p:spPr>
          <a:xfrm>
            <a:off x="8119872" y="1889760"/>
            <a:ext cx="97536" cy="20726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4" name="Text 22"/>
          <p:cNvSpPr/>
          <p:nvPr/>
        </p:nvSpPr>
        <p:spPr>
          <a:xfrm>
            <a:off x="8363712" y="2072640"/>
            <a:ext cx="853440" cy="487680"/>
          </a:xfrm>
          <a:prstGeom prst="rect">
            <a:avLst/>
          </a:prstGeom>
          <a:noFill/>
          <a:ln/>
        </p:spPr>
        <p:txBody>
          <a:bodyPr wrap="square" lIns="0" tIns="0" rIns="0" bIns="0" rtlCol="0" anchor="ctr"/>
          <a:lstStyle/>
          <a:p>
            <a:pPr defTabSz="1219170"/>
            <a:r>
              <a:rPr lang="en-US" sz="2933" b="1" dirty="0">
                <a:solidFill>
                  <a:srgbClr val="FFB900"/>
                </a:solidFill>
                <a:latin typeface="Microsoft YaHei" pitchFamily="34" charset="0"/>
                <a:ea typeface="Microsoft YaHei" pitchFamily="34" charset="-122"/>
                <a:cs typeface="Microsoft YaHei" pitchFamily="34" charset="-120"/>
              </a:rPr>
              <a:t>03</a:t>
            </a:r>
            <a:endParaRPr lang="en-US" sz="2933" dirty="0">
              <a:solidFill>
                <a:prstClr val="black"/>
              </a:solidFill>
              <a:latin typeface="Calibri" panose="020F0502020204030204"/>
            </a:endParaRPr>
          </a:p>
        </p:txBody>
      </p:sp>
      <p:sp>
        <p:nvSpPr>
          <p:cNvPr id="25" name="Shape 23"/>
          <p:cNvSpPr/>
          <p:nvPr/>
        </p:nvSpPr>
        <p:spPr>
          <a:xfrm>
            <a:off x="9278112" y="2133600"/>
            <a:ext cx="0" cy="365760"/>
          </a:xfrm>
          <a:prstGeom prst="line">
            <a:avLst/>
          </a:prstGeom>
          <a:noFill/>
          <a:ln w="12700">
            <a:solidFill>
              <a:srgbClr val="FFB900"/>
            </a:solidFill>
            <a:prstDash val="solid"/>
          </a:ln>
        </p:spPr>
        <p:txBody>
          <a:bodyPr/>
          <a:lstStyle/>
          <a:p>
            <a:pPr defTabSz="1219170"/>
            <a:endParaRPr lang="en-CN" sz="2400">
              <a:solidFill>
                <a:prstClr val="black"/>
              </a:solidFill>
              <a:latin typeface="Calibri" panose="020F0502020204030204"/>
            </a:endParaRPr>
          </a:p>
        </p:txBody>
      </p:sp>
      <p:sp>
        <p:nvSpPr>
          <p:cNvPr id="26" name="Text 24"/>
          <p:cNvSpPr/>
          <p:nvPr/>
        </p:nvSpPr>
        <p:spPr>
          <a:xfrm>
            <a:off x="9460992" y="2109216"/>
            <a:ext cx="2072640" cy="487680"/>
          </a:xfrm>
          <a:prstGeom prst="rect">
            <a:avLst/>
          </a:prstGeom>
          <a:noFill/>
          <a:ln/>
        </p:spPr>
        <p:txBody>
          <a:bodyPr wrap="square" lIns="0" tIns="0" rIns="0" bIns="0" rtlCol="0" anchor="t"/>
          <a:lstStyle/>
          <a:p>
            <a:pPr defTabSz="1219170"/>
            <a:r>
              <a:rPr lang="en-US" sz="1733" b="1" dirty="0">
                <a:solidFill>
                  <a:srgbClr val="0F2A47"/>
                </a:solidFill>
                <a:latin typeface="Microsoft YaHei" pitchFamily="34" charset="0"/>
                <a:ea typeface="Microsoft YaHei" pitchFamily="34" charset="-122"/>
                <a:cs typeface="Microsoft YaHei" pitchFamily="34" charset="-120"/>
              </a:rPr>
              <a:t>No pets</a:t>
            </a:r>
            <a:endParaRPr lang="en-US" sz="1733" dirty="0">
              <a:solidFill>
                <a:prstClr val="black"/>
              </a:solidFill>
              <a:latin typeface="Calibri" panose="020F0502020204030204"/>
            </a:endParaRPr>
          </a:p>
        </p:txBody>
      </p:sp>
      <p:sp>
        <p:nvSpPr>
          <p:cNvPr id="27" name="Text 25"/>
          <p:cNvSpPr/>
          <p:nvPr/>
        </p:nvSpPr>
        <p:spPr>
          <a:xfrm>
            <a:off x="8363712" y="2743200"/>
            <a:ext cx="3169920" cy="115824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Treat containers, Brains, and Hands all as replaceable cattle</a:t>
            </a:r>
            <a:endParaRPr lang="en-US" sz="1467" dirty="0">
              <a:solidFill>
                <a:prstClr val="black"/>
              </a:solidFill>
              <a:latin typeface="Calibri" panose="020F0502020204030204"/>
            </a:endParaRPr>
          </a:p>
        </p:txBody>
      </p:sp>
      <p:sp>
        <p:nvSpPr>
          <p:cNvPr id="28" name="Shape 26"/>
          <p:cNvSpPr/>
          <p:nvPr/>
        </p:nvSpPr>
        <p:spPr>
          <a:xfrm>
            <a:off x="487680" y="414528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9" name="Shape 27"/>
          <p:cNvSpPr/>
          <p:nvPr/>
        </p:nvSpPr>
        <p:spPr>
          <a:xfrm>
            <a:off x="487680" y="4145280"/>
            <a:ext cx="97536" cy="207264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30" name="Text 28"/>
          <p:cNvSpPr/>
          <p:nvPr/>
        </p:nvSpPr>
        <p:spPr>
          <a:xfrm>
            <a:off x="731520" y="4328160"/>
            <a:ext cx="853440" cy="487680"/>
          </a:xfrm>
          <a:prstGeom prst="rect">
            <a:avLst/>
          </a:prstGeom>
          <a:noFill/>
          <a:ln/>
        </p:spPr>
        <p:txBody>
          <a:bodyPr wrap="square" lIns="0" tIns="0" rIns="0" bIns="0" rtlCol="0" anchor="ctr"/>
          <a:lstStyle/>
          <a:p>
            <a:pPr defTabSz="1219170"/>
            <a:r>
              <a:rPr lang="en-US" sz="2933" b="1" dirty="0">
                <a:solidFill>
                  <a:srgbClr val="107C10"/>
                </a:solidFill>
                <a:latin typeface="Microsoft YaHei" pitchFamily="34" charset="0"/>
                <a:ea typeface="Microsoft YaHei" pitchFamily="34" charset="-122"/>
                <a:cs typeface="Microsoft YaHei" pitchFamily="34" charset="-120"/>
              </a:rPr>
              <a:t>04</a:t>
            </a:r>
            <a:endParaRPr lang="en-US" sz="2933" dirty="0">
              <a:solidFill>
                <a:prstClr val="black"/>
              </a:solidFill>
              <a:latin typeface="Calibri" panose="020F0502020204030204"/>
            </a:endParaRPr>
          </a:p>
        </p:txBody>
      </p:sp>
      <p:sp>
        <p:nvSpPr>
          <p:cNvPr id="31" name="Shape 29"/>
          <p:cNvSpPr/>
          <p:nvPr/>
        </p:nvSpPr>
        <p:spPr>
          <a:xfrm>
            <a:off x="1645920" y="4389120"/>
            <a:ext cx="0" cy="365760"/>
          </a:xfrm>
          <a:prstGeom prst="line">
            <a:avLst/>
          </a:prstGeom>
          <a:noFill/>
          <a:ln w="12700">
            <a:solidFill>
              <a:srgbClr val="107C10"/>
            </a:solidFill>
            <a:prstDash val="solid"/>
          </a:ln>
        </p:spPr>
        <p:txBody>
          <a:bodyPr/>
          <a:lstStyle/>
          <a:p>
            <a:pPr defTabSz="1219170"/>
            <a:endParaRPr lang="en-CN" sz="2400">
              <a:solidFill>
                <a:prstClr val="black"/>
              </a:solidFill>
              <a:latin typeface="Calibri" panose="020F0502020204030204"/>
            </a:endParaRPr>
          </a:p>
        </p:txBody>
      </p:sp>
      <p:sp>
        <p:nvSpPr>
          <p:cNvPr id="32" name="Text 30"/>
          <p:cNvSpPr/>
          <p:nvPr/>
        </p:nvSpPr>
        <p:spPr>
          <a:xfrm>
            <a:off x="1828800" y="4364736"/>
            <a:ext cx="2072640" cy="487680"/>
          </a:xfrm>
          <a:prstGeom prst="rect">
            <a:avLst/>
          </a:prstGeom>
          <a:noFill/>
          <a:ln/>
        </p:spPr>
        <p:txBody>
          <a:bodyPr wrap="square" lIns="0" tIns="0" rIns="0" bIns="0" rtlCol="0" anchor="t"/>
          <a:lstStyle/>
          <a:p>
            <a:pPr defTabSz="1219170"/>
            <a:r>
              <a:rPr lang="en-US" sz="1733" b="1" dirty="0">
                <a:solidFill>
                  <a:srgbClr val="0F2A47"/>
                </a:solidFill>
                <a:latin typeface="Microsoft YaHei" pitchFamily="34" charset="0"/>
                <a:ea typeface="Microsoft YaHei" pitchFamily="34" charset="-122"/>
                <a:cs typeface="Microsoft YaHei" pitchFamily="34" charset="-120"/>
              </a:rPr>
              <a:t>Least privilege</a:t>
            </a:r>
            <a:endParaRPr lang="en-US" sz="1733" dirty="0">
              <a:solidFill>
                <a:prstClr val="black"/>
              </a:solidFill>
              <a:latin typeface="Calibri" panose="020F0502020204030204"/>
            </a:endParaRPr>
          </a:p>
        </p:txBody>
      </p:sp>
      <p:sp>
        <p:nvSpPr>
          <p:cNvPr id="33" name="Text 31"/>
          <p:cNvSpPr/>
          <p:nvPr/>
        </p:nvSpPr>
        <p:spPr>
          <a:xfrm>
            <a:off x="731520" y="4998720"/>
            <a:ext cx="3169920" cy="115824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Credentials never enter the sandbox — isolated via proxy or Vault</a:t>
            </a:r>
            <a:endParaRPr lang="en-US" sz="1467" dirty="0">
              <a:solidFill>
                <a:prstClr val="black"/>
              </a:solidFill>
              <a:latin typeface="Calibri" panose="020F0502020204030204"/>
            </a:endParaRPr>
          </a:p>
        </p:txBody>
      </p:sp>
      <p:sp>
        <p:nvSpPr>
          <p:cNvPr id="34" name="Shape 32"/>
          <p:cNvSpPr/>
          <p:nvPr/>
        </p:nvSpPr>
        <p:spPr>
          <a:xfrm>
            <a:off x="4303776" y="414528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5" name="Shape 33"/>
          <p:cNvSpPr/>
          <p:nvPr/>
        </p:nvSpPr>
        <p:spPr>
          <a:xfrm>
            <a:off x="4303776" y="4145280"/>
            <a:ext cx="97536" cy="207264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36" name="Text 34"/>
          <p:cNvSpPr/>
          <p:nvPr/>
        </p:nvSpPr>
        <p:spPr>
          <a:xfrm>
            <a:off x="4547616" y="4328160"/>
            <a:ext cx="853440" cy="487680"/>
          </a:xfrm>
          <a:prstGeom prst="rect">
            <a:avLst/>
          </a:prstGeom>
          <a:noFill/>
          <a:ln/>
        </p:spPr>
        <p:txBody>
          <a:bodyPr wrap="square" lIns="0" tIns="0" rIns="0" bIns="0" rtlCol="0" anchor="ctr"/>
          <a:lstStyle/>
          <a:p>
            <a:pPr defTabSz="1219170"/>
            <a:r>
              <a:rPr lang="en-US" sz="2933" b="1" dirty="0">
                <a:solidFill>
                  <a:srgbClr val="5C2D91"/>
                </a:solidFill>
                <a:latin typeface="Microsoft YaHei" pitchFamily="34" charset="0"/>
                <a:ea typeface="Microsoft YaHei" pitchFamily="34" charset="-122"/>
                <a:cs typeface="Microsoft YaHei" pitchFamily="34" charset="-120"/>
              </a:rPr>
              <a:t>05</a:t>
            </a:r>
            <a:endParaRPr lang="en-US" sz="2933" dirty="0">
              <a:solidFill>
                <a:prstClr val="black"/>
              </a:solidFill>
              <a:latin typeface="Calibri" panose="020F0502020204030204"/>
            </a:endParaRPr>
          </a:p>
        </p:txBody>
      </p:sp>
      <p:sp>
        <p:nvSpPr>
          <p:cNvPr id="37" name="Shape 35"/>
          <p:cNvSpPr/>
          <p:nvPr/>
        </p:nvSpPr>
        <p:spPr>
          <a:xfrm>
            <a:off x="5462016" y="4389120"/>
            <a:ext cx="0" cy="365760"/>
          </a:xfrm>
          <a:prstGeom prst="line">
            <a:avLst/>
          </a:prstGeom>
          <a:noFill/>
          <a:ln w="12700">
            <a:solidFill>
              <a:srgbClr val="5C2D91"/>
            </a:solidFill>
            <a:prstDash val="solid"/>
          </a:ln>
        </p:spPr>
        <p:txBody>
          <a:bodyPr/>
          <a:lstStyle/>
          <a:p>
            <a:pPr defTabSz="1219170"/>
            <a:endParaRPr lang="en-CN" sz="2400">
              <a:solidFill>
                <a:prstClr val="black"/>
              </a:solidFill>
              <a:latin typeface="Calibri" panose="020F0502020204030204"/>
            </a:endParaRPr>
          </a:p>
        </p:txBody>
      </p:sp>
      <p:sp>
        <p:nvSpPr>
          <p:cNvPr id="38" name="Text 36"/>
          <p:cNvSpPr/>
          <p:nvPr/>
        </p:nvSpPr>
        <p:spPr>
          <a:xfrm>
            <a:off x="5644896" y="4364736"/>
            <a:ext cx="2072640" cy="487680"/>
          </a:xfrm>
          <a:prstGeom prst="rect">
            <a:avLst/>
          </a:prstGeom>
          <a:noFill/>
          <a:ln/>
        </p:spPr>
        <p:txBody>
          <a:bodyPr wrap="square" lIns="0" tIns="0" rIns="0" bIns="0" rtlCol="0" anchor="t"/>
          <a:lstStyle/>
          <a:p>
            <a:pPr defTabSz="1219170"/>
            <a:r>
              <a:rPr lang="en-US" sz="1733" b="1" dirty="0">
                <a:solidFill>
                  <a:srgbClr val="0F2A47"/>
                </a:solidFill>
                <a:latin typeface="Microsoft YaHei" pitchFamily="34" charset="0"/>
                <a:ea typeface="Microsoft YaHei" pitchFamily="34" charset="-122"/>
                <a:cs typeface="Microsoft YaHei" pitchFamily="34" charset="-120"/>
              </a:rPr>
              <a:t>Externalize state</a:t>
            </a:r>
            <a:endParaRPr lang="en-US" sz="1733" dirty="0">
              <a:solidFill>
                <a:prstClr val="black"/>
              </a:solidFill>
              <a:latin typeface="Calibri" panose="020F0502020204030204"/>
            </a:endParaRPr>
          </a:p>
        </p:txBody>
      </p:sp>
      <p:sp>
        <p:nvSpPr>
          <p:cNvPr id="39" name="Text 37"/>
          <p:cNvSpPr/>
          <p:nvPr/>
        </p:nvSpPr>
        <p:spPr>
          <a:xfrm>
            <a:off x="4547616" y="4998720"/>
            <a:ext cx="3169920" cy="115824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Event log stored independently — recoverable, replayable, auditable</a:t>
            </a:r>
            <a:endParaRPr lang="en-US" sz="1467" dirty="0">
              <a:solidFill>
                <a:prstClr val="black"/>
              </a:solidFill>
              <a:latin typeface="Calibri" panose="020F0502020204030204"/>
            </a:endParaRPr>
          </a:p>
        </p:txBody>
      </p:sp>
      <p:sp>
        <p:nvSpPr>
          <p:cNvPr id="40" name="Shape 38"/>
          <p:cNvSpPr/>
          <p:nvPr/>
        </p:nvSpPr>
        <p:spPr>
          <a:xfrm>
            <a:off x="8119872" y="414528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41" name="Shape 39"/>
          <p:cNvSpPr/>
          <p:nvPr/>
        </p:nvSpPr>
        <p:spPr>
          <a:xfrm>
            <a:off x="8119872" y="4145280"/>
            <a:ext cx="97536" cy="207264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42" name="Text 40"/>
          <p:cNvSpPr/>
          <p:nvPr/>
        </p:nvSpPr>
        <p:spPr>
          <a:xfrm>
            <a:off x="8363712" y="4328160"/>
            <a:ext cx="853440" cy="487680"/>
          </a:xfrm>
          <a:prstGeom prst="rect">
            <a:avLst/>
          </a:prstGeom>
          <a:noFill/>
          <a:ln/>
        </p:spPr>
        <p:txBody>
          <a:bodyPr wrap="square" lIns="0" tIns="0" rIns="0" bIns="0" rtlCol="0" anchor="ctr"/>
          <a:lstStyle/>
          <a:p>
            <a:pPr defTabSz="1219170"/>
            <a:r>
              <a:rPr lang="en-US" sz="2933" b="1" dirty="0">
                <a:solidFill>
                  <a:srgbClr val="E81123"/>
                </a:solidFill>
                <a:latin typeface="Microsoft YaHei" pitchFamily="34" charset="0"/>
                <a:ea typeface="Microsoft YaHei" pitchFamily="34" charset="-122"/>
                <a:cs typeface="Microsoft YaHei" pitchFamily="34" charset="-120"/>
              </a:rPr>
              <a:t>06</a:t>
            </a:r>
            <a:endParaRPr lang="en-US" sz="2933" dirty="0">
              <a:solidFill>
                <a:prstClr val="black"/>
              </a:solidFill>
              <a:latin typeface="Calibri" panose="020F0502020204030204"/>
            </a:endParaRPr>
          </a:p>
        </p:txBody>
      </p:sp>
      <p:sp>
        <p:nvSpPr>
          <p:cNvPr id="43" name="Shape 41"/>
          <p:cNvSpPr/>
          <p:nvPr/>
        </p:nvSpPr>
        <p:spPr>
          <a:xfrm>
            <a:off x="9278112" y="4389120"/>
            <a:ext cx="0" cy="365760"/>
          </a:xfrm>
          <a:prstGeom prst="line">
            <a:avLst/>
          </a:prstGeom>
          <a:noFill/>
          <a:ln w="12700">
            <a:solidFill>
              <a:srgbClr val="E81123"/>
            </a:solidFill>
            <a:prstDash val="solid"/>
          </a:ln>
        </p:spPr>
        <p:txBody>
          <a:bodyPr/>
          <a:lstStyle/>
          <a:p>
            <a:pPr defTabSz="1219170"/>
            <a:endParaRPr lang="en-CN" sz="2400">
              <a:solidFill>
                <a:prstClr val="black"/>
              </a:solidFill>
              <a:latin typeface="Calibri" panose="020F0502020204030204"/>
            </a:endParaRPr>
          </a:p>
        </p:txBody>
      </p:sp>
      <p:sp>
        <p:nvSpPr>
          <p:cNvPr id="44" name="Text 42"/>
          <p:cNvSpPr/>
          <p:nvPr/>
        </p:nvSpPr>
        <p:spPr>
          <a:xfrm>
            <a:off x="9460992" y="4364736"/>
            <a:ext cx="2072640" cy="487680"/>
          </a:xfrm>
          <a:prstGeom prst="rect">
            <a:avLst/>
          </a:prstGeom>
          <a:noFill/>
          <a:ln/>
        </p:spPr>
        <p:txBody>
          <a:bodyPr wrap="square" lIns="0" tIns="0" rIns="0" bIns="0" rtlCol="0" anchor="t"/>
          <a:lstStyle/>
          <a:p>
            <a:pPr defTabSz="1219170"/>
            <a:r>
              <a:rPr lang="en-US" sz="1733" b="1" dirty="0">
                <a:solidFill>
                  <a:srgbClr val="0F2A47"/>
                </a:solidFill>
                <a:latin typeface="Microsoft YaHei" pitchFamily="34" charset="0"/>
                <a:ea typeface="Microsoft YaHei" pitchFamily="34" charset="-122"/>
                <a:cs typeface="Microsoft YaHei" pitchFamily="34" charset="-120"/>
              </a:rPr>
              <a:t>Continuously question assumptions</a:t>
            </a:r>
            <a:endParaRPr lang="en-US" sz="1733" dirty="0">
              <a:solidFill>
                <a:prstClr val="black"/>
              </a:solidFill>
              <a:latin typeface="Calibri" panose="020F0502020204030204"/>
            </a:endParaRPr>
          </a:p>
        </p:txBody>
      </p:sp>
      <p:sp>
        <p:nvSpPr>
          <p:cNvPr id="45" name="Text 43"/>
          <p:cNvSpPr/>
          <p:nvPr/>
        </p:nvSpPr>
        <p:spPr>
          <a:xfrm>
            <a:off x="8363712" y="4998720"/>
            <a:ext cx="3169920" cy="115824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After model upgrades, old Harness fallback logic may become dead code</a:t>
            </a:r>
            <a:endParaRPr lang="en-US" sz="1467" dirty="0">
              <a:solidFill>
                <a:prstClr val="black"/>
              </a:solidFill>
              <a:latin typeface="Calibri" panose="020F050202020403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04 · Practice</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Key techniques for context engineering</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Bridge between Session and Context Window</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35 / 40</a:t>
            </a:r>
            <a:endParaRPr lang="en-US" sz="1200" dirty="0">
              <a:solidFill>
                <a:prstClr val="black"/>
              </a:solidFill>
              <a:latin typeface="Calibri" panose="020F0502020204030204"/>
            </a:endParaRPr>
          </a:p>
        </p:txBody>
      </p:sp>
      <p:sp>
        <p:nvSpPr>
          <p:cNvPr id="10" name="Shape 8"/>
          <p:cNvSpPr/>
          <p:nvPr/>
        </p:nvSpPr>
        <p:spPr>
          <a:xfrm>
            <a:off x="487680" y="1889760"/>
            <a:ext cx="5608320" cy="4511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45110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5120640" cy="390144"/>
          </a:xfrm>
          <a:prstGeom prst="rect">
            <a:avLst/>
          </a:prstGeom>
          <a:noFill/>
          <a:ln/>
        </p:spPr>
        <p:txBody>
          <a:bodyPr wrap="square" lIns="0" tIns="0" rIns="0" bIns="0" rtlCol="0" anchor="ctr"/>
          <a:lstStyle/>
          <a:p>
            <a:pPr defTabSz="1219170"/>
            <a:r>
              <a:rPr lang="en-US" sz="1867" b="1" dirty="0">
                <a:solidFill>
                  <a:srgbClr val="0078D4"/>
                </a:solidFill>
                <a:latin typeface="Microsoft YaHei" pitchFamily="34" charset="0"/>
                <a:ea typeface="Microsoft YaHei" pitchFamily="34" charset="-122"/>
                <a:cs typeface="Microsoft YaHei" pitchFamily="34" charset="-120"/>
              </a:rPr>
              <a:t>Common techniques</a:t>
            </a:r>
            <a:endParaRPr lang="en-US" sz="1867" dirty="0">
              <a:solidFill>
                <a:prstClr val="black"/>
              </a:solidFill>
              <a:latin typeface="Calibri" panose="020F0502020204030204"/>
            </a:endParaRPr>
          </a:p>
        </p:txBody>
      </p:sp>
      <p:sp>
        <p:nvSpPr>
          <p:cNvPr id="13" name="Shape 11"/>
          <p:cNvSpPr/>
          <p:nvPr/>
        </p:nvSpPr>
        <p:spPr>
          <a:xfrm>
            <a:off x="731520" y="2560320"/>
            <a:ext cx="73152" cy="60960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4" name="Text 12"/>
          <p:cNvSpPr/>
          <p:nvPr/>
        </p:nvSpPr>
        <p:spPr>
          <a:xfrm>
            <a:off x="950976" y="2560320"/>
            <a:ext cx="4876800" cy="304800"/>
          </a:xfrm>
          <a:prstGeom prst="rect">
            <a:avLst/>
          </a:prstGeom>
          <a:noFill/>
          <a:ln/>
        </p:spPr>
        <p:txBody>
          <a:bodyPr wrap="square" lIns="0" tIns="0" rIns="0" bIns="0" rtlCol="0" anchor="ctr"/>
          <a:lstStyle/>
          <a:p>
            <a:pPr defTabSz="1219170"/>
            <a:r>
              <a:rPr lang="en-US" sz="1600" b="1" dirty="0">
                <a:solidFill>
                  <a:srgbClr val="0F2A47"/>
                </a:solidFill>
                <a:latin typeface="Microsoft YaHei" pitchFamily="34" charset="0"/>
                <a:ea typeface="Microsoft YaHei" pitchFamily="34" charset="-122"/>
                <a:cs typeface="Microsoft YaHei" pitchFamily="34" charset="-120"/>
              </a:rPr>
              <a:t>Compaction</a:t>
            </a:r>
            <a:endParaRPr lang="en-US" sz="1600" dirty="0">
              <a:solidFill>
                <a:prstClr val="black"/>
              </a:solidFill>
              <a:latin typeface="Calibri" panose="020F0502020204030204"/>
            </a:endParaRPr>
          </a:p>
        </p:txBody>
      </p:sp>
      <p:sp>
        <p:nvSpPr>
          <p:cNvPr id="15" name="Text 13"/>
          <p:cNvSpPr/>
          <p:nvPr/>
        </p:nvSpPr>
        <p:spPr>
          <a:xfrm>
            <a:off x="950976" y="2865120"/>
            <a:ext cx="4876800" cy="365760"/>
          </a:xfrm>
          <a:prstGeom prst="rect">
            <a:avLst/>
          </a:prstGeom>
          <a:noFill/>
          <a:ln/>
        </p:spPr>
        <p:txBody>
          <a:bodyPr wrap="square" lIns="0" tIns="0" rIns="0" bIns="0" rtlCol="0" anchor="ctr"/>
          <a:lstStyle/>
          <a:p>
            <a:pPr defTabSz="1219170"/>
            <a:r>
              <a:rPr lang="en-US" sz="1400" dirty="0">
                <a:solidFill>
                  <a:srgbClr val="5B6671"/>
                </a:solidFill>
                <a:latin typeface="Microsoft YaHei" pitchFamily="34" charset="0"/>
                <a:ea typeface="Microsoft YaHei" pitchFamily="34" charset="-122"/>
                <a:cs typeface="Microsoft YaHei" pitchFamily="34" charset="-120"/>
              </a:rPr>
              <a:t>Compress context into summaries — periodically write back</a:t>
            </a:r>
            <a:endParaRPr lang="en-US" sz="1400" dirty="0">
              <a:solidFill>
                <a:prstClr val="black"/>
              </a:solidFill>
              <a:latin typeface="Calibri" panose="020F0502020204030204"/>
            </a:endParaRPr>
          </a:p>
        </p:txBody>
      </p:sp>
      <p:sp>
        <p:nvSpPr>
          <p:cNvPr id="16" name="Shape 14"/>
          <p:cNvSpPr/>
          <p:nvPr/>
        </p:nvSpPr>
        <p:spPr>
          <a:xfrm>
            <a:off x="731520" y="3291840"/>
            <a:ext cx="73152" cy="60960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7" name="Text 15"/>
          <p:cNvSpPr/>
          <p:nvPr/>
        </p:nvSpPr>
        <p:spPr>
          <a:xfrm>
            <a:off x="950976" y="3291840"/>
            <a:ext cx="4876800" cy="304800"/>
          </a:xfrm>
          <a:prstGeom prst="rect">
            <a:avLst/>
          </a:prstGeom>
          <a:noFill/>
          <a:ln/>
        </p:spPr>
        <p:txBody>
          <a:bodyPr wrap="square" lIns="0" tIns="0" rIns="0" bIns="0" rtlCol="0" anchor="ctr"/>
          <a:lstStyle/>
          <a:p>
            <a:pPr defTabSz="1219170"/>
            <a:r>
              <a:rPr lang="en-US" sz="1600" b="1" dirty="0">
                <a:solidFill>
                  <a:srgbClr val="0F2A47"/>
                </a:solidFill>
                <a:latin typeface="Microsoft YaHei" pitchFamily="34" charset="0"/>
                <a:ea typeface="Microsoft YaHei" pitchFamily="34" charset="-122"/>
                <a:cs typeface="Microsoft YaHei" pitchFamily="34" charset="-120"/>
              </a:rPr>
              <a:t>Memory Tool</a:t>
            </a:r>
            <a:endParaRPr lang="en-US" sz="1600" dirty="0">
              <a:solidFill>
                <a:prstClr val="black"/>
              </a:solidFill>
              <a:latin typeface="Calibri" panose="020F0502020204030204"/>
            </a:endParaRPr>
          </a:p>
        </p:txBody>
      </p:sp>
      <p:sp>
        <p:nvSpPr>
          <p:cNvPr id="18" name="Text 16"/>
          <p:cNvSpPr/>
          <p:nvPr/>
        </p:nvSpPr>
        <p:spPr>
          <a:xfrm>
            <a:off x="950976" y="3596640"/>
            <a:ext cx="4876800" cy="365760"/>
          </a:xfrm>
          <a:prstGeom prst="rect">
            <a:avLst/>
          </a:prstGeom>
          <a:noFill/>
          <a:ln/>
        </p:spPr>
        <p:txBody>
          <a:bodyPr wrap="square" lIns="0" tIns="0" rIns="0" bIns="0" rtlCol="0" anchor="ctr"/>
          <a:lstStyle/>
          <a:p>
            <a:pPr defTabSz="1219170"/>
            <a:r>
              <a:rPr lang="en-US" sz="1400" dirty="0">
                <a:solidFill>
                  <a:srgbClr val="5B6671"/>
                </a:solidFill>
                <a:latin typeface="Microsoft YaHei" pitchFamily="34" charset="0"/>
                <a:ea typeface="Microsoft YaHei" pitchFamily="34" charset="-122"/>
                <a:cs typeface="Microsoft YaHei" pitchFamily="34" charset="-120"/>
              </a:rPr>
              <a:t>Claude proactively writes files — enabling cross-session learning</a:t>
            </a:r>
            <a:endParaRPr lang="en-US" sz="1400" dirty="0">
              <a:solidFill>
                <a:prstClr val="black"/>
              </a:solidFill>
              <a:latin typeface="Calibri" panose="020F0502020204030204"/>
            </a:endParaRPr>
          </a:p>
        </p:txBody>
      </p:sp>
      <p:sp>
        <p:nvSpPr>
          <p:cNvPr id="19" name="Shape 17"/>
          <p:cNvSpPr/>
          <p:nvPr/>
        </p:nvSpPr>
        <p:spPr>
          <a:xfrm>
            <a:off x="731520" y="4023360"/>
            <a:ext cx="73152" cy="60960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950976" y="4023360"/>
            <a:ext cx="4876800" cy="304800"/>
          </a:xfrm>
          <a:prstGeom prst="rect">
            <a:avLst/>
          </a:prstGeom>
          <a:noFill/>
          <a:ln/>
        </p:spPr>
        <p:txBody>
          <a:bodyPr wrap="square" lIns="0" tIns="0" rIns="0" bIns="0" rtlCol="0" anchor="ctr"/>
          <a:lstStyle/>
          <a:p>
            <a:pPr defTabSz="1219170"/>
            <a:r>
              <a:rPr lang="en-US" sz="1600" b="1" dirty="0">
                <a:solidFill>
                  <a:srgbClr val="0F2A47"/>
                </a:solidFill>
                <a:latin typeface="Microsoft YaHei" pitchFamily="34" charset="0"/>
                <a:ea typeface="Microsoft YaHei" pitchFamily="34" charset="-122"/>
                <a:cs typeface="Microsoft YaHei" pitchFamily="34" charset="-120"/>
              </a:rPr>
              <a:t>Context Trimming</a:t>
            </a:r>
            <a:endParaRPr lang="en-US" sz="1600" dirty="0">
              <a:solidFill>
                <a:prstClr val="black"/>
              </a:solidFill>
              <a:latin typeface="Calibri" panose="020F0502020204030204"/>
            </a:endParaRPr>
          </a:p>
        </p:txBody>
      </p:sp>
      <p:sp>
        <p:nvSpPr>
          <p:cNvPr id="21" name="Text 19"/>
          <p:cNvSpPr/>
          <p:nvPr/>
        </p:nvSpPr>
        <p:spPr>
          <a:xfrm>
            <a:off x="950976" y="4328160"/>
            <a:ext cx="4876800" cy="365760"/>
          </a:xfrm>
          <a:prstGeom prst="rect">
            <a:avLst/>
          </a:prstGeom>
          <a:noFill/>
          <a:ln/>
        </p:spPr>
        <p:txBody>
          <a:bodyPr wrap="square" lIns="0" tIns="0" rIns="0" bIns="0" rtlCol="0" anchor="ctr"/>
          <a:lstStyle/>
          <a:p>
            <a:pPr defTabSz="1219170"/>
            <a:r>
              <a:rPr lang="en-US" sz="1400" dirty="0">
                <a:solidFill>
                  <a:srgbClr val="5B6671"/>
                </a:solidFill>
                <a:latin typeface="Microsoft YaHei" pitchFamily="34" charset="0"/>
                <a:ea typeface="Microsoft YaHei" pitchFamily="34" charset="-122"/>
                <a:cs typeface="Microsoft YaHei" pitchFamily="34" charset="-120"/>
              </a:rPr>
              <a:t>Selectively delete old tool results or thinking blocks</a:t>
            </a:r>
            <a:endParaRPr lang="en-US" sz="1400" dirty="0">
              <a:solidFill>
                <a:prstClr val="black"/>
              </a:solidFill>
              <a:latin typeface="Calibri" panose="020F0502020204030204"/>
            </a:endParaRPr>
          </a:p>
        </p:txBody>
      </p:sp>
      <p:sp>
        <p:nvSpPr>
          <p:cNvPr id="22" name="Shape 20"/>
          <p:cNvSpPr/>
          <p:nvPr/>
        </p:nvSpPr>
        <p:spPr>
          <a:xfrm>
            <a:off x="731520" y="4754880"/>
            <a:ext cx="73152" cy="60960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3" name="Text 21"/>
          <p:cNvSpPr/>
          <p:nvPr/>
        </p:nvSpPr>
        <p:spPr>
          <a:xfrm>
            <a:off x="950976" y="4754880"/>
            <a:ext cx="4876800" cy="304800"/>
          </a:xfrm>
          <a:prstGeom prst="rect">
            <a:avLst/>
          </a:prstGeom>
          <a:noFill/>
          <a:ln/>
        </p:spPr>
        <p:txBody>
          <a:bodyPr wrap="square" lIns="0" tIns="0" rIns="0" bIns="0" rtlCol="0" anchor="ctr"/>
          <a:lstStyle/>
          <a:p>
            <a:pPr defTabSz="1219170"/>
            <a:r>
              <a:rPr lang="en-US" sz="1600" b="1" dirty="0">
                <a:solidFill>
                  <a:srgbClr val="0F2A47"/>
                </a:solidFill>
                <a:latin typeface="Microsoft YaHei" pitchFamily="34" charset="0"/>
                <a:ea typeface="Microsoft YaHei" pitchFamily="34" charset="-122"/>
                <a:cs typeface="Microsoft YaHei" pitchFamily="34" charset="-120"/>
              </a:rPr>
              <a:t>Event Replay</a:t>
            </a:r>
            <a:endParaRPr lang="en-US" sz="1600" dirty="0">
              <a:solidFill>
                <a:prstClr val="black"/>
              </a:solidFill>
              <a:latin typeface="Calibri" panose="020F0502020204030204"/>
            </a:endParaRPr>
          </a:p>
        </p:txBody>
      </p:sp>
      <p:sp>
        <p:nvSpPr>
          <p:cNvPr id="24" name="Text 22"/>
          <p:cNvSpPr/>
          <p:nvPr/>
        </p:nvSpPr>
        <p:spPr>
          <a:xfrm>
            <a:off x="950976" y="5059680"/>
            <a:ext cx="4876800" cy="365760"/>
          </a:xfrm>
          <a:prstGeom prst="rect">
            <a:avLst/>
          </a:prstGeom>
          <a:noFill/>
          <a:ln/>
        </p:spPr>
        <p:txBody>
          <a:bodyPr wrap="square" lIns="0" tIns="0" rIns="0" bIns="0" rtlCol="0" anchor="ctr"/>
          <a:lstStyle/>
          <a:p>
            <a:pPr defTabSz="1219170"/>
            <a:r>
              <a:rPr lang="en-US" sz="1400" dirty="0">
                <a:solidFill>
                  <a:srgbClr val="5B6671"/>
                </a:solidFill>
                <a:latin typeface="Microsoft YaHei" pitchFamily="34" charset="0"/>
                <a:ea typeface="Microsoft YaHei" pitchFamily="34" charset="-122"/>
                <a:cs typeface="Microsoft YaHei" pitchFamily="34" charset="-120"/>
              </a:rPr>
              <a:t>Replay history slices via getEvents()</a:t>
            </a:r>
            <a:endParaRPr lang="en-US" sz="1400" dirty="0">
              <a:solidFill>
                <a:prstClr val="black"/>
              </a:solidFill>
              <a:latin typeface="Calibri" panose="020F0502020204030204"/>
            </a:endParaRPr>
          </a:p>
        </p:txBody>
      </p:sp>
      <p:sp>
        <p:nvSpPr>
          <p:cNvPr id="25" name="Shape 23"/>
          <p:cNvSpPr/>
          <p:nvPr/>
        </p:nvSpPr>
        <p:spPr>
          <a:xfrm>
            <a:off x="731520" y="5486400"/>
            <a:ext cx="73152" cy="60960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26" name="Text 24"/>
          <p:cNvSpPr/>
          <p:nvPr/>
        </p:nvSpPr>
        <p:spPr>
          <a:xfrm>
            <a:off x="950976" y="5486400"/>
            <a:ext cx="4876800" cy="304800"/>
          </a:xfrm>
          <a:prstGeom prst="rect">
            <a:avLst/>
          </a:prstGeom>
          <a:noFill/>
          <a:ln/>
        </p:spPr>
        <p:txBody>
          <a:bodyPr wrap="square" lIns="0" tIns="0" rIns="0" bIns="0" rtlCol="0" anchor="ctr"/>
          <a:lstStyle/>
          <a:p>
            <a:pPr defTabSz="1219170"/>
            <a:r>
              <a:rPr lang="en-US" sz="1600" b="1" dirty="0">
                <a:solidFill>
                  <a:srgbClr val="0F2A47"/>
                </a:solidFill>
                <a:latin typeface="Microsoft YaHei" pitchFamily="34" charset="0"/>
                <a:ea typeface="Microsoft YaHei" pitchFamily="34" charset="-122"/>
                <a:cs typeface="Microsoft YaHei" pitchFamily="34" charset="-120"/>
              </a:rPr>
              <a:t>Cache optimization</a:t>
            </a:r>
            <a:endParaRPr lang="en-US" sz="1600" dirty="0">
              <a:solidFill>
                <a:prstClr val="black"/>
              </a:solidFill>
              <a:latin typeface="Calibri" panose="020F0502020204030204"/>
            </a:endParaRPr>
          </a:p>
        </p:txBody>
      </p:sp>
      <p:sp>
        <p:nvSpPr>
          <p:cNvPr id="27" name="Text 25"/>
          <p:cNvSpPr/>
          <p:nvPr/>
        </p:nvSpPr>
        <p:spPr>
          <a:xfrm>
            <a:off x="950976" y="5791200"/>
            <a:ext cx="4876800" cy="365760"/>
          </a:xfrm>
          <a:prstGeom prst="rect">
            <a:avLst/>
          </a:prstGeom>
          <a:noFill/>
          <a:ln/>
        </p:spPr>
        <p:txBody>
          <a:bodyPr wrap="square" lIns="0" tIns="0" rIns="0" bIns="0" rtlCol="0" anchor="ctr"/>
          <a:lstStyle/>
          <a:p>
            <a:pPr defTabSz="1219170"/>
            <a:r>
              <a:rPr lang="en-US" sz="1400" dirty="0">
                <a:solidFill>
                  <a:srgbClr val="5B6671"/>
                </a:solidFill>
                <a:latin typeface="Microsoft YaHei" pitchFamily="34" charset="0"/>
                <a:ea typeface="Microsoft YaHei" pitchFamily="34" charset="-122"/>
                <a:cs typeface="Microsoft YaHei" pitchFamily="34" charset="-120"/>
              </a:rPr>
              <a:t>Organize context to boost Prompt Cache hits</a:t>
            </a:r>
            <a:endParaRPr lang="en-US" sz="1400" dirty="0">
              <a:solidFill>
                <a:prstClr val="black"/>
              </a:solidFill>
              <a:latin typeface="Calibri" panose="020F0502020204030204"/>
            </a:endParaRPr>
          </a:p>
        </p:txBody>
      </p:sp>
      <p:sp>
        <p:nvSpPr>
          <p:cNvPr id="28" name="Shape 26"/>
          <p:cNvSpPr/>
          <p:nvPr/>
        </p:nvSpPr>
        <p:spPr>
          <a:xfrm>
            <a:off x="6339840" y="1889760"/>
            <a:ext cx="5364480" cy="45110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9" name="Shape 27"/>
          <p:cNvSpPr/>
          <p:nvPr/>
        </p:nvSpPr>
        <p:spPr>
          <a:xfrm>
            <a:off x="6339840" y="1889760"/>
            <a:ext cx="97536" cy="45110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0" name="Text 28"/>
          <p:cNvSpPr/>
          <p:nvPr/>
        </p:nvSpPr>
        <p:spPr>
          <a:xfrm>
            <a:off x="6583680" y="2072640"/>
            <a:ext cx="4876800" cy="390144"/>
          </a:xfrm>
          <a:prstGeom prst="rect">
            <a:avLst/>
          </a:prstGeom>
          <a:noFill/>
          <a:ln/>
        </p:spPr>
        <p:txBody>
          <a:bodyPr wrap="square" lIns="0" tIns="0" rIns="0" bIns="0" rtlCol="0" anchor="ctr"/>
          <a:lstStyle/>
          <a:p>
            <a:pPr defTabSz="1219170"/>
            <a:r>
              <a:rPr lang="en-US" sz="1867" b="1" dirty="0">
                <a:solidFill>
                  <a:srgbClr val="FFB900"/>
                </a:solidFill>
                <a:latin typeface="Microsoft YaHei" pitchFamily="34" charset="0"/>
                <a:ea typeface="Microsoft YaHei" pitchFamily="34" charset="-122"/>
                <a:cs typeface="Microsoft YaHei" pitchFamily="34" charset="-120"/>
              </a:rPr>
              <a:t>Golden rules</a:t>
            </a:r>
            <a:endParaRPr lang="en-US" sz="1867" dirty="0">
              <a:solidFill>
                <a:prstClr val="black"/>
              </a:solidFill>
              <a:latin typeface="Calibri" panose="020F0502020204030204"/>
            </a:endParaRPr>
          </a:p>
        </p:txBody>
      </p:sp>
      <p:sp>
        <p:nvSpPr>
          <p:cNvPr id="31" name="Text 29"/>
          <p:cNvSpPr/>
          <p:nvPr/>
        </p:nvSpPr>
        <p:spPr>
          <a:xfrm>
            <a:off x="6583680" y="2499360"/>
            <a:ext cx="4876800" cy="487680"/>
          </a:xfrm>
          <a:prstGeom prst="rect">
            <a:avLst/>
          </a:prstGeom>
          <a:noFill/>
          <a:ln/>
        </p:spPr>
        <p:txBody>
          <a:bodyPr wrap="square" lIns="0" tIns="0" rIns="0" bIns="0" rtlCol="0" anchor="ctr"/>
          <a:lstStyle/>
          <a:p>
            <a:pPr defTabSz="1219170"/>
            <a:r>
              <a:rPr lang="en-US" sz="2133" b="1" dirty="0">
                <a:solidFill>
                  <a:srgbClr val="0F2A47"/>
                </a:solidFill>
                <a:latin typeface="Microsoft YaHei" pitchFamily="34" charset="0"/>
                <a:ea typeface="Microsoft YaHei" pitchFamily="34" charset="-122"/>
                <a:cs typeface="Microsoft YaHei" pitchFamily="34" charset="-120"/>
              </a:rPr>
              <a:t>Session ≠ Context Window</a:t>
            </a:r>
            <a:endParaRPr lang="en-US" sz="2133" dirty="0">
              <a:solidFill>
                <a:prstClr val="black"/>
              </a:solidFill>
              <a:latin typeface="Calibri" panose="020F0502020204030204"/>
            </a:endParaRPr>
          </a:p>
        </p:txBody>
      </p:sp>
      <p:sp>
        <p:nvSpPr>
          <p:cNvPr id="32" name="Shape 30"/>
          <p:cNvSpPr/>
          <p:nvPr/>
        </p:nvSpPr>
        <p:spPr>
          <a:xfrm>
            <a:off x="6583680" y="3048000"/>
            <a:ext cx="1219200" cy="0"/>
          </a:xfrm>
          <a:prstGeom prst="line">
            <a:avLst/>
          </a:prstGeom>
          <a:noFill/>
          <a:ln w="25400">
            <a:solidFill>
              <a:srgbClr val="FFB900"/>
            </a:solidFill>
            <a:prstDash val="solid"/>
          </a:ln>
        </p:spPr>
        <p:txBody>
          <a:bodyPr/>
          <a:lstStyle/>
          <a:p>
            <a:pPr defTabSz="1219170"/>
            <a:endParaRPr lang="en-CN" sz="2400">
              <a:solidFill>
                <a:prstClr val="black"/>
              </a:solidFill>
              <a:latin typeface="Calibri" panose="020F0502020204030204"/>
            </a:endParaRPr>
          </a:p>
        </p:txBody>
      </p:sp>
      <p:sp>
        <p:nvSpPr>
          <p:cNvPr id="33" name="Text 31"/>
          <p:cNvSpPr/>
          <p:nvPr/>
        </p:nvSpPr>
        <p:spPr>
          <a:xfrm>
            <a:off x="6583680" y="3291840"/>
            <a:ext cx="4876800" cy="3108960"/>
          </a:xfrm>
          <a:prstGeom prst="rect">
            <a:avLst/>
          </a:prstGeom>
          <a:noFill/>
          <a:ln/>
        </p:spPr>
        <p:txBody>
          <a:bodyPr wrap="square" rtlCol="0" anchor="t"/>
          <a:lstStyle/>
          <a:p>
            <a:pPr marL="457189" indent="-457189" defTabSz="1219170">
              <a:spcAft>
                <a:spcPts val="800"/>
              </a:spcAft>
              <a:buSzPct val="100000"/>
              <a:buFontTx/>
              <a:buChar char="▸"/>
            </a:pPr>
            <a:r>
              <a:rPr lang="en-US" sz="1400" dirty="0">
                <a:solidFill>
                  <a:srgbClr val="FFB900"/>
                </a:solidFill>
                <a:latin typeface="Microsoft YaHei" pitchFamily="34" charset="0"/>
                <a:ea typeface="Microsoft YaHei" pitchFamily="34" charset="-122"/>
                <a:cs typeface="Microsoft YaHei" pitchFamily="34" charset="-120"/>
              </a:rPr>
              <a:t>Session is recoverable event storage; Context is the current inference input.</a:t>
            </a:r>
            <a:endParaRPr lang="en-US" sz="1400" dirty="0">
              <a:solidFill>
                <a:prstClr val="black"/>
              </a:solidFill>
              <a:latin typeface="Calibri" panose="020F0502020204030204"/>
            </a:endParaRPr>
          </a:p>
          <a:p>
            <a:pPr marL="457189" indent="-457189" defTabSz="1219170">
              <a:spcAft>
                <a:spcPts val="800"/>
              </a:spcAft>
              <a:buSzPct val="100000"/>
              <a:buFontTx/>
              <a:buChar char="▸"/>
            </a:pPr>
            <a:r>
              <a:rPr lang="en-US" sz="1400" dirty="0">
                <a:solidFill>
                  <a:srgbClr val="FFB900"/>
                </a:solidFill>
                <a:latin typeface="Microsoft YaHei" pitchFamily="34" charset="0"/>
                <a:ea typeface="Microsoft YaHei" pitchFamily="34" charset="-122"/>
                <a:cs typeface="Microsoft YaHei" pitchFamily="34" charset="-120"/>
              </a:rPr>
              <a:t>Leave irreversible decisions (compaction, trimming) to the Harness — keep Session intact.</a:t>
            </a:r>
            <a:endParaRPr lang="en-US" sz="1400" dirty="0">
              <a:solidFill>
                <a:prstClr val="black"/>
              </a:solidFill>
              <a:latin typeface="Calibri" panose="020F0502020204030204"/>
            </a:endParaRPr>
          </a:p>
          <a:p>
            <a:pPr marL="457189" indent="-457189" defTabSz="1219170">
              <a:spcAft>
                <a:spcPts val="800"/>
              </a:spcAft>
              <a:buSzPct val="100000"/>
              <a:buFontTx/>
              <a:buChar char="▸"/>
            </a:pPr>
            <a:r>
              <a:rPr lang="en-US" sz="1400" dirty="0">
                <a:solidFill>
                  <a:srgbClr val="FFB900"/>
                </a:solidFill>
                <a:latin typeface="Microsoft YaHei" pitchFamily="34" charset="0"/>
                <a:ea typeface="Microsoft YaHei" pitchFamily="34" charset="-122"/>
                <a:cs typeface="Microsoft YaHei" pitchFamily="34" charset="-120"/>
              </a:rPr>
              <a:t>Use position-slice interfaces — let Brain return to any historical point.</a:t>
            </a:r>
            <a:endParaRPr lang="en-US" sz="1400" dirty="0">
              <a:solidFill>
                <a:prstClr val="black"/>
              </a:solidFill>
              <a:latin typeface="Calibri" panose="020F0502020204030204"/>
            </a:endParaRPr>
          </a:p>
          <a:p>
            <a:pPr marL="457189" indent="-457189" defTabSz="1219170">
              <a:spcAft>
                <a:spcPts val="800"/>
              </a:spcAft>
              <a:buSzPct val="100000"/>
              <a:buFontTx/>
              <a:buChar char="▸"/>
            </a:pPr>
            <a:r>
              <a:rPr lang="en-US" sz="1400" dirty="0">
                <a:solidFill>
                  <a:srgbClr val="FFB900"/>
                </a:solidFill>
                <a:latin typeface="Microsoft YaHei" pitchFamily="34" charset="0"/>
                <a:ea typeface="Microsoft YaHei" pitchFamily="34" charset="-122"/>
                <a:cs typeface="Microsoft YaHei" pitchFamily="34" charset="-120"/>
              </a:rPr>
              <a:t>Harness can transform data freely before writing into Context.</a:t>
            </a:r>
            <a:endParaRPr lang="en-US" sz="1400" dirty="0">
              <a:solidFill>
                <a:prstClr val="black"/>
              </a:solidFill>
              <a:latin typeface="Calibri" panose="020F0502020204030204"/>
            </a:endParaRPr>
          </a:p>
          <a:p>
            <a:pPr marL="457189" indent="-457189" defTabSz="1219170">
              <a:spcAft>
                <a:spcPts val="800"/>
              </a:spcAft>
              <a:buSzPct val="100000"/>
              <a:buFontTx/>
              <a:buChar char="▸"/>
            </a:pPr>
            <a:r>
              <a:rPr lang="en-US" sz="1400" dirty="0">
                <a:solidFill>
                  <a:srgbClr val="FFB900"/>
                </a:solidFill>
                <a:latin typeface="Microsoft YaHei" pitchFamily="34" charset="0"/>
                <a:ea typeface="Microsoft YaHei" pitchFamily="34" charset="-122"/>
                <a:cs typeface="Microsoft YaHei" pitchFamily="34" charset="-120"/>
              </a:rPr>
              <a:t>Future models may not need these techniques — interfaces must leave room for change.</a:t>
            </a:r>
            <a:endParaRPr lang="en-US" sz="1400" dirty="0">
              <a:solidFill>
                <a:prstClr val="black"/>
              </a:solidFill>
              <a:latin typeface="Calibri" panose="020F0502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04 · Practice</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Performance optimization: TTFT is the key user-felt metric</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Time-To-First-Token decides how long the user feels they're waiting</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36 / 40</a:t>
            </a:r>
            <a:endParaRPr lang="en-US" sz="1200" dirty="0">
              <a:solidFill>
                <a:prstClr val="black"/>
              </a:solidFill>
              <a:latin typeface="Calibri" panose="020F0502020204030204"/>
            </a:endParaRPr>
          </a:p>
        </p:txBody>
      </p:sp>
      <p:sp>
        <p:nvSpPr>
          <p:cNvPr id="10" name="Shape 8"/>
          <p:cNvSpPr/>
          <p:nvPr/>
        </p:nvSpPr>
        <p:spPr>
          <a:xfrm>
            <a:off x="487680" y="1889760"/>
            <a:ext cx="5608320" cy="19507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195072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5120640" cy="390144"/>
          </a:xfrm>
          <a:prstGeom prst="rect">
            <a:avLst/>
          </a:prstGeom>
          <a:noFill/>
          <a:ln/>
        </p:spPr>
        <p:txBody>
          <a:bodyPr wrap="square" lIns="0" tIns="0" rIns="0" bIns="0" rtlCol="0" anchor="ctr"/>
          <a:lstStyle/>
          <a:p>
            <a:pPr defTabSz="1219170"/>
            <a:r>
              <a:rPr lang="en-US" sz="1867" b="1" dirty="0">
                <a:solidFill>
                  <a:srgbClr val="0078D4"/>
                </a:solidFill>
                <a:latin typeface="Microsoft YaHei" pitchFamily="34" charset="0"/>
                <a:ea typeface="Microsoft YaHei" pitchFamily="34" charset="-122"/>
                <a:cs typeface="Microsoft YaHei" pitchFamily="34" charset="-120"/>
              </a:rPr>
              <a:t>What is TTFT?</a:t>
            </a:r>
            <a:endParaRPr lang="en-US" sz="1867" dirty="0">
              <a:solidFill>
                <a:prstClr val="black"/>
              </a:solidFill>
              <a:latin typeface="Calibri" panose="020F0502020204030204"/>
            </a:endParaRPr>
          </a:p>
        </p:txBody>
      </p:sp>
      <p:sp>
        <p:nvSpPr>
          <p:cNvPr id="13" name="Text 11"/>
          <p:cNvSpPr/>
          <p:nvPr/>
        </p:nvSpPr>
        <p:spPr>
          <a:xfrm>
            <a:off x="731520" y="2499360"/>
            <a:ext cx="5120640" cy="128016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Time-To-First-Token measures the latency from when a session accepts work to when it produces the first response Token. This is the latency users perceive most acutely.</a:t>
            </a:r>
            <a:endParaRPr lang="en-US" sz="1467" dirty="0">
              <a:solidFill>
                <a:prstClr val="black"/>
              </a:solidFill>
              <a:latin typeface="Calibri" panose="020F0502020204030204"/>
            </a:endParaRPr>
          </a:p>
        </p:txBody>
      </p:sp>
      <p:sp>
        <p:nvSpPr>
          <p:cNvPr id="14" name="Shape 12"/>
          <p:cNvSpPr/>
          <p:nvPr/>
        </p:nvSpPr>
        <p:spPr>
          <a:xfrm>
            <a:off x="6339840" y="1889760"/>
            <a:ext cx="5364480" cy="195072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5" name="Shape 13"/>
          <p:cNvSpPr/>
          <p:nvPr/>
        </p:nvSpPr>
        <p:spPr>
          <a:xfrm>
            <a:off x="6339840" y="1889760"/>
            <a:ext cx="97536" cy="195072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16" name="Text 14"/>
          <p:cNvSpPr/>
          <p:nvPr/>
        </p:nvSpPr>
        <p:spPr>
          <a:xfrm>
            <a:off x="6583680" y="2072640"/>
            <a:ext cx="4876800" cy="390144"/>
          </a:xfrm>
          <a:prstGeom prst="rect">
            <a:avLst/>
          </a:prstGeom>
          <a:noFill/>
          <a:ln/>
        </p:spPr>
        <p:txBody>
          <a:bodyPr wrap="square" lIns="0" tIns="0" rIns="0" bIns="0" rtlCol="0" anchor="ctr"/>
          <a:lstStyle/>
          <a:p>
            <a:pPr defTabSz="1219170"/>
            <a:r>
              <a:rPr lang="en-US" sz="1867" b="1" dirty="0">
                <a:solidFill>
                  <a:srgbClr val="E81123"/>
                </a:solidFill>
                <a:latin typeface="Microsoft YaHei" pitchFamily="34" charset="0"/>
                <a:ea typeface="Microsoft YaHei" pitchFamily="34" charset="-122"/>
                <a:cs typeface="Microsoft YaHei" pitchFamily="34" charset="-120"/>
              </a:rPr>
              <a:t>Why does it slow down?</a:t>
            </a:r>
            <a:endParaRPr lang="en-US" sz="1867" dirty="0">
              <a:solidFill>
                <a:prstClr val="black"/>
              </a:solidFill>
              <a:latin typeface="Calibri" panose="020F0502020204030204"/>
            </a:endParaRPr>
          </a:p>
        </p:txBody>
      </p:sp>
      <p:sp>
        <p:nvSpPr>
          <p:cNvPr id="17" name="Text 15"/>
          <p:cNvSpPr/>
          <p:nvPr/>
        </p:nvSpPr>
        <p:spPr>
          <a:xfrm>
            <a:off x="6583680" y="2499360"/>
            <a:ext cx="4876800" cy="128016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When Brain is placed inside the container, every session (including those that never invoke the sandbox) must first pay the cost of container startup, repo clone, and event pulling.</a:t>
            </a:r>
            <a:endParaRPr lang="en-US" sz="1467" dirty="0">
              <a:solidFill>
                <a:prstClr val="black"/>
              </a:solidFill>
              <a:latin typeface="Calibri" panose="020F0502020204030204"/>
            </a:endParaRPr>
          </a:p>
        </p:txBody>
      </p:sp>
      <p:sp>
        <p:nvSpPr>
          <p:cNvPr id="18" name="Shape 16"/>
          <p:cNvSpPr/>
          <p:nvPr/>
        </p:nvSpPr>
        <p:spPr>
          <a:xfrm>
            <a:off x="487680" y="4023360"/>
            <a:ext cx="11216640" cy="23774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9" name="Shape 17"/>
          <p:cNvSpPr/>
          <p:nvPr/>
        </p:nvSpPr>
        <p:spPr>
          <a:xfrm>
            <a:off x="487680" y="4023360"/>
            <a:ext cx="97536" cy="237744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731520" y="4206240"/>
            <a:ext cx="10850880" cy="390144"/>
          </a:xfrm>
          <a:prstGeom prst="rect">
            <a:avLst/>
          </a:prstGeom>
          <a:noFill/>
          <a:ln/>
        </p:spPr>
        <p:txBody>
          <a:bodyPr wrap="square" lIns="0" tIns="0" rIns="0" bIns="0" rtlCol="0" anchor="ctr"/>
          <a:lstStyle/>
          <a:p>
            <a:pPr defTabSz="1219170"/>
            <a:r>
              <a:rPr lang="en-US" sz="1867" b="1" dirty="0">
                <a:solidFill>
                  <a:srgbClr val="107C10"/>
                </a:solidFill>
                <a:latin typeface="Microsoft YaHei" pitchFamily="34" charset="0"/>
                <a:ea typeface="Microsoft YaHei" pitchFamily="34" charset="-122"/>
                <a:cs typeface="Microsoft YaHei" pitchFamily="34" charset="-120"/>
              </a:rPr>
              <a:t>Anthropic's measured improvements after decoupling</a:t>
            </a:r>
            <a:endParaRPr lang="en-US" sz="1867" dirty="0">
              <a:solidFill>
                <a:prstClr val="black"/>
              </a:solidFill>
              <a:latin typeface="Calibri" panose="020F0502020204030204"/>
            </a:endParaRPr>
          </a:p>
        </p:txBody>
      </p:sp>
      <p:sp>
        <p:nvSpPr>
          <p:cNvPr id="21" name="Text 19"/>
          <p:cNvSpPr/>
          <p:nvPr/>
        </p:nvSpPr>
        <p:spPr>
          <a:xfrm>
            <a:off x="853440" y="4876800"/>
            <a:ext cx="1219200" cy="48768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P50 TTFT</a:t>
            </a:r>
            <a:endParaRPr lang="en-US" sz="1467" dirty="0">
              <a:solidFill>
                <a:prstClr val="black"/>
              </a:solidFill>
              <a:latin typeface="Calibri" panose="020F0502020204030204"/>
            </a:endParaRPr>
          </a:p>
        </p:txBody>
      </p:sp>
      <p:sp>
        <p:nvSpPr>
          <p:cNvPr id="22" name="Text 20"/>
          <p:cNvSpPr/>
          <p:nvPr/>
        </p:nvSpPr>
        <p:spPr>
          <a:xfrm>
            <a:off x="2072640" y="4876800"/>
            <a:ext cx="975360" cy="487680"/>
          </a:xfrm>
          <a:prstGeom prst="rect">
            <a:avLst/>
          </a:prstGeom>
          <a:noFill/>
          <a:ln/>
        </p:spPr>
        <p:txBody>
          <a:bodyPr wrap="square" lIns="0" tIns="0" rIns="0" bIns="0"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Before decoupling</a:t>
            </a:r>
            <a:endParaRPr lang="en-US" sz="1200" dirty="0">
              <a:solidFill>
                <a:prstClr val="black"/>
              </a:solidFill>
              <a:latin typeface="Calibri" panose="020F0502020204030204"/>
            </a:endParaRPr>
          </a:p>
        </p:txBody>
      </p:sp>
      <p:sp>
        <p:nvSpPr>
          <p:cNvPr id="23" name="Shape 21"/>
          <p:cNvSpPr/>
          <p:nvPr/>
        </p:nvSpPr>
        <p:spPr>
          <a:xfrm>
            <a:off x="3048000" y="4998720"/>
            <a:ext cx="6705600" cy="24384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24" name="Text 22"/>
          <p:cNvSpPr/>
          <p:nvPr/>
        </p:nvSpPr>
        <p:spPr>
          <a:xfrm>
            <a:off x="2072640" y="5181600"/>
            <a:ext cx="975360" cy="304800"/>
          </a:xfrm>
          <a:prstGeom prst="rect">
            <a:avLst/>
          </a:prstGeom>
          <a:noFill/>
          <a:ln/>
        </p:spPr>
        <p:txBody>
          <a:bodyPr wrap="square" lIns="0" tIns="0" rIns="0" bIns="0" rtlCol="0" anchor="t"/>
          <a:lstStyle/>
          <a:p>
            <a:pPr defTabSz="1219170"/>
            <a:r>
              <a:rPr lang="en-US" sz="1200" dirty="0">
                <a:solidFill>
                  <a:srgbClr val="5B6671"/>
                </a:solidFill>
                <a:latin typeface="Microsoft YaHei" pitchFamily="34" charset="0"/>
                <a:ea typeface="Microsoft YaHei" pitchFamily="34" charset="-122"/>
                <a:cs typeface="Microsoft YaHei" pitchFamily="34" charset="-120"/>
              </a:rPr>
              <a:t>After decoupling</a:t>
            </a:r>
            <a:endParaRPr lang="en-US" sz="1200" dirty="0">
              <a:solidFill>
                <a:prstClr val="black"/>
              </a:solidFill>
              <a:latin typeface="Calibri" panose="020F0502020204030204"/>
            </a:endParaRPr>
          </a:p>
        </p:txBody>
      </p:sp>
      <p:sp>
        <p:nvSpPr>
          <p:cNvPr id="25" name="Shape 23"/>
          <p:cNvSpPr/>
          <p:nvPr/>
        </p:nvSpPr>
        <p:spPr>
          <a:xfrm>
            <a:off x="3048000" y="5266944"/>
            <a:ext cx="2682240" cy="18288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6" name="Text 24"/>
          <p:cNvSpPr/>
          <p:nvPr/>
        </p:nvSpPr>
        <p:spPr>
          <a:xfrm>
            <a:off x="9997440" y="4876800"/>
            <a:ext cx="1584960" cy="487680"/>
          </a:xfrm>
          <a:prstGeom prst="rect">
            <a:avLst/>
          </a:prstGeom>
          <a:noFill/>
          <a:ln/>
        </p:spPr>
        <p:txBody>
          <a:bodyPr wrap="square" lIns="0" tIns="0" rIns="0" bIns="0" rtlCol="0" anchor="ctr"/>
          <a:lstStyle/>
          <a:p>
            <a:pPr algn="ctr" defTabSz="1219170"/>
            <a:r>
              <a:rPr lang="en-US" sz="2400" b="1" dirty="0">
                <a:solidFill>
                  <a:srgbClr val="107C10"/>
                </a:solidFill>
                <a:latin typeface="Microsoft YaHei" pitchFamily="34" charset="0"/>
                <a:ea typeface="Microsoft YaHei" pitchFamily="34" charset="-122"/>
                <a:cs typeface="Microsoft YaHei" pitchFamily="34" charset="-120"/>
              </a:rPr>
              <a:t>-60%</a:t>
            </a:r>
            <a:endParaRPr lang="en-US" sz="2400" dirty="0">
              <a:solidFill>
                <a:prstClr val="black"/>
              </a:solidFill>
              <a:latin typeface="Calibri" panose="020F0502020204030204"/>
            </a:endParaRPr>
          </a:p>
        </p:txBody>
      </p:sp>
      <p:sp>
        <p:nvSpPr>
          <p:cNvPr id="27" name="Text 25"/>
          <p:cNvSpPr/>
          <p:nvPr/>
        </p:nvSpPr>
        <p:spPr>
          <a:xfrm>
            <a:off x="853440" y="5547360"/>
            <a:ext cx="1219200" cy="487680"/>
          </a:xfrm>
          <a:prstGeom prst="rect">
            <a:avLst/>
          </a:prstGeom>
          <a:noFill/>
          <a:ln/>
        </p:spPr>
        <p:txBody>
          <a:bodyPr wrap="square" lIns="0" tIns="0" rIns="0" bIns="0" rtlCol="0" anchor="ctr"/>
          <a:lstStyle/>
          <a:p>
            <a:pPr defTabSz="1219170"/>
            <a:r>
              <a:rPr lang="en-US" sz="1467" b="1" dirty="0">
                <a:solidFill>
                  <a:srgbClr val="0F2A47"/>
                </a:solidFill>
                <a:latin typeface="Microsoft YaHei" pitchFamily="34" charset="0"/>
                <a:ea typeface="Microsoft YaHei" pitchFamily="34" charset="-122"/>
                <a:cs typeface="Microsoft YaHei" pitchFamily="34" charset="-120"/>
              </a:rPr>
              <a:t>P95 TTFT</a:t>
            </a:r>
            <a:endParaRPr lang="en-US" sz="1467" dirty="0">
              <a:solidFill>
                <a:prstClr val="black"/>
              </a:solidFill>
              <a:latin typeface="Calibri" panose="020F0502020204030204"/>
            </a:endParaRPr>
          </a:p>
        </p:txBody>
      </p:sp>
      <p:sp>
        <p:nvSpPr>
          <p:cNvPr id="28" name="Text 26"/>
          <p:cNvSpPr/>
          <p:nvPr/>
        </p:nvSpPr>
        <p:spPr>
          <a:xfrm>
            <a:off x="2072640" y="5547360"/>
            <a:ext cx="975360" cy="487680"/>
          </a:xfrm>
          <a:prstGeom prst="rect">
            <a:avLst/>
          </a:prstGeom>
          <a:noFill/>
          <a:ln/>
        </p:spPr>
        <p:txBody>
          <a:bodyPr wrap="square" lIns="0" tIns="0" rIns="0" bIns="0"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Before decoupling</a:t>
            </a:r>
            <a:endParaRPr lang="en-US" sz="1200" dirty="0">
              <a:solidFill>
                <a:prstClr val="black"/>
              </a:solidFill>
              <a:latin typeface="Calibri" panose="020F0502020204030204"/>
            </a:endParaRPr>
          </a:p>
        </p:txBody>
      </p:sp>
      <p:sp>
        <p:nvSpPr>
          <p:cNvPr id="29" name="Shape 27"/>
          <p:cNvSpPr/>
          <p:nvPr/>
        </p:nvSpPr>
        <p:spPr>
          <a:xfrm>
            <a:off x="3048000" y="5669280"/>
            <a:ext cx="6705600" cy="24384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30" name="Text 28"/>
          <p:cNvSpPr/>
          <p:nvPr/>
        </p:nvSpPr>
        <p:spPr>
          <a:xfrm>
            <a:off x="2072640" y="5852160"/>
            <a:ext cx="975360" cy="304800"/>
          </a:xfrm>
          <a:prstGeom prst="rect">
            <a:avLst/>
          </a:prstGeom>
          <a:noFill/>
          <a:ln/>
        </p:spPr>
        <p:txBody>
          <a:bodyPr wrap="square" lIns="0" tIns="0" rIns="0" bIns="0" rtlCol="0" anchor="t"/>
          <a:lstStyle/>
          <a:p>
            <a:pPr defTabSz="1219170"/>
            <a:r>
              <a:rPr lang="en-US" sz="1200" dirty="0">
                <a:solidFill>
                  <a:srgbClr val="5B6671"/>
                </a:solidFill>
                <a:latin typeface="Microsoft YaHei" pitchFamily="34" charset="0"/>
                <a:ea typeface="Microsoft YaHei" pitchFamily="34" charset="-122"/>
                <a:cs typeface="Microsoft YaHei" pitchFamily="34" charset="-120"/>
              </a:rPr>
              <a:t>After decoupling</a:t>
            </a:r>
            <a:endParaRPr lang="en-US" sz="1200" dirty="0">
              <a:solidFill>
                <a:prstClr val="black"/>
              </a:solidFill>
              <a:latin typeface="Calibri" panose="020F0502020204030204"/>
            </a:endParaRPr>
          </a:p>
        </p:txBody>
      </p:sp>
      <p:sp>
        <p:nvSpPr>
          <p:cNvPr id="31" name="Shape 29"/>
          <p:cNvSpPr/>
          <p:nvPr/>
        </p:nvSpPr>
        <p:spPr>
          <a:xfrm>
            <a:off x="3048000" y="5937504"/>
            <a:ext cx="536448" cy="18288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32" name="Text 30"/>
          <p:cNvSpPr/>
          <p:nvPr/>
        </p:nvSpPr>
        <p:spPr>
          <a:xfrm>
            <a:off x="9997440" y="5547360"/>
            <a:ext cx="1584960" cy="487680"/>
          </a:xfrm>
          <a:prstGeom prst="rect">
            <a:avLst/>
          </a:prstGeom>
          <a:noFill/>
          <a:ln/>
        </p:spPr>
        <p:txBody>
          <a:bodyPr wrap="square" lIns="0" tIns="0" rIns="0" bIns="0" rtlCol="0" anchor="ctr"/>
          <a:lstStyle/>
          <a:p>
            <a:pPr algn="ctr" defTabSz="1219170"/>
            <a:r>
              <a:rPr lang="en-US" sz="2400" b="1" dirty="0">
                <a:solidFill>
                  <a:srgbClr val="107C10"/>
                </a:solidFill>
                <a:latin typeface="Microsoft YaHei" pitchFamily="34" charset="0"/>
                <a:ea typeface="Microsoft YaHei" pitchFamily="34" charset="-122"/>
                <a:cs typeface="Microsoft YaHei" pitchFamily="34" charset="-120"/>
              </a:rPr>
              <a:t>-90%+</a:t>
            </a:r>
            <a:endParaRPr lang="en-US" sz="2400" dirty="0">
              <a:solidFill>
                <a:prstClr val="black"/>
              </a:solidFill>
              <a:latin typeface="Calibri" panose="020F05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04 · Practice</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Common pitfalls and how to avoid them</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6 anti-patterns distilled from production practice</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37 / 40</a:t>
            </a:r>
            <a:endParaRPr lang="en-US" sz="1200" dirty="0">
              <a:solidFill>
                <a:prstClr val="black"/>
              </a:solidFill>
              <a:latin typeface="Calibri" panose="020F0502020204030204"/>
            </a:endParaRPr>
          </a:p>
        </p:txBody>
      </p:sp>
      <p:sp>
        <p:nvSpPr>
          <p:cNvPr id="10" name="Shape 8"/>
          <p:cNvSpPr/>
          <p:nvPr/>
        </p:nvSpPr>
        <p:spPr>
          <a:xfrm>
            <a:off x="487680" y="188976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207264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12" name="Shape 10"/>
          <p:cNvSpPr/>
          <p:nvPr/>
        </p:nvSpPr>
        <p:spPr>
          <a:xfrm>
            <a:off x="731520" y="2072640"/>
            <a:ext cx="487680" cy="487680"/>
          </a:xfrm>
          <a:prstGeom prst="ellipse">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731520" y="2072640"/>
            <a:ext cx="487680" cy="48768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a:t>
            </a:r>
            <a:endParaRPr lang="en-US" sz="2400" dirty="0">
              <a:solidFill>
                <a:prstClr val="black"/>
              </a:solidFill>
              <a:latin typeface="Calibri" panose="020F0502020204030204"/>
            </a:endParaRPr>
          </a:p>
        </p:txBody>
      </p:sp>
      <p:sp>
        <p:nvSpPr>
          <p:cNvPr id="14" name="Text 12"/>
          <p:cNvSpPr/>
          <p:nvPr/>
        </p:nvSpPr>
        <p:spPr>
          <a:xfrm>
            <a:off x="1341120" y="2133600"/>
            <a:ext cx="2560320" cy="390144"/>
          </a:xfrm>
          <a:prstGeom prst="rect">
            <a:avLst/>
          </a:prstGeom>
          <a:noFill/>
          <a:ln/>
        </p:spPr>
        <p:txBody>
          <a:bodyPr wrap="square" lIns="0" tIns="0" rIns="0" bIns="0" rtlCol="0" anchor="ctr"/>
          <a:lstStyle/>
          <a:p>
            <a:pPr defTabSz="1219170"/>
            <a:r>
              <a:rPr lang="en-US" sz="1733" b="1" dirty="0">
                <a:solidFill>
                  <a:srgbClr val="0F2A47"/>
                </a:solidFill>
                <a:latin typeface="Microsoft YaHei" pitchFamily="34" charset="0"/>
                <a:ea typeface="Microsoft YaHei" pitchFamily="34" charset="-122"/>
                <a:cs typeface="Microsoft YaHei" pitchFamily="34" charset="-120"/>
              </a:rPr>
              <a:t>Pet-ifying containers</a:t>
            </a:r>
            <a:endParaRPr lang="en-US" sz="1733" dirty="0">
              <a:solidFill>
                <a:prstClr val="black"/>
              </a:solidFill>
              <a:latin typeface="Calibri" panose="020F0502020204030204"/>
            </a:endParaRPr>
          </a:p>
        </p:txBody>
      </p:sp>
      <p:sp>
        <p:nvSpPr>
          <p:cNvPr id="15" name="Text 13"/>
          <p:cNvSpPr/>
          <p:nvPr/>
        </p:nvSpPr>
        <p:spPr>
          <a:xfrm>
            <a:off x="731520" y="2682240"/>
            <a:ext cx="3169920" cy="54864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Scrambling to rescue on failure</a:t>
            </a:r>
            <a:endParaRPr lang="en-US" sz="1333" dirty="0">
              <a:solidFill>
                <a:prstClr val="black"/>
              </a:solidFill>
              <a:latin typeface="Calibri" panose="020F0502020204030204"/>
            </a:endParaRPr>
          </a:p>
        </p:txBody>
      </p:sp>
      <p:sp>
        <p:nvSpPr>
          <p:cNvPr id="16" name="Shape 14"/>
          <p:cNvSpPr/>
          <p:nvPr/>
        </p:nvSpPr>
        <p:spPr>
          <a:xfrm>
            <a:off x="731520" y="3267456"/>
            <a:ext cx="3108960" cy="0"/>
          </a:xfrm>
          <a:prstGeom prst="line">
            <a:avLst/>
          </a:prstGeom>
          <a:noFill/>
          <a:ln w="6350">
            <a:solidFill>
              <a:srgbClr val="E81123"/>
            </a:solidFill>
            <a:prstDash val="dash"/>
          </a:ln>
        </p:spPr>
        <p:txBody>
          <a:bodyPr/>
          <a:lstStyle/>
          <a:p>
            <a:pPr defTabSz="1219170"/>
            <a:endParaRPr lang="en-CN" sz="2400">
              <a:solidFill>
                <a:prstClr val="black"/>
              </a:solidFill>
              <a:latin typeface="Calibri" panose="020F0502020204030204"/>
            </a:endParaRPr>
          </a:p>
        </p:txBody>
      </p:sp>
      <p:sp>
        <p:nvSpPr>
          <p:cNvPr id="17" name="Text 15"/>
          <p:cNvSpPr/>
          <p:nvPr/>
        </p:nvSpPr>
        <p:spPr>
          <a:xfrm>
            <a:off x="731520" y="3328416"/>
            <a:ext cx="609600" cy="304800"/>
          </a:xfrm>
          <a:prstGeom prst="rect">
            <a:avLst/>
          </a:prstGeom>
          <a:noFill/>
          <a:ln/>
        </p:spPr>
        <p:txBody>
          <a:bodyPr wrap="square" lIns="0" tIns="0" rIns="0" bIns="0" rtlCol="0" anchor="ctr"/>
          <a:lstStyle/>
          <a:p>
            <a:pPr defTabSz="1219170"/>
            <a:r>
              <a:rPr lang="en-US" sz="1200" b="1" dirty="0">
                <a:solidFill>
                  <a:srgbClr val="107C10"/>
                </a:solidFill>
                <a:latin typeface="Microsoft YaHei" pitchFamily="34" charset="0"/>
                <a:ea typeface="Microsoft YaHei" pitchFamily="34" charset="-122"/>
                <a:cs typeface="Microsoft YaHei" pitchFamily="34" charset="-120"/>
              </a:rPr>
              <a:t>Fix</a:t>
            </a:r>
            <a:endParaRPr lang="en-US" sz="1200" dirty="0">
              <a:solidFill>
                <a:prstClr val="black"/>
              </a:solidFill>
              <a:latin typeface="Calibri" panose="020F0502020204030204"/>
            </a:endParaRPr>
          </a:p>
        </p:txBody>
      </p:sp>
      <p:sp>
        <p:nvSpPr>
          <p:cNvPr id="18" name="Text 16"/>
          <p:cNvSpPr/>
          <p:nvPr/>
        </p:nvSpPr>
        <p:spPr>
          <a:xfrm>
            <a:off x="1341120" y="3328416"/>
            <a:ext cx="2560320" cy="609600"/>
          </a:xfrm>
          <a:prstGeom prst="rect">
            <a:avLst/>
          </a:prstGeom>
          <a:noFill/>
          <a:ln/>
        </p:spPr>
        <p:txBody>
          <a:bodyPr wrap="square" lIns="0" tIns="0" rIns="0" bIns="0" rtlCol="0" anchor="t"/>
          <a:lstStyle/>
          <a:p>
            <a:pPr defTabSz="1219170"/>
            <a:r>
              <a:rPr lang="en-US" sz="1333" b="1" dirty="0">
                <a:solidFill>
                  <a:srgbClr val="1F2937"/>
                </a:solidFill>
                <a:latin typeface="Microsoft YaHei" pitchFamily="34" charset="0"/>
                <a:ea typeface="Microsoft YaHei" pitchFamily="34" charset="-122"/>
                <a:cs typeface="Microsoft YaHei" pitchFamily="34" charset="-120"/>
              </a:rPr>
              <a:t>Treat containers as restartable cattle</a:t>
            </a:r>
            <a:endParaRPr lang="en-US" sz="1333" dirty="0">
              <a:solidFill>
                <a:prstClr val="black"/>
              </a:solidFill>
              <a:latin typeface="Calibri" panose="020F0502020204030204"/>
            </a:endParaRPr>
          </a:p>
        </p:txBody>
      </p:sp>
      <p:sp>
        <p:nvSpPr>
          <p:cNvPr id="19" name="Shape 17"/>
          <p:cNvSpPr/>
          <p:nvPr/>
        </p:nvSpPr>
        <p:spPr>
          <a:xfrm>
            <a:off x="4303776" y="188976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0" name="Shape 18"/>
          <p:cNvSpPr/>
          <p:nvPr/>
        </p:nvSpPr>
        <p:spPr>
          <a:xfrm>
            <a:off x="4303776" y="1889760"/>
            <a:ext cx="97536" cy="207264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21" name="Shape 19"/>
          <p:cNvSpPr/>
          <p:nvPr/>
        </p:nvSpPr>
        <p:spPr>
          <a:xfrm>
            <a:off x="4547616" y="2072640"/>
            <a:ext cx="487680" cy="487680"/>
          </a:xfrm>
          <a:prstGeom prst="ellipse">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22" name="Text 20"/>
          <p:cNvSpPr/>
          <p:nvPr/>
        </p:nvSpPr>
        <p:spPr>
          <a:xfrm>
            <a:off x="4547616" y="2072640"/>
            <a:ext cx="487680" cy="48768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a:t>
            </a:r>
            <a:endParaRPr lang="en-US" sz="2400" dirty="0">
              <a:solidFill>
                <a:prstClr val="black"/>
              </a:solidFill>
              <a:latin typeface="Calibri" panose="020F0502020204030204"/>
            </a:endParaRPr>
          </a:p>
        </p:txBody>
      </p:sp>
      <p:sp>
        <p:nvSpPr>
          <p:cNvPr id="23" name="Text 21"/>
          <p:cNvSpPr/>
          <p:nvPr/>
        </p:nvSpPr>
        <p:spPr>
          <a:xfrm>
            <a:off x="5157216" y="2133600"/>
            <a:ext cx="2560320" cy="390144"/>
          </a:xfrm>
          <a:prstGeom prst="rect">
            <a:avLst/>
          </a:prstGeom>
          <a:noFill/>
          <a:ln/>
        </p:spPr>
        <p:txBody>
          <a:bodyPr wrap="square" lIns="0" tIns="0" rIns="0" bIns="0" rtlCol="0" anchor="ctr"/>
          <a:lstStyle/>
          <a:p>
            <a:pPr defTabSz="1219170"/>
            <a:r>
              <a:rPr lang="en-US" sz="1733" b="1" dirty="0">
                <a:solidFill>
                  <a:srgbClr val="0F2A47"/>
                </a:solidFill>
                <a:latin typeface="Microsoft YaHei" pitchFamily="34" charset="0"/>
                <a:ea typeface="Microsoft YaHei" pitchFamily="34" charset="-122"/>
                <a:cs typeface="Microsoft YaHei" pitchFamily="34" charset="-120"/>
              </a:rPr>
              <a:t>Credentials in the sandbox</a:t>
            </a:r>
            <a:endParaRPr lang="en-US" sz="1733" dirty="0">
              <a:solidFill>
                <a:prstClr val="black"/>
              </a:solidFill>
              <a:latin typeface="Calibri" panose="020F0502020204030204"/>
            </a:endParaRPr>
          </a:p>
        </p:txBody>
      </p:sp>
      <p:sp>
        <p:nvSpPr>
          <p:cNvPr id="24" name="Text 22"/>
          <p:cNvSpPr/>
          <p:nvPr/>
        </p:nvSpPr>
        <p:spPr>
          <a:xfrm>
            <a:off x="4547616" y="2682240"/>
            <a:ext cx="3169920" cy="54864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Prompt Injection can steal Tokens</a:t>
            </a:r>
            <a:endParaRPr lang="en-US" sz="1333" dirty="0">
              <a:solidFill>
                <a:prstClr val="black"/>
              </a:solidFill>
              <a:latin typeface="Calibri" panose="020F0502020204030204"/>
            </a:endParaRPr>
          </a:p>
        </p:txBody>
      </p:sp>
      <p:sp>
        <p:nvSpPr>
          <p:cNvPr id="25" name="Shape 23"/>
          <p:cNvSpPr/>
          <p:nvPr/>
        </p:nvSpPr>
        <p:spPr>
          <a:xfrm>
            <a:off x="4547616" y="3267456"/>
            <a:ext cx="3108960" cy="0"/>
          </a:xfrm>
          <a:prstGeom prst="line">
            <a:avLst/>
          </a:prstGeom>
          <a:noFill/>
          <a:ln w="6350">
            <a:solidFill>
              <a:srgbClr val="E81123"/>
            </a:solidFill>
            <a:prstDash val="dash"/>
          </a:ln>
        </p:spPr>
        <p:txBody>
          <a:bodyPr/>
          <a:lstStyle/>
          <a:p>
            <a:pPr defTabSz="1219170"/>
            <a:endParaRPr lang="en-CN" sz="2400">
              <a:solidFill>
                <a:prstClr val="black"/>
              </a:solidFill>
              <a:latin typeface="Calibri" panose="020F0502020204030204"/>
            </a:endParaRPr>
          </a:p>
        </p:txBody>
      </p:sp>
      <p:sp>
        <p:nvSpPr>
          <p:cNvPr id="26" name="Text 24"/>
          <p:cNvSpPr/>
          <p:nvPr/>
        </p:nvSpPr>
        <p:spPr>
          <a:xfrm>
            <a:off x="4547616" y="3328416"/>
            <a:ext cx="609600" cy="304800"/>
          </a:xfrm>
          <a:prstGeom prst="rect">
            <a:avLst/>
          </a:prstGeom>
          <a:noFill/>
          <a:ln/>
        </p:spPr>
        <p:txBody>
          <a:bodyPr wrap="square" lIns="0" tIns="0" rIns="0" bIns="0" rtlCol="0" anchor="ctr"/>
          <a:lstStyle/>
          <a:p>
            <a:pPr defTabSz="1219170"/>
            <a:r>
              <a:rPr lang="en-US" sz="1200" b="1" dirty="0">
                <a:solidFill>
                  <a:srgbClr val="107C10"/>
                </a:solidFill>
                <a:latin typeface="Microsoft YaHei" pitchFamily="34" charset="0"/>
                <a:ea typeface="Microsoft YaHei" pitchFamily="34" charset="-122"/>
                <a:cs typeface="Microsoft YaHei" pitchFamily="34" charset="-120"/>
              </a:rPr>
              <a:t>Fix</a:t>
            </a:r>
            <a:endParaRPr lang="en-US" sz="1200" dirty="0">
              <a:solidFill>
                <a:prstClr val="black"/>
              </a:solidFill>
              <a:latin typeface="Calibri" panose="020F0502020204030204"/>
            </a:endParaRPr>
          </a:p>
        </p:txBody>
      </p:sp>
      <p:sp>
        <p:nvSpPr>
          <p:cNvPr id="27" name="Text 25"/>
          <p:cNvSpPr/>
          <p:nvPr/>
        </p:nvSpPr>
        <p:spPr>
          <a:xfrm>
            <a:off x="5157216" y="3328416"/>
            <a:ext cx="2560320" cy="609600"/>
          </a:xfrm>
          <a:prstGeom prst="rect">
            <a:avLst/>
          </a:prstGeom>
          <a:noFill/>
          <a:ln/>
        </p:spPr>
        <p:txBody>
          <a:bodyPr wrap="square" lIns="0" tIns="0" rIns="0" bIns="0" rtlCol="0" anchor="t"/>
          <a:lstStyle/>
          <a:p>
            <a:pPr defTabSz="1219170"/>
            <a:r>
              <a:rPr lang="en-US" sz="1333" b="1" dirty="0">
                <a:solidFill>
                  <a:srgbClr val="1F2937"/>
                </a:solidFill>
                <a:latin typeface="Microsoft YaHei" pitchFamily="34" charset="0"/>
                <a:ea typeface="Microsoft YaHei" pitchFamily="34" charset="-122"/>
                <a:cs typeface="Microsoft YaHei" pitchFamily="34" charset="-120"/>
              </a:rPr>
              <a:t>Store credentials in a Vault — call via proxy</a:t>
            </a:r>
            <a:endParaRPr lang="en-US" sz="1333" dirty="0">
              <a:solidFill>
                <a:prstClr val="black"/>
              </a:solidFill>
              <a:latin typeface="Calibri" panose="020F0502020204030204"/>
            </a:endParaRPr>
          </a:p>
        </p:txBody>
      </p:sp>
      <p:sp>
        <p:nvSpPr>
          <p:cNvPr id="28" name="Shape 26"/>
          <p:cNvSpPr/>
          <p:nvPr/>
        </p:nvSpPr>
        <p:spPr>
          <a:xfrm>
            <a:off x="8119872" y="188976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9" name="Shape 27"/>
          <p:cNvSpPr/>
          <p:nvPr/>
        </p:nvSpPr>
        <p:spPr>
          <a:xfrm>
            <a:off x="8119872" y="1889760"/>
            <a:ext cx="97536" cy="20726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0" name="Shape 28"/>
          <p:cNvSpPr/>
          <p:nvPr/>
        </p:nvSpPr>
        <p:spPr>
          <a:xfrm>
            <a:off x="8363712" y="2072640"/>
            <a:ext cx="487680" cy="487680"/>
          </a:xfrm>
          <a:prstGeom prst="ellipse">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1" name="Text 29"/>
          <p:cNvSpPr/>
          <p:nvPr/>
        </p:nvSpPr>
        <p:spPr>
          <a:xfrm>
            <a:off x="8363712" y="2072640"/>
            <a:ext cx="487680" cy="48768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a:t>
            </a:r>
            <a:endParaRPr lang="en-US" sz="2400" dirty="0">
              <a:solidFill>
                <a:prstClr val="black"/>
              </a:solidFill>
              <a:latin typeface="Calibri" panose="020F0502020204030204"/>
            </a:endParaRPr>
          </a:p>
        </p:txBody>
      </p:sp>
      <p:sp>
        <p:nvSpPr>
          <p:cNvPr id="32" name="Text 30"/>
          <p:cNvSpPr/>
          <p:nvPr/>
        </p:nvSpPr>
        <p:spPr>
          <a:xfrm>
            <a:off x="8973312" y="2133600"/>
            <a:ext cx="2560320" cy="390144"/>
          </a:xfrm>
          <a:prstGeom prst="rect">
            <a:avLst/>
          </a:prstGeom>
          <a:noFill/>
          <a:ln/>
        </p:spPr>
        <p:txBody>
          <a:bodyPr wrap="square" lIns="0" tIns="0" rIns="0" bIns="0" rtlCol="0" anchor="ctr"/>
          <a:lstStyle/>
          <a:p>
            <a:pPr defTabSz="1219170"/>
            <a:r>
              <a:rPr lang="en-US" sz="1733" b="1" dirty="0">
                <a:solidFill>
                  <a:srgbClr val="0F2A47"/>
                </a:solidFill>
                <a:latin typeface="Microsoft YaHei" pitchFamily="34" charset="0"/>
                <a:ea typeface="Microsoft YaHei" pitchFamily="34" charset="-122"/>
                <a:cs typeface="Microsoft YaHei" pitchFamily="34" charset="-120"/>
              </a:rPr>
              <a:t>Harness with embedded resource assumptions</a:t>
            </a:r>
            <a:endParaRPr lang="en-US" sz="1733" dirty="0">
              <a:solidFill>
                <a:prstClr val="black"/>
              </a:solidFill>
              <a:latin typeface="Calibri" panose="020F0502020204030204"/>
            </a:endParaRPr>
          </a:p>
        </p:txBody>
      </p:sp>
      <p:sp>
        <p:nvSpPr>
          <p:cNvPr id="33" name="Text 31"/>
          <p:cNvSpPr/>
          <p:nvPr/>
        </p:nvSpPr>
        <p:spPr>
          <a:xfrm>
            <a:off x="8363712" y="2682240"/>
            <a:ext cx="3169920" cy="54864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Cannot connect to customer VPC</a:t>
            </a:r>
            <a:endParaRPr lang="en-US" sz="1333" dirty="0">
              <a:solidFill>
                <a:prstClr val="black"/>
              </a:solidFill>
              <a:latin typeface="Calibri" panose="020F0502020204030204"/>
            </a:endParaRPr>
          </a:p>
        </p:txBody>
      </p:sp>
      <p:sp>
        <p:nvSpPr>
          <p:cNvPr id="34" name="Shape 32"/>
          <p:cNvSpPr/>
          <p:nvPr/>
        </p:nvSpPr>
        <p:spPr>
          <a:xfrm>
            <a:off x="8363712" y="3267456"/>
            <a:ext cx="3108960" cy="0"/>
          </a:xfrm>
          <a:prstGeom prst="line">
            <a:avLst/>
          </a:prstGeom>
          <a:noFill/>
          <a:ln w="6350">
            <a:solidFill>
              <a:srgbClr val="FFB900"/>
            </a:solidFill>
            <a:prstDash val="dash"/>
          </a:ln>
        </p:spPr>
        <p:txBody>
          <a:bodyPr/>
          <a:lstStyle/>
          <a:p>
            <a:pPr defTabSz="1219170"/>
            <a:endParaRPr lang="en-CN" sz="2400">
              <a:solidFill>
                <a:prstClr val="black"/>
              </a:solidFill>
              <a:latin typeface="Calibri" panose="020F0502020204030204"/>
            </a:endParaRPr>
          </a:p>
        </p:txBody>
      </p:sp>
      <p:sp>
        <p:nvSpPr>
          <p:cNvPr id="35" name="Text 33"/>
          <p:cNvSpPr/>
          <p:nvPr/>
        </p:nvSpPr>
        <p:spPr>
          <a:xfrm>
            <a:off x="8363712" y="3328416"/>
            <a:ext cx="609600" cy="304800"/>
          </a:xfrm>
          <a:prstGeom prst="rect">
            <a:avLst/>
          </a:prstGeom>
          <a:noFill/>
          <a:ln/>
        </p:spPr>
        <p:txBody>
          <a:bodyPr wrap="square" lIns="0" tIns="0" rIns="0" bIns="0" rtlCol="0" anchor="ctr"/>
          <a:lstStyle/>
          <a:p>
            <a:pPr defTabSz="1219170"/>
            <a:r>
              <a:rPr lang="en-US" sz="1200" b="1" dirty="0">
                <a:solidFill>
                  <a:srgbClr val="107C10"/>
                </a:solidFill>
                <a:latin typeface="Microsoft YaHei" pitchFamily="34" charset="0"/>
                <a:ea typeface="Microsoft YaHei" pitchFamily="34" charset="-122"/>
                <a:cs typeface="Microsoft YaHei" pitchFamily="34" charset="-120"/>
              </a:rPr>
              <a:t>Fix</a:t>
            </a:r>
            <a:endParaRPr lang="en-US" sz="1200" dirty="0">
              <a:solidFill>
                <a:prstClr val="black"/>
              </a:solidFill>
              <a:latin typeface="Calibri" panose="020F0502020204030204"/>
            </a:endParaRPr>
          </a:p>
        </p:txBody>
      </p:sp>
      <p:sp>
        <p:nvSpPr>
          <p:cNvPr id="36" name="Text 34"/>
          <p:cNvSpPr/>
          <p:nvPr/>
        </p:nvSpPr>
        <p:spPr>
          <a:xfrm>
            <a:off x="8973312" y="3328416"/>
            <a:ext cx="2560320" cy="609600"/>
          </a:xfrm>
          <a:prstGeom prst="rect">
            <a:avLst/>
          </a:prstGeom>
          <a:noFill/>
          <a:ln/>
        </p:spPr>
        <p:txBody>
          <a:bodyPr wrap="square" lIns="0" tIns="0" rIns="0" bIns="0" rtlCol="0" anchor="t"/>
          <a:lstStyle/>
          <a:p>
            <a:pPr defTabSz="1219170"/>
            <a:r>
              <a:rPr lang="en-US" sz="1333" b="1" dirty="0">
                <a:solidFill>
                  <a:srgbClr val="1F2937"/>
                </a:solidFill>
                <a:latin typeface="Microsoft YaHei" pitchFamily="34" charset="0"/>
                <a:ea typeface="Microsoft YaHei" pitchFamily="34" charset="-122"/>
                <a:cs typeface="Microsoft YaHei" pitchFamily="34" charset="-120"/>
              </a:rPr>
              <a:t>Fully decouple Harness from Hand</a:t>
            </a:r>
            <a:endParaRPr lang="en-US" sz="1333" dirty="0">
              <a:solidFill>
                <a:prstClr val="black"/>
              </a:solidFill>
              <a:latin typeface="Calibri" panose="020F0502020204030204"/>
            </a:endParaRPr>
          </a:p>
        </p:txBody>
      </p:sp>
      <p:sp>
        <p:nvSpPr>
          <p:cNvPr id="37" name="Shape 35"/>
          <p:cNvSpPr/>
          <p:nvPr/>
        </p:nvSpPr>
        <p:spPr>
          <a:xfrm>
            <a:off x="487680" y="414528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8" name="Shape 36"/>
          <p:cNvSpPr/>
          <p:nvPr/>
        </p:nvSpPr>
        <p:spPr>
          <a:xfrm>
            <a:off x="487680" y="4145280"/>
            <a:ext cx="97536" cy="20726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9" name="Shape 37"/>
          <p:cNvSpPr/>
          <p:nvPr/>
        </p:nvSpPr>
        <p:spPr>
          <a:xfrm>
            <a:off x="731520" y="4328160"/>
            <a:ext cx="487680" cy="487680"/>
          </a:xfrm>
          <a:prstGeom prst="ellipse">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0" name="Text 38"/>
          <p:cNvSpPr/>
          <p:nvPr/>
        </p:nvSpPr>
        <p:spPr>
          <a:xfrm>
            <a:off x="731520" y="4328160"/>
            <a:ext cx="487680" cy="48768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a:t>
            </a:r>
            <a:endParaRPr lang="en-US" sz="2400" dirty="0">
              <a:solidFill>
                <a:prstClr val="black"/>
              </a:solidFill>
              <a:latin typeface="Calibri" panose="020F0502020204030204"/>
            </a:endParaRPr>
          </a:p>
        </p:txBody>
      </p:sp>
      <p:sp>
        <p:nvSpPr>
          <p:cNvPr id="41" name="Text 39"/>
          <p:cNvSpPr/>
          <p:nvPr/>
        </p:nvSpPr>
        <p:spPr>
          <a:xfrm>
            <a:off x="1341120" y="4389120"/>
            <a:ext cx="2560320" cy="390144"/>
          </a:xfrm>
          <a:prstGeom prst="rect">
            <a:avLst/>
          </a:prstGeom>
          <a:noFill/>
          <a:ln/>
        </p:spPr>
        <p:txBody>
          <a:bodyPr wrap="square" lIns="0" tIns="0" rIns="0" bIns="0" rtlCol="0" anchor="ctr"/>
          <a:lstStyle/>
          <a:p>
            <a:pPr defTabSz="1219170"/>
            <a:r>
              <a:rPr lang="en-US" sz="1733" b="1" dirty="0">
                <a:solidFill>
                  <a:srgbClr val="0F2A47"/>
                </a:solidFill>
                <a:latin typeface="Microsoft YaHei" pitchFamily="34" charset="0"/>
                <a:ea typeface="Microsoft YaHei" pitchFamily="34" charset="-122"/>
                <a:cs typeface="Microsoft YaHei" pitchFamily="34" charset="-120"/>
              </a:rPr>
              <a:t>Irreversible compaction</a:t>
            </a:r>
            <a:endParaRPr lang="en-US" sz="1733" dirty="0">
              <a:solidFill>
                <a:prstClr val="black"/>
              </a:solidFill>
              <a:latin typeface="Calibri" panose="020F0502020204030204"/>
            </a:endParaRPr>
          </a:p>
        </p:txBody>
      </p:sp>
      <p:sp>
        <p:nvSpPr>
          <p:cNvPr id="42" name="Text 40"/>
          <p:cNvSpPr/>
          <p:nvPr/>
        </p:nvSpPr>
        <p:spPr>
          <a:xfrm>
            <a:off x="731520" y="4937760"/>
            <a:ext cx="3169920" cy="54864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Critical context can't be recovered after compaction</a:t>
            </a:r>
            <a:endParaRPr lang="en-US" sz="1333" dirty="0">
              <a:solidFill>
                <a:prstClr val="black"/>
              </a:solidFill>
              <a:latin typeface="Calibri" panose="020F0502020204030204"/>
            </a:endParaRPr>
          </a:p>
        </p:txBody>
      </p:sp>
      <p:sp>
        <p:nvSpPr>
          <p:cNvPr id="43" name="Shape 41"/>
          <p:cNvSpPr/>
          <p:nvPr/>
        </p:nvSpPr>
        <p:spPr>
          <a:xfrm>
            <a:off x="731520" y="5522976"/>
            <a:ext cx="3108960" cy="0"/>
          </a:xfrm>
          <a:prstGeom prst="line">
            <a:avLst/>
          </a:prstGeom>
          <a:noFill/>
          <a:ln w="6350">
            <a:solidFill>
              <a:srgbClr val="FFB900"/>
            </a:solidFill>
            <a:prstDash val="dash"/>
          </a:ln>
        </p:spPr>
        <p:txBody>
          <a:bodyPr/>
          <a:lstStyle/>
          <a:p>
            <a:pPr defTabSz="1219170"/>
            <a:endParaRPr lang="en-CN" sz="2400">
              <a:solidFill>
                <a:prstClr val="black"/>
              </a:solidFill>
              <a:latin typeface="Calibri" panose="020F0502020204030204"/>
            </a:endParaRPr>
          </a:p>
        </p:txBody>
      </p:sp>
      <p:sp>
        <p:nvSpPr>
          <p:cNvPr id="44" name="Text 42"/>
          <p:cNvSpPr/>
          <p:nvPr/>
        </p:nvSpPr>
        <p:spPr>
          <a:xfrm>
            <a:off x="731520" y="5583936"/>
            <a:ext cx="609600" cy="304800"/>
          </a:xfrm>
          <a:prstGeom prst="rect">
            <a:avLst/>
          </a:prstGeom>
          <a:noFill/>
          <a:ln/>
        </p:spPr>
        <p:txBody>
          <a:bodyPr wrap="square" lIns="0" tIns="0" rIns="0" bIns="0" rtlCol="0" anchor="ctr"/>
          <a:lstStyle/>
          <a:p>
            <a:pPr defTabSz="1219170"/>
            <a:r>
              <a:rPr lang="en-US" sz="1200" b="1" dirty="0">
                <a:solidFill>
                  <a:srgbClr val="107C10"/>
                </a:solidFill>
                <a:latin typeface="Microsoft YaHei" pitchFamily="34" charset="0"/>
                <a:ea typeface="Microsoft YaHei" pitchFamily="34" charset="-122"/>
                <a:cs typeface="Microsoft YaHei" pitchFamily="34" charset="-120"/>
              </a:rPr>
              <a:t>Fix</a:t>
            </a:r>
            <a:endParaRPr lang="en-US" sz="1200" dirty="0">
              <a:solidFill>
                <a:prstClr val="black"/>
              </a:solidFill>
              <a:latin typeface="Calibri" panose="020F0502020204030204"/>
            </a:endParaRPr>
          </a:p>
        </p:txBody>
      </p:sp>
      <p:sp>
        <p:nvSpPr>
          <p:cNvPr id="45" name="Text 43"/>
          <p:cNvSpPr/>
          <p:nvPr/>
        </p:nvSpPr>
        <p:spPr>
          <a:xfrm>
            <a:off x="1341120" y="5583936"/>
            <a:ext cx="2560320" cy="609600"/>
          </a:xfrm>
          <a:prstGeom prst="rect">
            <a:avLst/>
          </a:prstGeom>
          <a:noFill/>
          <a:ln/>
        </p:spPr>
        <p:txBody>
          <a:bodyPr wrap="square" lIns="0" tIns="0" rIns="0" bIns="0" rtlCol="0" anchor="t"/>
          <a:lstStyle/>
          <a:p>
            <a:pPr defTabSz="1219170"/>
            <a:r>
              <a:rPr lang="en-US" sz="1333" b="1" dirty="0">
                <a:solidFill>
                  <a:srgbClr val="1F2937"/>
                </a:solidFill>
                <a:latin typeface="Microsoft YaHei" pitchFamily="34" charset="0"/>
                <a:ea typeface="Microsoft YaHei" pitchFamily="34" charset="-122"/>
                <a:cs typeface="Microsoft YaHei" pitchFamily="34" charset="-120"/>
              </a:rPr>
              <a:t>Persist event stream — defer decisions</a:t>
            </a:r>
            <a:endParaRPr lang="en-US" sz="1333" dirty="0">
              <a:solidFill>
                <a:prstClr val="black"/>
              </a:solidFill>
              <a:latin typeface="Calibri" panose="020F0502020204030204"/>
            </a:endParaRPr>
          </a:p>
        </p:txBody>
      </p:sp>
      <p:sp>
        <p:nvSpPr>
          <p:cNvPr id="46" name="Shape 44"/>
          <p:cNvSpPr/>
          <p:nvPr/>
        </p:nvSpPr>
        <p:spPr>
          <a:xfrm>
            <a:off x="4303776" y="414528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47" name="Shape 45"/>
          <p:cNvSpPr/>
          <p:nvPr/>
        </p:nvSpPr>
        <p:spPr>
          <a:xfrm>
            <a:off x="4303776" y="4145280"/>
            <a:ext cx="97536" cy="20726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48" name="Shape 46"/>
          <p:cNvSpPr/>
          <p:nvPr/>
        </p:nvSpPr>
        <p:spPr>
          <a:xfrm>
            <a:off x="4547616" y="4328160"/>
            <a:ext cx="487680" cy="487680"/>
          </a:xfrm>
          <a:prstGeom prst="ellipse">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49" name="Text 47"/>
          <p:cNvSpPr/>
          <p:nvPr/>
        </p:nvSpPr>
        <p:spPr>
          <a:xfrm>
            <a:off x="4547616" y="4328160"/>
            <a:ext cx="487680" cy="48768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a:t>
            </a:r>
            <a:endParaRPr lang="en-US" sz="2400" dirty="0">
              <a:solidFill>
                <a:prstClr val="black"/>
              </a:solidFill>
              <a:latin typeface="Calibri" panose="020F0502020204030204"/>
            </a:endParaRPr>
          </a:p>
        </p:txBody>
      </p:sp>
      <p:sp>
        <p:nvSpPr>
          <p:cNvPr id="50" name="Text 48"/>
          <p:cNvSpPr/>
          <p:nvPr/>
        </p:nvSpPr>
        <p:spPr>
          <a:xfrm>
            <a:off x="5157216" y="4389120"/>
            <a:ext cx="2560320" cy="390144"/>
          </a:xfrm>
          <a:prstGeom prst="rect">
            <a:avLst/>
          </a:prstGeom>
          <a:noFill/>
          <a:ln/>
        </p:spPr>
        <p:txBody>
          <a:bodyPr wrap="square" lIns="0" tIns="0" rIns="0" bIns="0" rtlCol="0" anchor="ctr"/>
          <a:lstStyle/>
          <a:p>
            <a:pPr defTabSz="1219170"/>
            <a:r>
              <a:rPr lang="en-US" sz="1733" b="1" dirty="0">
                <a:solidFill>
                  <a:srgbClr val="0F2A47"/>
                </a:solidFill>
                <a:latin typeface="Microsoft YaHei" pitchFamily="34" charset="0"/>
                <a:ea typeface="Microsoft YaHei" pitchFamily="34" charset="-122"/>
                <a:cs typeface="Microsoft YaHei" pitchFamily="34" charset="-120"/>
              </a:rPr>
              <a:t>Compatibility dead code</a:t>
            </a:r>
            <a:endParaRPr lang="en-US" sz="1733" dirty="0">
              <a:solidFill>
                <a:prstClr val="black"/>
              </a:solidFill>
              <a:latin typeface="Calibri" panose="020F0502020204030204"/>
            </a:endParaRPr>
          </a:p>
        </p:txBody>
      </p:sp>
      <p:sp>
        <p:nvSpPr>
          <p:cNvPr id="51" name="Text 49"/>
          <p:cNvSpPr/>
          <p:nvPr/>
        </p:nvSpPr>
        <p:spPr>
          <a:xfrm>
            <a:off x="4547616" y="4937760"/>
            <a:ext cx="3169920" cy="54864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Workarounds for old models drag new models down</a:t>
            </a:r>
            <a:endParaRPr lang="en-US" sz="1333" dirty="0">
              <a:solidFill>
                <a:prstClr val="black"/>
              </a:solidFill>
              <a:latin typeface="Calibri" panose="020F0502020204030204"/>
            </a:endParaRPr>
          </a:p>
        </p:txBody>
      </p:sp>
      <p:sp>
        <p:nvSpPr>
          <p:cNvPr id="52" name="Shape 50"/>
          <p:cNvSpPr/>
          <p:nvPr/>
        </p:nvSpPr>
        <p:spPr>
          <a:xfrm>
            <a:off x="4547616" y="5522976"/>
            <a:ext cx="3108960" cy="0"/>
          </a:xfrm>
          <a:prstGeom prst="line">
            <a:avLst/>
          </a:prstGeom>
          <a:noFill/>
          <a:ln w="6350">
            <a:solidFill>
              <a:srgbClr val="0078D4"/>
            </a:solidFill>
            <a:prstDash val="dash"/>
          </a:ln>
        </p:spPr>
        <p:txBody>
          <a:bodyPr/>
          <a:lstStyle/>
          <a:p>
            <a:pPr defTabSz="1219170"/>
            <a:endParaRPr lang="en-CN" sz="2400">
              <a:solidFill>
                <a:prstClr val="black"/>
              </a:solidFill>
              <a:latin typeface="Calibri" panose="020F0502020204030204"/>
            </a:endParaRPr>
          </a:p>
        </p:txBody>
      </p:sp>
      <p:sp>
        <p:nvSpPr>
          <p:cNvPr id="53" name="Text 51"/>
          <p:cNvSpPr/>
          <p:nvPr/>
        </p:nvSpPr>
        <p:spPr>
          <a:xfrm>
            <a:off x="4547616" y="5583936"/>
            <a:ext cx="609600" cy="304800"/>
          </a:xfrm>
          <a:prstGeom prst="rect">
            <a:avLst/>
          </a:prstGeom>
          <a:noFill/>
          <a:ln/>
        </p:spPr>
        <p:txBody>
          <a:bodyPr wrap="square" lIns="0" tIns="0" rIns="0" bIns="0" rtlCol="0" anchor="ctr"/>
          <a:lstStyle/>
          <a:p>
            <a:pPr defTabSz="1219170"/>
            <a:r>
              <a:rPr lang="en-US" sz="1200" b="1" dirty="0">
                <a:solidFill>
                  <a:srgbClr val="107C10"/>
                </a:solidFill>
                <a:latin typeface="Microsoft YaHei" pitchFamily="34" charset="0"/>
                <a:ea typeface="Microsoft YaHei" pitchFamily="34" charset="-122"/>
                <a:cs typeface="Microsoft YaHei" pitchFamily="34" charset="-120"/>
              </a:rPr>
              <a:t>Fix</a:t>
            </a:r>
            <a:endParaRPr lang="en-US" sz="1200" dirty="0">
              <a:solidFill>
                <a:prstClr val="black"/>
              </a:solidFill>
              <a:latin typeface="Calibri" panose="020F0502020204030204"/>
            </a:endParaRPr>
          </a:p>
        </p:txBody>
      </p:sp>
      <p:sp>
        <p:nvSpPr>
          <p:cNvPr id="54" name="Text 52"/>
          <p:cNvSpPr/>
          <p:nvPr/>
        </p:nvSpPr>
        <p:spPr>
          <a:xfrm>
            <a:off x="5157216" y="5583936"/>
            <a:ext cx="2560320" cy="609600"/>
          </a:xfrm>
          <a:prstGeom prst="rect">
            <a:avLst/>
          </a:prstGeom>
          <a:noFill/>
          <a:ln/>
        </p:spPr>
        <p:txBody>
          <a:bodyPr wrap="square" lIns="0" tIns="0" rIns="0" bIns="0" rtlCol="0" anchor="t"/>
          <a:lstStyle/>
          <a:p>
            <a:pPr defTabSz="1219170"/>
            <a:r>
              <a:rPr lang="en-US" sz="1333" b="1" dirty="0">
                <a:solidFill>
                  <a:srgbClr val="1F2937"/>
                </a:solidFill>
                <a:latin typeface="Microsoft YaHei" pitchFamily="34" charset="0"/>
                <a:ea typeface="Microsoft YaHei" pitchFamily="34" charset="-122"/>
                <a:cs typeface="Microsoft YaHei" pitchFamily="34" charset="-120"/>
              </a:rPr>
              <a:t>Periodically re-examine Harness assumptions</a:t>
            </a:r>
            <a:endParaRPr lang="en-US" sz="1333" dirty="0">
              <a:solidFill>
                <a:prstClr val="black"/>
              </a:solidFill>
              <a:latin typeface="Calibri" panose="020F0502020204030204"/>
            </a:endParaRPr>
          </a:p>
        </p:txBody>
      </p:sp>
      <p:sp>
        <p:nvSpPr>
          <p:cNvPr id="55" name="Shape 53"/>
          <p:cNvSpPr/>
          <p:nvPr/>
        </p:nvSpPr>
        <p:spPr>
          <a:xfrm>
            <a:off x="8119872" y="414528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56" name="Shape 54"/>
          <p:cNvSpPr/>
          <p:nvPr/>
        </p:nvSpPr>
        <p:spPr>
          <a:xfrm>
            <a:off x="8119872" y="4145280"/>
            <a:ext cx="97536" cy="20726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57" name="Shape 55"/>
          <p:cNvSpPr/>
          <p:nvPr/>
        </p:nvSpPr>
        <p:spPr>
          <a:xfrm>
            <a:off x="8363712" y="4328160"/>
            <a:ext cx="487680" cy="487680"/>
          </a:xfrm>
          <a:prstGeom prst="ellipse">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58" name="Text 56"/>
          <p:cNvSpPr/>
          <p:nvPr/>
        </p:nvSpPr>
        <p:spPr>
          <a:xfrm>
            <a:off x="8363712" y="4328160"/>
            <a:ext cx="487680" cy="487680"/>
          </a:xfrm>
          <a:prstGeom prst="rect">
            <a:avLst/>
          </a:prstGeom>
          <a:noFill/>
          <a:ln/>
        </p:spPr>
        <p:txBody>
          <a:bodyPr wrap="square" lIns="0" tIns="0" rIns="0" bIns="0" rtlCol="0" anchor="ctr"/>
          <a:lstStyle/>
          <a:p>
            <a:pPr algn="ctr" defTabSz="1219170"/>
            <a:r>
              <a:rPr lang="en-US" sz="2400" b="1" dirty="0">
                <a:solidFill>
                  <a:srgbClr val="FFFFFF"/>
                </a:solidFill>
                <a:latin typeface="Microsoft YaHei" pitchFamily="34" charset="0"/>
                <a:ea typeface="Microsoft YaHei" pitchFamily="34" charset="-122"/>
                <a:cs typeface="Microsoft YaHei" pitchFamily="34" charset="-120"/>
              </a:rPr>
              <a:t>!</a:t>
            </a:r>
            <a:endParaRPr lang="en-US" sz="2400" dirty="0">
              <a:solidFill>
                <a:prstClr val="black"/>
              </a:solidFill>
              <a:latin typeface="Calibri" panose="020F0502020204030204"/>
            </a:endParaRPr>
          </a:p>
        </p:txBody>
      </p:sp>
      <p:sp>
        <p:nvSpPr>
          <p:cNvPr id="59" name="Text 57"/>
          <p:cNvSpPr/>
          <p:nvPr/>
        </p:nvSpPr>
        <p:spPr>
          <a:xfrm>
            <a:off x="8973312" y="4389120"/>
            <a:ext cx="2560320" cy="390144"/>
          </a:xfrm>
          <a:prstGeom prst="rect">
            <a:avLst/>
          </a:prstGeom>
          <a:noFill/>
          <a:ln/>
        </p:spPr>
        <p:txBody>
          <a:bodyPr wrap="square" lIns="0" tIns="0" rIns="0" bIns="0" rtlCol="0" anchor="ctr"/>
          <a:lstStyle/>
          <a:p>
            <a:pPr defTabSz="1219170"/>
            <a:r>
              <a:rPr lang="en-US" sz="1733" b="1" dirty="0">
                <a:solidFill>
                  <a:srgbClr val="0F2A47"/>
                </a:solidFill>
                <a:latin typeface="Microsoft YaHei" pitchFamily="34" charset="0"/>
                <a:ea typeface="Microsoft YaHei" pitchFamily="34" charset="-122"/>
                <a:cs typeface="Microsoft YaHei" pitchFamily="34" charset="-120"/>
              </a:rPr>
              <a:t>Debugging black box</a:t>
            </a:r>
            <a:endParaRPr lang="en-US" sz="1733" dirty="0">
              <a:solidFill>
                <a:prstClr val="black"/>
              </a:solidFill>
              <a:latin typeface="Calibri" panose="020F0502020204030204"/>
            </a:endParaRPr>
          </a:p>
        </p:txBody>
      </p:sp>
      <p:sp>
        <p:nvSpPr>
          <p:cNvPr id="60" name="Text 58"/>
          <p:cNvSpPr/>
          <p:nvPr/>
        </p:nvSpPr>
        <p:spPr>
          <a:xfrm>
            <a:off x="8363712" y="4937760"/>
            <a:ext cx="3169920" cy="548640"/>
          </a:xfrm>
          <a:prstGeom prst="rect">
            <a:avLst/>
          </a:prstGeom>
          <a:noFill/>
          <a:ln/>
        </p:spPr>
        <p:txBody>
          <a:bodyPr wrap="square" lIns="0" tIns="0" rIns="0" bIns="0" rtlCol="0" anchor="t"/>
          <a:lstStyle/>
          <a:p>
            <a:pPr defTabSz="1219170"/>
            <a:r>
              <a:rPr lang="en-US" sz="1333" dirty="0">
                <a:solidFill>
                  <a:srgbClr val="5B6671"/>
                </a:solidFill>
                <a:latin typeface="Microsoft YaHei" pitchFamily="34" charset="0"/>
                <a:ea typeface="Microsoft YaHei" pitchFamily="34" charset="-122"/>
                <a:cs typeface="Microsoft YaHei" pitchFamily="34" charset="-120"/>
              </a:rPr>
              <a:t>WebSocket streams obscure the source of problems</a:t>
            </a:r>
            <a:endParaRPr lang="en-US" sz="1333" dirty="0">
              <a:solidFill>
                <a:prstClr val="black"/>
              </a:solidFill>
              <a:latin typeface="Calibri" panose="020F0502020204030204"/>
            </a:endParaRPr>
          </a:p>
        </p:txBody>
      </p:sp>
      <p:sp>
        <p:nvSpPr>
          <p:cNvPr id="61" name="Shape 59"/>
          <p:cNvSpPr/>
          <p:nvPr/>
        </p:nvSpPr>
        <p:spPr>
          <a:xfrm>
            <a:off x="8363712" y="5522976"/>
            <a:ext cx="3108960" cy="0"/>
          </a:xfrm>
          <a:prstGeom prst="line">
            <a:avLst/>
          </a:prstGeom>
          <a:noFill/>
          <a:ln w="6350">
            <a:solidFill>
              <a:srgbClr val="0078D4"/>
            </a:solidFill>
            <a:prstDash val="dash"/>
          </a:ln>
        </p:spPr>
        <p:txBody>
          <a:bodyPr/>
          <a:lstStyle/>
          <a:p>
            <a:pPr defTabSz="1219170"/>
            <a:endParaRPr lang="en-CN" sz="2400">
              <a:solidFill>
                <a:prstClr val="black"/>
              </a:solidFill>
              <a:latin typeface="Calibri" panose="020F0502020204030204"/>
            </a:endParaRPr>
          </a:p>
        </p:txBody>
      </p:sp>
      <p:sp>
        <p:nvSpPr>
          <p:cNvPr id="62" name="Text 60"/>
          <p:cNvSpPr/>
          <p:nvPr/>
        </p:nvSpPr>
        <p:spPr>
          <a:xfrm>
            <a:off x="8363712" y="5583936"/>
            <a:ext cx="609600" cy="304800"/>
          </a:xfrm>
          <a:prstGeom prst="rect">
            <a:avLst/>
          </a:prstGeom>
          <a:noFill/>
          <a:ln/>
        </p:spPr>
        <p:txBody>
          <a:bodyPr wrap="square" lIns="0" tIns="0" rIns="0" bIns="0" rtlCol="0" anchor="ctr"/>
          <a:lstStyle/>
          <a:p>
            <a:pPr defTabSz="1219170"/>
            <a:r>
              <a:rPr lang="en-US" sz="1200" b="1" dirty="0">
                <a:solidFill>
                  <a:srgbClr val="107C10"/>
                </a:solidFill>
                <a:latin typeface="Microsoft YaHei" pitchFamily="34" charset="0"/>
                <a:ea typeface="Microsoft YaHei" pitchFamily="34" charset="-122"/>
                <a:cs typeface="Microsoft YaHei" pitchFamily="34" charset="-120"/>
              </a:rPr>
              <a:t>Fix</a:t>
            </a:r>
            <a:endParaRPr lang="en-US" sz="1200" dirty="0">
              <a:solidFill>
                <a:prstClr val="black"/>
              </a:solidFill>
              <a:latin typeface="Calibri" panose="020F0502020204030204"/>
            </a:endParaRPr>
          </a:p>
        </p:txBody>
      </p:sp>
      <p:sp>
        <p:nvSpPr>
          <p:cNvPr id="63" name="Text 61"/>
          <p:cNvSpPr/>
          <p:nvPr/>
        </p:nvSpPr>
        <p:spPr>
          <a:xfrm>
            <a:off x="8973312" y="5583936"/>
            <a:ext cx="2560320" cy="609600"/>
          </a:xfrm>
          <a:prstGeom prst="rect">
            <a:avLst/>
          </a:prstGeom>
          <a:noFill/>
          <a:ln/>
        </p:spPr>
        <p:txBody>
          <a:bodyPr wrap="square" lIns="0" tIns="0" rIns="0" bIns="0" rtlCol="0" anchor="t"/>
          <a:lstStyle/>
          <a:p>
            <a:pPr defTabSz="1219170"/>
            <a:r>
              <a:rPr lang="en-US" sz="1333" b="1" dirty="0">
                <a:solidFill>
                  <a:srgbClr val="1F2937"/>
                </a:solidFill>
                <a:latin typeface="Microsoft YaHei" pitchFamily="34" charset="0"/>
                <a:ea typeface="Microsoft YaHei" pitchFamily="34" charset="-122"/>
                <a:cs typeface="Microsoft YaHei" pitchFamily="34" charset="-120"/>
              </a:rPr>
              <a:t>Component-level tracing + isolated failure domains</a:t>
            </a:r>
            <a:endParaRPr lang="en-US" sz="1333" dirty="0">
              <a:solidFill>
                <a:prstClr val="black"/>
              </a:solidFill>
              <a:latin typeface="Calibri" panose="020F050202020403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04 · Practice</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Security best-practices checklist</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Treat Agent Harness as production application code</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38 / 40</a:t>
            </a:r>
            <a:endParaRPr lang="en-US" sz="1200" dirty="0">
              <a:solidFill>
                <a:prstClr val="black"/>
              </a:solidFill>
              <a:latin typeface="Calibri" panose="020F0502020204030204"/>
            </a:endParaRPr>
          </a:p>
        </p:txBody>
      </p:sp>
      <p:sp>
        <p:nvSpPr>
          <p:cNvPr id="10" name="Shape 8"/>
          <p:cNvSpPr/>
          <p:nvPr/>
        </p:nvSpPr>
        <p:spPr>
          <a:xfrm>
            <a:off x="487680" y="188976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207264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2" name="Shape 10"/>
          <p:cNvSpPr/>
          <p:nvPr/>
        </p:nvSpPr>
        <p:spPr>
          <a:xfrm>
            <a:off x="487680" y="1889760"/>
            <a:ext cx="3596640" cy="4876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731520" y="1889760"/>
            <a:ext cx="3169920" cy="487680"/>
          </a:xfrm>
          <a:prstGeom prst="rect">
            <a:avLst/>
          </a:prstGeom>
          <a:noFill/>
          <a:ln/>
        </p:spPr>
        <p:txBody>
          <a:bodyPr wrap="square" lIns="0" tIns="0" rIns="0" bIns="0" rtlCol="0" anchor="ctr"/>
          <a:lstStyle/>
          <a:p>
            <a:pPr defTabSz="1219170"/>
            <a:r>
              <a:rPr lang="en-US" sz="1600" b="1" dirty="0">
                <a:solidFill>
                  <a:srgbClr val="FFFFFF"/>
                </a:solidFill>
                <a:latin typeface="Microsoft YaHei" pitchFamily="34" charset="0"/>
                <a:ea typeface="Microsoft YaHei" pitchFamily="34" charset="-122"/>
                <a:cs typeface="Microsoft YaHei" pitchFamily="34" charset="-120"/>
              </a:rPr>
              <a:t>Credential governance</a:t>
            </a:r>
            <a:endParaRPr lang="en-US" sz="1600" dirty="0">
              <a:solidFill>
                <a:prstClr val="black"/>
              </a:solidFill>
              <a:latin typeface="Calibri" panose="020F0502020204030204"/>
            </a:endParaRPr>
          </a:p>
        </p:txBody>
      </p:sp>
      <p:sp>
        <p:nvSpPr>
          <p:cNvPr id="14" name="Text 12"/>
          <p:cNvSpPr/>
          <p:nvPr/>
        </p:nvSpPr>
        <p:spPr>
          <a:xfrm>
            <a:off x="731520" y="2499360"/>
            <a:ext cx="3169920" cy="140208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Never embed secrets in images</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Use Managed Identity</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Use Key Vault / Secret Manager for sensitive data</a:t>
            </a:r>
            <a:endParaRPr lang="en-US" sz="1333" dirty="0">
              <a:solidFill>
                <a:prstClr val="black"/>
              </a:solidFill>
              <a:latin typeface="Calibri" panose="020F0502020204030204"/>
            </a:endParaRPr>
          </a:p>
        </p:txBody>
      </p:sp>
      <p:sp>
        <p:nvSpPr>
          <p:cNvPr id="15" name="Shape 13"/>
          <p:cNvSpPr/>
          <p:nvPr/>
        </p:nvSpPr>
        <p:spPr>
          <a:xfrm>
            <a:off x="4303776" y="188976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6" name="Shape 14"/>
          <p:cNvSpPr/>
          <p:nvPr/>
        </p:nvSpPr>
        <p:spPr>
          <a:xfrm>
            <a:off x="4303776" y="1889760"/>
            <a:ext cx="97536" cy="207264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17" name="Shape 15"/>
          <p:cNvSpPr/>
          <p:nvPr/>
        </p:nvSpPr>
        <p:spPr>
          <a:xfrm>
            <a:off x="4303776" y="1889760"/>
            <a:ext cx="3596640" cy="48768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18" name="Text 16"/>
          <p:cNvSpPr/>
          <p:nvPr/>
        </p:nvSpPr>
        <p:spPr>
          <a:xfrm>
            <a:off x="4547616" y="1889760"/>
            <a:ext cx="3169920" cy="487680"/>
          </a:xfrm>
          <a:prstGeom prst="rect">
            <a:avLst/>
          </a:prstGeom>
          <a:noFill/>
          <a:ln/>
        </p:spPr>
        <p:txBody>
          <a:bodyPr wrap="square" lIns="0" tIns="0" rIns="0" bIns="0" rtlCol="0" anchor="ctr"/>
          <a:lstStyle/>
          <a:p>
            <a:pPr defTabSz="1219170"/>
            <a:r>
              <a:rPr lang="en-US" sz="1600" b="1" dirty="0">
                <a:solidFill>
                  <a:srgbClr val="FFFFFF"/>
                </a:solidFill>
                <a:latin typeface="Microsoft YaHei" pitchFamily="34" charset="0"/>
                <a:ea typeface="Microsoft YaHei" pitchFamily="34" charset="-122"/>
                <a:cs typeface="Microsoft YaHei" pitchFamily="34" charset="-120"/>
              </a:rPr>
              <a:t>Network isolation</a:t>
            </a:r>
            <a:endParaRPr lang="en-US" sz="1600" dirty="0">
              <a:solidFill>
                <a:prstClr val="black"/>
              </a:solidFill>
              <a:latin typeface="Calibri" panose="020F0502020204030204"/>
            </a:endParaRPr>
          </a:p>
        </p:txBody>
      </p:sp>
      <p:sp>
        <p:nvSpPr>
          <p:cNvPr id="19" name="Text 17"/>
          <p:cNvSpPr/>
          <p:nvPr/>
        </p:nvSpPr>
        <p:spPr>
          <a:xfrm>
            <a:off x="4547616" y="2499360"/>
            <a:ext cx="3169920" cy="140208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Deploy Foundry resources in private network</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VNet / VPC peering only when needed</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Data crossing boundaries must be compliance-reviewed</a:t>
            </a:r>
            <a:endParaRPr lang="en-US" sz="1333" dirty="0">
              <a:solidFill>
                <a:prstClr val="black"/>
              </a:solidFill>
              <a:latin typeface="Calibri" panose="020F0502020204030204"/>
            </a:endParaRPr>
          </a:p>
        </p:txBody>
      </p:sp>
      <p:sp>
        <p:nvSpPr>
          <p:cNvPr id="20" name="Shape 18"/>
          <p:cNvSpPr/>
          <p:nvPr/>
        </p:nvSpPr>
        <p:spPr>
          <a:xfrm>
            <a:off x="8119872" y="188976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1" name="Shape 19"/>
          <p:cNvSpPr/>
          <p:nvPr/>
        </p:nvSpPr>
        <p:spPr>
          <a:xfrm>
            <a:off x="8119872" y="1889760"/>
            <a:ext cx="97536" cy="207264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2" name="Shape 20"/>
          <p:cNvSpPr/>
          <p:nvPr/>
        </p:nvSpPr>
        <p:spPr>
          <a:xfrm>
            <a:off x="8119872" y="1889760"/>
            <a:ext cx="3596640" cy="48768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23" name="Text 21"/>
          <p:cNvSpPr/>
          <p:nvPr/>
        </p:nvSpPr>
        <p:spPr>
          <a:xfrm>
            <a:off x="8363712" y="1889760"/>
            <a:ext cx="3169920" cy="487680"/>
          </a:xfrm>
          <a:prstGeom prst="rect">
            <a:avLst/>
          </a:prstGeom>
          <a:noFill/>
          <a:ln/>
        </p:spPr>
        <p:txBody>
          <a:bodyPr wrap="square" lIns="0" tIns="0" rIns="0" bIns="0" rtlCol="0" anchor="ctr"/>
          <a:lstStyle/>
          <a:p>
            <a:pPr defTabSz="1219170"/>
            <a:r>
              <a:rPr lang="en-US" sz="1600" b="1" dirty="0">
                <a:solidFill>
                  <a:srgbClr val="0F2A47"/>
                </a:solidFill>
                <a:latin typeface="Microsoft YaHei" pitchFamily="34" charset="0"/>
                <a:ea typeface="Microsoft YaHei" pitchFamily="34" charset="-122"/>
                <a:cs typeface="Microsoft YaHei" pitchFamily="34" charset="-120"/>
              </a:rPr>
              <a:t>Least privilege</a:t>
            </a:r>
            <a:endParaRPr lang="en-US" sz="1600" dirty="0">
              <a:solidFill>
                <a:prstClr val="black"/>
              </a:solidFill>
              <a:latin typeface="Calibri" panose="020F0502020204030204"/>
            </a:endParaRPr>
          </a:p>
        </p:txBody>
      </p:sp>
      <p:sp>
        <p:nvSpPr>
          <p:cNvPr id="24" name="Text 22"/>
          <p:cNvSpPr/>
          <p:nvPr/>
        </p:nvSpPr>
        <p:spPr>
          <a:xfrm>
            <a:off x="8363712" y="2499360"/>
            <a:ext cx="3169920" cy="140208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Each Agent has its own identity</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Fine-grained RBAC authorization</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OBO only when user delegation is required</a:t>
            </a:r>
            <a:endParaRPr lang="en-US" sz="1333" dirty="0">
              <a:solidFill>
                <a:prstClr val="black"/>
              </a:solidFill>
              <a:latin typeface="Calibri" panose="020F0502020204030204"/>
            </a:endParaRPr>
          </a:p>
        </p:txBody>
      </p:sp>
      <p:sp>
        <p:nvSpPr>
          <p:cNvPr id="25" name="Shape 23"/>
          <p:cNvSpPr/>
          <p:nvPr/>
        </p:nvSpPr>
        <p:spPr>
          <a:xfrm>
            <a:off x="487680" y="414528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6" name="Shape 24"/>
          <p:cNvSpPr/>
          <p:nvPr/>
        </p:nvSpPr>
        <p:spPr>
          <a:xfrm>
            <a:off x="487680" y="4145280"/>
            <a:ext cx="97536" cy="207264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7" name="Shape 25"/>
          <p:cNvSpPr/>
          <p:nvPr/>
        </p:nvSpPr>
        <p:spPr>
          <a:xfrm>
            <a:off x="487680" y="4145280"/>
            <a:ext cx="3596640" cy="48768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8" name="Text 26"/>
          <p:cNvSpPr/>
          <p:nvPr/>
        </p:nvSpPr>
        <p:spPr>
          <a:xfrm>
            <a:off x="731520" y="4145280"/>
            <a:ext cx="3169920" cy="487680"/>
          </a:xfrm>
          <a:prstGeom prst="rect">
            <a:avLst/>
          </a:prstGeom>
          <a:noFill/>
          <a:ln/>
        </p:spPr>
        <p:txBody>
          <a:bodyPr wrap="square" lIns="0" tIns="0" rIns="0" bIns="0" rtlCol="0" anchor="ctr"/>
          <a:lstStyle/>
          <a:p>
            <a:pPr defTabSz="1219170"/>
            <a:r>
              <a:rPr lang="en-US" sz="1600" b="1" dirty="0">
                <a:solidFill>
                  <a:srgbClr val="FFFFFF"/>
                </a:solidFill>
                <a:latin typeface="Microsoft YaHei" pitchFamily="34" charset="0"/>
                <a:ea typeface="Microsoft YaHei" pitchFamily="34" charset="-122"/>
                <a:cs typeface="Microsoft YaHei" pitchFamily="34" charset="-120"/>
              </a:rPr>
              <a:t>Supply-chain security</a:t>
            </a:r>
            <a:endParaRPr lang="en-US" sz="1600" dirty="0">
              <a:solidFill>
                <a:prstClr val="black"/>
              </a:solidFill>
              <a:latin typeface="Calibri" panose="020F0502020204030204"/>
            </a:endParaRPr>
          </a:p>
        </p:txBody>
      </p:sp>
      <p:sp>
        <p:nvSpPr>
          <p:cNvPr id="29" name="Text 27"/>
          <p:cNvSpPr/>
          <p:nvPr/>
        </p:nvSpPr>
        <p:spPr>
          <a:xfrm>
            <a:off x="731520" y="4754880"/>
            <a:ext cx="3169920" cy="140208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Image signing and vulnerability scanning</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MCP / third-party tool allowlists</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Dependency pinning and SBOM</a:t>
            </a:r>
            <a:endParaRPr lang="en-US" sz="1333" dirty="0">
              <a:solidFill>
                <a:prstClr val="black"/>
              </a:solidFill>
              <a:latin typeface="Calibri" panose="020F0502020204030204"/>
            </a:endParaRPr>
          </a:p>
        </p:txBody>
      </p:sp>
      <p:sp>
        <p:nvSpPr>
          <p:cNvPr id="30" name="Shape 28"/>
          <p:cNvSpPr/>
          <p:nvPr/>
        </p:nvSpPr>
        <p:spPr>
          <a:xfrm>
            <a:off x="4303776" y="414528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1" name="Shape 29"/>
          <p:cNvSpPr/>
          <p:nvPr/>
        </p:nvSpPr>
        <p:spPr>
          <a:xfrm>
            <a:off x="4303776" y="4145280"/>
            <a:ext cx="97536" cy="207264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32" name="Shape 30"/>
          <p:cNvSpPr/>
          <p:nvPr/>
        </p:nvSpPr>
        <p:spPr>
          <a:xfrm>
            <a:off x="4303776" y="4145280"/>
            <a:ext cx="3596640" cy="48768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33" name="Text 31"/>
          <p:cNvSpPr/>
          <p:nvPr/>
        </p:nvSpPr>
        <p:spPr>
          <a:xfrm>
            <a:off x="4547616" y="4145280"/>
            <a:ext cx="3169920" cy="487680"/>
          </a:xfrm>
          <a:prstGeom prst="rect">
            <a:avLst/>
          </a:prstGeom>
          <a:noFill/>
          <a:ln/>
        </p:spPr>
        <p:txBody>
          <a:bodyPr wrap="square" lIns="0" tIns="0" rIns="0" bIns="0" rtlCol="0" anchor="ctr"/>
          <a:lstStyle/>
          <a:p>
            <a:pPr defTabSz="1219170"/>
            <a:r>
              <a:rPr lang="en-US" sz="1600" b="1" dirty="0">
                <a:solidFill>
                  <a:srgbClr val="FFFFFF"/>
                </a:solidFill>
                <a:latin typeface="Microsoft YaHei" pitchFamily="34" charset="0"/>
                <a:ea typeface="Microsoft YaHei" pitchFamily="34" charset="-122"/>
                <a:cs typeface="Microsoft YaHei" pitchFamily="34" charset="-120"/>
              </a:rPr>
              <a:t>Traceability</a:t>
            </a:r>
            <a:endParaRPr lang="en-US" sz="1600" dirty="0">
              <a:solidFill>
                <a:prstClr val="black"/>
              </a:solidFill>
              <a:latin typeface="Calibri" panose="020F0502020204030204"/>
            </a:endParaRPr>
          </a:p>
        </p:txBody>
      </p:sp>
      <p:sp>
        <p:nvSpPr>
          <p:cNvPr id="34" name="Text 32"/>
          <p:cNvSpPr/>
          <p:nvPr/>
        </p:nvSpPr>
        <p:spPr>
          <a:xfrm>
            <a:off x="4547616" y="4754880"/>
            <a:ext cx="3169920" cy="140208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Full Action audit log</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Tamper-proof event stream</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Anomaly alerting and replay</a:t>
            </a:r>
            <a:endParaRPr lang="en-US" sz="1333" dirty="0">
              <a:solidFill>
                <a:prstClr val="black"/>
              </a:solidFill>
              <a:latin typeface="Calibri" panose="020F0502020204030204"/>
            </a:endParaRPr>
          </a:p>
        </p:txBody>
      </p:sp>
      <p:sp>
        <p:nvSpPr>
          <p:cNvPr id="35" name="Shape 33"/>
          <p:cNvSpPr/>
          <p:nvPr/>
        </p:nvSpPr>
        <p:spPr>
          <a:xfrm>
            <a:off x="8119872" y="4145280"/>
            <a:ext cx="3596640" cy="207264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36" name="Shape 34"/>
          <p:cNvSpPr/>
          <p:nvPr/>
        </p:nvSpPr>
        <p:spPr>
          <a:xfrm>
            <a:off x="8119872" y="4145280"/>
            <a:ext cx="97536" cy="207264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37" name="Shape 35"/>
          <p:cNvSpPr/>
          <p:nvPr/>
        </p:nvSpPr>
        <p:spPr>
          <a:xfrm>
            <a:off x="8119872" y="4145280"/>
            <a:ext cx="3596640" cy="487680"/>
          </a:xfrm>
          <a:prstGeom prst="rect">
            <a:avLst/>
          </a:prstGeom>
          <a:solidFill>
            <a:srgbClr val="E81123"/>
          </a:solidFill>
          <a:ln/>
        </p:spPr>
        <p:txBody>
          <a:bodyPr/>
          <a:lstStyle/>
          <a:p>
            <a:pPr defTabSz="1219170"/>
            <a:endParaRPr lang="en-CN" sz="2400">
              <a:solidFill>
                <a:prstClr val="black"/>
              </a:solidFill>
              <a:latin typeface="Calibri" panose="020F0502020204030204"/>
            </a:endParaRPr>
          </a:p>
        </p:txBody>
      </p:sp>
      <p:sp>
        <p:nvSpPr>
          <p:cNvPr id="38" name="Text 36"/>
          <p:cNvSpPr/>
          <p:nvPr/>
        </p:nvSpPr>
        <p:spPr>
          <a:xfrm>
            <a:off x="8363712" y="4145280"/>
            <a:ext cx="3169920" cy="487680"/>
          </a:xfrm>
          <a:prstGeom prst="rect">
            <a:avLst/>
          </a:prstGeom>
          <a:noFill/>
          <a:ln/>
        </p:spPr>
        <p:txBody>
          <a:bodyPr wrap="square" lIns="0" tIns="0" rIns="0" bIns="0" rtlCol="0" anchor="ctr"/>
          <a:lstStyle/>
          <a:p>
            <a:pPr defTabSz="1219170"/>
            <a:r>
              <a:rPr lang="en-US" sz="1600" b="1" dirty="0">
                <a:solidFill>
                  <a:srgbClr val="FFFFFF"/>
                </a:solidFill>
                <a:latin typeface="Microsoft YaHei" pitchFamily="34" charset="0"/>
                <a:ea typeface="Microsoft YaHei" pitchFamily="34" charset="-122"/>
                <a:cs typeface="Microsoft YaHei" pitchFamily="34" charset="-120"/>
              </a:rPr>
              <a:t>Prompt security</a:t>
            </a:r>
            <a:endParaRPr lang="en-US" sz="1600" dirty="0">
              <a:solidFill>
                <a:prstClr val="black"/>
              </a:solidFill>
              <a:latin typeface="Calibri" panose="020F0502020204030204"/>
            </a:endParaRPr>
          </a:p>
        </p:txBody>
      </p:sp>
      <p:sp>
        <p:nvSpPr>
          <p:cNvPr id="39" name="Text 37"/>
          <p:cNvSpPr/>
          <p:nvPr/>
        </p:nvSpPr>
        <p:spPr>
          <a:xfrm>
            <a:off x="8363712" y="4754880"/>
            <a:ext cx="3169920" cy="1402080"/>
          </a:xfrm>
          <a:prstGeom prst="rect">
            <a:avLst/>
          </a:prstGeom>
          <a:noFill/>
          <a:ln/>
        </p:spPr>
        <p:txBody>
          <a:bodyPr wrap="square" rtlCol="0" anchor="t"/>
          <a:lstStyle/>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Input sanitization + Output review</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Human confirmation for sensitive tools</a:t>
            </a:r>
            <a:endParaRPr lang="en-US" sz="1333" dirty="0">
              <a:solidFill>
                <a:prstClr val="black"/>
              </a:solidFill>
              <a:latin typeface="Calibri" panose="020F0502020204030204"/>
            </a:endParaRPr>
          </a:p>
          <a:p>
            <a:pPr marL="457189" indent="-457189" defTabSz="1219170">
              <a:spcAft>
                <a:spcPts val="533"/>
              </a:spcAft>
              <a:buSzPct val="100000"/>
              <a:buFontTx/>
              <a:buChar char="✓"/>
            </a:pPr>
            <a:r>
              <a:rPr lang="en-US" sz="1333" dirty="0">
                <a:solidFill>
                  <a:srgbClr val="107C10"/>
                </a:solidFill>
                <a:latin typeface="Microsoft YaHei" pitchFamily="34" charset="0"/>
                <a:ea typeface="Microsoft YaHei" pitchFamily="34" charset="-122"/>
                <a:cs typeface="Microsoft YaHei" pitchFamily="34" charset="-120"/>
              </a:rPr>
              <a:t>Prompt-Injection defense templates</a:t>
            </a:r>
            <a:endParaRPr lang="en-US" sz="1333" dirty="0">
              <a:solidFill>
                <a:prstClr val="black"/>
              </a:solidFill>
              <a:latin typeface="Calibri" panose="020F0502020204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F2A47"/>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0" y="0"/>
            <a:ext cx="2926080" cy="7315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4" name="Text 2"/>
          <p:cNvSpPr/>
          <p:nvPr/>
        </p:nvSpPr>
        <p:spPr>
          <a:xfrm>
            <a:off x="487680" y="219456"/>
            <a:ext cx="7315200" cy="365760"/>
          </a:xfrm>
          <a:prstGeom prst="rect">
            <a:avLst/>
          </a:prstGeom>
          <a:noFill/>
          <a:ln/>
        </p:spPr>
        <p:txBody>
          <a:bodyPr wrap="square" rtlCol="0" anchor="ctr"/>
          <a:lstStyle/>
          <a:p>
            <a:pPr defTabSz="1219170"/>
            <a:r>
              <a:rPr lang="en-US" sz="1333" b="1" kern="0" spc="533" dirty="0">
                <a:solidFill>
                  <a:srgbClr val="0078D4"/>
                </a:solidFill>
                <a:latin typeface="Microsoft YaHei" pitchFamily="34" charset="0"/>
                <a:ea typeface="Microsoft YaHei" pitchFamily="34" charset="-122"/>
                <a:cs typeface="Microsoft YaHei" pitchFamily="34" charset="-120"/>
              </a:rPr>
              <a:t>05 · Trends</a:t>
            </a:r>
            <a:endParaRPr lang="en-US" sz="1333" dirty="0">
              <a:solidFill>
                <a:prstClr val="black"/>
              </a:solidFill>
              <a:latin typeface="Calibri" panose="020F0502020204030204"/>
            </a:endParaRPr>
          </a:p>
        </p:txBody>
      </p:sp>
      <p:sp>
        <p:nvSpPr>
          <p:cNvPr id="5" name="Text 3"/>
          <p:cNvSpPr/>
          <p:nvPr/>
        </p:nvSpPr>
        <p:spPr>
          <a:xfrm>
            <a:off x="487680" y="609600"/>
            <a:ext cx="11216640" cy="731520"/>
          </a:xfrm>
          <a:prstGeom prst="rect">
            <a:avLst/>
          </a:prstGeom>
          <a:noFill/>
          <a:ln/>
        </p:spPr>
        <p:txBody>
          <a:bodyPr wrap="square" lIns="0" tIns="0" rIns="0" bIns="0" rtlCol="0" anchor="ctr"/>
          <a:lstStyle/>
          <a:p>
            <a:pPr defTabSz="1219170"/>
            <a:r>
              <a:rPr lang="en-US" sz="3467" b="1" dirty="0">
                <a:solidFill>
                  <a:srgbClr val="0F2A47"/>
                </a:solidFill>
                <a:latin typeface="Microsoft YaHei" pitchFamily="34" charset="0"/>
                <a:ea typeface="Microsoft YaHei" pitchFamily="34" charset="-122"/>
                <a:cs typeface="Microsoft YaHei" pitchFamily="34" charset="-120"/>
              </a:rPr>
              <a:t>Future trends: Meta-Harness and evolvable architecture</a:t>
            </a:r>
            <a:endParaRPr lang="en-US" sz="3467" dirty="0">
              <a:solidFill>
                <a:prstClr val="black"/>
              </a:solidFill>
              <a:latin typeface="Calibri" panose="020F0502020204030204"/>
            </a:endParaRPr>
          </a:p>
        </p:txBody>
      </p:sp>
      <p:sp>
        <p:nvSpPr>
          <p:cNvPr id="6" name="Text 4"/>
          <p:cNvSpPr/>
          <p:nvPr/>
        </p:nvSpPr>
        <p:spPr>
          <a:xfrm>
            <a:off x="487680" y="1280160"/>
            <a:ext cx="11216640" cy="390144"/>
          </a:xfrm>
          <a:prstGeom prst="rect">
            <a:avLst/>
          </a:prstGeom>
          <a:noFill/>
          <a:ln/>
        </p:spPr>
        <p:txBody>
          <a:bodyPr wrap="square" lIns="0" tIns="0" rIns="0" bIns="0" rtlCol="0" anchor="ctr"/>
          <a:lstStyle/>
          <a:p>
            <a:pPr defTabSz="1219170"/>
            <a:r>
              <a:rPr lang="en-US" sz="1600" dirty="0">
                <a:solidFill>
                  <a:srgbClr val="5B6671"/>
                </a:solidFill>
                <a:latin typeface="Microsoft YaHei" pitchFamily="34" charset="0"/>
                <a:ea typeface="Microsoft YaHei" pitchFamily="34" charset="-122"/>
                <a:cs typeface="Microsoft YaHei" pitchFamily="34" charset="-120"/>
              </a:rPr>
              <a:t>The next decade of Agent platforms: stable interfaces, free implementation</a:t>
            </a:r>
            <a:endParaRPr lang="en-US" sz="1600" dirty="0">
              <a:solidFill>
                <a:prstClr val="black"/>
              </a:solidFill>
              <a:latin typeface="Calibri" panose="020F0502020204030204"/>
            </a:endParaRPr>
          </a:p>
        </p:txBody>
      </p:sp>
      <p:sp>
        <p:nvSpPr>
          <p:cNvPr id="7" name="Shape 5"/>
          <p:cNvSpPr/>
          <p:nvPr/>
        </p:nvSpPr>
        <p:spPr>
          <a:xfrm>
            <a:off x="487680" y="6534912"/>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Text 6"/>
          <p:cNvSpPr/>
          <p:nvPr/>
        </p:nvSpPr>
        <p:spPr>
          <a:xfrm>
            <a:off x="731520" y="6486144"/>
            <a:ext cx="6096000" cy="304800"/>
          </a:xfrm>
          <a:prstGeom prst="rect">
            <a:avLst/>
          </a:prstGeom>
          <a:noFill/>
          <a:ln/>
        </p:spPr>
        <p:txBody>
          <a:bodyPr wrap="square" rtlCol="0" anchor="ctr"/>
          <a:lstStyle/>
          <a:p>
            <a:pPr defTabSz="1219170"/>
            <a:r>
              <a:rPr lang="en-US" sz="1200" dirty="0">
                <a:solidFill>
                  <a:srgbClr val="5B6671"/>
                </a:solidFill>
                <a:latin typeface="Microsoft YaHei" pitchFamily="34" charset="0"/>
                <a:ea typeface="Microsoft YaHei" pitchFamily="34" charset="-122"/>
                <a:cs typeface="Microsoft YaHei" pitchFamily="34" charset="-120"/>
              </a:rPr>
              <a:t>Microsoft · Agent Harness Architecture &amp; Practice</a:t>
            </a:r>
            <a:endParaRPr lang="en-US" sz="1200" dirty="0">
              <a:solidFill>
                <a:prstClr val="black"/>
              </a:solidFill>
              <a:latin typeface="Calibri" panose="020F0502020204030204"/>
            </a:endParaRPr>
          </a:p>
        </p:txBody>
      </p:sp>
      <p:sp>
        <p:nvSpPr>
          <p:cNvPr id="9" name="Text 7"/>
          <p:cNvSpPr/>
          <p:nvPr/>
        </p:nvSpPr>
        <p:spPr>
          <a:xfrm>
            <a:off x="10607040" y="6486144"/>
            <a:ext cx="1341120" cy="304800"/>
          </a:xfrm>
          <a:prstGeom prst="rect">
            <a:avLst/>
          </a:prstGeom>
          <a:noFill/>
          <a:ln/>
        </p:spPr>
        <p:txBody>
          <a:bodyPr wrap="square" rtlCol="0" anchor="ctr"/>
          <a:lstStyle/>
          <a:p>
            <a:pPr algn="r" defTabSz="1219170"/>
            <a:r>
              <a:rPr lang="en-US" sz="1200" dirty="0">
                <a:solidFill>
                  <a:srgbClr val="5B6671"/>
                </a:solidFill>
                <a:latin typeface="Microsoft YaHei" pitchFamily="34" charset="0"/>
                <a:ea typeface="Microsoft YaHei" pitchFamily="34" charset="-122"/>
                <a:cs typeface="Microsoft YaHei" pitchFamily="34" charset="-120"/>
              </a:rPr>
              <a:t>39 / 40</a:t>
            </a:r>
            <a:endParaRPr lang="en-US" sz="1200" dirty="0">
              <a:solidFill>
                <a:prstClr val="black"/>
              </a:solidFill>
              <a:latin typeface="Calibri" panose="020F0502020204030204"/>
            </a:endParaRPr>
          </a:p>
        </p:txBody>
      </p:sp>
      <p:sp>
        <p:nvSpPr>
          <p:cNvPr id="10" name="Shape 8"/>
          <p:cNvSpPr/>
          <p:nvPr/>
        </p:nvSpPr>
        <p:spPr>
          <a:xfrm>
            <a:off x="487680" y="1889760"/>
            <a:ext cx="11216640" cy="128016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1" name="Shape 9"/>
          <p:cNvSpPr/>
          <p:nvPr/>
        </p:nvSpPr>
        <p:spPr>
          <a:xfrm>
            <a:off x="487680" y="1889760"/>
            <a:ext cx="97536" cy="128016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2" name="Text 10"/>
          <p:cNvSpPr/>
          <p:nvPr/>
        </p:nvSpPr>
        <p:spPr>
          <a:xfrm>
            <a:off x="731520" y="2072640"/>
            <a:ext cx="10850880" cy="487680"/>
          </a:xfrm>
          <a:prstGeom prst="rect">
            <a:avLst/>
          </a:prstGeom>
          <a:noFill/>
          <a:ln/>
        </p:spPr>
        <p:txBody>
          <a:bodyPr wrap="square" lIns="0" tIns="0" rIns="0" bIns="0" rtlCol="0" anchor="ctr"/>
          <a:lstStyle/>
          <a:p>
            <a:pPr defTabSz="1219170"/>
            <a:r>
              <a:rPr lang="en-US" sz="2133" b="1" i="1" dirty="0">
                <a:solidFill>
                  <a:srgbClr val="0F2A47"/>
                </a:solidFill>
                <a:latin typeface="Microsoft YaHei" pitchFamily="34" charset="0"/>
                <a:ea typeface="Microsoft YaHei" pitchFamily="34" charset="-122"/>
                <a:cs typeface="Microsoft YaHei" pitchFamily="34" charset="-120"/>
              </a:rPr>
              <a:t>"Programs as yet unthought of."</a:t>
            </a:r>
            <a:endParaRPr lang="en-US" sz="2133" dirty="0">
              <a:solidFill>
                <a:prstClr val="black"/>
              </a:solidFill>
              <a:latin typeface="Calibri" panose="020F0502020204030204"/>
            </a:endParaRPr>
          </a:p>
        </p:txBody>
      </p:sp>
      <p:sp>
        <p:nvSpPr>
          <p:cNvPr id="13" name="Text 11"/>
          <p:cNvSpPr/>
          <p:nvPr/>
        </p:nvSpPr>
        <p:spPr>
          <a:xfrm>
            <a:off x="731520" y="2560320"/>
            <a:ext cx="10850880" cy="609600"/>
          </a:xfrm>
          <a:prstGeom prst="rect">
            <a:avLst/>
          </a:prstGeom>
          <a:noFill/>
          <a:ln/>
        </p:spPr>
        <p:txBody>
          <a:bodyPr wrap="square" lIns="0" tIns="0" rIns="0" bIns="0" rtlCol="0" anchor="t"/>
          <a:lstStyle/>
          <a:p>
            <a:pPr defTabSz="1219170"/>
            <a:r>
              <a:rPr lang="en-US" sz="1600" dirty="0">
                <a:solidFill>
                  <a:srgbClr val="1F2937"/>
                </a:solidFill>
                <a:latin typeface="Microsoft YaHei" pitchFamily="34" charset="0"/>
                <a:ea typeface="Microsoft YaHei" pitchFamily="34" charset="-122"/>
                <a:cs typeface="Microsoft YaHei" pitchFamily="34" charset="-120"/>
              </a:rPr>
              <a:t>Operating systems lasted decades by virtualizing hardware into sufficiently general abstractions. Managed Agents take the same road: opinionated about interfaces, neutral about implementations.</a:t>
            </a:r>
            <a:endParaRPr lang="en-US" sz="1600" dirty="0">
              <a:solidFill>
                <a:prstClr val="black"/>
              </a:solidFill>
              <a:latin typeface="Calibri" panose="020F0502020204030204"/>
            </a:endParaRPr>
          </a:p>
        </p:txBody>
      </p:sp>
      <p:sp>
        <p:nvSpPr>
          <p:cNvPr id="14" name="Shape 12"/>
          <p:cNvSpPr/>
          <p:nvPr/>
        </p:nvSpPr>
        <p:spPr>
          <a:xfrm>
            <a:off x="487680" y="3474720"/>
            <a:ext cx="548640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5" name="Shape 13"/>
          <p:cNvSpPr/>
          <p:nvPr/>
        </p:nvSpPr>
        <p:spPr>
          <a:xfrm>
            <a:off x="487680" y="3474720"/>
            <a:ext cx="97536" cy="1402080"/>
          </a:xfrm>
          <a:prstGeom prst="rect">
            <a:avLst/>
          </a:prstGeom>
          <a:solidFill>
            <a:srgbClr val="0078D4"/>
          </a:solidFill>
          <a:ln/>
        </p:spPr>
        <p:txBody>
          <a:bodyPr/>
          <a:lstStyle/>
          <a:p>
            <a:pPr defTabSz="1219170"/>
            <a:endParaRPr lang="en-CN" sz="2400">
              <a:solidFill>
                <a:prstClr val="black"/>
              </a:solidFill>
              <a:latin typeface="Calibri" panose="020F0502020204030204"/>
            </a:endParaRPr>
          </a:p>
        </p:txBody>
      </p:sp>
      <p:sp>
        <p:nvSpPr>
          <p:cNvPr id="16" name="Text 14"/>
          <p:cNvSpPr/>
          <p:nvPr/>
        </p:nvSpPr>
        <p:spPr>
          <a:xfrm>
            <a:off x="731520" y="3657600"/>
            <a:ext cx="4998720" cy="390144"/>
          </a:xfrm>
          <a:prstGeom prst="rect">
            <a:avLst/>
          </a:prstGeom>
          <a:noFill/>
          <a:ln/>
        </p:spPr>
        <p:txBody>
          <a:bodyPr wrap="square" lIns="0" tIns="0" rIns="0" bIns="0" rtlCol="0" anchor="ctr"/>
          <a:lstStyle/>
          <a:p>
            <a:pPr defTabSz="1219170"/>
            <a:r>
              <a:rPr lang="en-US" sz="1733" b="1" dirty="0">
                <a:solidFill>
                  <a:srgbClr val="0078D4"/>
                </a:solidFill>
                <a:latin typeface="Microsoft YaHei" pitchFamily="34" charset="0"/>
                <a:ea typeface="Microsoft YaHei" pitchFamily="34" charset="-122"/>
                <a:cs typeface="Microsoft YaHei" pitchFamily="34" charset="-120"/>
              </a:rPr>
              <a:t>Standardization of universal Agent interfaces</a:t>
            </a:r>
            <a:endParaRPr lang="en-US" sz="1733" dirty="0">
              <a:solidFill>
                <a:prstClr val="black"/>
              </a:solidFill>
              <a:latin typeface="Calibri" panose="020F0502020204030204"/>
            </a:endParaRPr>
          </a:p>
        </p:txBody>
      </p:sp>
      <p:sp>
        <p:nvSpPr>
          <p:cNvPr id="17" name="Text 15"/>
          <p:cNvSpPr/>
          <p:nvPr/>
        </p:nvSpPr>
        <p:spPr>
          <a:xfrm>
            <a:off x="731520" y="4084320"/>
            <a:ext cx="4998720" cy="73152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Protocol layers like MCP / A2A / OpenAI Responses will keep converging</a:t>
            </a:r>
            <a:endParaRPr lang="en-US" sz="1467" dirty="0">
              <a:solidFill>
                <a:prstClr val="black"/>
              </a:solidFill>
              <a:latin typeface="Calibri" panose="020F0502020204030204"/>
            </a:endParaRPr>
          </a:p>
        </p:txBody>
      </p:sp>
      <p:sp>
        <p:nvSpPr>
          <p:cNvPr id="18" name="Shape 16"/>
          <p:cNvSpPr/>
          <p:nvPr/>
        </p:nvSpPr>
        <p:spPr>
          <a:xfrm>
            <a:off x="6217920" y="3474720"/>
            <a:ext cx="548640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19" name="Shape 17"/>
          <p:cNvSpPr/>
          <p:nvPr/>
        </p:nvSpPr>
        <p:spPr>
          <a:xfrm>
            <a:off x="6217920" y="3474720"/>
            <a:ext cx="97536" cy="1402080"/>
          </a:xfrm>
          <a:prstGeom prst="rect">
            <a:avLst/>
          </a:prstGeom>
          <a:solidFill>
            <a:srgbClr val="00B7C3"/>
          </a:solidFill>
          <a:ln/>
        </p:spPr>
        <p:txBody>
          <a:bodyPr/>
          <a:lstStyle/>
          <a:p>
            <a:pPr defTabSz="1219170"/>
            <a:endParaRPr lang="en-CN" sz="2400">
              <a:solidFill>
                <a:prstClr val="black"/>
              </a:solidFill>
              <a:latin typeface="Calibri" panose="020F0502020204030204"/>
            </a:endParaRPr>
          </a:p>
        </p:txBody>
      </p:sp>
      <p:sp>
        <p:nvSpPr>
          <p:cNvPr id="20" name="Text 18"/>
          <p:cNvSpPr/>
          <p:nvPr/>
        </p:nvSpPr>
        <p:spPr>
          <a:xfrm>
            <a:off x="6461760" y="3657600"/>
            <a:ext cx="4998720" cy="390144"/>
          </a:xfrm>
          <a:prstGeom prst="rect">
            <a:avLst/>
          </a:prstGeom>
          <a:noFill/>
          <a:ln/>
        </p:spPr>
        <p:txBody>
          <a:bodyPr wrap="square" lIns="0" tIns="0" rIns="0" bIns="0" rtlCol="0" anchor="ctr"/>
          <a:lstStyle/>
          <a:p>
            <a:pPr defTabSz="1219170"/>
            <a:r>
              <a:rPr lang="en-US" sz="1733" b="1" dirty="0">
                <a:solidFill>
                  <a:srgbClr val="00B7C3"/>
                </a:solidFill>
                <a:latin typeface="Microsoft YaHei" pitchFamily="34" charset="0"/>
                <a:ea typeface="Microsoft YaHei" pitchFamily="34" charset="-122"/>
                <a:cs typeface="Microsoft YaHei" pitchFamily="34" charset="-120"/>
              </a:rPr>
              <a:t>Agent as infrastructure</a:t>
            </a:r>
            <a:endParaRPr lang="en-US" sz="1733" dirty="0">
              <a:solidFill>
                <a:prstClr val="black"/>
              </a:solidFill>
              <a:latin typeface="Calibri" panose="020F0502020204030204"/>
            </a:endParaRPr>
          </a:p>
        </p:txBody>
      </p:sp>
      <p:sp>
        <p:nvSpPr>
          <p:cNvPr id="21" name="Text 19"/>
          <p:cNvSpPr/>
          <p:nvPr/>
        </p:nvSpPr>
        <p:spPr>
          <a:xfrm>
            <a:off x="6461760" y="4084320"/>
            <a:ext cx="4998720" cy="73152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Agents become first-class citizens of cloud platforms — alongside VMs, containers, and functions</a:t>
            </a:r>
            <a:endParaRPr lang="en-US" sz="1467" dirty="0">
              <a:solidFill>
                <a:prstClr val="black"/>
              </a:solidFill>
              <a:latin typeface="Calibri" panose="020F0502020204030204"/>
            </a:endParaRPr>
          </a:p>
        </p:txBody>
      </p:sp>
      <p:sp>
        <p:nvSpPr>
          <p:cNvPr id="22" name="Shape 20"/>
          <p:cNvSpPr/>
          <p:nvPr/>
        </p:nvSpPr>
        <p:spPr>
          <a:xfrm>
            <a:off x="487680" y="4998720"/>
            <a:ext cx="548640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3" name="Shape 21"/>
          <p:cNvSpPr/>
          <p:nvPr/>
        </p:nvSpPr>
        <p:spPr>
          <a:xfrm>
            <a:off x="487680" y="4998720"/>
            <a:ext cx="97536" cy="1402080"/>
          </a:xfrm>
          <a:prstGeom prst="rect">
            <a:avLst/>
          </a:prstGeom>
          <a:solidFill>
            <a:srgbClr val="107C10"/>
          </a:solidFill>
          <a:ln/>
        </p:spPr>
        <p:txBody>
          <a:bodyPr/>
          <a:lstStyle/>
          <a:p>
            <a:pPr defTabSz="1219170"/>
            <a:endParaRPr lang="en-CN" sz="2400">
              <a:solidFill>
                <a:prstClr val="black"/>
              </a:solidFill>
              <a:latin typeface="Calibri" panose="020F0502020204030204"/>
            </a:endParaRPr>
          </a:p>
        </p:txBody>
      </p:sp>
      <p:sp>
        <p:nvSpPr>
          <p:cNvPr id="24" name="Text 22"/>
          <p:cNvSpPr/>
          <p:nvPr/>
        </p:nvSpPr>
        <p:spPr>
          <a:xfrm>
            <a:off x="731520" y="5181600"/>
            <a:ext cx="4998720" cy="390144"/>
          </a:xfrm>
          <a:prstGeom prst="rect">
            <a:avLst/>
          </a:prstGeom>
          <a:noFill/>
          <a:ln/>
        </p:spPr>
        <p:txBody>
          <a:bodyPr wrap="square" lIns="0" tIns="0" rIns="0" bIns="0" rtlCol="0" anchor="ctr"/>
          <a:lstStyle/>
          <a:p>
            <a:pPr defTabSz="1219170"/>
            <a:r>
              <a:rPr lang="en-US" sz="1733" b="1" dirty="0">
                <a:solidFill>
                  <a:srgbClr val="107C10"/>
                </a:solidFill>
                <a:latin typeface="Microsoft YaHei" pitchFamily="34" charset="0"/>
                <a:ea typeface="Microsoft YaHei" pitchFamily="34" charset="-122"/>
                <a:cs typeface="Microsoft YaHei" pitchFamily="34" charset="-120"/>
              </a:rPr>
              <a:t>Distributed Brain-Hand deployment</a:t>
            </a:r>
            <a:endParaRPr lang="en-US" sz="1733" dirty="0">
              <a:solidFill>
                <a:prstClr val="black"/>
              </a:solidFill>
              <a:latin typeface="Calibri" panose="020F0502020204030204"/>
            </a:endParaRPr>
          </a:p>
        </p:txBody>
      </p:sp>
      <p:sp>
        <p:nvSpPr>
          <p:cNvPr id="25" name="Text 23"/>
          <p:cNvSpPr/>
          <p:nvPr/>
        </p:nvSpPr>
        <p:spPr>
          <a:xfrm>
            <a:off x="731520" y="5608320"/>
            <a:ext cx="4998720" cy="73152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Brain across clouds, Hand inside the customer — hybrid-cloud Agents</a:t>
            </a:r>
            <a:endParaRPr lang="en-US" sz="1467" dirty="0">
              <a:solidFill>
                <a:prstClr val="black"/>
              </a:solidFill>
              <a:latin typeface="Calibri" panose="020F0502020204030204"/>
            </a:endParaRPr>
          </a:p>
        </p:txBody>
      </p:sp>
      <p:sp>
        <p:nvSpPr>
          <p:cNvPr id="26" name="Shape 24"/>
          <p:cNvSpPr/>
          <p:nvPr/>
        </p:nvSpPr>
        <p:spPr>
          <a:xfrm>
            <a:off x="6217920" y="4998720"/>
            <a:ext cx="5486400" cy="1402080"/>
          </a:xfrm>
          <a:prstGeom prst="rect">
            <a:avLst/>
          </a:prstGeom>
          <a:solidFill>
            <a:srgbClr val="FFFFFF"/>
          </a:solidFill>
          <a:ln w="6350">
            <a:solidFill>
              <a:srgbClr val="E1E5EB"/>
            </a:solidFill>
            <a:prstDash val="solid"/>
          </a:ln>
          <a:effectLst>
            <a:outerShdw blurRad="127000" dist="25400" dir="5400000" algn="bl" rotWithShape="0">
              <a:srgbClr val="1F2937">
                <a:alpha val="6000"/>
              </a:srgbClr>
            </a:outerShdw>
          </a:effectLst>
        </p:spPr>
        <p:txBody>
          <a:bodyPr/>
          <a:lstStyle/>
          <a:p>
            <a:pPr defTabSz="1219170"/>
            <a:endParaRPr lang="en-CN" sz="2400">
              <a:solidFill>
                <a:prstClr val="black"/>
              </a:solidFill>
              <a:latin typeface="Calibri" panose="020F0502020204030204"/>
            </a:endParaRPr>
          </a:p>
        </p:txBody>
      </p:sp>
      <p:sp>
        <p:nvSpPr>
          <p:cNvPr id="27" name="Shape 25"/>
          <p:cNvSpPr/>
          <p:nvPr/>
        </p:nvSpPr>
        <p:spPr>
          <a:xfrm>
            <a:off x="6217920" y="4998720"/>
            <a:ext cx="97536" cy="1402080"/>
          </a:xfrm>
          <a:prstGeom prst="rect">
            <a:avLst/>
          </a:prstGeom>
          <a:solidFill>
            <a:srgbClr val="5C2D91"/>
          </a:solidFill>
          <a:ln/>
        </p:spPr>
        <p:txBody>
          <a:bodyPr/>
          <a:lstStyle/>
          <a:p>
            <a:pPr defTabSz="1219170"/>
            <a:endParaRPr lang="en-CN" sz="2400">
              <a:solidFill>
                <a:prstClr val="black"/>
              </a:solidFill>
              <a:latin typeface="Calibri" panose="020F0502020204030204"/>
            </a:endParaRPr>
          </a:p>
        </p:txBody>
      </p:sp>
      <p:sp>
        <p:nvSpPr>
          <p:cNvPr id="28" name="Text 26"/>
          <p:cNvSpPr/>
          <p:nvPr/>
        </p:nvSpPr>
        <p:spPr>
          <a:xfrm>
            <a:off x="6461760" y="5181600"/>
            <a:ext cx="4998720" cy="390144"/>
          </a:xfrm>
          <a:prstGeom prst="rect">
            <a:avLst/>
          </a:prstGeom>
          <a:noFill/>
          <a:ln/>
        </p:spPr>
        <p:txBody>
          <a:bodyPr wrap="square" lIns="0" tIns="0" rIns="0" bIns="0" rtlCol="0" anchor="ctr"/>
          <a:lstStyle/>
          <a:p>
            <a:pPr defTabSz="1219170"/>
            <a:r>
              <a:rPr lang="en-US" sz="1733" b="1" dirty="0">
                <a:solidFill>
                  <a:srgbClr val="5C2D91"/>
                </a:solidFill>
                <a:latin typeface="Microsoft YaHei" pitchFamily="34" charset="0"/>
                <a:ea typeface="Microsoft YaHei" pitchFamily="34" charset="-122"/>
                <a:cs typeface="Microsoft YaHei" pitchFamily="34" charset="-120"/>
              </a:rPr>
              <a:t>Evaluation and security closed loop</a:t>
            </a:r>
            <a:endParaRPr lang="en-US" sz="1733" dirty="0">
              <a:solidFill>
                <a:prstClr val="black"/>
              </a:solidFill>
              <a:latin typeface="Calibri" panose="020F0502020204030204"/>
            </a:endParaRPr>
          </a:p>
        </p:txBody>
      </p:sp>
      <p:sp>
        <p:nvSpPr>
          <p:cNvPr id="29" name="Text 27"/>
          <p:cNvSpPr/>
          <p:nvPr/>
        </p:nvSpPr>
        <p:spPr>
          <a:xfrm>
            <a:off x="6461760" y="5608320"/>
            <a:ext cx="4998720" cy="731520"/>
          </a:xfrm>
          <a:prstGeom prst="rect">
            <a:avLst/>
          </a:prstGeom>
          <a:noFill/>
          <a:ln/>
        </p:spPr>
        <p:txBody>
          <a:bodyPr wrap="square" lIns="0" tIns="0" rIns="0" bIns="0" rtlCol="0" anchor="t"/>
          <a:lstStyle/>
          <a:p>
            <a:pPr defTabSz="1219170"/>
            <a:r>
              <a:rPr lang="en-US" sz="1467" dirty="0">
                <a:solidFill>
                  <a:srgbClr val="1F2937"/>
                </a:solidFill>
                <a:latin typeface="Microsoft YaHei" pitchFamily="34" charset="0"/>
                <a:ea typeface="Microsoft YaHei" pitchFamily="34" charset="-122"/>
                <a:cs typeface="Microsoft YaHei" pitchFamily="34" charset="-120"/>
              </a:rPr>
              <a:t>Evaluators + audit + policy unified — production-grade governance</a:t>
            </a:r>
            <a:endParaRPr lang="en-US" sz="1467" dirty="0">
              <a:solidFill>
                <a:prstClr val="black"/>
              </a:solidFill>
              <a:latin typeface="Calibri" panose="020F050202020403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A47"/>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3" name="Shape 1"/>
          <p:cNvSpPr/>
          <p:nvPr/>
        </p:nvSpPr>
        <p:spPr>
          <a:xfrm>
            <a:off x="9144000" y="1219200"/>
            <a:ext cx="4267200" cy="4267200"/>
          </a:xfrm>
          <a:prstGeom prst="ellipse">
            <a:avLst/>
          </a:prstGeom>
          <a:solidFill>
            <a:srgbClr val="0078D4">
              <a:alpha val="30000"/>
            </a:srgbClr>
          </a:solidFill>
          <a:ln/>
        </p:spPr>
        <p:txBody>
          <a:bodyPr/>
          <a:lstStyle/>
          <a:p>
            <a:pPr defTabSz="1219170"/>
            <a:endParaRPr lang="en-CN" sz="2400">
              <a:solidFill>
                <a:prstClr val="black"/>
              </a:solidFill>
              <a:latin typeface="Calibri" panose="020F0502020204030204"/>
            </a:endParaRPr>
          </a:p>
        </p:txBody>
      </p:sp>
      <p:sp>
        <p:nvSpPr>
          <p:cNvPr id="4" name="Shape 2"/>
          <p:cNvSpPr/>
          <p:nvPr/>
        </p:nvSpPr>
        <p:spPr>
          <a:xfrm>
            <a:off x="9753600" y="3048000"/>
            <a:ext cx="2438400" cy="2438400"/>
          </a:xfrm>
          <a:prstGeom prst="ellipse">
            <a:avLst/>
          </a:prstGeom>
          <a:solidFill>
            <a:srgbClr val="FFB900">
              <a:alpha val="40000"/>
            </a:srgbClr>
          </a:solidFill>
          <a:ln/>
        </p:spPr>
        <p:txBody>
          <a:bodyPr/>
          <a:lstStyle/>
          <a:p>
            <a:pPr defTabSz="1219170"/>
            <a:endParaRPr lang="en-CN" sz="2400">
              <a:solidFill>
                <a:prstClr val="black"/>
              </a:solidFill>
              <a:latin typeface="Calibri" panose="020F0502020204030204"/>
            </a:endParaRPr>
          </a:p>
        </p:txBody>
      </p:sp>
      <p:sp>
        <p:nvSpPr>
          <p:cNvPr id="5" name="Text 3"/>
          <p:cNvSpPr/>
          <p:nvPr/>
        </p:nvSpPr>
        <p:spPr>
          <a:xfrm>
            <a:off x="731520" y="1706880"/>
            <a:ext cx="8534400" cy="609600"/>
          </a:xfrm>
          <a:prstGeom prst="rect">
            <a:avLst/>
          </a:prstGeom>
          <a:noFill/>
          <a:ln/>
        </p:spPr>
        <p:txBody>
          <a:bodyPr wrap="square" lIns="0" tIns="0" rIns="0" bIns="0" rtlCol="0" anchor="ctr"/>
          <a:lstStyle/>
          <a:p>
            <a:pPr defTabSz="1219170"/>
            <a:r>
              <a:rPr lang="en-US" sz="2133" b="1" kern="0" spc="1600" dirty="0">
                <a:solidFill>
                  <a:srgbClr val="FFB900"/>
                </a:solidFill>
                <a:latin typeface="Microsoft YaHei" pitchFamily="34" charset="0"/>
                <a:ea typeface="Microsoft YaHei" pitchFamily="34" charset="-122"/>
                <a:cs typeface="Microsoft YaHei" pitchFamily="34" charset="-120"/>
              </a:rPr>
              <a:t>THANK YOU</a:t>
            </a:r>
            <a:endParaRPr lang="en-US" sz="2133" dirty="0">
              <a:solidFill>
                <a:prstClr val="black"/>
              </a:solidFill>
              <a:latin typeface="Calibri" panose="020F0502020204030204"/>
            </a:endParaRPr>
          </a:p>
        </p:txBody>
      </p:sp>
      <p:sp>
        <p:nvSpPr>
          <p:cNvPr id="6" name="Text 4"/>
          <p:cNvSpPr/>
          <p:nvPr/>
        </p:nvSpPr>
        <p:spPr>
          <a:xfrm>
            <a:off x="731520" y="2377440"/>
            <a:ext cx="8534400" cy="1219200"/>
          </a:xfrm>
          <a:prstGeom prst="rect">
            <a:avLst/>
          </a:prstGeom>
          <a:noFill/>
          <a:ln/>
        </p:spPr>
        <p:txBody>
          <a:bodyPr wrap="square" lIns="0" tIns="0" rIns="0" bIns="0" rtlCol="0" anchor="ctr"/>
          <a:lstStyle/>
          <a:p>
            <a:pPr defTabSz="1219170"/>
            <a:r>
              <a:rPr lang="en-US" sz="6400" b="1" dirty="0">
                <a:solidFill>
                  <a:srgbClr val="FFFFFF"/>
                </a:solidFill>
                <a:latin typeface="Microsoft YaHei" pitchFamily="34" charset="0"/>
                <a:ea typeface="Microsoft YaHei" pitchFamily="34" charset="-122"/>
                <a:cs typeface="Microsoft YaHei" pitchFamily="34" charset="-120"/>
              </a:rPr>
              <a:t>Wrap-up and Q&amp;A</a:t>
            </a:r>
            <a:endParaRPr lang="en-US" sz="6400" dirty="0">
              <a:solidFill>
                <a:prstClr val="black"/>
              </a:solidFill>
              <a:latin typeface="Calibri" panose="020F0502020204030204"/>
            </a:endParaRPr>
          </a:p>
        </p:txBody>
      </p:sp>
      <p:sp>
        <p:nvSpPr>
          <p:cNvPr id="7" name="Shape 5"/>
          <p:cNvSpPr/>
          <p:nvPr/>
        </p:nvSpPr>
        <p:spPr>
          <a:xfrm>
            <a:off x="731520" y="3718560"/>
            <a:ext cx="731520" cy="48768"/>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8" name="Shape 6"/>
          <p:cNvSpPr/>
          <p:nvPr/>
        </p:nvSpPr>
        <p:spPr>
          <a:xfrm>
            <a:off x="731520" y="4047744"/>
            <a:ext cx="219456" cy="219456"/>
          </a:xfrm>
          <a:prstGeom prst="ellipse">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9" name="Text 7"/>
          <p:cNvSpPr/>
          <p:nvPr/>
        </p:nvSpPr>
        <p:spPr>
          <a:xfrm>
            <a:off x="1158240" y="3962400"/>
            <a:ext cx="7924800" cy="426720"/>
          </a:xfrm>
          <a:prstGeom prst="rect">
            <a:avLst/>
          </a:prstGeom>
          <a:noFill/>
          <a:ln/>
        </p:spPr>
        <p:txBody>
          <a:bodyPr wrap="square" lIns="0" tIns="0" rIns="0" bIns="0" rtlCol="0" anchor="ctr"/>
          <a:lstStyle/>
          <a:p>
            <a:pPr defTabSz="1219170"/>
            <a:r>
              <a:rPr lang="en-US" sz="1600" dirty="0">
                <a:solidFill>
                  <a:srgbClr val="CADCFC"/>
                </a:solidFill>
                <a:latin typeface="Microsoft YaHei" pitchFamily="34" charset="0"/>
                <a:ea typeface="Microsoft YaHei" pitchFamily="34" charset="-122"/>
                <a:cs typeface="Microsoft YaHei" pitchFamily="34" charset="-120"/>
              </a:rPr>
              <a:t>Agent Harness converges all engineering complexity beyond LLM inference into the platform layer</a:t>
            </a:r>
            <a:endParaRPr lang="en-US" sz="1600" dirty="0">
              <a:solidFill>
                <a:prstClr val="black"/>
              </a:solidFill>
              <a:latin typeface="Calibri" panose="020F0502020204030204"/>
            </a:endParaRPr>
          </a:p>
        </p:txBody>
      </p:sp>
      <p:sp>
        <p:nvSpPr>
          <p:cNvPr id="10" name="Shape 8"/>
          <p:cNvSpPr/>
          <p:nvPr/>
        </p:nvSpPr>
        <p:spPr>
          <a:xfrm>
            <a:off x="731520" y="4535424"/>
            <a:ext cx="219456" cy="219456"/>
          </a:xfrm>
          <a:prstGeom prst="ellipse">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1" name="Text 9"/>
          <p:cNvSpPr/>
          <p:nvPr/>
        </p:nvSpPr>
        <p:spPr>
          <a:xfrm>
            <a:off x="1158240" y="4450080"/>
            <a:ext cx="7924800" cy="426720"/>
          </a:xfrm>
          <a:prstGeom prst="rect">
            <a:avLst/>
          </a:prstGeom>
          <a:noFill/>
          <a:ln/>
        </p:spPr>
        <p:txBody>
          <a:bodyPr wrap="square" lIns="0" tIns="0" rIns="0" bIns="0" rtlCol="0" anchor="ctr"/>
          <a:lstStyle/>
          <a:p>
            <a:pPr defTabSz="1219170"/>
            <a:r>
              <a:rPr lang="en-US" sz="1600" dirty="0">
                <a:solidFill>
                  <a:srgbClr val="CADCFC"/>
                </a:solidFill>
                <a:latin typeface="Microsoft YaHei" pitchFamily="34" charset="0"/>
                <a:ea typeface="Microsoft YaHei" pitchFamily="34" charset="-122"/>
                <a:cs typeface="Microsoft YaHei" pitchFamily="34" charset="-120"/>
              </a:rPr>
              <a:t>Brain / Hands / Session decoupling is the core design philosophy of Managed Agents</a:t>
            </a:r>
            <a:endParaRPr lang="en-US" sz="1600" dirty="0">
              <a:solidFill>
                <a:prstClr val="black"/>
              </a:solidFill>
              <a:latin typeface="Calibri" panose="020F0502020204030204"/>
            </a:endParaRPr>
          </a:p>
        </p:txBody>
      </p:sp>
      <p:sp>
        <p:nvSpPr>
          <p:cNvPr id="12" name="Shape 10"/>
          <p:cNvSpPr/>
          <p:nvPr/>
        </p:nvSpPr>
        <p:spPr>
          <a:xfrm>
            <a:off x="731520" y="5023104"/>
            <a:ext cx="219456" cy="219456"/>
          </a:xfrm>
          <a:prstGeom prst="ellipse">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3" name="Text 11"/>
          <p:cNvSpPr/>
          <p:nvPr/>
        </p:nvSpPr>
        <p:spPr>
          <a:xfrm>
            <a:off x="1158240" y="4937760"/>
            <a:ext cx="7924800" cy="426720"/>
          </a:xfrm>
          <a:prstGeom prst="rect">
            <a:avLst/>
          </a:prstGeom>
          <a:noFill/>
          <a:ln/>
        </p:spPr>
        <p:txBody>
          <a:bodyPr wrap="square" lIns="0" tIns="0" rIns="0" bIns="0" rtlCol="0" anchor="ctr"/>
          <a:lstStyle/>
          <a:p>
            <a:pPr defTabSz="1219170"/>
            <a:r>
              <a:rPr lang="en-US" sz="1600" dirty="0">
                <a:solidFill>
                  <a:srgbClr val="CADCFC"/>
                </a:solidFill>
                <a:latin typeface="Microsoft YaHei" pitchFamily="34" charset="0"/>
                <a:ea typeface="Microsoft YaHei" pitchFamily="34" charset="-122"/>
                <a:cs typeface="Microsoft YaHei" pitchFamily="34" charset="-120"/>
              </a:rPr>
              <a:t>Azure / Anthropic / AWS each have their strengths — selection should fit the business scenario</a:t>
            </a:r>
            <a:endParaRPr lang="en-US" sz="1600" dirty="0">
              <a:solidFill>
                <a:prstClr val="black"/>
              </a:solidFill>
              <a:latin typeface="Calibri" panose="020F0502020204030204"/>
            </a:endParaRPr>
          </a:p>
        </p:txBody>
      </p:sp>
      <p:sp>
        <p:nvSpPr>
          <p:cNvPr id="14" name="Shape 12"/>
          <p:cNvSpPr/>
          <p:nvPr/>
        </p:nvSpPr>
        <p:spPr>
          <a:xfrm>
            <a:off x="731520" y="5510784"/>
            <a:ext cx="219456" cy="219456"/>
          </a:xfrm>
          <a:prstGeom prst="ellipse">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5" name="Text 13"/>
          <p:cNvSpPr/>
          <p:nvPr/>
        </p:nvSpPr>
        <p:spPr>
          <a:xfrm>
            <a:off x="1158240" y="5425440"/>
            <a:ext cx="7924800" cy="426720"/>
          </a:xfrm>
          <a:prstGeom prst="rect">
            <a:avLst/>
          </a:prstGeom>
          <a:noFill/>
          <a:ln/>
        </p:spPr>
        <p:txBody>
          <a:bodyPr wrap="square" lIns="0" tIns="0" rIns="0" bIns="0" rtlCol="0" anchor="ctr"/>
          <a:lstStyle/>
          <a:p>
            <a:pPr defTabSz="1219170"/>
            <a:r>
              <a:rPr lang="en-US" sz="1600" dirty="0">
                <a:solidFill>
                  <a:srgbClr val="CADCFC"/>
                </a:solidFill>
                <a:latin typeface="Microsoft YaHei" pitchFamily="34" charset="0"/>
                <a:ea typeface="Microsoft YaHei" pitchFamily="34" charset="-122"/>
                <a:cs typeface="Microsoft YaHei" pitchFamily="34" charset="-120"/>
              </a:rPr>
              <a:t>Stable interfaces matter more than clever implementations — leave room for the future</a:t>
            </a:r>
            <a:endParaRPr lang="en-US" sz="1600" dirty="0">
              <a:solidFill>
                <a:prstClr val="black"/>
              </a:solidFill>
              <a:latin typeface="Calibri" panose="020F0502020204030204"/>
            </a:endParaRPr>
          </a:p>
        </p:txBody>
      </p:sp>
      <p:sp>
        <p:nvSpPr>
          <p:cNvPr id="16" name="Shape 14"/>
          <p:cNvSpPr/>
          <p:nvPr/>
        </p:nvSpPr>
        <p:spPr>
          <a:xfrm>
            <a:off x="731520" y="6096000"/>
            <a:ext cx="146304" cy="195072"/>
          </a:xfrm>
          <a:prstGeom prst="rect">
            <a:avLst/>
          </a:prstGeom>
          <a:solidFill>
            <a:srgbClr val="FFB900"/>
          </a:solidFill>
          <a:ln/>
        </p:spPr>
        <p:txBody>
          <a:bodyPr/>
          <a:lstStyle/>
          <a:p>
            <a:pPr defTabSz="1219170"/>
            <a:endParaRPr lang="en-CN" sz="2400">
              <a:solidFill>
                <a:prstClr val="black"/>
              </a:solidFill>
              <a:latin typeface="Calibri" panose="020F0502020204030204"/>
            </a:endParaRPr>
          </a:p>
        </p:txBody>
      </p:sp>
      <p:sp>
        <p:nvSpPr>
          <p:cNvPr id="17" name="Text 15"/>
          <p:cNvSpPr/>
          <p:nvPr/>
        </p:nvSpPr>
        <p:spPr>
          <a:xfrm>
            <a:off x="975360" y="6059424"/>
            <a:ext cx="7315200" cy="304800"/>
          </a:xfrm>
          <a:prstGeom prst="rect">
            <a:avLst/>
          </a:prstGeom>
          <a:noFill/>
          <a:ln/>
        </p:spPr>
        <p:txBody>
          <a:bodyPr wrap="square" lIns="0" tIns="0" rIns="0" bIns="0" rtlCol="0" anchor="ctr"/>
          <a:lstStyle/>
          <a:p>
            <a:pPr defTabSz="1219170"/>
            <a:r>
              <a:rPr lang="en-US" sz="1333" dirty="0">
                <a:solidFill>
                  <a:srgbClr val="CADCFC"/>
                </a:solidFill>
                <a:latin typeface="Microsoft YaHei" pitchFamily="34" charset="0"/>
                <a:ea typeface="Microsoft YaHei" pitchFamily="34" charset="-122"/>
                <a:cs typeface="Microsoft YaHei" pitchFamily="34" charset="-120"/>
              </a:rPr>
              <a:t>Microsoft Cloud Advocate · Agent Harness Architecture &amp; Practice · 2026</a:t>
            </a:r>
            <a:endParaRPr lang="en-US" sz="1333" dirty="0">
              <a:solidFill>
                <a:prstClr val="black"/>
              </a:solidFill>
              <a:latin typeface="Calibri" panose="020F0502020204030204"/>
            </a:endParaRPr>
          </a:p>
        </p:txBody>
      </p:sp>
      <p:sp>
        <p:nvSpPr>
          <p:cNvPr id="18" name="Text 16"/>
          <p:cNvSpPr/>
          <p:nvPr/>
        </p:nvSpPr>
        <p:spPr>
          <a:xfrm>
            <a:off x="10607040" y="6059424"/>
            <a:ext cx="1341120" cy="304800"/>
          </a:xfrm>
          <a:prstGeom prst="rect">
            <a:avLst/>
          </a:prstGeom>
          <a:noFill/>
          <a:ln/>
        </p:spPr>
        <p:txBody>
          <a:bodyPr wrap="square" lIns="0" tIns="0" rIns="0" bIns="0" rtlCol="0" anchor="ctr"/>
          <a:lstStyle/>
          <a:p>
            <a:pPr algn="r" defTabSz="1219170"/>
            <a:r>
              <a:rPr lang="en-US" sz="1333" dirty="0">
                <a:solidFill>
                  <a:srgbClr val="CADCFC"/>
                </a:solidFill>
                <a:latin typeface="Microsoft YaHei" pitchFamily="34" charset="0"/>
                <a:ea typeface="Microsoft YaHei" pitchFamily="34" charset="-122"/>
                <a:cs typeface="Microsoft YaHei" pitchFamily="34" charset="-120"/>
              </a:rPr>
              <a:t>40 / 40</a:t>
            </a:r>
            <a:endParaRPr lang="en-US" sz="1333" dirty="0">
              <a:solidFill>
                <a:prstClr val="black"/>
              </a:solidFill>
              <a:latin typeface="Calibri" panose="020F0502020204030204"/>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25</TotalTime>
  <Words>4606</Words>
  <Application>Microsoft Macintosh PowerPoint</Application>
  <PresentationFormat>Widescreen</PresentationFormat>
  <Paragraphs>861</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Microsoft YaHei</vt:lpstr>
      <vt:lpstr>Aptos</vt:lpstr>
      <vt:lpstr>Arial</vt:lpstr>
      <vt:lpstr>Calibri</vt:lpstr>
      <vt:lpstr>Consolas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Kinfey Lo</dc:creator>
  <cp:lastModifiedBy>Kinfey Lo</cp:lastModifiedBy>
  <cp:revision>3</cp:revision>
  <dcterms:created xsi:type="dcterms:W3CDTF">2026-05-06T05:24:02Z</dcterms:created>
  <dcterms:modified xsi:type="dcterms:W3CDTF">2026-05-08T07:18:12Z</dcterms:modified>
</cp:coreProperties>
</file>