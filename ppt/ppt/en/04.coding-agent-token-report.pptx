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Multiplier</c:v>
                </c:pt>
              </c:strCache>
            </c:strRef>
          </c:tx>
          <c:spPr>
            <a:solidFill>
              <a:srgbClr val="E874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Gemini 2.0 Flash</c:v>
                </c:pt>
                <c:pt idx="1">
                  <c:v>Default model</c:v>
                </c:pt>
                <c:pt idx="2">
                  <c:v>Sonnet 4</c:v>
                </c:pt>
                <c:pt idx="3">
                  <c:v>GPT-4.5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0.25</c:v>
                </c:pt>
                <c:pt idx="1">
                  <c:v>1</c:v>
                </c:pt>
                <c:pt idx="2">
                  <c:v>1</c:v>
                </c:pt>
                <c:pt idx="3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14-C649-9396-C46DCE8BFB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DF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86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8C9E9-840E-C743-8031-F76146D96D9B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37828-3100-394D-8DA7-2DD205200AC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76453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76490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765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768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kern="0" spc="8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0" y="48768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kern="0" spc="4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 REPORT · 2026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036320"/>
            <a:ext cx="10728960" cy="0"/>
          </a:xfrm>
          <a:prstGeom prst="line">
            <a:avLst/>
          </a:prstGeom>
          <a:noFill/>
          <a:ln w="1270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72896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7200" b="1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Coding Agent Era</a:t>
            </a:r>
            <a:endParaRPr lang="en-US" sz="7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72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733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OpenCode · </a:t>
            </a:r>
            <a:r>
              <a:rPr lang="en-US" sz="3733" b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</a:t>
            </a:r>
            <a:r>
              <a:rPr lang="en-US" sz="3733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· GitHub Copilot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10728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i="1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Economics Observations and Practical Developer Guide Across Three Major Platforms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5364480"/>
            <a:ext cx="487680" cy="6096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554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Kinfey Lo · </a:t>
            </a:r>
            <a:r>
              <a:rPr lang="en-US" altLang="zh-CN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r>
              <a:rPr lang="zh-CN" altLang="en-US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Cloud Advocat</a:t>
            </a:r>
            <a:r>
              <a:rPr lang="en-US" altLang="zh-CN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24800" y="554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6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 today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438400"/>
            <a:ext cx="10972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2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11680" y="2560320"/>
            <a:ext cx="0" cy="48768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255520" y="2438400"/>
            <a:ext cx="48768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Agent Introduction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255520" y="282854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2026 dev workflow is being reshaped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3316224"/>
            <a:ext cx="10972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2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011680" y="3438144"/>
            <a:ext cx="0" cy="48768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255520" y="3316224"/>
            <a:ext cx="48768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Side-by-side breakdown of 3 platforms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255520" y="3706368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· OpenClaw · GitHub Copilot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4194048"/>
            <a:ext cx="10972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2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011680" y="4315968"/>
            <a:ext cx="0" cy="48768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255520" y="4194048"/>
            <a:ext cx="48768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Consumption Profile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255520" y="458419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models, multipliers, optimization headroom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" y="5071872"/>
            <a:ext cx="10972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2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011680" y="5193792"/>
            <a:ext cx="0" cy="48768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255520" y="5071872"/>
            <a:ext cx="48768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 &amp; Cost Optimization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255520" y="5462016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fit + practical recommendations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Live Talk — Coding Agents &amp; Token Economics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Coding Agent?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377440"/>
            <a:ext cx="60960" cy="195072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2316480"/>
            <a:ext cx="6096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longer "completion" — but an "agent".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60960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spcAft>
                <a:spcPts val="800"/>
              </a:spcAft>
            </a:pPr>
            <a:r>
              <a:rPr lang="en-US" sz="17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Coding Agent can plan, invoke tools, read files, and run shell — driving tasks forward through multi-step loops until the goal is reached or a human intervenes.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193280" y="2255520"/>
            <a:ext cx="438912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160" y="2523744"/>
            <a:ext cx="609600" cy="609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168640" y="2474976"/>
            <a:ext cx="34137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Goal-driven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168640" y="2865120"/>
            <a:ext cx="34137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high-level intent, autonomously decompose tasks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193280" y="3535680"/>
            <a:ext cx="438912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160" y="3803904"/>
            <a:ext cx="609600" cy="609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168640" y="3755136"/>
            <a:ext cx="34137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calling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8168640" y="4145280"/>
            <a:ext cx="34137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files, run commands, search code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7193280" y="4815840"/>
            <a:ext cx="438912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6160" y="5084064"/>
            <a:ext cx="609600" cy="609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68640" y="5035296"/>
            <a:ext cx="34137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Multi-turn loop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8168640" y="5425440"/>
            <a:ext cx="34137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Act → Observe → Reflect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Live Talk — Coding Agents &amp; Token Economics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platforms · Three philosophies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255520"/>
            <a:ext cx="3596640" cy="3901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2255520"/>
            <a:ext cx="3596640" cy="9753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9936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84960" y="2438400"/>
            <a:ext cx="25603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584960" y="2828544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· Terminal-first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14400" y="3291840"/>
            <a:ext cx="298704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14400" y="3438144"/>
            <a:ext cx="310896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sst, fully open source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(BYOM)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 Plan dual Agent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914400" y="5547360"/>
            <a:ext cx="2987040" cy="42672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14400" y="5547360"/>
            <a:ext cx="29870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direct model passthrough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328160" y="2255520"/>
            <a:ext cx="3596640" cy="3901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328160" y="2255520"/>
            <a:ext cx="3596640" cy="9753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960" y="2499360"/>
            <a:ext cx="548640" cy="5486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03520" y="2438400"/>
            <a:ext cx="25603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 / Pi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5303520" y="2828544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· Self-evolving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4632960" y="3291840"/>
            <a:ext cx="298704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4632960" y="3438144"/>
            <a:ext cx="310896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built-in tools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extends by self-rewriting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end-to-end experience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4632960" y="5547360"/>
            <a:ext cx="2987040" cy="42672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632960" y="5547360"/>
            <a:ext cx="29870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minimal kernel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8046720" y="2255520"/>
            <a:ext cx="3596640" cy="3901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8046720" y="2255520"/>
            <a:ext cx="3596640" cy="9753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1520" y="2499360"/>
            <a:ext cx="548640" cy="5486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022080" y="2438400"/>
            <a:ext cx="25603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Copilot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9022080" y="2828544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· Integrated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8351520" y="3291840"/>
            <a:ext cx="298704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8351520" y="3438144"/>
            <a:ext cx="310896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Agent + Cloud Agent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Request billing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Transitioning to Token quotas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29"/>
          <p:cNvSpPr/>
          <p:nvPr/>
        </p:nvSpPr>
        <p:spPr>
          <a:xfrm>
            <a:off x="8351520" y="5547360"/>
            <a:ext cx="2987040" cy="42672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8351520" y="5547360"/>
            <a:ext cx="29870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plan + quota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1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Live Talk — Coding Agents &amp; Token Economics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· 01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/ OpenCode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terminal-native open-source Coding Agent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316480"/>
            <a:ext cx="6583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Open-sourced by the sst team — </a:t>
            </a:r>
            <a:r>
              <a:rPr lang="en-US" sz="2133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fully open · model-agnostic.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658368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spcAft>
                <a:spcPts val="800"/>
              </a:spcAft>
            </a:pPr>
            <a:r>
              <a:rPr lang="en-US" sz="1667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treats the Coding Agent as a standalone CLI tool, embedded directly into the developer's existing terminal workflow. It's not tied to any specific model — switch freely between Anthropic, OpenAI, local Ollama, and more.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4876800"/>
            <a:ext cx="121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kern="0" spc="133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950720" y="4876800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MIT, fully open source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23360" y="4876800"/>
            <a:ext cx="121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kern="0" spc="133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42560" y="4876800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 / Terminal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5486400"/>
            <a:ext cx="121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kern="0" spc="133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support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950720" y="5486400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APIs + local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023360" y="5486400"/>
            <a:ext cx="121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kern="0" spc="133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model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242560" y="5486400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 / tools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59040" y="2316480"/>
            <a:ext cx="4023360" cy="3657600"/>
          </a:xfrm>
          <a:prstGeom prst="rect">
            <a:avLst/>
          </a:prstGeom>
          <a:solidFill>
            <a:srgbClr val="0F1419"/>
          </a:solidFill>
          <a:ln w="1270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741920" y="2499360"/>
            <a:ext cx="146304" cy="146304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85760" y="2499360"/>
            <a:ext cx="146304" cy="146304"/>
          </a:xfrm>
          <a:prstGeom prst="ellipse">
            <a:avLst/>
          </a:prstGeom>
          <a:solidFill>
            <a:srgbClr val="F2A26B"/>
          </a:solidFill>
          <a:ln w="12700">
            <a:solidFill>
              <a:srgbClr val="F2A26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29600" y="2499360"/>
            <a:ext cx="146304" cy="146304"/>
          </a:xfrm>
          <a:prstGeom prst="ellipse">
            <a:avLst/>
          </a:prstGeom>
          <a:solidFill>
            <a:srgbClr val="5C7280"/>
          </a:solidFill>
          <a:ln w="12700">
            <a:solidFill>
              <a:srgbClr val="5C7280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559040" y="2438400"/>
            <a:ext cx="40233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dirty="0">
                <a:solidFill>
                  <a:srgbClr val="8B8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741920" y="2865120"/>
            <a:ext cx="3657600" cy="304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spcAft>
                <a:spcPts val="400"/>
              </a:spcAft>
            </a:pPr>
            <a:r>
              <a:rPr lang="en-US" sz="1333" dirty="0">
                <a:solidFill>
                  <a:srgbClr val="E87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opencode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spcAft>
                <a:spcPts val="400"/>
              </a:spcAft>
            </a:pPr>
            <a:r>
              <a:rPr lang="en-US" sz="1333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Select model: claude-sonnet-4.6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spcAft>
                <a:spcPts val="400"/>
              </a:spcAft>
            </a:pPr>
            <a:r>
              <a:rPr lang="en-US" sz="1333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Mode: Build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spcAft>
                <a:spcPts val="400"/>
              </a:spcAft>
            </a:pP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spcAft>
                <a:spcPts val="400"/>
              </a:spcAft>
            </a:pPr>
            <a:r>
              <a:rPr lang="en-US" sz="1333" dirty="0">
                <a:solidFill>
                  <a:srgbClr val="F2A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&gt; Fix edge-case issues in utils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spcAft>
                <a:spcPts val="400"/>
              </a:spcAft>
            </a:pPr>
            <a:r>
              <a:rPr lang="en-US" sz="1333" dirty="0">
                <a:solidFill>
                  <a:srgbClr val="8B8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▸ Read utils.ts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spcAft>
                <a:spcPts val="400"/>
              </a:spcAft>
            </a:pPr>
            <a:r>
              <a:rPr lang="en-US" sz="1333" dirty="0">
                <a:solidFill>
                  <a:srgbClr val="8B8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▸ Run npm test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spcAft>
                <a:spcPts val="400"/>
              </a:spcAft>
            </a:pPr>
            <a:r>
              <a:rPr lang="en-US" sz="1333" dirty="0">
                <a:solidFill>
                  <a:srgbClr val="8B8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▸ Commit patch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spcAft>
                <a:spcPts val="400"/>
              </a:spcAft>
            </a:pPr>
            <a:r>
              <a:rPr lang="en-US" sz="1333" dirty="0">
                <a:solidFill>
                  <a:srgbClr val="6B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Done · 3 tests passed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Live Talk — Coding Agents &amp; Token Economics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· 02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/ Architecture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· Plan · Sub-agent collaboration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255520"/>
            <a:ext cx="536448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2255520"/>
            <a:ext cx="73152" cy="134112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2316480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91840" y="2438400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b="1" kern="0" spc="267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· All tools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2865120"/>
            <a:ext cx="4876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development primary agent — full read, write, execute, and search permissions.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2255520"/>
            <a:ext cx="536448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2255520"/>
            <a:ext cx="73152" cy="1341120"/>
          </a:xfrm>
          <a:prstGeom prst="rect">
            <a:avLst/>
          </a:prstGeom>
          <a:solidFill>
            <a:srgbClr val="5C7280"/>
          </a:solidFill>
          <a:ln w="12700">
            <a:solidFill>
              <a:srgbClr val="5C7280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22720" y="2316480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900160" y="2438400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b="1" kern="0" spc="267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· Restricted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22720" y="2865120"/>
            <a:ext cx="4876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planning agent — for review, design, and avoiding mistaken operations.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0" y="37185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kern="0" spc="4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· Collaborate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13120" y="3657600"/>
            <a:ext cx="0" cy="512064"/>
          </a:xfrm>
          <a:prstGeom prst="line">
            <a:avLst/>
          </a:prstGeom>
          <a:noFill/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600" y="4328160"/>
            <a:ext cx="5364480" cy="170688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72000"/>
            <a:ext cx="487680" cy="4876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24000" y="4511040"/>
            <a:ext cx="4267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524000" y="4937760"/>
            <a:ext cx="4267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14400" y="530352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research + multi-step task delegation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217920" y="4328160"/>
            <a:ext cx="5364480" cy="170688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720" y="4572000"/>
            <a:ext cx="487680" cy="4876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132320" y="4511040"/>
            <a:ext cx="4267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7132320" y="4937760"/>
            <a:ext cx="4267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6522720" y="530352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exploration — ideal for navigating large codebases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Live Talk — Coding Agents &amp; Token Economics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· 03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/ Token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passthrough: transparent, flexible, optimizable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231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kern="0" spc="4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flow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2804160"/>
            <a:ext cx="5364480" cy="85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53440" y="3023616"/>
            <a:ext cx="426720" cy="426720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3440" y="3023616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63040" y="2926080"/>
            <a:ext cx="426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 CLI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63040" y="3291840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only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2896" y="3681984"/>
            <a:ext cx="0" cy="158496"/>
          </a:xfrm>
          <a:prstGeom prst="line">
            <a:avLst/>
          </a:prstGeom>
          <a:noFill/>
          <a:ln w="1524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600" y="3840480"/>
            <a:ext cx="5364480" cy="85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53440" y="4059936"/>
            <a:ext cx="426720" cy="426720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3440" y="4059936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463040" y="3962400"/>
            <a:ext cx="426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 API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63040" y="4328160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GPT / Local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72896" y="4718304"/>
            <a:ext cx="0" cy="158496"/>
          </a:xfrm>
          <a:prstGeom prst="line">
            <a:avLst/>
          </a:prstGeom>
          <a:noFill/>
          <a:ln w="1524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09600" y="4876800"/>
            <a:ext cx="5364480" cy="85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53440" y="5096256"/>
            <a:ext cx="426720" cy="426720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53440" y="5096256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463040" y="4998720"/>
            <a:ext cx="426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wallet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463040" y="5364480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Pay-per-Token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83680" y="2316480"/>
            <a:ext cx="499872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584704"/>
            <a:ext cx="548640" cy="5486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498080" y="2499360"/>
            <a:ext cx="39014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Fully transparent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498080" y="2889504"/>
            <a:ext cx="390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markup — model vendor pricing passthrough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583680" y="3657600"/>
            <a:ext cx="499872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925824"/>
            <a:ext cx="548640" cy="54864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498080" y="3840480"/>
            <a:ext cx="39014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Controllable levers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7498080" y="4230624"/>
            <a:ext cx="390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model / cache / sub-agents to amortize cost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1"/>
          <p:cNvSpPr/>
          <p:nvPr/>
        </p:nvSpPr>
        <p:spPr>
          <a:xfrm>
            <a:off x="6583680" y="4998720"/>
            <a:ext cx="499872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5266944"/>
            <a:ext cx="548640" cy="54864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7498080" y="5181600"/>
            <a:ext cx="39014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autonomy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7498080" y="5571744"/>
            <a:ext cx="390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via your own gateway — unified quota and auditing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4"/>
          <p:cNvSpPr/>
          <p:nvPr/>
        </p:nvSpPr>
        <p:spPr>
          <a:xfrm>
            <a:off x="6583680" y="6096000"/>
            <a:ext cx="73152" cy="21945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6766560" y="603504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Multi-turn Agent loops easily amplify Tokens with large context — pair with Plan mode and local caching.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6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37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Live Talk — Coding Agents &amp; Token Economics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38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01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/ OpenClaw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beauty of minimalism: AI on WhatsApp, powered by Pi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316480"/>
            <a:ext cx="5364480" cy="3901440"/>
          </a:xfrm>
          <a:prstGeom prst="rect">
            <a:avLst/>
          </a:prstGeom>
          <a:solidFill>
            <a:srgbClr val="1A1F26"/>
          </a:solidFill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2804160"/>
            <a:ext cx="731520" cy="731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9600" y="3657600"/>
            <a:ext cx="53644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3733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09600" y="4267200"/>
            <a:ext cx="536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· Personal AI assistant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072640" y="4815840"/>
            <a:ext cx="2438400" cy="0"/>
          </a:xfrm>
          <a:prstGeom prst="line">
            <a:avLst/>
          </a:prstGeom>
          <a:noFill/>
          <a:ln w="9525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53440" y="4998720"/>
            <a:ext cx="487680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by Peter Steinberger, viral over the holidays; underneath is Mario Zechner's minimalist Coding Agent — Pi.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61760" y="2316480"/>
            <a:ext cx="8534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315200" y="2316480"/>
            <a:ext cx="41452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4 tools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315200" y="2731008"/>
            <a:ext cx="41452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· write · edit · bash — kernel minimalism taken to the limit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461760" y="3474720"/>
            <a:ext cx="4998720" cy="0"/>
          </a:xfrm>
          <a:prstGeom prst="line">
            <a:avLst/>
          </a:prstGeom>
          <a:noFill/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61760" y="3633216"/>
            <a:ext cx="8534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315200" y="3633216"/>
            <a:ext cx="41452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Self-rewriting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315200" y="4047744"/>
            <a:ext cx="41452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new features? Have Pi modify Pi itself — non-engineers can extend it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461760" y="4791456"/>
            <a:ext cx="4998720" cy="0"/>
          </a:xfrm>
          <a:prstGeom prst="line">
            <a:avLst/>
          </a:prstGeom>
          <a:noFill/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461760" y="4949952"/>
            <a:ext cx="8534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315200" y="4949952"/>
            <a:ext cx="41452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restraint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315200" y="5364480"/>
            <a:ext cx="41452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pile every fancy capability into a single binary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Live Talk — Coding Agents &amp; Token Economics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02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/ Philosophy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is "less is more"?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255520"/>
            <a:ext cx="10972800" cy="128016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3440" y="2255520"/>
            <a:ext cx="731520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r>
              <a:rPr lang="en-US" sz="8000" b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8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63040" y="237744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0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tools should be restrained, not endlessly inflated. We give the most complex part to the model, and the simplest part to the user.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63040" y="3108960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kern="0" spc="267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Mario Zechner, author of Pi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3840480"/>
            <a:ext cx="536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Agent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0" y="3840480"/>
            <a:ext cx="536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/ Pi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9600" y="4267200"/>
            <a:ext cx="5364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2480" y="42672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built-in tools, steep learning curve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0" y="4267200"/>
            <a:ext cx="5364480" cy="54864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0" y="42672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tools · 5 minutes to onboard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9600" y="4937760"/>
            <a:ext cx="5364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2480" y="4937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need = wait for the developer to ship a version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17920" y="4937760"/>
            <a:ext cx="5364480" cy="54864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4937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need = have Pi rewrite itself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9600" y="5608320"/>
            <a:ext cx="5364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92480" y="5608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UI, complex menus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17920" y="5608320"/>
            <a:ext cx="5364480" cy="54864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0" y="5608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WhatsApp message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Live Talk — Coding Agents &amp; Token Economics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03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/ Token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Minimal kernel = minimal Token baseline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255520"/>
            <a:ext cx="5364480" cy="396240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2377440"/>
            <a:ext cx="5364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9200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9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4267200"/>
            <a:ext cx="53644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867" kern="0" spc="267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tools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72640" y="4815840"/>
            <a:ext cx="2438400" cy="0"/>
          </a:xfrm>
          <a:prstGeom prst="line">
            <a:avLst/>
          </a:prstGeom>
          <a:noFill/>
          <a:ln w="635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53440" y="4998720"/>
            <a:ext cx="487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i="1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tool schemas injected into the prompt → system-prompt tokens noticeably lower than peers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0" y="231648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kern="0" spc="4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profile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583680" y="2804160"/>
            <a:ext cx="390144" cy="390144"/>
          </a:xfrm>
          <a:prstGeom prst="ellipse">
            <a:avLst/>
          </a:prstGeom>
          <a:solidFill>
            <a:srgbClr val="6B8E5A"/>
          </a:solidFill>
          <a:ln w="12700">
            <a:solidFill>
              <a:srgbClr val="6B8E5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83680" y="2804160"/>
            <a:ext cx="39014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1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32320" y="2743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prompt is extremely light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32320" y="3108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tool descriptions — context window stays free for business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83680" y="3596640"/>
            <a:ext cx="390144" cy="390144"/>
          </a:xfrm>
          <a:prstGeom prst="ellipse">
            <a:avLst/>
          </a:prstGeom>
          <a:solidFill>
            <a:srgbClr val="6B8E5A"/>
          </a:solidFill>
          <a:ln w="12700">
            <a:solidFill>
              <a:srgbClr val="6B8E5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0" y="3596640"/>
            <a:ext cx="39014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1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32320" y="3535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BYOM — you pay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32320" y="3901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 is entirely on the user's LLM account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583680" y="4389120"/>
            <a:ext cx="390144" cy="390144"/>
          </a:xfrm>
          <a:prstGeom prst="ellipse">
            <a:avLst/>
          </a:prstGeom>
          <a:solidFill>
            <a:srgbClr val="6B8E5A"/>
          </a:solidFill>
          <a:ln w="12700">
            <a:solidFill>
              <a:srgbClr val="6B8E5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83680" y="4389120"/>
            <a:ext cx="39014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1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32320" y="4328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Auditable, rewritable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32320" y="4693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+ self-rewrite — easy to see exactly which part burns tokens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83680" y="5181600"/>
            <a:ext cx="390144" cy="39014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83680" y="5181600"/>
            <a:ext cx="39014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1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132320" y="5120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 tasks need multiple rounds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tools mean complex tasks may loop multiple times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Live Talk — Coding Agents &amp; Token Economics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· 01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/ GitHub Copilot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code completion to multi-form Coding Agent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341120" y="3169920"/>
            <a:ext cx="9509760" cy="0"/>
          </a:xfrm>
          <a:prstGeom prst="line">
            <a:avLst/>
          </a:prstGeom>
          <a:noFill/>
          <a:ln w="1270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82624" y="3011424"/>
            <a:ext cx="316992" cy="316992"/>
          </a:xfrm>
          <a:prstGeom prst="ellipse">
            <a:avLst/>
          </a:prstGeom>
          <a:solidFill>
            <a:srgbClr val="F5F1E8"/>
          </a:solidFill>
          <a:ln w="1905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2255520"/>
            <a:ext cx="1706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933" b="1" i="1" dirty="0">
                <a:solidFill>
                  <a:srgbClr val="5C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2021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1920" y="347472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completion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1920" y="3877056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launches with editor ghost text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52544" y="3011424"/>
            <a:ext cx="316992" cy="316992"/>
          </a:xfrm>
          <a:prstGeom prst="ellipse">
            <a:avLst/>
          </a:prstGeom>
          <a:solidFill>
            <a:srgbClr val="F5F1E8"/>
          </a:solidFill>
          <a:ln w="1905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57600" y="2255520"/>
            <a:ext cx="1706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933" b="1" i="1" dirty="0">
                <a:solidFill>
                  <a:srgbClr val="5C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91840" y="347472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&amp; Spaces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91840" y="3877056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assistance, multi-model choice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522464" y="3011424"/>
            <a:ext cx="316992" cy="316992"/>
          </a:xfrm>
          <a:prstGeom prst="ellipse">
            <a:avLst/>
          </a:prstGeom>
          <a:solidFill>
            <a:srgbClr val="F5F1E8"/>
          </a:solidFill>
          <a:ln w="1905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27520" y="2255520"/>
            <a:ext cx="1706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933" b="1" i="1" dirty="0">
                <a:solidFill>
                  <a:srgbClr val="5C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61760" y="347472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Mode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61760" y="3877056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In-IDE multi-step agent + Cloud Agent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692384" y="3011424"/>
            <a:ext cx="316992" cy="316992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997440" y="2255520"/>
            <a:ext cx="1706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933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631680" y="347472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era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631680" y="3877056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Quotas shift from Request to Token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9600" y="4998720"/>
            <a:ext cx="109728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9600" y="4998720"/>
            <a:ext cx="73152" cy="121920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4400" y="512064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Agent forms coexist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14400" y="5547360"/>
            <a:ext cx="10363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IDE Agent Mode: in-editor interactive multi-step agent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14400" y="5852160"/>
            <a:ext cx="10363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Copilot Cloud Agent: runs in the background on GitHub Actions, handling Issues and PRs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Live Talk — Coding Agents &amp; Token Economics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· 02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/ Agent forms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 interactive vs. Cloud background delegation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255520"/>
            <a:ext cx="536448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2255520"/>
            <a:ext cx="5364480" cy="9753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2560320"/>
            <a:ext cx="609600" cy="609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67840" y="2560320"/>
            <a:ext cx="40233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Mode (IDE)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767840" y="2950464"/>
            <a:ext cx="40233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75360" y="3474720"/>
            <a:ext cx="463296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75360" y="3596640"/>
            <a:ext cx="4876800" cy="2499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VS Code / Visual Studio / JetBrains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read/write files, run terminal, call MCP tools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user-initiated request = 1 Premium Request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Suited to real-time iteration and visual verification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217920" y="2255520"/>
            <a:ext cx="536448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217920" y="2255520"/>
            <a:ext cx="5364480" cy="9753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560320"/>
            <a:ext cx="609600" cy="609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76160" y="2560320"/>
            <a:ext cx="40233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Agent (remote)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7376160" y="2950464"/>
            <a:ext cx="40233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583680" y="3474720"/>
            <a:ext cx="463296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6583680" y="3596640"/>
            <a:ext cx="4876800" cy="2499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to an Issue / PR, executed in the background via Actions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Session = 1 Premium Request (fixed)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GitHub Actions minutes during the Session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Suited to long tasks, batch changes, DRI async collaboration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Live Talk — Coding Agents &amp; Token Economics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· 03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/ Billing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Request and model multipliers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2255520"/>
            <a:ext cx="536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kern="0" spc="4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multipliers (examples)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10" name="Chart 0"/>
          <p:cNvGraphicFramePr/>
          <p:nvPr/>
        </p:nvGraphicFramePr>
        <p:xfrm>
          <a:off x="609600" y="2621280"/>
          <a:ext cx="5364480" cy="3596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6461760" y="2255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kern="0" spc="4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Premium quota by plan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6461760" y="2621280"/>
          <a:ext cx="5120640" cy="2340864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quota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Pro+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E87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/ user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E87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/ user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461760" y="5364480"/>
            <a:ext cx="5120640" cy="85344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44640" y="542544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Overage: $0.04 / Premium Request — one 50× model call = $2.00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644640" y="579120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i="1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June 2026, Copilot will gradually shift to Token-based quota metering.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Live Talk — Coding Agents &amp; Token Economics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· 01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Token billing philosophies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255520"/>
            <a:ext cx="2682240" cy="487680"/>
          </a:xfrm>
          <a:prstGeom prst="rect">
            <a:avLst/>
          </a:prstGeom>
          <a:solidFill>
            <a:srgbClr val="1A1F26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2255520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kern="0" spc="133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91840" y="2255520"/>
            <a:ext cx="2804160" cy="48768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13760" y="2255520"/>
            <a:ext cx="2560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kern="0" spc="133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6000" y="2255520"/>
            <a:ext cx="2804160" cy="48768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0" y="2255520"/>
            <a:ext cx="2560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kern="0" spc="133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 / Pi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900160" y="2255520"/>
            <a:ext cx="2682240" cy="48768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022080" y="2255520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kern="0" spc="133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Copilot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9600" y="2743200"/>
            <a:ext cx="268224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274320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model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91840" y="2743200"/>
            <a:ext cx="280416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1376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model API passthrough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6000" y="2743200"/>
            <a:ext cx="280416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1792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model API passthrough (BYOM)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900160" y="2743200"/>
            <a:ext cx="268224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022080" y="274320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Request → Token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9600" y="3291840"/>
            <a:ext cx="268224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31520" y="329184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91840" y="3291840"/>
            <a:ext cx="280416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413760" y="3291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· every token visible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96000" y="3291840"/>
            <a:ext cx="280416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17920" y="3291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· small kernel, easy to audit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900160" y="3291840"/>
            <a:ext cx="268224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022080" y="329184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· multipliers and quotas need manual checking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09600" y="3840480"/>
            <a:ext cx="268224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31520" y="384048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markup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91840" y="3840480"/>
            <a:ext cx="280416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413760" y="3840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096000" y="3840480"/>
            <a:ext cx="280416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217920" y="3840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900160" y="3840480"/>
            <a:ext cx="268224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022080" y="384048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(subscription + overage)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09600" y="4389120"/>
            <a:ext cx="268224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1520" y="438912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levers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291840" y="4389120"/>
            <a:ext cx="280416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41376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model / cache / sub-agents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096000" y="4389120"/>
            <a:ext cx="280416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21792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Pi itself, custom tools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8900160" y="4389120"/>
            <a:ext cx="268224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022080" y="438912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model, cap Agent steps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09600" y="4937760"/>
            <a:ext cx="268224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31520" y="493776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cost structure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291840" y="4937760"/>
            <a:ext cx="280416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3413760" y="4937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Per-token, two lines (input + output)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096000" y="4937760"/>
            <a:ext cx="280416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217920" y="4937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Per-token, two lines, low baseline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900160" y="4937760"/>
            <a:ext cx="268224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022080" y="493776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plan + $0.04 overage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09600" y="5486400"/>
            <a:ext cx="268224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31520" y="548640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Large-context impact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3291840" y="5486400"/>
            <a:ext cx="280416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3413760" y="5486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Obvious — shows up directly on the bill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096000" y="5486400"/>
            <a:ext cx="280416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6217920" y="5486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Obvious, but tool context is small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8900160" y="5486400"/>
            <a:ext cx="268224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9022080" y="548640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via Token quota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Live Talk — Coding Agents &amp; Token Economics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· 02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Consumption Profile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 the bill apart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255520"/>
            <a:ext cx="359664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3440" y="2377440"/>
            <a:ext cx="31089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3440" y="2767584"/>
            <a:ext cx="3108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i="1" kern="0" spc="1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freedom · high responsibility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3440" y="3169920"/>
            <a:ext cx="310896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800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5344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come directly from the vendor bill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53440" y="4450080"/>
            <a:ext cx="310896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3440" y="4608576"/>
            <a:ext cx="323088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■"/>
            </a:pPr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grows with the project — must be actively trimmed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■"/>
            </a:pPr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 is read-only — reduces accidental-action tokens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■"/>
            </a:pPr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AI gateway for caching and unified billing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28160" y="2255520"/>
            <a:ext cx="359664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0" y="2377440"/>
            <a:ext cx="31089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 / Pi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0" y="2767584"/>
            <a:ext cx="3108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i="1" kern="0" spc="1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kernel · low baseline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0" y="3169920"/>
            <a:ext cx="310896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800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minimal tool context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0" y="4450080"/>
            <a:ext cx="310896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0" y="4608576"/>
            <a:ext cx="323088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■"/>
            </a:pPr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tool schemas — lowest system-prompt overhead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■"/>
            </a:pPr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complex tasks via self-rewrite, not more tools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■"/>
            </a:pPr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 follows whichever model the user picks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046720" y="2255520"/>
            <a:ext cx="359664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90560" y="2377440"/>
            <a:ext cx="31089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Copilot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90560" y="2767584"/>
            <a:ext cx="3108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i="1" kern="0" spc="1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Plan-wrapped · multiplier-amplified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90560" y="3169920"/>
            <a:ext cx="310896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800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→ 50×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9056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multipliers float dynamically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290560" y="4450080"/>
            <a:ext cx="310896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290560" y="4608576"/>
            <a:ext cx="323088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■"/>
            </a:pPr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Agent counts whole Session as 1 — strong price-performance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■"/>
            </a:pPr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models gated by multipliers (up to 50×)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■"/>
            </a:pPr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quotas (2026) make long-context cost visible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Live Talk — Coding Agents &amp; Token Economics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matrix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which?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255520"/>
            <a:ext cx="10972800" cy="48768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2480" y="2255520"/>
            <a:ext cx="5486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kern="0" spc="133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39840" y="2255520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kern="0" spc="133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839200" y="2255520"/>
            <a:ext cx="26822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kern="0" spc="133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600" y="2743200"/>
            <a:ext cx="10972800" cy="67056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2480" y="2743200"/>
            <a:ext cx="5486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highly controllable LLM collaboration in the terminal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39840" y="2743200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39200" y="2743200"/>
            <a:ext cx="26822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+ BYOM, Plan mode auditable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9600" y="3413760"/>
            <a:ext cx="10972800" cy="67056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2480" y="3413760"/>
            <a:ext cx="5486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a lightweight, self-evolving personal Agent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39840" y="3413760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 / Pi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39200" y="3413760"/>
            <a:ext cx="26822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kernel + self-rewrite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600" y="4084320"/>
            <a:ext cx="10972800" cy="67056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92480" y="4084320"/>
            <a:ext cx="5486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delegate background tasks on PRs / Issues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39840" y="4084320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Cloud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839200" y="4084320"/>
            <a:ext cx="26822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billing, deep GitHub integration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9600" y="4754880"/>
            <a:ext cx="10972800" cy="67056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92480" y="4754880"/>
            <a:ext cx="5486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team-level licensing, compliance, unified billing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39840" y="4754880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Enterprise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839200" y="4754880"/>
            <a:ext cx="26822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Premium / user, IT-friendly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9600" y="5425440"/>
            <a:ext cx="10972800" cy="67056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92480" y="5425440"/>
            <a:ext cx="5486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run the Agent offline with local models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39840" y="5425440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 + Local LLM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839200" y="5425440"/>
            <a:ext cx="26822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Model-agnostic, supports Ollama and others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Live Talk — Coding Agents &amp; Token Economics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 every Token where it matters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316480"/>
            <a:ext cx="3596640" cy="1706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2535936"/>
            <a:ext cx="487680" cy="4876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74720" y="2499360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8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53440" y="3108960"/>
            <a:ext cx="31699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Tier-pick the model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53440" y="3499104"/>
            <a:ext cx="3169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tasks on cheap models — pull out Opus / GPT-5 only at critical moments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328160" y="2316480"/>
            <a:ext cx="3596640" cy="1706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535936"/>
            <a:ext cx="487680" cy="4876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93280" y="2499360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8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572000" y="3108960"/>
            <a:ext cx="31699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the cache well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572000" y="3499104"/>
            <a:ext cx="3169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cache-hit price is 1/10 of base — long system prompts benefit most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8046720" y="2316480"/>
            <a:ext cx="3596640" cy="1706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2535936"/>
            <a:ext cx="487680" cy="4876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911840" y="2499360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8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8290560" y="3108960"/>
            <a:ext cx="31699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first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8290560" y="3499104"/>
            <a:ext cx="3169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OpenCode Plan / task decomposition first — then switch to Build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609600" y="4206240"/>
            <a:ext cx="3596640" cy="1706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440" y="4425696"/>
            <a:ext cx="487680" cy="4876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474720" y="4389120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8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853440" y="4998720"/>
            <a:ext cx="31699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Gateway &amp; quotas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853440" y="5388864"/>
            <a:ext cx="3169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an AI gateway in front of OpenCode / OpenClaw — centralized quotas and auditing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4328160" y="4206240"/>
            <a:ext cx="3596640" cy="1706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425696"/>
            <a:ext cx="487680" cy="4876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93280" y="4389120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8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4572000" y="4998720"/>
            <a:ext cx="31699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Delegate to Cloud Agent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4572000" y="5388864"/>
            <a:ext cx="3169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Cloud counts the whole Session as 1 Premium — best value for long tasks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8046720" y="4206240"/>
            <a:ext cx="3596640" cy="1706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0560" y="4425696"/>
            <a:ext cx="487680" cy="4876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911840" y="4389120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8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8290560" y="4998720"/>
            <a:ext cx="31699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 Agent steps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8290560" y="5388864"/>
            <a:ext cx="3169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costs tokens — set a step cap + termination conditions for the Agent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Live Talk — Coding Agents &amp; Token Economics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trends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economics will reshape the developer market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316480"/>
            <a:ext cx="5364480" cy="1828800"/>
          </a:xfrm>
          <a:prstGeom prst="rect">
            <a:avLst/>
          </a:prstGeom>
          <a:solidFill>
            <a:srgbClr val="1A1F26"/>
          </a:solidFill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2316480"/>
            <a:ext cx="73152" cy="182880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2499360"/>
            <a:ext cx="1219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 billing → Token billing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3438144"/>
            <a:ext cx="4876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like GitHub are gradually replacing fixed Requests with Token quotas — billing precision closer to actual compute.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56960" y="2316480"/>
            <a:ext cx="5364480" cy="1828800"/>
          </a:xfrm>
          <a:prstGeom prst="rect">
            <a:avLst/>
          </a:prstGeom>
          <a:solidFill>
            <a:srgbClr val="1A1F26"/>
          </a:solidFill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56960" y="2316480"/>
            <a:ext cx="73152" cy="182880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61760" y="2499360"/>
            <a:ext cx="1219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61760" y="292608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Local-model resurgence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61760" y="3438144"/>
            <a:ext cx="4876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BYOM tools like OpenCode and Pi bring local inference back as an option — balancing data compliance and cost.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9600" y="4328160"/>
            <a:ext cx="5364480" cy="1828800"/>
          </a:xfrm>
          <a:prstGeom prst="rect">
            <a:avLst/>
          </a:prstGeom>
          <a:solidFill>
            <a:srgbClr val="1A1F26"/>
          </a:solidFill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9600" y="4328160"/>
            <a:ext cx="73152" cy="182880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4400" y="4511040"/>
            <a:ext cx="1219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4400" y="493776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of Agents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4400" y="5449824"/>
            <a:ext cx="4876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calls Plan, Plan calls Explore — sub-agent reuse splits one task into many small charges.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56960" y="4328160"/>
            <a:ext cx="5364480" cy="1828800"/>
          </a:xfrm>
          <a:prstGeom prst="rect">
            <a:avLst/>
          </a:prstGeom>
          <a:solidFill>
            <a:srgbClr val="1A1F26"/>
          </a:solidFill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56960" y="4328160"/>
            <a:ext cx="73152" cy="182880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61760" y="4511040"/>
            <a:ext cx="1219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61760" y="493776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Minimalist-philosophy revival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61760" y="5449824"/>
            <a:ext cx="4876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/ Pi's popularity shows: "four tools + one strong model" may be more sustainable than piling on tools.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Live Talk — Coding Agents &amp; Token Economics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Three-sentence wrap-up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only remember three things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2377440"/>
            <a:ext cx="121920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7466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11680" y="2474976"/>
            <a:ext cx="0" cy="103632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255520" y="2438400"/>
            <a:ext cx="9144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 the Token flow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255520" y="2926080"/>
            <a:ext cx="91440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platform you use, first ask: "Who pays for this token, and who can see it?" OpenCode and Pi pass through directly; Copilot is wrapped in plans.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3657600"/>
            <a:ext cx="121920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7466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011680" y="3755136"/>
            <a:ext cx="0" cy="103632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255520" y="3718560"/>
            <a:ext cx="9144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Embrace the minimal kernel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255520" y="4206240"/>
            <a:ext cx="91440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proves 4 tools are enough. Solve problems with the minimum set first, extend only when necessary — usually cheaper and more stable.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9600" y="4937760"/>
            <a:ext cx="121920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7466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011680" y="5035296"/>
            <a:ext cx="0" cy="103632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255520" y="4998720"/>
            <a:ext cx="9144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Agents for cost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255520" y="5486400"/>
            <a:ext cx="91440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loop steps, introduce Plan mode, tier the model, cache system prompts — optimize Tokens at the engineering layer.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Live Talk — Coding Agents &amp; Token Economics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768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kern="0" spc="8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0" y="48768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kern="0" spc="4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 REPORT · 2026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036320"/>
            <a:ext cx="10728960" cy="0"/>
          </a:xfrm>
          <a:prstGeom prst="line">
            <a:avLst/>
          </a:prstGeom>
          <a:noFill/>
          <a:ln w="1270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706880"/>
            <a:ext cx="1072896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9600" b="1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9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7289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best Agent isn't the one with the most tools — it's the one that spends Tokens most precisely."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4267200"/>
            <a:ext cx="10728960" cy="0"/>
          </a:xfrm>
          <a:prstGeom prst="line">
            <a:avLst/>
          </a:prstGeom>
          <a:noFill/>
          <a:ln w="9525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341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5120640"/>
            <a:ext cx="365760" cy="48768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5266944"/>
            <a:ext cx="341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Q&amp;A / continued at the break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0" y="4754880"/>
            <a:ext cx="341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9120" y="5120640"/>
            <a:ext cx="365760" cy="48768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9120" y="5266944"/>
            <a:ext cx="341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comparison demo of all three platforms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341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46720" y="5120640"/>
            <a:ext cx="365760" cy="48768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046720" y="5266944"/>
            <a:ext cx="341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 Cloud Advocate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6400800"/>
            <a:ext cx="10728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 · Powered by Copilot Cowork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1631</Words>
  <Application>Microsoft Macintosh PowerPoint</Application>
  <PresentationFormat>Widescreen</PresentationFormat>
  <Paragraphs>440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Calibri</vt:lpstr>
      <vt:lpstr>Consolas</vt:lpstr>
      <vt:lpstr>Georgia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Kinfey Lo</dc:creator>
  <cp:lastModifiedBy>Kinfey Lo</cp:lastModifiedBy>
  <cp:revision>2</cp:revision>
  <dcterms:created xsi:type="dcterms:W3CDTF">2026-05-06T05:22:56Z</dcterms:created>
  <dcterms:modified xsi:type="dcterms:W3CDTF">2026-05-06T05:23:40Z</dcterms:modified>
</cp:coreProperties>
</file>