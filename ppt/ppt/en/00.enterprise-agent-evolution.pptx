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194CE-A9F6-884C-BC77-9FE31F4CB1A8}" type="datetimeFigureOut">
              <a:rPr lang="en-CN" smtClean="0"/>
              <a:t>2026/5/8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63C6F-1260-AE44-8A88-1B4824E6F8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0851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45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522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3657600"/>
            <a:ext cx="8229600" cy="8229600"/>
          </a:xfrm>
          <a:prstGeom prst="ellipse">
            <a:avLst/>
          </a:prstGeom>
          <a:solidFill>
            <a:srgbClr val="5C2D91">
              <a:alpha val="4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75120" y="-1828800"/>
            <a:ext cx="3657600" cy="3657600"/>
          </a:xfrm>
          <a:prstGeom prst="ellipse">
            <a:avLst/>
          </a:prstGeom>
          <a:solidFill>
            <a:srgbClr val="50E6FF">
              <a:alpha val="25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548640"/>
            <a:ext cx="201168" cy="20116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1463040" cy="329184"/>
          </a:xfrm>
          <a:prstGeom prst="rect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 · 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Agent Evolution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Copilot to Multi-Agent · From Q&amp;A to Harness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panoramic study on the architectural evolution of enterprise AI Agents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5852160"/>
            <a:ext cx="10698480" cy="0"/>
          </a:xfrm>
          <a:prstGeom prst="line">
            <a:avLst/>
          </a:prstGeom>
          <a:noFill/>
          <a:ln w="1270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Kinfey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Senior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Advocate</a:t>
            </a:r>
          </a:p>
        </p:txBody>
      </p:sp>
      <p:sp>
        <p:nvSpPr>
          <p:cNvPr id="14" name="Text 12"/>
          <p:cNvSpPr/>
          <p:nvPr/>
        </p:nvSpPr>
        <p:spPr>
          <a:xfrm>
            <a:off x="10332720" y="5989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Vol. 01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 Overview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Eras · Three Paradigms · One Evolution Path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73152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4592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Starting Point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4592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do we need Agents? How AI reshapes enterprise productivity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63640" y="21945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63640" y="2194560"/>
            <a:ext cx="73152" cy="11887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6092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Era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6092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assistant paradigm · Human-in-the-loop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73152" cy="11887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4592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Single-Agent Era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459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Workflow-driven · Automated task closure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63640" y="35661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63640" y="3566160"/>
            <a:ext cx="73152" cy="118872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3703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6092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Era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609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orchestration · Multi-agent collaboration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73152" cy="1188720"/>
          </a:xfrm>
          <a:prstGeom prst="rect">
            <a:avLst/>
          </a:prstGeom>
          <a:solidFill>
            <a:srgbClr val="30C58F"/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0C58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64592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Comparison &amp; Insights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645920" y="5577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Three-generation capability comparison · Enterprise adoption path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63640" y="49377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63640" y="4937760"/>
            <a:ext cx="73152" cy="1188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37960" y="5074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6092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Future Outlook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60920" y="5577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tools to employees · Self-evolving organization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The Starting Point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do enterprises need Agents?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is no longer just answering questions — it is completing work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120640" cy="38404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91440" cy="384048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value of AI is shifting from “generating content”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“completing business operations”.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enterprises care about is never model size, but: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Who executes the task? Who owns the process? Who is accountable for results?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219456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73152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Productivity Demand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workers expect AI to take over repetitive, cross-system multi-step tasks, not just answer questions.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352044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3520440"/>
            <a:ext cx="73152" cy="11887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3657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Data &amp; Context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40690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data is ready (M365, ERP, CRM); we need execution agents that “understand” this context.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35040" y="484632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5040" y="4846320"/>
            <a:ext cx="73152" cy="11887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63640" y="4983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Organizational Complexity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53949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single model cannot cover end-to-end processes; we need a “digital workforce network” with multi-role collaboration.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·  Three-Generation Overview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Eras  ·  Three Paradigms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“assisting humans” to “replacing humans” to “organizing humans”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10332720" cy="0"/>
          </a:xfrm>
          <a:prstGeom prst="line">
            <a:avLst/>
          </a:prstGeom>
          <a:noFill/>
          <a:ln w="3810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0" y="40233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2331720"/>
            <a:ext cx="2926080" cy="1463040"/>
          </a:xfrm>
          <a:prstGeom prst="rect">
            <a:avLst/>
          </a:prstGeom>
          <a:solidFill>
            <a:srgbClr val="13183A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6032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→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Era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asks / AI answers / Human decides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3931920"/>
            <a:ext cx="365760" cy="36576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26480" y="40233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2926080" cy="1463040"/>
          </a:xfrm>
          <a:prstGeom prst="rect">
            <a:avLst/>
          </a:prstGeom>
          <a:solidFill>
            <a:srgbClr val="13183A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 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→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Single-Agent Era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plans / AI executes / AI reflects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875520" y="3931920"/>
            <a:ext cx="365760" cy="365760"/>
          </a:xfrm>
          <a:prstGeom prst="ellipse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966960" y="40233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95360" y="2331720"/>
            <a:ext cx="2926080" cy="1463040"/>
          </a:xfrm>
          <a:prstGeom prst="rect">
            <a:avLst/>
          </a:prstGeom>
          <a:solidFill>
            <a:srgbClr val="13183A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77824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 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24128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77824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Era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77824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orchestration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9536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collaboration / Role specialization / Continuous operation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13183A"/>
          </a:solidFill>
          <a:ln w="12700">
            <a:solidFill>
              <a:srgbClr val="1318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Evolution path: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Automation ↑   ·   Human intervention ↓   ·   Task complexity ↑   ·   Architecture scope 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914400"/>
            <a:ext cx="6400800" cy="6400800"/>
          </a:xfrm>
          <a:prstGeom prst="ellipse">
            <a:avLst/>
          </a:prstGeom>
          <a:solidFill>
            <a:srgbClr val="0078D4">
              <a:alpha val="3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9520" y="-1828800"/>
            <a:ext cx="5486400" cy="5486400"/>
          </a:xfrm>
          <a:prstGeom prst="ellipse">
            <a:avLst/>
          </a:prstGeom>
          <a:solidFill>
            <a:srgbClr val="5C2D91">
              <a:alpha val="2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54864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Era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· Human-in-the-loop · AI as Copilot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we say Copilot, AI is still in an “assisting” role.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excels at content generation and single-point answers, but humans still hold the wheel.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Era  ·  Paradigm Definition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Copilot: AI as the “Co-pilot”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requests / Copilot suggests / User decides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74520" y="3017520"/>
            <a:ext cx="1188720" cy="1188720"/>
          </a:xfrm>
          <a:prstGeom prst="ellipse">
            <a:avLst/>
          </a:prstGeom>
          <a:solidFill>
            <a:srgbClr val="0078D4">
              <a:alpha val="20000"/>
            </a:srgbClr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74520" y="30175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Initiate intent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· Draft · Review · Decide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Humans always control the flow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26280" y="3200400"/>
            <a:ext cx="1280160" cy="274320"/>
          </a:xfrm>
          <a:prstGeom prst="rightArrow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3484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/ Prompt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26280" y="4160520"/>
            <a:ext cx="1280160" cy="2743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3484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35040" y="2286000"/>
            <a:ext cx="3657600" cy="45720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3504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69480" y="3017520"/>
            <a:ext cx="1188720" cy="1188720"/>
          </a:xfrm>
          <a:prstGeom prst="ellipse">
            <a:avLst/>
          </a:prstGeom>
          <a:solidFill>
            <a:srgbClr val="5C2D91">
              <a:alpha val="20000"/>
            </a:srgbClr>
          </a:solidFill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69480" y="30175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0" y="4389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 answer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0" y="4754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Summarize · Translate · Draft · Explain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1792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does not act on its own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058400" y="2286000"/>
            <a:ext cx="1554480" cy="36576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05840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058400" y="5120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Era  ·  Typical Scenarios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Boundaries of Q&amp;A Capabilities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Copilot does: Content generation + Information lookup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✉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0020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Writing emails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 professional emails from context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584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43400" y="22860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1772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9496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Meeting notes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9496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Summarize meeting key points &amp; to-dos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17720" y="36118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17720" y="3584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38160" y="22860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12480" y="25603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124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▦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8972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queries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8972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Natural-language query over data tables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12480" y="36118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12480" y="3584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60020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Document summary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600200" y="4828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Extract key info from long documents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2960" y="54406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2960" y="54132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343400" y="41148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17720" y="43891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61772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⌨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9496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completion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394960" y="4828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 code snippets for developers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617720" y="54406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617720" y="54132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38160" y="41148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412480" y="43891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41248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18972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Translation &amp; polishing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189720" y="4828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Cross-language rewriting and expression refinement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412480" y="54406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412480" y="54132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Essence: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AI is a “tool”, not an “executor”. Every step requires humans to initiate, confirm, and accept.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Era  ·  Limitations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Copilot is not enough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tasks span steps, systems, and time, single-point dialogue hits a ceiling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73152" cy="86868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Stateless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Conversation ends → context lost; cannot persist across tasks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73152" cy="86868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No Action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37744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Produces only suggestions — no system actions, no API calls, no DB writes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73152" cy="86868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No Planning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377440" y="4206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Lacks task decomposition and goal-driven multi-step reasoning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73152" cy="86868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Human-dependent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377440" y="5166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Every step needs user input; hard to run asynchronously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2194560"/>
            <a:ext cx="5212080" cy="42062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user experience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2834640"/>
            <a:ext cx="3931920" cy="685800"/>
          </a:xfrm>
          <a:prstGeom prst="rect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3108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Compile all transactions for Customer A and send to the Sales Director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498080" y="3703320"/>
            <a:ext cx="3931920" cy="685800"/>
          </a:xfrm>
          <a:prstGeom prst="rect">
            <a:avLst/>
          </a:prstGeom>
          <a:solidFill>
            <a:srgbClr val="5C2D91">
              <a:alpha val="25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8952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589520" y="3977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Here is the draft content... (you still need to click send)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83680" y="4572000"/>
            <a:ext cx="3931920" cy="685800"/>
          </a:xfrm>
          <a:prstGeom prst="rect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7512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75120" y="4846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 Customer B as well, grouped by month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498080" y="5440680"/>
            <a:ext cx="3931920" cy="685800"/>
          </a:xfrm>
          <a:prstGeom prst="rect">
            <a:avLst/>
          </a:prstGeom>
          <a:solidFill>
            <a:srgbClr val="E74694">
              <a:alpha val="25000"/>
            </a:srgbClr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589520" y="5486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89520" y="5715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Please re-supply Customer B's data — context limit exceeded.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83680" y="61996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Pain point: every time you re-feed data and re-click send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5C2D91">
              <a:alpha val="35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03920" y="2286000"/>
            <a:ext cx="6400800" cy="6400800"/>
          </a:xfrm>
          <a:prstGeom prst="ellipse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54864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Single-Agent Era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“Q&amp;A” to “Workflow” · AI takes over multi-step tasks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 Agent has goals, memory, tools, and reflection capabilities.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no longer just answers — it plans, invokes, executes, and judges — a complete task loop.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Single-Agent Era  ·  Paradigm Definition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an Agent?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 + Memory + Tools + Reasoning = an agent that can autonomously complete tasks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66360" y="3383280"/>
            <a:ext cx="1828800" cy="1828800"/>
          </a:xfrm>
          <a:prstGeom prst="ellipse">
            <a:avLst/>
          </a:prstGeom>
          <a:solidFill>
            <a:srgbClr val="5C2D91"/>
          </a:solidFill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6636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6636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Autonomous executor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65960" y="28346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65960" y="2834640"/>
            <a:ext cx="73152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4884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4884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Understand user intent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Decompose subgoals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52360" y="28346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52360" y="2834640"/>
            <a:ext cx="73152" cy="11887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3524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3524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Call external APIs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Operate business systems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965960" y="4572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65960" y="4572000"/>
            <a:ext cx="73152" cy="1188720"/>
          </a:xfrm>
          <a:prstGeom prst="rect">
            <a:avLst/>
          </a:prstGeom>
          <a:solidFill>
            <a:srgbClr val="30C58F"/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4884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48840" y="5074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Persistent context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Accumulate experience &amp; knowledge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52360" y="4572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52360" y="4572000"/>
            <a:ext cx="73152" cy="1188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3524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35240" y="5074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paths, reflect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Self-correct &amp; retry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09160" y="3429000"/>
            <a:ext cx="457200" cy="0"/>
          </a:xfrm>
          <a:prstGeom prst="line">
            <a:avLst/>
          </a:prstGeom>
          <a:noFill/>
          <a:ln w="1905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95160" y="3429000"/>
            <a:ext cx="457200" cy="0"/>
          </a:xfrm>
          <a:prstGeom prst="line">
            <a:avLst/>
          </a:prstGeom>
          <a:noFill/>
          <a:ln w="1905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5166360"/>
            <a:ext cx="457200" cy="0"/>
          </a:xfrm>
          <a:prstGeom prst="line">
            <a:avLst/>
          </a:prstGeom>
          <a:noFill/>
          <a:ln w="1905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995160" y="5166360"/>
            <a:ext cx="457200" cy="0"/>
          </a:xfrm>
          <a:prstGeom prst="line">
            <a:avLst/>
          </a:prstGeom>
          <a:noFill/>
          <a:ln w="1905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7240" y="5943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 ≠  a smarter Copilot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37760" y="5943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is a digital executor with “action authority” and “closed-loop capability”.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Single-Agent Era  ·  Workflow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“Q&amp;A” to “Workflow”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Agent strings multi-step actions into one executable pipeline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 ·  Copilot Q&amp;A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  ·  Agent Workflow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▸ Look up new contracts signed this week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4937760" cy="411480"/>
          </a:xfrm>
          <a:prstGeom prst="rect">
            <a:avLst/>
          </a:prstGeom>
          <a:solidFill>
            <a:srgbClr val="EFE5F7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▸ (Provides SQL)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▸ (Manually execute → Copy results)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▸ Now turn it into a chart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4754880"/>
            <a:ext cx="4937760" cy="411480"/>
          </a:xfrm>
          <a:prstGeom prst="rect">
            <a:avLst/>
          </a:prstGeom>
          <a:solidFill>
            <a:srgbClr val="EFE5F7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05840" y="4754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▸ (Outputs suggested steps)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▸ (Manually execute → Send email)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0" y="274320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274320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Receive goal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0" y="2788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“Compile this week's new contracts and notify the Sales Director”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0" y="338328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338328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836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Plan tasks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0" y="34290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Decompose: Query → Aggregate → Chart → Email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0" y="402336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0" y="402336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8368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Call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29600" y="4069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 API · BI engine · Email system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00800" y="466344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0" y="466344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Reflect &amp; verify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29600" y="4709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data integrity, retry if needed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00800" y="530352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00800" y="530352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58368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Complete delivery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0" y="5349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 sent, report execution result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Humans no longer drive each step — they only “set goals” and “confirm results”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Single-Agent Era  ·  Architecture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Standard Single-Agent Architecture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→ Tool Use → Memory → Reflect loop engine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10607040" cy="77724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164592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Perception Layer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97680" y="2560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intent · System events · Document input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0" y="2670048"/>
            <a:ext cx="2103120" cy="365760"/>
          </a:xfrm>
          <a:prstGeom prst="rect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0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3383280"/>
            <a:ext cx="10607040" cy="77724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" y="3383280"/>
            <a:ext cx="164592" cy="7772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560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Planning Layer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97680" y="34747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 decomposition · Task path · Reflection mechanism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0" y="3584448"/>
            <a:ext cx="2103120" cy="365760"/>
          </a:xfrm>
          <a:prstGeom prst="rect">
            <a:avLst/>
          </a:prstGeom>
          <a:solidFill>
            <a:srgbClr val="5C2D91">
              <a:alpha val="2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0" y="3584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7240" y="4297680"/>
            <a:ext cx="10607040" cy="77724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77240" y="4297680"/>
            <a:ext cx="164592" cy="7772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51560" y="4389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Layer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97680" y="4389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invocation · API ops · System integration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0" y="4498848"/>
            <a:ext cx="2103120" cy="365760"/>
          </a:xfrm>
          <a:prstGeom prst="rect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44000" y="4498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" y="5212080"/>
            <a:ext cx="164592" cy="777240"/>
          </a:xfrm>
          <a:prstGeom prst="rect">
            <a:avLst/>
          </a:prstGeom>
          <a:solidFill>
            <a:srgbClr val="30C58F"/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51560" y="5303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Layer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297680" y="5303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Short-term context · Long-term knowledge · Accumulated experience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144000" y="5413248"/>
            <a:ext cx="2103120" cy="365760"/>
          </a:xfrm>
          <a:prstGeom prst="rect">
            <a:avLst/>
          </a:prstGeom>
          <a:solidFill>
            <a:srgbClr val="30C58F">
              <a:alpha val="20000"/>
            </a:srgbClr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144000" y="5413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30C58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Single-Agent Era  ·  Limitations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Limits of a Single Agent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Agent doing everything will eventually hit a “capability ceiling”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777240" cy="777240"/>
          </a:xfrm>
          <a:prstGeom prst="ellipse">
            <a:avLst/>
          </a:prstGeom>
          <a:solidFill>
            <a:srgbClr val="E74694">
              <a:alpha val="20000"/>
            </a:srgbClr>
          </a:solidFill>
          <a:ln w="254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8308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Explosion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83080" y="3108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longer the task, the more tokens. One Agent cannot hold all domain contexts at once.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63640" y="22860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37960" y="2560320"/>
            <a:ext cx="777240" cy="777240"/>
          </a:xfrm>
          <a:prstGeom prst="ellipse">
            <a:avLst/>
          </a:prstGeom>
          <a:solidFill>
            <a:srgbClr val="E74694">
              <a:alpha val="20000"/>
            </a:srgbClr>
          </a:solidFill>
          <a:ln w="254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9808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Role Conflict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98080" y="3108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Writing emails, reviewing contracts, running finance — a single prompt cannot carry multiple specialties.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4389120"/>
            <a:ext cx="777240" cy="777240"/>
          </a:xfrm>
          <a:prstGeom prst="ellipse">
            <a:avLst/>
          </a:prstGeom>
          <a:solidFill>
            <a:srgbClr val="E74694">
              <a:alpha val="20000"/>
            </a:srgbClr>
          </a:solidFill>
          <a:ln w="254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389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83080" y="4434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Debugging Black Box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83080" y="4937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a long chain fails, hard to tell if planning, tools, or memory is at fault.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63640" y="41148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37960" y="4389120"/>
            <a:ext cx="777240" cy="777240"/>
          </a:xfrm>
          <a:prstGeom prst="ellipse">
            <a:avLst/>
          </a:prstGeom>
          <a:solidFill>
            <a:srgbClr val="E74694">
              <a:alpha val="20000"/>
            </a:srgbClr>
          </a:solidFill>
          <a:ln w="254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4389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▭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0" y="4434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Insufficient Elasticity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98080" y="4937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Cannot parallelize, cannot hot-swap components, hard to scale business complexity horizontally.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 single Agent still “fights alone”. To solve organizational problems, we must move from “individual” to “team”.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E74694">
              <a:alpha val="30000"/>
            </a:srgbClr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9520" y="3200400"/>
            <a:ext cx="6400800" cy="6400800"/>
          </a:xfrm>
          <a:prstGeom prst="ellipse">
            <a:avLst/>
          </a:prstGeom>
          <a:solidFill>
            <a:srgbClr val="5C2D91">
              <a:alpha val="3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66360" y="2514600"/>
            <a:ext cx="2743200" cy="2743200"/>
          </a:xfrm>
          <a:prstGeom prst="ellipse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54864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Era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“Workflow” to “Harness” · Agents form a digital team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Harness is like an org chart: each Agent is a role,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with its own duty, uniformly scheduled, observed, and aligned to goals.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Era  ·  Paradigm Definition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Multi-Agent: Digital Workforce Network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Specialized Agents collaborate to complete end-to-end business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17720" y="3977640"/>
            <a:ext cx="2926080" cy="82296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17720" y="3977640"/>
            <a:ext cx="29260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17720" y="4096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1772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Coordinator / Harness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237744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83080" y="2560320"/>
            <a:ext cx="731520" cy="731520"/>
          </a:xfrm>
          <a:prstGeom prst="ellipse">
            <a:avLst/>
          </a:prstGeom>
          <a:solidFill>
            <a:srgbClr val="0078D4">
              <a:alpha val="25000"/>
            </a:srgbClr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8308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· Pull 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148840" y="3749040"/>
            <a:ext cx="3931920" cy="22860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11880" y="237744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80560" y="2560320"/>
            <a:ext cx="731520" cy="731520"/>
          </a:xfrm>
          <a:prstGeom prst="ellipse">
            <a:avLst/>
          </a:prstGeom>
          <a:solidFill>
            <a:srgbClr val="5C2D91">
              <a:alpha val="25000"/>
            </a:srgbClr>
          </a:solidFill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056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1188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Writer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1188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Draft · Rewrite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3749040"/>
            <a:ext cx="1234440" cy="22860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0" y="237744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78040" y="2560320"/>
            <a:ext cx="731520" cy="731520"/>
          </a:xfrm>
          <a:prstGeom prst="ellipse">
            <a:avLst/>
          </a:prstGeom>
          <a:solidFill>
            <a:srgbClr val="30C58F">
              <a:alpha val="25000"/>
            </a:srgbClr>
          </a:solidFill>
          <a:ln w="254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7804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0C58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936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0936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 · Compliance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43800" y="3749040"/>
            <a:ext cx="0" cy="22860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06840" y="237744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875520" y="2560320"/>
            <a:ext cx="731520" cy="731520"/>
          </a:xfrm>
          <a:prstGeom prst="ellipse">
            <a:avLst/>
          </a:prstGeom>
          <a:solidFill>
            <a:srgbClr val="FFB900">
              <a:alpha val="25000"/>
            </a:srgbClr>
          </a:solidFill>
          <a:ln w="254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87552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068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0684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Invoke · Deliver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241280" y="3749040"/>
            <a:ext cx="0" cy="22860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71600" y="5623560"/>
            <a:ext cx="2926080" cy="502920"/>
          </a:xfrm>
          <a:prstGeom prst="rect">
            <a:avLst/>
          </a:prstGeom>
          <a:solidFill>
            <a:srgbClr val="30C58F">
              <a:alpha val="20000"/>
            </a:srgbClr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71600" y="5623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0C58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Bus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80760" y="4800600"/>
            <a:ext cx="0" cy="82296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663440" y="5623560"/>
            <a:ext cx="2926080" cy="502920"/>
          </a:xfrm>
          <a:prstGeom prst="rect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663440" y="5623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Registry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080760" y="4800600"/>
            <a:ext cx="45720" cy="82296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955280" y="5623560"/>
            <a:ext cx="2926080" cy="502920"/>
          </a:xfrm>
          <a:prstGeom prst="rect">
            <a:avLst/>
          </a:prstGeom>
          <a:solidFill>
            <a:srgbClr val="E74694">
              <a:alpha val="20000"/>
            </a:srgbClr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955280" y="5623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/ Trace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80760" y="4800600"/>
            <a:ext cx="3337560" cy="82296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Era  ·  Harness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Harness: The “Operating System” for Agents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more Agents — better orchestration of Agents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029200" cy="42062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91440" cy="42062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runtime that constrains, schedules, and amplifies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capabilities of Agents.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defines: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4434840"/>
            <a:ext cx="164592" cy="164592"/>
          </a:xfrm>
          <a:prstGeom prst="ellipse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to route tasks to the right Agent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4846320"/>
            <a:ext cx="164592" cy="164592"/>
          </a:xfrm>
          <a:prstGeom prst="ellipse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4782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to share state, memory, and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68680" y="5257800"/>
            <a:ext cx="164592" cy="164592"/>
          </a:xfrm>
          <a:prstGeom prst="ellipse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5193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to observe, replay, and correct every execution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68680" y="5669280"/>
            <a:ext cx="164592" cy="164592"/>
          </a:xfrm>
          <a:prstGeom prst="ellipse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5605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to expose secure, controlled interfaces externally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52160" y="219456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52160" y="2194560"/>
            <a:ext cx="2788920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3504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35040" y="29718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Decides who does what and when.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Goal-based auto-routing and orchestration.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778240" y="219456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778240" y="2194560"/>
            <a:ext cx="2788920" cy="10972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96112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 Context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61120" y="29718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Memory, files, and variables shared across Agents,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avoiding redundant dialogue and context loss.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852160" y="43434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52160" y="4343400"/>
            <a:ext cx="2788920" cy="10972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3504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Observability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35040" y="51206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Every step is traceable, replayable, and auditable,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turning the black box into a white box.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778240" y="43434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778240" y="4343400"/>
            <a:ext cx="2788920" cy="109728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96112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961120" y="51206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Permissions, quotas, and compliance policies are uniformly injected,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giving enterprises the confidence to deploy Agents in production.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Era  ·  Collaboration Modes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do Agents “cooperate”?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Four proven collaboration topologies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09728" cy="1828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01768" y="2651760"/>
            <a:ext cx="329184" cy="32918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3419856"/>
            <a:ext cx="329184" cy="329184"/>
          </a:xfrm>
          <a:prstGeom prst="ellipse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66360" y="2980944"/>
            <a:ext cx="0" cy="438912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83480" y="3419856"/>
            <a:ext cx="329184" cy="329184"/>
          </a:xfrm>
          <a:prstGeom prst="ellipse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66360" y="2980944"/>
            <a:ext cx="0" cy="438912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0" y="3419856"/>
            <a:ext cx="329184" cy="329184"/>
          </a:xfrm>
          <a:prstGeom prst="ellipse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66360" y="2980944"/>
            <a:ext cx="484632" cy="438912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Hierarchical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“Manager Agent” assigns tasks to subordinate Agents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3611880"/>
            <a:ext cx="3474720" cy="365760"/>
          </a:xfrm>
          <a:prstGeom prst="rect">
            <a:avLst/>
          </a:prstGeom>
          <a:solidFill>
            <a:srgbClr val="0078D4">
              <a:alpha val="12000"/>
            </a:srgbClr>
          </a:solidFill>
          <a:ln w="12700">
            <a:solidFill>
              <a:srgbClr val="0078D4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Typical: complex business flows · decision authority needed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63640" y="228600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63640" y="2286000"/>
            <a:ext cx="109728" cy="182880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195560" y="3017520"/>
            <a:ext cx="274320" cy="274320"/>
          </a:xfrm>
          <a:prstGeom prst="ellipse">
            <a:avLst/>
          </a:prstGeom>
          <a:solidFill>
            <a:srgbClr val="5C2D91">
              <a:alpha val="5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469880" y="3154680"/>
            <a:ext cx="54864" cy="0"/>
          </a:xfrm>
          <a:prstGeom prst="line">
            <a:avLst/>
          </a:prstGeom>
          <a:noFill/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524744" y="3017520"/>
            <a:ext cx="274320" cy="274320"/>
          </a:xfrm>
          <a:prstGeom prst="ellipse">
            <a:avLst/>
          </a:prstGeom>
          <a:solidFill>
            <a:srgbClr val="5C2D91">
              <a:alpha val="5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799064" y="3154680"/>
            <a:ext cx="54864" cy="0"/>
          </a:xfrm>
          <a:prstGeom prst="line">
            <a:avLst/>
          </a:prstGeom>
          <a:noFill/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853928" y="3017520"/>
            <a:ext cx="274320" cy="274320"/>
          </a:xfrm>
          <a:prstGeom prst="ellipse">
            <a:avLst/>
          </a:prstGeom>
          <a:solidFill>
            <a:srgbClr val="5C2D91">
              <a:alpha val="5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128248" y="3154680"/>
            <a:ext cx="54864" cy="0"/>
          </a:xfrm>
          <a:prstGeom prst="line">
            <a:avLst/>
          </a:prstGeom>
          <a:noFill/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1183112" y="3017520"/>
            <a:ext cx="274320" cy="274320"/>
          </a:xfrm>
          <a:prstGeom prst="ellipse">
            <a:avLst/>
          </a:prstGeom>
          <a:solidFill>
            <a:srgbClr val="5C2D91">
              <a:alpha val="5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3796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3796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 connect sequentially; previous output = next input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37960" y="3611880"/>
            <a:ext cx="3474720" cy="365760"/>
          </a:xfrm>
          <a:prstGeom prst="rect">
            <a:avLst/>
          </a:prstGeom>
          <a:solidFill>
            <a:srgbClr val="5C2D91">
              <a:alpha val="12000"/>
            </a:srgbClr>
          </a:solidFill>
          <a:ln w="12700">
            <a:solidFill>
              <a:srgbClr val="5C2D91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2940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Typical: data processing · content production · approval chains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109728" cy="182880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480560" y="4892040"/>
            <a:ext cx="457200" cy="457200"/>
          </a:xfrm>
          <a:prstGeom prst="ellipse">
            <a:avLst/>
          </a:prstGeom>
          <a:solidFill>
            <a:srgbClr val="50E6FF">
              <a:alpha val="5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394960" y="4892040"/>
            <a:ext cx="457200" cy="457200"/>
          </a:xfrm>
          <a:prstGeom prst="ellipse">
            <a:avLst/>
          </a:prstGeom>
          <a:solidFill>
            <a:srgbClr val="50E6FF">
              <a:alpha val="5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937760" y="5120640"/>
            <a:ext cx="457200" cy="0"/>
          </a:xfrm>
          <a:prstGeom prst="line">
            <a:avLst/>
          </a:prstGeom>
          <a:noFill/>
          <a:ln w="12700">
            <a:solidFill>
              <a:srgbClr val="50E6FF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480560" y="4892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⇄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2296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296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Multiple Agents offer different views and challenge each other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2960" y="5577840"/>
            <a:ext cx="3474720" cy="365760"/>
          </a:xfrm>
          <a:prstGeom prst="rect">
            <a:avLst/>
          </a:prstGeom>
          <a:solidFill>
            <a:srgbClr val="50E6FF">
              <a:alpha val="12000"/>
            </a:srgbClr>
          </a:solidFill>
          <a:ln w="12700">
            <a:solidFill>
              <a:srgbClr val="50E6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4400" y="5577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Typical: strategy evaluation · investment decisions · high-risk reviews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263640" y="425196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263640" y="4251960"/>
            <a:ext cx="109728" cy="18288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0195560" y="461772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0643616" y="470916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387584" y="489204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0771632" y="493776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259568" y="502920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3796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53796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 broadcast; Agents bid / claim autonomously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537960" y="5577840"/>
            <a:ext cx="3474720" cy="365760"/>
          </a:xfrm>
          <a:prstGeom prst="rect">
            <a:avLst/>
          </a:prstGeom>
          <a:solidFill>
            <a:srgbClr val="FFB900">
              <a:alpha val="12000"/>
            </a:srgbClr>
          </a:solidFill>
          <a:ln w="12700">
            <a:solidFill>
              <a:srgbClr val="FFB900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629400" y="5577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Typical: elastic scaling · heterogeneous skills · real-time response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Three-Generation Evolution  ·  Capability Comparison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Comparison Across Three Eras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table to connect the entire evolution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194560" cy="548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194560" cy="73152"/>
          </a:xfrm>
          <a:prstGeom prst="rect">
            <a:avLst/>
          </a:prstGeom>
          <a:solidFill>
            <a:srgbClr val="1B1B30"/>
          </a:solidFill>
          <a:ln w="12700">
            <a:solidFill>
              <a:srgbClr val="1B1B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Dimension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26080" y="2103120"/>
            <a:ext cx="2743200" cy="548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080" y="2103120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2608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Era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60720" y="2103120"/>
            <a:ext cx="2743200" cy="548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60720" y="2103120"/>
            <a:ext cx="2743200" cy="73152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607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Single-Agent Era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95360" y="2103120"/>
            <a:ext cx="2743200" cy="548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95360" y="2103120"/>
            <a:ext cx="2743200" cy="73152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953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Era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265176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Interaction Mode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26080" y="26517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01752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0" y="26517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5216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Workflow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95360" y="26517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orchestration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3200400"/>
            <a:ext cx="219456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Proactivity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926080" y="320040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0175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Passive response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760720" y="320040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5216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Goal-driven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595360" y="320040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8680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Always 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8640" y="374904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Authority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926080" y="374904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01752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Suggests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760720" y="374904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5216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 invoke tools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595360" y="374904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Collaborative decisions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48640" y="4297680"/>
            <a:ext cx="219456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4008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926080" y="429768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017520" y="4297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Conversation-level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760720" y="429768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852160" y="4297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Task-level + Memory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595360" y="429768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686800" y="4297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Organization-level + Shared bus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484632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40080" y="4846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Scope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926080" y="48463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01752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Single-point answer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760720" y="48463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85216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Single-Agent loop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595360" y="48463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68680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 collaboration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48640" y="5394960"/>
            <a:ext cx="219456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40080" y="5394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 Role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926080" y="539496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3017520" y="5394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Driver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760720" y="539496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852160" y="5394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Manager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595360" y="539496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686800" y="5394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 Designer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Trend: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from “Ask AI” → “Let AI do” → “Let a team of AIs do it together”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Perspective  ·  Value Theme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does it mean for the enterprise?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replacing tools — reshaping how the organization operates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69748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10×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automation coverage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single-point assistance → end-to-end processes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10712" y="219456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10712" y="2194560"/>
            <a:ext cx="2697480" cy="914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10712" y="2331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47872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Repetitive work reduced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47872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 take over the collaboration glue layer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72784" y="219456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72784" y="2194560"/>
            <a:ext cx="26974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72784" y="2331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24/7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9944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Always 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9944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keeps Agents on duty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34856" y="219456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34856" y="2194560"/>
            <a:ext cx="2697480" cy="914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34856" y="2331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N→1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272016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Unified tool entry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272016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face Agents, not systems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3611880" cy="1691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36118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7724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Finance  ·  Risk &amp; Compliance Review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240" y="5074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+ Compliance + Report Agents — materials to conclusions, closed-loop.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43400" y="4434840"/>
            <a:ext cx="3611880" cy="1691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6118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Manufacturing  ·  Supply Chain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0" y="5074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Procurement + Logistics + Risk Agents collaborate in real time, responding to anomalies cross-system.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611880" cy="1691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38160" y="4434840"/>
            <a:ext cx="36118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6676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Retail  ·  Customer Operations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66760" y="5074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+ Marketing + Data Agents share the customer journey.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0078D4">
              <a:alpha val="3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03920" y="-2743200"/>
            <a:ext cx="6400800" cy="6400800"/>
          </a:xfrm>
          <a:prstGeom prst="ellipse">
            <a:avLst/>
          </a:prstGeom>
          <a:solidFill>
            <a:srgbClr val="5C2D91">
              <a:alpha val="3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9520" y="4114800"/>
            <a:ext cx="3657600" cy="3657600"/>
          </a:xfrm>
          <a:prstGeom prst="ellipse">
            <a:avLst/>
          </a:prstGeom>
          <a:solidFill>
            <a:srgbClr val="E74694">
              <a:alpha val="20000"/>
            </a:srgbClr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548640"/>
            <a:ext cx="201168" cy="20116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LINE TO REMEMBER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brings AI into the enterprise,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 let AI complete the work,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makes AI an organization.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5212080"/>
            <a:ext cx="54864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Agent Evolution  ·  Microsoft Foundry Research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698480" y="5989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1978</Words>
  <Application>Microsoft Macintosh PowerPoint</Application>
  <PresentationFormat>Widescreen</PresentationFormat>
  <Paragraphs>403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Microsoft YaHei</vt:lpstr>
      <vt:lpstr>Aptos</vt:lpstr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2</cp:revision>
  <dcterms:created xsi:type="dcterms:W3CDTF">2026-05-08T07:10:40Z</dcterms:created>
  <dcterms:modified xsi:type="dcterms:W3CDTF">2026-05-08T07:17:07Z</dcterms:modified>
</cp:coreProperties>
</file>