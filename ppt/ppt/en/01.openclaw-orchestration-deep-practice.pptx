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2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FF40DC-560E-1A4A-A5C3-94E8E30E2597}" type="datetimeFigureOut">
              <a:rPr lang="en-CN" smtClean="0"/>
              <a:t>2026/5/6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283C31-ED3D-5140-9571-CB86FB30FCB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35948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195128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9526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?>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?>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?>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?>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?>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?>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00160" y="-1828800"/>
            <a:ext cx="5486400" cy="5486400"/>
          </a:xfrm>
          <a:prstGeom prst="ellipse">
            <a:avLst/>
          </a:prstGeom>
          <a:ln w="2540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9265920" y="-1463040"/>
            <a:ext cx="4754880" cy="4754880"/>
          </a:xfrm>
          <a:prstGeom prst="ellipse">
            <a:avLst/>
          </a:prstGeom>
          <a:ln w="12700">
            <a:solidFill>
              <a:srgbClr val="D94A1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753600" y="-975360"/>
            <a:ext cx="3779520" cy="3779520"/>
          </a:xfrm>
          <a:prstGeom prst="ellipse">
            <a:avLst/>
          </a:prstGeom>
          <a:ln w="9525">
            <a:solidFill>
              <a:srgbClr val="4A6FA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09600" y="731520"/>
            <a:ext cx="487680" cy="48768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1920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kern="0" spc="8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TALK  ·  60 MIN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609600" y="1828800"/>
            <a:ext cx="1097280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746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Orchestration</a:t>
            </a:r>
            <a:endParaRPr lang="en-US" sz="74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609600" y="2926080"/>
            <a:ext cx="1097280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7466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</a:t>
            </a:r>
            <a:endParaRPr lang="en-US" sz="74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609600" y="4267200"/>
            <a:ext cx="10972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dirty="0">
                <a:solidFill>
                  <a:srgbClr val="B8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containerized Agents · Config-driven multi-agent routing · Self-looping test pipeline · Copilot collaboration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09600" y="5242560"/>
            <a:ext cx="48768" cy="85344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53440" y="5242560"/>
            <a:ext cx="60960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1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Kinfey Lo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53440" y="563270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B8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</a:t>
            </a:r>
            <a:r>
              <a:rPr lang="zh-CN" altLang="en-US" sz="1467" dirty="0">
                <a:solidFill>
                  <a:srgbClr val="B8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467" dirty="0">
                <a:solidFill>
                  <a:srgbClr val="B8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</a:t>
            </a:r>
            <a:r>
              <a:rPr lang="zh-CN" altLang="en-US" sz="1467" dirty="0">
                <a:solidFill>
                  <a:srgbClr val="B8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467" dirty="0">
                <a:solidFill>
                  <a:srgbClr val="B8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Advocate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53440" y="5925312"/>
            <a:ext cx="731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2026 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7680" y="426720"/>
            <a:ext cx="219456" cy="219456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853440" y="39014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533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731520"/>
            <a:ext cx="112166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Agenda</a:t>
            </a:r>
            <a:endParaRPr lang="en-US" sz="4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09600" y="1889760"/>
            <a:ext cx="609600" cy="609600"/>
          </a:xfrm>
          <a:prstGeom prst="ellipse">
            <a:avLst/>
          </a:prstGeom>
          <a:solidFill>
            <a:srgbClr val="0F1B2D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609600" y="1889760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867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1463040" y="1914144"/>
            <a:ext cx="487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267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Deconstructing OpenClaw</a:t>
            </a:r>
            <a:endParaRPr lang="en-US" sz="2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1463040" y="2255520"/>
            <a:ext cx="975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containerized Agent runtime &amp; three-tier architecture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463040" y="2682240"/>
            <a:ext cx="10119360" cy="0"/>
          </a:xfrm>
          <a:prstGeom prst="line">
            <a:avLst/>
          </a:prstGeom>
          <a:noFill/>
          <a:ln w="6350">
            <a:solidFill>
              <a:srgbClr val="D5D0C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09600" y="2743200"/>
            <a:ext cx="609600" cy="609600"/>
          </a:xfrm>
          <a:prstGeom prst="ellipse">
            <a:avLst/>
          </a:prstGeom>
          <a:solidFill>
            <a:srgbClr val="0F1B2D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09600" y="2743200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867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463040" y="2767584"/>
            <a:ext cx="487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267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 &amp; Topology Design</a:t>
            </a:r>
            <a:endParaRPr lang="en-US" sz="2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463040" y="3108960"/>
            <a:ext cx="975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routing without heavy frameworks — config files only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463040" y="3535680"/>
            <a:ext cx="10119360" cy="0"/>
          </a:xfrm>
          <a:prstGeom prst="line">
            <a:avLst/>
          </a:prstGeom>
          <a:noFill/>
          <a:ln w="6350">
            <a:solidFill>
              <a:srgbClr val="D5D0C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09600" y="3596640"/>
            <a:ext cx="609600" cy="609600"/>
          </a:xfrm>
          <a:prstGeom prst="ellipse">
            <a:avLst/>
          </a:prstGeom>
          <a:solidFill>
            <a:srgbClr val="0F1B2D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09600" y="3596640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867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463040" y="3621024"/>
            <a:ext cx="487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267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Self-Looping Test Pipeline</a:t>
            </a:r>
            <a:endParaRPr lang="en-US" sz="2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463040" y="3962400"/>
            <a:ext cx="975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Coder → Tester → Executor three-agent loop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463040" y="4389120"/>
            <a:ext cx="10119360" cy="0"/>
          </a:xfrm>
          <a:prstGeom prst="line">
            <a:avLst/>
          </a:prstGeom>
          <a:noFill/>
          <a:ln w="6350">
            <a:solidFill>
              <a:srgbClr val="D5D0C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09600" y="4450080"/>
            <a:ext cx="609600" cy="609600"/>
          </a:xfrm>
          <a:prstGeom prst="ellipse">
            <a:avLst/>
          </a:prstGeom>
          <a:solidFill>
            <a:srgbClr val="0F1B2D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09600" y="4450080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867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463040" y="4474464"/>
            <a:ext cx="487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267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Snippet-Driven</a:t>
            </a:r>
            <a:endParaRPr lang="en-US" sz="2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463040" y="4815840"/>
            <a:ext cx="975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Rapidly generate agent.yaml and tool_definition.json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1463040" y="5242560"/>
            <a:ext cx="10119360" cy="0"/>
          </a:xfrm>
          <a:prstGeom prst="line">
            <a:avLst/>
          </a:prstGeom>
          <a:noFill/>
          <a:ln w="6350">
            <a:solidFill>
              <a:srgbClr val="D5D0C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09600" y="5303520"/>
            <a:ext cx="609600" cy="609600"/>
          </a:xfrm>
          <a:prstGeom prst="ellipse">
            <a:avLst/>
          </a:prstGeom>
          <a:solidFill>
            <a:srgbClr val="0F1B2D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09600" y="5303520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867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463040" y="5327904"/>
            <a:ext cx="487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267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 Prompt Injection</a:t>
            </a:r>
            <a:endParaRPr lang="en-US" sz="2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463040" y="5669280"/>
            <a:ext cx="975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Copilot to generate complex chain-of-thought templates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0" y="6644640"/>
            <a:ext cx="12192000" cy="24384"/>
          </a:xfrm>
          <a:prstGeom prst="rect">
            <a:avLst/>
          </a:prstGeom>
          <a:solidFill>
            <a:srgbClr val="D5D0C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487680" y="6681216"/>
            <a:ext cx="609600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Orchestration Deep Dive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705600" y="6681216"/>
            <a:ext cx="499872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Kinfey Lo  ·  2 / 20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7680" y="426720"/>
            <a:ext cx="219456" cy="219456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853440" y="39014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533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Deconstruct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731520"/>
            <a:ext cx="112166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OpenClaw?</a:t>
            </a:r>
            <a:endParaRPr lang="en-US" sz="4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87680" y="1889760"/>
            <a:ext cx="560832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0C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87680" y="1889760"/>
            <a:ext cx="73152" cy="438912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853440" y="2072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kern="0" spc="4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One-line definition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853440" y="2499360"/>
            <a:ext cx="51206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cross-channel AI Agent gateway runtime: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853440" y="3108960"/>
            <a:ext cx="512064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Defines Agents, models, tools, channels, Skills, and sandbox via </a:t>
            </a:r>
            <a:r>
              <a:rPr lang="en-US" sz="1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JSON5 config</a:t>
            </a: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All runtime units run inside 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containers</a:t>
            </a: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with least-privilege tool loading.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Out-of-the-box support for WhatsApp / Telegram / Discord / Slack channels.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339840" y="1889760"/>
            <a:ext cx="5364480" cy="755904"/>
          </a:xfrm>
          <a:prstGeom prst="rect">
            <a:avLst/>
          </a:prstGeom>
          <a:solidFill>
            <a:srgbClr val="FFFFFF"/>
          </a:solidFill>
          <a:ln w="5080">
            <a:solidFill>
              <a:srgbClr val="D5D0C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559296" y="1962912"/>
            <a:ext cx="49987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267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559296" y="2255520"/>
            <a:ext cx="499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gateway by default, port 18789, loopback-bound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339840" y="2767584"/>
            <a:ext cx="5364480" cy="755904"/>
          </a:xfrm>
          <a:prstGeom prst="rect">
            <a:avLst/>
          </a:prstGeom>
          <a:solidFill>
            <a:srgbClr val="FFFFFF"/>
          </a:solidFill>
          <a:ln w="5080">
            <a:solidFill>
              <a:srgbClr val="D5D0C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559296" y="2840736"/>
            <a:ext cx="49987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267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Config-Driven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559296" y="3133344"/>
            <a:ext cx="499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openclaw.json is the single source of truth, with hot-reload support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339840" y="3645408"/>
            <a:ext cx="5364480" cy="755904"/>
          </a:xfrm>
          <a:prstGeom prst="rect">
            <a:avLst/>
          </a:prstGeom>
          <a:solidFill>
            <a:srgbClr val="FFFFFF"/>
          </a:solidFill>
          <a:ln w="5080">
            <a:solidFill>
              <a:srgbClr val="D5D0C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559296" y="3718560"/>
            <a:ext cx="49987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267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by Default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559296" y="4011168"/>
            <a:ext cx="499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image openclaw-sandbox · read-only root · network: none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339840" y="4523232"/>
            <a:ext cx="5364480" cy="755904"/>
          </a:xfrm>
          <a:prstGeom prst="rect">
            <a:avLst/>
          </a:prstGeom>
          <a:solidFill>
            <a:srgbClr val="FFFFFF"/>
          </a:solidFill>
          <a:ln w="5080">
            <a:solidFill>
              <a:srgbClr val="D5D0C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559296" y="4596384"/>
            <a:ext cx="49987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267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Multi-Runtime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559296" y="4888992"/>
            <a:ext cx="499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(built-in) · codex · claude-cli — three Harnesses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339840" y="5401056"/>
            <a:ext cx="5364480" cy="755904"/>
          </a:xfrm>
          <a:prstGeom prst="rect">
            <a:avLst/>
          </a:prstGeom>
          <a:solidFill>
            <a:srgbClr val="FFFFFF"/>
          </a:solidFill>
          <a:ln w="5080">
            <a:solidFill>
              <a:srgbClr val="D5D0C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559296" y="5474208"/>
            <a:ext cx="49987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267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System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559296" y="5766816"/>
            <a:ext cx="499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Pluggable skills:github、weather、peekaboo …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0" y="6644640"/>
            <a:ext cx="12192000" cy="24384"/>
          </a:xfrm>
          <a:prstGeom prst="rect">
            <a:avLst/>
          </a:prstGeom>
          <a:solidFill>
            <a:srgbClr val="D5D0C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87680" y="6681216"/>
            <a:ext cx="609600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Orchestration Deep Dive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705600" y="6681216"/>
            <a:ext cx="499872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Kinfey Lo  ·  3 / 20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7680" y="426720"/>
            <a:ext cx="219456" cy="219456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853440" y="39014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533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731520"/>
            <a:ext cx="112166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+ containerized: least privilege on by default</a:t>
            </a:r>
            <a:endParaRPr lang="en-US" sz="4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487680" y="1828800"/>
            <a:ext cx="63398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OpenClaw's sandbox is not optional — it's the default shell for every agent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87680" y="2499360"/>
            <a:ext cx="48768" cy="48768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670560" y="2438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scope: session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2926080" y="2438400"/>
            <a:ext cx="40233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467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session gets its own container; destroyed when session ends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87680" y="3169920"/>
            <a:ext cx="48768" cy="48768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70560" y="3108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readOnlyRoot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926080" y="3108960"/>
            <a:ext cx="40233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467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filesystem read-only; writes restricted to tmpfs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87680" y="3840480"/>
            <a:ext cx="48768" cy="48768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70560" y="3779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network: none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926080" y="3779520"/>
            <a:ext cx="40233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467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network by default; only allowed when a tool explicitly enables it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87680" y="4511040"/>
            <a:ext cx="48768" cy="48768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70560" y="4450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user: 1000:1000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926080" y="4450080"/>
            <a:ext cx="40233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467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as non-root; privileges stripped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87680" y="5181600"/>
            <a:ext cx="48768" cy="48768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70560" y="5120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tmpfs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2926080" y="5120640"/>
            <a:ext cx="40233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467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/tmp · /var/tmp · /run as in-memory tmpfs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315200" y="1828800"/>
            <a:ext cx="4511040" cy="4511040"/>
          </a:xfrm>
          <a:prstGeom prst="rect">
            <a:avLst/>
          </a:prstGeom>
          <a:solidFill>
            <a:srgbClr val="0B1424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7315200" y="1828800"/>
            <a:ext cx="73152" cy="451104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534656" y="1950720"/>
            <a:ext cx="4169664" cy="426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openclaw.json (excerpt)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agents.defaults.sandbox = {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mode: "non-main",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scope: "session",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workspaceRoot: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"~/.openclaw/sandboxes",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docker: {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image: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"openclaw-sandbox:bookworm",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workdir: "/workspace",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readOnlyRoot: true,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tmpfs: ["/tmp","/run"],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network: "none",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user: "1000:1000",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},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browser: { enabled: false },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0" y="6644640"/>
            <a:ext cx="12192000" cy="24384"/>
          </a:xfrm>
          <a:prstGeom prst="rect">
            <a:avLst/>
          </a:prstGeom>
          <a:solidFill>
            <a:srgbClr val="D5D0C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87680" y="6681216"/>
            <a:ext cx="609600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Orchestration Deep Dive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705600" y="6681216"/>
            <a:ext cx="499872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Kinfey Lo  ·  4 / 20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7680" y="426720"/>
            <a:ext cx="219456" cy="219456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853440" y="39014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533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Layers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731520"/>
            <a:ext cx="112166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/ Model / Runtime / Channel — four clearly separated layers</a:t>
            </a:r>
            <a:endParaRPr lang="en-US" sz="3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09600" y="1950720"/>
            <a:ext cx="10972800" cy="829056"/>
          </a:xfrm>
          <a:prstGeom prst="rect">
            <a:avLst/>
          </a:prstGeom>
          <a:solidFill>
            <a:srgbClr val="1A2B4D"/>
          </a:solidFill>
          <a:ln w="15240">
            <a:solidFill>
              <a:srgbClr val="4A6FA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9600" y="1950720"/>
            <a:ext cx="146304" cy="829056"/>
          </a:xfrm>
          <a:prstGeom prst="rect">
            <a:avLst/>
          </a:prstGeom>
          <a:solidFill>
            <a:srgbClr val="4A6FA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975360" y="2048256"/>
            <a:ext cx="268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975360" y="23896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B8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 for messages in/out of OpenClaw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4876800" y="2145792"/>
            <a:ext cx="65836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4A6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Telegram · Slack · Discord · WhatsApp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09600" y="2901696"/>
            <a:ext cx="10972800" cy="829056"/>
          </a:xfrm>
          <a:prstGeom prst="rect">
            <a:avLst/>
          </a:prstGeom>
          <a:solidFill>
            <a:srgbClr val="1A2B4D"/>
          </a:solidFill>
          <a:ln w="1524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09600" y="2901696"/>
            <a:ext cx="146304" cy="829056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75360" y="2999232"/>
            <a:ext cx="268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Runtime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75360" y="33406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B8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model loops; handles native Tool Calls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876800" y="3096768"/>
            <a:ext cx="65836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 (built-in) · codex · claude-cli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09600" y="3852672"/>
            <a:ext cx="10972800" cy="829056"/>
          </a:xfrm>
          <a:prstGeom prst="rect">
            <a:avLst/>
          </a:prstGeom>
          <a:solidFill>
            <a:srgbClr val="1A2B4D"/>
          </a:solidFill>
          <a:ln w="15240">
            <a:solidFill>
              <a:srgbClr val="5EEAD4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09600" y="3852672"/>
            <a:ext cx="146304" cy="829056"/>
          </a:xfrm>
          <a:prstGeom prst="rect">
            <a:avLst/>
          </a:prstGeom>
          <a:solidFill>
            <a:srgbClr val="5EEAD4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75360" y="3950208"/>
            <a:ext cx="268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975360" y="429158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B8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selected for this Agent Turn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876800" y="4047744"/>
            <a:ext cx="65836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claude-opus-4-6 · gpt-5.4 · llama-3.1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09600" y="4803648"/>
            <a:ext cx="10972800" cy="829056"/>
          </a:xfrm>
          <a:prstGeom prst="rect">
            <a:avLst/>
          </a:prstGeom>
          <a:solidFill>
            <a:srgbClr val="1A2B4D"/>
          </a:solidFill>
          <a:ln w="15240">
            <a:solidFill>
              <a:srgbClr val="F2B544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09600" y="4803648"/>
            <a:ext cx="146304" cy="829056"/>
          </a:xfrm>
          <a:prstGeom prst="rect">
            <a:avLst/>
          </a:prstGeom>
          <a:solidFill>
            <a:srgbClr val="F2B544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975360" y="4901184"/>
            <a:ext cx="268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75360" y="5242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B8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Authentication, model discovery, model reference naming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876800" y="4998720"/>
            <a:ext cx="65836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F2B5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anthropic · openai · openai-codex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09600" y="5913120"/>
            <a:ext cx="10972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i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≠ Provider — Runtime is the low-level execution loop; Provider is auth + directory.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0" y="6644640"/>
            <a:ext cx="12192000" cy="2438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87680" y="6681216"/>
            <a:ext cx="609600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dirty="0">
                <a:solidFill>
                  <a:srgbClr val="B8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Orchestration Deep Dive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705600" y="6681216"/>
            <a:ext cx="499872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200" dirty="0">
                <a:solidFill>
                  <a:srgbClr val="B8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Kinfey Lo  ·  5 / 20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7680" y="426720"/>
            <a:ext cx="219456" cy="219456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853440" y="39014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533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Is Everything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731520"/>
            <a:ext cx="112166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openclaw.json — one file describes the entire Agent system</a:t>
            </a:r>
            <a:endParaRPr lang="en-US" sz="4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87680" y="1889760"/>
            <a:ext cx="6705600" cy="4511040"/>
          </a:xfrm>
          <a:prstGeom prst="rect">
            <a:avLst/>
          </a:prstGeom>
          <a:solidFill>
            <a:srgbClr val="0B1424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87680" y="1889760"/>
            <a:ext cx="73152" cy="451104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707136" y="2011680"/>
            <a:ext cx="6364224" cy="426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identity: { name: "Clawd", emoji: "🦞" },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agents: {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defaults: {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workspace: "~/.openclaw/workspace",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model: { primary: "anthropic/claude-opus-4-6" },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skills: ["github", "weather"],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sandbox: { mode: "non-main", … },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},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list: [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{ id: "main",  default: true,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thinkingDefault: "high" },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{ id: "quick", fastModeDefault: true,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skills: [] },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]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},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tools: { allow: ["exec","read","write",…],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deny:  ["browser","canvas"] }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437120" y="2072640"/>
            <a:ext cx="438912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D5D0C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437120" y="2072640"/>
            <a:ext cx="73152" cy="87782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620000" y="2170176"/>
            <a:ext cx="41452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identity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620000" y="2511552"/>
            <a:ext cx="414528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persona · sets reply tone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437120" y="3108960"/>
            <a:ext cx="438912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D5D0C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437120" y="3108960"/>
            <a:ext cx="73152" cy="87782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620000" y="3206496"/>
            <a:ext cx="41452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agents.defaults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620000" y="3547872"/>
            <a:ext cx="414528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config for all Agents (inherited)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437120" y="4145280"/>
            <a:ext cx="438912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D5D0C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437120" y="4145280"/>
            <a:ext cx="73152" cy="87782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620000" y="4242816"/>
            <a:ext cx="41452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agents.list[]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620000" y="4584192"/>
            <a:ext cx="414528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Agents · individually override defaults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437120" y="5181600"/>
            <a:ext cx="438912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D5D0C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437120" y="5181600"/>
            <a:ext cx="73152" cy="87782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620000" y="5279136"/>
            <a:ext cx="41452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620000" y="5620512"/>
            <a:ext cx="414528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allow/deny list · master switch for tool visibility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0" y="6644640"/>
            <a:ext cx="12192000" cy="24384"/>
          </a:xfrm>
          <a:prstGeom prst="rect">
            <a:avLst/>
          </a:prstGeom>
          <a:solidFill>
            <a:srgbClr val="D5D0C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87680" y="6681216"/>
            <a:ext cx="609600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Orchestration Deep Dive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705600" y="6681216"/>
            <a:ext cx="499872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Kinfey Lo  ·  6 / 20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7680" y="426720"/>
            <a:ext cx="219456" cy="219456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853440" y="39014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533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 Design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731520"/>
            <a:ext cx="112166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routing — centrally scheduled by the Orchestrator</a:t>
            </a:r>
            <a:endParaRPr lang="en-US" sz="4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876800" y="2194560"/>
            <a:ext cx="2438400" cy="1097280"/>
          </a:xfrm>
          <a:prstGeom prst="rect">
            <a:avLst/>
          </a:prstGeom>
          <a:solidFill>
            <a:srgbClr val="0F1B2D"/>
          </a:solidFill>
          <a:ln w="1905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4876800" y="2255520"/>
            <a:ext cx="24384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4876800" y="2682240"/>
            <a:ext cx="243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Planner · no tools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4876800" y="2950464"/>
            <a:ext cx="24384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dirty="0">
                <a:solidFill>
                  <a:srgbClr val="B8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· does not execute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09600" y="4511040"/>
            <a:ext cx="2072640" cy="1158240"/>
          </a:xfrm>
          <a:prstGeom prst="rect">
            <a:avLst/>
          </a:prstGeom>
          <a:solidFill>
            <a:srgbClr val="FFFFFF"/>
          </a:solidFill>
          <a:ln w="15240">
            <a:solidFill>
              <a:srgbClr val="4A6FA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09600" y="4511040"/>
            <a:ext cx="2072640" cy="73152"/>
          </a:xfrm>
          <a:prstGeom prst="rect">
            <a:avLst/>
          </a:prstGeom>
          <a:solidFill>
            <a:srgbClr val="4A6FA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09600" y="4657344"/>
            <a:ext cx="20726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733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researcher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70560" y="5120640"/>
            <a:ext cx="19507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web-search, browser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 flipH="1">
            <a:off x="1698885" y="3291840"/>
            <a:ext cx="4397115" cy="1207008"/>
          </a:xfrm>
          <a:prstGeom prst="line">
            <a:avLst/>
          </a:prstGeom>
          <a:noFill/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657600" y="4511040"/>
            <a:ext cx="2072640" cy="1158240"/>
          </a:xfrm>
          <a:prstGeom prst="rect">
            <a:avLst/>
          </a:prstGeom>
          <a:solidFill>
            <a:srgbClr val="FFFFFF"/>
          </a:solidFill>
          <a:ln w="1524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657600" y="4511040"/>
            <a:ext cx="2072640" cy="73152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657600" y="4657344"/>
            <a:ext cx="20726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733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coder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718560" y="5120640"/>
            <a:ext cx="19507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bash, file-ops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6"/>
          <p:cNvSpPr/>
          <p:nvPr/>
        </p:nvSpPr>
        <p:spPr>
          <a:xfrm flipH="1">
            <a:off x="4726901" y="3291840"/>
            <a:ext cx="1369100" cy="1207008"/>
          </a:xfrm>
          <a:prstGeom prst="line">
            <a:avLst/>
          </a:prstGeom>
          <a:noFill/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705600" y="4511040"/>
            <a:ext cx="2072640" cy="1158240"/>
          </a:xfrm>
          <a:prstGeom prst="rect">
            <a:avLst/>
          </a:prstGeom>
          <a:solidFill>
            <a:srgbClr val="FFFFFF"/>
          </a:solidFill>
          <a:ln w="15240">
            <a:solidFill>
              <a:srgbClr val="5EEAD4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705600" y="4511040"/>
            <a:ext cx="2072640" cy="73152"/>
          </a:xfrm>
          <a:prstGeom prst="rect">
            <a:avLst/>
          </a:prstGeom>
          <a:solidFill>
            <a:srgbClr val="5EEAD4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705600" y="4657344"/>
            <a:ext cx="20726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733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analyst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766560" y="5120640"/>
            <a:ext cx="19507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(reasoning only)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096000" y="3291840"/>
            <a:ext cx="1645920" cy="1219200"/>
          </a:xfrm>
          <a:prstGeom prst="line">
            <a:avLst/>
          </a:prstGeom>
          <a:noFill/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9753600" y="4511040"/>
            <a:ext cx="2072640" cy="1158240"/>
          </a:xfrm>
          <a:prstGeom prst="rect">
            <a:avLst/>
          </a:prstGeom>
          <a:solidFill>
            <a:srgbClr val="FFFFFF"/>
          </a:solidFill>
          <a:ln w="15240">
            <a:solidFill>
              <a:srgbClr val="F2B544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9753600" y="4511040"/>
            <a:ext cx="2072640" cy="73152"/>
          </a:xfrm>
          <a:prstGeom prst="rect">
            <a:avLst/>
          </a:prstGeom>
          <a:solidFill>
            <a:srgbClr val="F2B544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9753600" y="4657344"/>
            <a:ext cx="20726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733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9814560" y="5120640"/>
            <a:ext cx="19507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fallback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096000" y="3291840"/>
            <a:ext cx="4693920" cy="1219200"/>
          </a:xfrm>
          <a:prstGeom prst="line">
            <a:avLst/>
          </a:prstGeom>
          <a:noFill/>
          <a:ln w="12700">
            <a:solidFill>
              <a:srgbClr val="F2B544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87680" y="5913120"/>
            <a:ext cx="11216640" cy="60960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487680" y="5913120"/>
            <a:ext cx="112166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are unaware of each other · they only receive tasks and return results. The Orchestrator routes by name or capability.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0" y="6644640"/>
            <a:ext cx="12192000" cy="24384"/>
          </a:xfrm>
          <a:prstGeom prst="rect">
            <a:avLst/>
          </a:prstGeom>
          <a:solidFill>
            <a:srgbClr val="D5D0C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87680" y="6681216"/>
            <a:ext cx="609600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Orchestration Deep Dive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705600" y="6681216"/>
            <a:ext cx="499872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Kinfey Lo  ·  7 / 20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7680" y="426720"/>
            <a:ext cx="219456" cy="219456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853440" y="39014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533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731520"/>
            <a:ext cx="112166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→ Execute → Result · Adaptive Loop</a:t>
            </a:r>
            <a:endParaRPr lang="en-US" sz="4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09600" y="2072640"/>
            <a:ext cx="3291840" cy="1950720"/>
          </a:xfrm>
          <a:prstGeom prst="rect">
            <a:avLst/>
          </a:prstGeom>
          <a:solidFill>
            <a:srgbClr val="FFFFFF"/>
          </a:solidFill>
          <a:ln w="1905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889760" y="2255520"/>
            <a:ext cx="731520" cy="73152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1889760" y="2255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609600" y="3108960"/>
            <a:ext cx="32918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133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792480" y="3511296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sees Goal + accumulated results ↓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action: execute | finish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901440" y="3048000"/>
            <a:ext cx="609600" cy="0"/>
          </a:xfrm>
          <a:prstGeom prst="line">
            <a:avLst/>
          </a:prstGeom>
          <a:noFill/>
          <a:ln w="19050">
            <a:solidFill>
              <a:srgbClr val="5A6478"/>
            </a:solidFill>
            <a:prstDash val="solid"/>
            <a:tailEnd type="triangle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11040" y="2072640"/>
            <a:ext cx="3291840" cy="1950720"/>
          </a:xfrm>
          <a:prstGeom prst="rect">
            <a:avLst/>
          </a:prstGeom>
          <a:solidFill>
            <a:srgbClr val="FFFFFF"/>
          </a:solidFill>
          <a:ln w="19050">
            <a:solidFill>
              <a:srgbClr val="4A6FA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791200" y="2255520"/>
            <a:ext cx="731520" cy="731520"/>
          </a:xfrm>
          <a:prstGeom prst="ellipse">
            <a:avLst/>
          </a:prstGeom>
          <a:solidFill>
            <a:srgbClr val="4A6FA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791200" y="2255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511040" y="3108960"/>
            <a:ext cx="32918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133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693920" y="3511296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dispatches tasks in parallel to named Agents ↓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by name or capability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802880" y="3048000"/>
            <a:ext cx="609600" cy="0"/>
          </a:xfrm>
          <a:prstGeom prst="line">
            <a:avLst/>
          </a:prstGeom>
          <a:noFill/>
          <a:ln w="19050">
            <a:solidFill>
              <a:srgbClr val="5A6478"/>
            </a:solidFill>
            <a:prstDash val="solid"/>
            <a:tailEnd type="triangle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412480" y="2072640"/>
            <a:ext cx="3291840" cy="1950720"/>
          </a:xfrm>
          <a:prstGeom prst="rect">
            <a:avLst/>
          </a:prstGeom>
          <a:solidFill>
            <a:srgbClr val="FFFFFF"/>
          </a:solidFill>
          <a:ln w="19050">
            <a:solidFill>
              <a:srgbClr val="5EEAD4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9692640" y="2255520"/>
            <a:ext cx="731520" cy="731520"/>
          </a:xfrm>
          <a:prstGeom prst="ellipse">
            <a:avLst/>
          </a:prstGeom>
          <a:solidFill>
            <a:srgbClr val="5EEAD4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692640" y="2255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412480" y="3108960"/>
            <a:ext cx="32918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133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595360" y="3511296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fed back into Think step ↓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finish or step budget exhausted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1828800" y="4328160"/>
            <a:ext cx="9144000" cy="0"/>
          </a:xfrm>
          <a:prstGeom prst="line">
            <a:avLst/>
          </a:prstGeom>
          <a:noFill/>
          <a:ln w="19050">
            <a:solidFill>
              <a:srgbClr val="FF6B35"/>
            </a:solidFill>
            <a:prstDash val="dash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1828800" y="4328160"/>
            <a:ext cx="0" cy="0"/>
          </a:xfrm>
          <a:prstGeom prst="line">
            <a:avLst/>
          </a:prstGeom>
          <a:noFill/>
          <a:ln w="19050">
            <a:solidFill>
              <a:srgbClr val="FF6B35"/>
            </a:solidFill>
            <a:prstDash val="solid"/>
            <a:tailEnd type="triangle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10972800" y="4328160"/>
            <a:ext cx="0" cy="0"/>
          </a:xfrm>
          <a:prstGeom prst="line">
            <a:avLst/>
          </a:prstGeom>
          <a:noFill/>
          <a:ln w="1905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267200" y="4389120"/>
            <a:ext cx="487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333" i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feedback → next Think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09600" y="4937760"/>
            <a:ext cx="10972800" cy="1524000"/>
          </a:xfrm>
          <a:prstGeom prst="rect">
            <a:avLst/>
          </a:prstGeom>
          <a:solidFill>
            <a:srgbClr val="0B1424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09600" y="4937760"/>
            <a:ext cx="73152" cy="152400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29056" y="5059680"/>
            <a:ext cx="106314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LLM Planner output format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"action": "execute",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"tasks": [ { "agent": "coder", "task": "implement URL shortener" },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 { "agent": "researcher", "task": "compare Redis vs SQLite" } ] }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"action": "finish", "answer": "..." }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0" y="6644640"/>
            <a:ext cx="12192000" cy="24384"/>
          </a:xfrm>
          <a:prstGeom prst="rect">
            <a:avLst/>
          </a:prstGeom>
          <a:solidFill>
            <a:srgbClr val="D5D0C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487680" y="6681216"/>
            <a:ext cx="609600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Orchestration Deep Dive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705600" y="6681216"/>
            <a:ext cx="499872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Kinfey Lo  ·  8 / 20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7680" y="426720"/>
            <a:ext cx="219456" cy="219456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853440" y="39014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533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Anti-Framework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731520"/>
            <a:ext cx="112166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LangGraph / AutoGen?</a:t>
            </a:r>
            <a:endParaRPr lang="en-US" sz="4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87680" y="1889760"/>
            <a:ext cx="5364480" cy="426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0C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87680" y="1889760"/>
            <a:ext cx="5364480" cy="609600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487680" y="1889760"/>
            <a:ext cx="53644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Framework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670560" y="2682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97280" y="2682240"/>
            <a:ext cx="463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Python env + multiple dependencies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70560" y="3230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97280" y="3230880"/>
            <a:ext cx="463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 hard-coded in source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70560" y="3779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097280" y="3779520"/>
            <a:ext cx="463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routing = edit source + restart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70560" y="4328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97280" y="4328160"/>
            <a:ext cx="463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requires IDE step-through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70560" y="4876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097280" y="4876800"/>
            <a:ext cx="463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tool needs a Tool class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339840" y="1889760"/>
            <a:ext cx="5364480" cy="4267200"/>
          </a:xfrm>
          <a:prstGeom prst="rect">
            <a:avLst/>
          </a:prstGeom>
          <a:solidFill>
            <a:srgbClr val="FFFFFF"/>
          </a:solidFill>
          <a:ln w="1524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339840" y="1889760"/>
            <a:ext cx="5364480" cy="60960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339840" y="1889760"/>
            <a:ext cx="53644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Way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522720" y="2682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949440" y="2682240"/>
            <a:ext cx="463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binary + one JSON5 file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522720" y="3230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949440" y="3230880"/>
            <a:ext cx="463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 lives in agents.list[]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522720" y="3779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949440" y="3779520"/>
            <a:ext cx="463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routing = edit JSON + hot-reload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522720" y="4328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949440" y="4328160"/>
            <a:ext cx="463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SSE stream on the dashboard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522720" y="4876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949440" y="4876800"/>
            <a:ext cx="463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declared via allow/deny lists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0" y="6644640"/>
            <a:ext cx="12192000" cy="24384"/>
          </a:xfrm>
          <a:prstGeom prst="rect">
            <a:avLst/>
          </a:prstGeom>
          <a:solidFill>
            <a:srgbClr val="D5D0C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87680" y="6681216"/>
            <a:ext cx="609600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Orchestration Deep Dive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705600" y="6681216"/>
            <a:ext cx="499872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Kinfey Lo  ·  9 / 20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7680" y="426720"/>
            <a:ext cx="219456" cy="219456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853440" y="39014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533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731520"/>
            <a:ext cx="112166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agent.yaml — the full DNA of an Agent</a:t>
            </a:r>
            <a:endParaRPr lang="en-US" sz="4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87680" y="1889760"/>
            <a:ext cx="6583680" cy="4511040"/>
          </a:xfrm>
          <a:prstGeom prst="rect">
            <a:avLst/>
          </a:prstGeom>
          <a:solidFill>
            <a:srgbClr val="0B1424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87680" y="1889760"/>
            <a:ext cx="73152" cy="451104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707136" y="2011680"/>
            <a:ext cx="6242304" cy="426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id: coder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default: false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workspace: ~/.openclaw/workspace-coder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model: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primary: anthropic/claude-opus-4-6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fallbacks: [openai/gpt-5.4]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skills: [github, shell-utils]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thinkingDefault: high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reasoningDefault: on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fastModeDefault: false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elevatedDefault: on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timeoutSeconds: 600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maxConcurrent: 3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soul: |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You are a senior Coder following SOLID,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write pure functions that Testers can call directly.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tools: { allow: [exec, read, write, edit] }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315200" y="1950720"/>
            <a:ext cx="4511040" cy="609600"/>
          </a:xfrm>
          <a:prstGeom prst="rect">
            <a:avLst/>
          </a:prstGeom>
          <a:solidFill>
            <a:srgbClr val="FFFFFF"/>
          </a:solidFill>
          <a:ln w="5080">
            <a:solidFill>
              <a:srgbClr val="D5D0C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7437120" y="1999488"/>
            <a:ext cx="42672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/ default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437120" y="2255520"/>
            <a:ext cx="426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ID · the default Agent handles unrouted requests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315200" y="2682240"/>
            <a:ext cx="4511040" cy="609600"/>
          </a:xfrm>
          <a:prstGeom prst="rect">
            <a:avLst/>
          </a:prstGeom>
          <a:solidFill>
            <a:srgbClr val="FFFFFF"/>
          </a:solidFill>
          <a:ln w="5080">
            <a:solidFill>
              <a:srgbClr val="D5D0C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437120" y="2731008"/>
            <a:ext cx="42672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437120" y="2987040"/>
            <a:ext cx="426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+ fallbacks · auto-degrade when a model is unavailable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315200" y="3413760"/>
            <a:ext cx="4511040" cy="609600"/>
          </a:xfrm>
          <a:prstGeom prst="rect">
            <a:avLst/>
          </a:prstGeom>
          <a:solidFill>
            <a:srgbClr val="FFFFFF"/>
          </a:solidFill>
          <a:ln w="5080">
            <a:solidFill>
              <a:srgbClr val="D5D0C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437120" y="3462528"/>
            <a:ext cx="42672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437120" y="3718560"/>
            <a:ext cx="426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Pluggable skill set · determines which external capabilities can be invoked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315200" y="4145280"/>
            <a:ext cx="4511040" cy="609600"/>
          </a:xfrm>
          <a:prstGeom prst="rect">
            <a:avLst/>
          </a:prstGeom>
          <a:solidFill>
            <a:srgbClr val="FFFFFF"/>
          </a:solidFill>
          <a:ln w="5080">
            <a:solidFill>
              <a:srgbClr val="D5D0C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437120" y="4194048"/>
            <a:ext cx="42672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thinking / reasoning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437120" y="4450080"/>
            <a:ext cx="426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visibility and depth (off / low / high)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315200" y="4876800"/>
            <a:ext cx="4511040" cy="609600"/>
          </a:xfrm>
          <a:prstGeom prst="rect">
            <a:avLst/>
          </a:prstGeom>
          <a:solidFill>
            <a:srgbClr val="FFFFFF"/>
          </a:solidFill>
          <a:ln w="5080">
            <a:solidFill>
              <a:srgbClr val="D5D0C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437120" y="4925568"/>
            <a:ext cx="42672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soul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437120" y="5181600"/>
            <a:ext cx="426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of System Prompt · the soul of role definition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7315200" y="5608320"/>
            <a:ext cx="4511040" cy="609600"/>
          </a:xfrm>
          <a:prstGeom prst="rect">
            <a:avLst/>
          </a:prstGeom>
          <a:solidFill>
            <a:srgbClr val="FFFFFF"/>
          </a:solidFill>
          <a:ln w="5080">
            <a:solidFill>
              <a:srgbClr val="D5D0C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437120" y="5657088"/>
            <a:ext cx="42672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tools.allow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437120" y="5913120"/>
            <a:ext cx="426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Per-Agent tool allowlist · overrides global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0" y="6644640"/>
            <a:ext cx="12192000" cy="24384"/>
          </a:xfrm>
          <a:prstGeom prst="rect">
            <a:avLst/>
          </a:prstGeom>
          <a:solidFill>
            <a:srgbClr val="D5D0C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87680" y="6681216"/>
            <a:ext cx="609600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Orchestration Deep Dive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705600" y="6681216"/>
            <a:ext cx="499872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Kinfey Lo  ·  10 / 20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7680" y="426720"/>
            <a:ext cx="219456" cy="219456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853440" y="39014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533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Declaration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731520"/>
            <a:ext cx="112166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tool_definition.json — A least-privilege contract</a:t>
            </a:r>
            <a:endParaRPr lang="en-US" sz="4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87680" y="1889760"/>
            <a:ext cx="6583680" cy="4511040"/>
          </a:xfrm>
          <a:prstGeom prst="rect">
            <a:avLst/>
          </a:prstGeom>
          <a:solidFill>
            <a:srgbClr val="0B1424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87680" y="1889760"/>
            <a:ext cx="73152" cy="451104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707136" y="2011680"/>
            <a:ext cx="6242304" cy="426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"name": "run_pytest",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"description":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"Run pytest inside the sandbox and return structured results",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"inputSchema": {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"type": "object",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"properties": {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"path":  { "type": "string" },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"marker":{ "type": "string" }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},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"required": ["path"]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},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"runtime": {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"command": "pytest",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"args": ["{{path}}", "-m","{{marker}}"],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"timeoutSec": 600,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"sandbox": true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}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0" y="1950720"/>
            <a:ext cx="45110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133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iron rules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315200" y="2499360"/>
            <a:ext cx="4511040" cy="1097280"/>
          </a:xfrm>
          <a:prstGeom prst="rect">
            <a:avLst/>
          </a:prstGeom>
          <a:solidFill>
            <a:srgbClr val="FFFFFF"/>
          </a:solidFill>
          <a:ln w="5080">
            <a:solidFill>
              <a:srgbClr val="D5D0C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315200" y="2499360"/>
            <a:ext cx="73152" cy="109728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498080" y="2572512"/>
            <a:ext cx="60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168640" y="2596896"/>
            <a:ext cx="36576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First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498080" y="2987040"/>
            <a:ext cx="426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67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inputs must be JSON Schema · so the LLM can fill slots correctly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315200" y="3718560"/>
            <a:ext cx="4511040" cy="1097280"/>
          </a:xfrm>
          <a:prstGeom prst="rect">
            <a:avLst/>
          </a:prstGeom>
          <a:solidFill>
            <a:srgbClr val="FFFFFF"/>
          </a:solidFill>
          <a:ln w="5080">
            <a:solidFill>
              <a:srgbClr val="D5D0C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315200" y="3718560"/>
            <a:ext cx="73152" cy="109728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498080" y="3791712"/>
            <a:ext cx="60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168640" y="3816096"/>
            <a:ext cx="36576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by Default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498080" y="4206240"/>
            <a:ext cx="426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67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runtime.sandbox: true · not explicitly enabling = denied by default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315200" y="4937760"/>
            <a:ext cx="4511040" cy="1097280"/>
          </a:xfrm>
          <a:prstGeom prst="rect">
            <a:avLst/>
          </a:prstGeom>
          <a:solidFill>
            <a:srgbClr val="FFFFFF"/>
          </a:solidFill>
          <a:ln w="5080">
            <a:solidFill>
              <a:srgbClr val="D5D0C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315200" y="4937760"/>
            <a:ext cx="73152" cy="109728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498080" y="5010912"/>
            <a:ext cx="60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168640" y="5035296"/>
            <a:ext cx="36576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Timeout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498080" y="5425440"/>
            <a:ext cx="426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67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timeoutSec required · prevents runaway tools from exhausting resources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0" y="6644640"/>
            <a:ext cx="12192000" cy="24384"/>
          </a:xfrm>
          <a:prstGeom prst="rect">
            <a:avLst/>
          </a:prstGeom>
          <a:solidFill>
            <a:srgbClr val="D5D0C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87680" y="6681216"/>
            <a:ext cx="609600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Orchestration Deep Dive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705600" y="6681216"/>
            <a:ext cx="499872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Kinfey Lo  ·  11 / 20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7680" y="426720"/>
            <a:ext cx="219456" cy="219456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853440" y="39014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533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Model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731520"/>
            <a:ext cx="112166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 of Least Privilege — Applied to every Agent</a:t>
            </a:r>
            <a:endParaRPr lang="en-US" sz="3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31520" y="2072640"/>
            <a:ext cx="10728960" cy="950976"/>
          </a:xfrm>
          <a:prstGeom prst="rect">
            <a:avLst/>
          </a:prstGeom>
          <a:solidFill>
            <a:srgbClr val="1A2B4D"/>
          </a:solidFill>
          <a:ln w="15240">
            <a:solidFill>
              <a:srgbClr val="4A6FA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31520" y="2072640"/>
            <a:ext cx="1828800" cy="950976"/>
          </a:xfrm>
          <a:prstGeom prst="rect">
            <a:avLst/>
          </a:prstGeom>
          <a:solidFill>
            <a:srgbClr val="4A6FA5">
              <a:alpha val="20000"/>
            </a:srgbClr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853440" y="2292096"/>
            <a:ext cx="17068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layer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2804160" y="2292096"/>
            <a:ext cx="8534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4A6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auth.token + Tailscale + loopback binding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31520" y="3230880"/>
            <a:ext cx="10728960" cy="950976"/>
          </a:xfrm>
          <a:prstGeom prst="rect">
            <a:avLst/>
          </a:prstGeom>
          <a:solidFill>
            <a:srgbClr val="1A2B4D"/>
          </a:solidFill>
          <a:ln w="15240">
            <a:solidFill>
              <a:srgbClr val="5EEAD4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31520" y="3230880"/>
            <a:ext cx="1828800" cy="950976"/>
          </a:xfrm>
          <a:prstGeom prst="rect">
            <a:avLst/>
          </a:prstGeom>
          <a:solidFill>
            <a:srgbClr val="5EEAD4">
              <a:alpha val="20000"/>
            </a:srgbClr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53440" y="3450336"/>
            <a:ext cx="17068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layer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804160" y="3450336"/>
            <a:ext cx="8534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tools.allow / deny + skills allowlist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31520" y="4389120"/>
            <a:ext cx="10728960" cy="950976"/>
          </a:xfrm>
          <a:prstGeom prst="rect">
            <a:avLst/>
          </a:prstGeom>
          <a:solidFill>
            <a:srgbClr val="1A2B4D"/>
          </a:solidFill>
          <a:ln w="1524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31520" y="4389120"/>
            <a:ext cx="1828800" cy="950976"/>
          </a:xfrm>
          <a:prstGeom prst="rect">
            <a:avLst/>
          </a:prstGeom>
          <a:solidFill>
            <a:srgbClr val="FF6B35">
              <a:alpha val="20000"/>
            </a:srgbClr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53440" y="4608576"/>
            <a:ext cx="17068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runtime layer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804160" y="4608576"/>
            <a:ext cx="8534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sandbox + readOnlyRoot + network: none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31520" y="5730240"/>
            <a:ext cx="107289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600" i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prompt injection at most consumes one session container — never contaminates the host.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0" y="6644640"/>
            <a:ext cx="12192000" cy="2438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87680" y="6681216"/>
            <a:ext cx="609600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dirty="0">
                <a:solidFill>
                  <a:srgbClr val="B8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Orchestration Deep Dive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705600" y="6681216"/>
            <a:ext cx="499872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200" dirty="0">
                <a:solidFill>
                  <a:srgbClr val="B8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Kinfey Lo  ·  12 / 20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7680" y="426720"/>
            <a:ext cx="219456" cy="219456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853440" y="39014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533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Self-Looping Test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731520"/>
            <a:ext cx="112166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Coder → Tester → Executor — Three-agent loop</a:t>
            </a:r>
            <a:endParaRPr lang="en-US" sz="4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87680" y="2011680"/>
            <a:ext cx="3596640" cy="2438400"/>
          </a:xfrm>
          <a:prstGeom prst="rect">
            <a:avLst/>
          </a:prstGeom>
          <a:solidFill>
            <a:srgbClr val="FFFFFF"/>
          </a:solidFill>
          <a:ln w="1524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87680" y="2011680"/>
            <a:ext cx="3596640" cy="60960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487680" y="2011680"/>
            <a:ext cx="35966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487680" y="2767584"/>
            <a:ext cx="35966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933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Coder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487680" y="3255264"/>
            <a:ext cx="359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6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code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219200" y="3718560"/>
            <a:ext cx="2133600" cy="0"/>
          </a:xfrm>
          <a:prstGeom prst="line">
            <a:avLst/>
          </a:prstGeom>
          <a:noFill/>
          <a:ln w="6350">
            <a:solidFill>
              <a:srgbClr val="D5D0C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87680" y="3779520"/>
            <a:ext cx="35966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333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edit · write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084320" y="3230880"/>
            <a:ext cx="365760" cy="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  <a:tailEnd type="triangle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450080" y="2011680"/>
            <a:ext cx="3596640" cy="2438400"/>
          </a:xfrm>
          <a:prstGeom prst="rect">
            <a:avLst/>
          </a:prstGeom>
          <a:solidFill>
            <a:srgbClr val="FFFFFF"/>
          </a:solidFill>
          <a:ln w="15240">
            <a:solidFill>
              <a:srgbClr val="4A6FA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450080" y="2011680"/>
            <a:ext cx="3596640" cy="609600"/>
          </a:xfrm>
          <a:prstGeom prst="rect">
            <a:avLst/>
          </a:prstGeom>
          <a:solidFill>
            <a:srgbClr val="4A6FA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450080" y="2011680"/>
            <a:ext cx="35966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450080" y="2767584"/>
            <a:ext cx="35966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933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450080" y="3255264"/>
            <a:ext cx="359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6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tests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181600" y="3718560"/>
            <a:ext cx="2133600" cy="0"/>
          </a:xfrm>
          <a:prstGeom prst="line">
            <a:avLst/>
          </a:prstGeom>
          <a:noFill/>
          <a:ln w="6350">
            <a:solidFill>
              <a:srgbClr val="D5D0C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450080" y="3779520"/>
            <a:ext cx="35966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333" dirty="0">
                <a:solidFill>
                  <a:srgbClr val="4A6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 · pytest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046720" y="3230880"/>
            <a:ext cx="365760" cy="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  <a:tailEnd type="triangle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412480" y="2011680"/>
            <a:ext cx="3596640" cy="2438400"/>
          </a:xfrm>
          <a:prstGeom prst="rect">
            <a:avLst/>
          </a:prstGeom>
          <a:solidFill>
            <a:srgbClr val="FFFFFF"/>
          </a:solidFill>
          <a:ln w="15240">
            <a:solidFill>
              <a:srgbClr val="5EEAD4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412480" y="2011680"/>
            <a:ext cx="3596640" cy="609600"/>
          </a:xfrm>
          <a:prstGeom prst="rect">
            <a:avLst/>
          </a:prstGeom>
          <a:solidFill>
            <a:srgbClr val="5EEAD4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412480" y="2011680"/>
            <a:ext cx="35966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412480" y="2767584"/>
            <a:ext cx="35966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933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412480" y="3255264"/>
            <a:ext cx="359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6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+ feedback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9144000" y="3718560"/>
            <a:ext cx="2133600" cy="0"/>
          </a:xfrm>
          <a:prstGeom prst="line">
            <a:avLst/>
          </a:prstGeom>
          <a:noFill/>
          <a:ln w="6350">
            <a:solidFill>
              <a:srgbClr val="D5D0C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412480" y="3779520"/>
            <a:ext cx="35966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333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 (sandboxed)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11704320" y="4023360"/>
            <a:ext cx="0" cy="1036320"/>
          </a:xfrm>
          <a:prstGeom prst="line">
            <a:avLst/>
          </a:prstGeom>
          <a:noFill/>
          <a:ln w="1905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09600" y="5059680"/>
            <a:ext cx="11094720" cy="0"/>
          </a:xfrm>
          <a:prstGeom prst="line">
            <a:avLst/>
          </a:prstGeom>
          <a:noFill/>
          <a:ln w="19050">
            <a:solidFill>
              <a:srgbClr val="FF6B35"/>
            </a:solidFill>
            <a:prstDash val="dash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09600" y="5059680"/>
            <a:ext cx="0" cy="0"/>
          </a:xfrm>
          <a:prstGeom prst="line">
            <a:avLst/>
          </a:prstGeom>
          <a:noFill/>
          <a:ln w="19050">
            <a:solidFill>
              <a:srgbClr val="FF6B35"/>
            </a:solidFill>
            <a:prstDash val="solid"/>
            <a:tailEnd type="triangle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3657600" y="5120640"/>
            <a:ext cx="487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67" i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→ feedback to Coder · next iteration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487680" y="5730240"/>
            <a:ext cx="11216640" cy="60960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87680" y="5730240"/>
            <a:ext cx="112166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Orchestrator only maintains the task queue and termination conditions — the three Agents don't call each other; they exchange only files and results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0" y="6644640"/>
            <a:ext cx="12192000" cy="24384"/>
          </a:xfrm>
          <a:prstGeom prst="rect">
            <a:avLst/>
          </a:prstGeom>
          <a:solidFill>
            <a:srgbClr val="D5D0C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487680" y="6681216"/>
            <a:ext cx="609600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Orchestration Deep Dive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705600" y="6681216"/>
            <a:ext cx="499872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Kinfey Lo  ·  13 / 20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7680" y="426720"/>
            <a:ext cx="219456" cy="219456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853440" y="39014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533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Agent A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731520"/>
            <a:ext cx="112166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Coder — Turn intent into readable, testable code</a:t>
            </a:r>
            <a:endParaRPr lang="en-US" sz="4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487680" y="1889760"/>
            <a:ext cx="633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kern="0" spc="267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SOUL.md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87680" y="2255520"/>
            <a:ext cx="6339840" cy="4023360"/>
          </a:xfrm>
          <a:prstGeom prst="rect">
            <a:avLst/>
          </a:prstGeom>
          <a:solidFill>
            <a:srgbClr val="0B1424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87680" y="2255520"/>
            <a:ext cx="73152" cy="402336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707136" y="2377440"/>
            <a:ext cx="5998464" cy="3779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are a senior Python engineer.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Constraints: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· Write only one function at a time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· Must include full type hints and docstring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· No catch-all try/except — let errors surface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· Output must be a pure file (no main block)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format: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1) Filename: src/xxx.py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2) Full source code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3) One-line description of the function's input/output contract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Refuse: explanations, tutorials, code-unrelated dialogue.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7193280" y="1889760"/>
            <a:ext cx="451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kern="0" spc="267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193280" y="2255520"/>
            <a:ext cx="1402080" cy="54864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193280" y="2255520"/>
            <a:ext cx="140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6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717280" y="2255520"/>
            <a:ext cx="1402080" cy="54864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717280" y="2255520"/>
            <a:ext cx="140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6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edit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0241280" y="2255520"/>
            <a:ext cx="1402080" cy="54864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241280" y="2255520"/>
            <a:ext cx="140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6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193280" y="3048000"/>
            <a:ext cx="451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kern="0" spc="267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Failure signals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193280" y="3474720"/>
            <a:ext cx="4511040" cy="731520"/>
          </a:xfrm>
          <a:prstGeom prst="rect">
            <a:avLst/>
          </a:prstGeom>
          <a:solidFill>
            <a:srgbClr val="FFFFFF"/>
          </a:solidFill>
          <a:ln w="5080">
            <a:solidFill>
              <a:srgbClr val="D5D0C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315200" y="3547872"/>
            <a:ext cx="426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syntax_error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315200" y="3840480"/>
            <a:ext cx="426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resolution fails → rewrite file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193280" y="4328160"/>
            <a:ext cx="4511040" cy="731520"/>
          </a:xfrm>
          <a:prstGeom prst="rect">
            <a:avLst/>
          </a:prstGeom>
          <a:solidFill>
            <a:srgbClr val="FFFFFF"/>
          </a:solidFill>
          <a:ln w="5080">
            <a:solidFill>
              <a:srgbClr val="D5D0C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315200" y="4401312"/>
            <a:ext cx="426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test_failed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315200" y="4693920"/>
            <a:ext cx="426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 feedback trace → patch the function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7193280" y="5181600"/>
            <a:ext cx="4511040" cy="731520"/>
          </a:xfrm>
          <a:prstGeom prst="rect">
            <a:avLst/>
          </a:prstGeom>
          <a:solidFill>
            <a:srgbClr val="FFFFFF"/>
          </a:solidFill>
          <a:ln w="5080">
            <a:solidFill>
              <a:srgbClr val="D5D0C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315200" y="5254752"/>
            <a:ext cx="426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type_mismatch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315200" y="5547360"/>
            <a:ext cx="426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detects contract mismatch → adjust signature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0" y="6644640"/>
            <a:ext cx="12192000" cy="24384"/>
          </a:xfrm>
          <a:prstGeom prst="rect">
            <a:avLst/>
          </a:prstGeom>
          <a:solidFill>
            <a:srgbClr val="D5D0C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87680" y="6681216"/>
            <a:ext cx="609600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Orchestration Deep Dive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705600" y="6681216"/>
            <a:ext cx="499872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Kinfey Lo  ·  14 / 20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7680" y="426720"/>
            <a:ext cx="219456" cy="219456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853440" y="39014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533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Agent B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731520"/>
            <a:ext cx="112166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— Writes only tests — never touches implementation</a:t>
            </a:r>
            <a:endParaRPr lang="en-US" sz="4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87680" y="1889760"/>
            <a:ext cx="11216640" cy="73152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87680" y="1889760"/>
            <a:ext cx="73152" cy="73152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731520" y="1950720"/>
            <a:ext cx="18288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b="1" kern="0" spc="267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Duty contract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2194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function signatures in src/*.py → generate tests/test_*.py · never modify src/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487680" y="2804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kern="0" spc="267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CoT Prompt Template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87680" y="3169920"/>
            <a:ext cx="5486400" cy="3169920"/>
          </a:xfrm>
          <a:prstGeom prst="rect">
            <a:avLst/>
          </a:prstGeom>
          <a:solidFill>
            <a:srgbClr val="0B1424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87680" y="3169920"/>
            <a:ext cx="73152" cy="316992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07136" y="3291840"/>
            <a:ext cx="5145024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1: Read {{file}}, list all public functions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2: For each function, enumerate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· Happy-path inputs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· Edge values (empty, None, max, min)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· Illegal inputs (wrong types)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3: Use pytest.parametrize to generate tests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4: Output file tests/test_&lt;module&gt;.py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· No code outside fixtures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· Every test must assert — no print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217920" y="2804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kern="0" spc="267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Generated example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217920" y="3169920"/>
            <a:ext cx="5486400" cy="3169920"/>
          </a:xfrm>
          <a:prstGeom prst="rect">
            <a:avLst/>
          </a:prstGeom>
          <a:solidFill>
            <a:srgbClr val="0B1424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217920" y="3169920"/>
            <a:ext cx="73152" cy="316992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437376" y="3291840"/>
            <a:ext cx="5145024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pytest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src.calc import safe_div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@pytest.mark.parametrize("a,b,exp", [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(10, 2, 5),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(-9, 3, -3),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(0, 5, 0),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test_safe_div_ok(a,b,exp):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assert safe_div(a,b) == exp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test_safe_div_zero():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with pytest.raises(ValueError):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safe_div(1, 0)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0" y="6644640"/>
            <a:ext cx="12192000" cy="24384"/>
          </a:xfrm>
          <a:prstGeom prst="rect">
            <a:avLst/>
          </a:prstGeom>
          <a:solidFill>
            <a:srgbClr val="D5D0C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87680" y="6681216"/>
            <a:ext cx="609600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Orchestration Deep Dive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705600" y="6681216"/>
            <a:ext cx="499872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Kinfey Lo  ·  15 / 20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7680" y="426720"/>
            <a:ext cx="219456" cy="219456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853440" y="39014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533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Agent C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731520"/>
            <a:ext cx="112166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 — Execute in OpenClaw sandbox and report back</a:t>
            </a:r>
            <a:endParaRPr lang="en-US" sz="4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87680" y="1889760"/>
            <a:ext cx="670560" cy="670560"/>
          </a:xfrm>
          <a:prstGeom prst="ellipse">
            <a:avLst/>
          </a:prstGeom>
          <a:solidFill>
            <a:srgbClr val="0F1B2D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487680" y="1889760"/>
            <a:ext cx="6705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1341120" y="191414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sandbox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1341120" y="2279904"/>
            <a:ext cx="5486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openclaw-sandbox:bookworm-slim · scope: session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87680" y="2926080"/>
            <a:ext cx="670560" cy="670560"/>
          </a:xfrm>
          <a:prstGeom prst="ellipse">
            <a:avLst/>
          </a:prstGeom>
          <a:solidFill>
            <a:srgbClr val="0F1B2D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87680" y="2926080"/>
            <a:ext cx="6705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341120" y="295046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 artifacts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341120" y="3316224"/>
            <a:ext cx="5486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 + tests/ mounted into /workspace as read-only copy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87680" y="3962400"/>
            <a:ext cx="670560" cy="670560"/>
          </a:xfrm>
          <a:prstGeom prst="ellipse">
            <a:avLst/>
          </a:prstGeom>
          <a:solidFill>
            <a:srgbClr val="0F1B2D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87680" y="3962400"/>
            <a:ext cx="6705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341120" y="398678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pytest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341120" y="4352544"/>
            <a:ext cx="5486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-q --json-report --tb=short --timeout=60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87680" y="4998720"/>
            <a:ext cx="670560" cy="670560"/>
          </a:xfrm>
          <a:prstGeom prst="ellipse">
            <a:avLst/>
          </a:prstGeom>
          <a:solidFill>
            <a:srgbClr val="0F1B2D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87680" y="4998720"/>
            <a:ext cx="6705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341120" y="502310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feedback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341120" y="5388864"/>
            <a:ext cx="5486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status / failed / trace back to the Orchestrator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949440" y="1889760"/>
            <a:ext cx="4876800" cy="4511040"/>
          </a:xfrm>
          <a:prstGeom prst="rect">
            <a:avLst/>
          </a:prstGeom>
          <a:solidFill>
            <a:srgbClr val="0B1424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949440" y="1889760"/>
            <a:ext cx="73152" cy="451104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168896" y="2011680"/>
            <a:ext cx="4535424" cy="426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"status": "failed",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"summary": {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"total": 8,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"passed": 6,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"failed": 2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},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"failures": [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{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"test":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"test_safe_div_zero",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"trace":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"DID NOT RAISE …",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"hint_for_coder":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"patch the b==0 path"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}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]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0" y="6644640"/>
            <a:ext cx="12192000" cy="24384"/>
          </a:xfrm>
          <a:prstGeom prst="rect">
            <a:avLst/>
          </a:prstGeom>
          <a:solidFill>
            <a:srgbClr val="D5D0C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87680" y="6681216"/>
            <a:ext cx="609600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Orchestration Deep Dive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705600" y="6681216"/>
            <a:ext cx="499872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Kinfey Lo  ·  16 / 20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7680" y="426720"/>
            <a:ext cx="219456" cy="219456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853440" y="39014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533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Copilot Snippet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731520"/>
            <a:ext cx="112166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Copilot from comments to emit agent.yaml directly</a:t>
            </a:r>
            <a:endParaRPr lang="en-US" sz="4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487680" y="1889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kern="0" spc="267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 the comment ↓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87680" y="2255520"/>
            <a:ext cx="5486400" cy="1828800"/>
          </a:xfrm>
          <a:prstGeom prst="rect">
            <a:avLst/>
          </a:prstGeom>
          <a:solidFill>
            <a:srgbClr val="0B1424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87680" y="2255520"/>
            <a:ext cx="73152" cy="182880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707136" y="2377440"/>
            <a:ext cx="5145024" cy="158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467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OpenClaw agent definition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467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role: tester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467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allowed tools: write, read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467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model: claude-opus-4-6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467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cot: parametrize edge cases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467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---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487680" y="426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kern="0" spc="267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 completes directly ↓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87680" y="4632960"/>
            <a:ext cx="5486400" cy="1767840"/>
          </a:xfrm>
          <a:prstGeom prst="rect">
            <a:avLst/>
          </a:prstGeom>
          <a:solidFill>
            <a:srgbClr val="1A2B4D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87680" y="4632960"/>
            <a:ext cx="73152" cy="176784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07136" y="4754880"/>
            <a:ext cx="5145024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467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id: tester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467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default: false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467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model: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467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primary: anthropic/claude-opus-4-6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467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tools: { allow: [write, read] }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467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thinkingDefault: high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339840" y="1889760"/>
            <a:ext cx="53644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levers of prompt engineering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339840" y="2438400"/>
            <a:ext cx="5364480" cy="853440"/>
          </a:xfrm>
          <a:prstGeom prst="rect">
            <a:avLst/>
          </a:prstGeom>
          <a:solidFill>
            <a:srgbClr val="FFFFFF"/>
          </a:solidFill>
          <a:ln w="5080">
            <a:solidFill>
              <a:srgbClr val="D5D0C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339840" y="2438400"/>
            <a:ext cx="73152" cy="85344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522720" y="2535936"/>
            <a:ext cx="51206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anchor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522720" y="2852928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line "OpenClaw agent definition" lets Copilot lock onto the schema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339840" y="3389376"/>
            <a:ext cx="5364480" cy="853440"/>
          </a:xfrm>
          <a:prstGeom prst="rect">
            <a:avLst/>
          </a:prstGeom>
          <a:solidFill>
            <a:srgbClr val="FFFFFF"/>
          </a:solidFill>
          <a:ln w="5080">
            <a:solidFill>
              <a:srgbClr val="D5D0C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339840" y="3389376"/>
            <a:ext cx="73152" cy="85344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522720" y="3486912"/>
            <a:ext cx="51206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hints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522720" y="3803904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the role/tools/model trio in comments — none can be missing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339840" y="4340352"/>
            <a:ext cx="5364480" cy="853440"/>
          </a:xfrm>
          <a:prstGeom prst="rect">
            <a:avLst/>
          </a:prstGeom>
          <a:solidFill>
            <a:srgbClr val="FFFFFF"/>
          </a:solidFill>
          <a:ln w="5080">
            <a:solidFill>
              <a:srgbClr val="D5D0C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339840" y="4340352"/>
            <a:ext cx="73152" cy="85344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522720" y="4437888"/>
            <a:ext cx="51206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Delimiter ---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522720" y="4754880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trailing --- triggers Copilot’s "complete YAML document" mode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339840" y="5291328"/>
            <a:ext cx="5364480" cy="853440"/>
          </a:xfrm>
          <a:prstGeom prst="rect">
            <a:avLst/>
          </a:prstGeom>
          <a:solidFill>
            <a:srgbClr val="FFFFFF"/>
          </a:solidFill>
          <a:ln w="5080">
            <a:solidFill>
              <a:srgbClr val="D5D0C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339840" y="5291328"/>
            <a:ext cx="73152" cy="85344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522720" y="5388864"/>
            <a:ext cx="51206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comment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522720" y="5705856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# schema: openclaw v1 line to lock field naming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0" y="6644640"/>
            <a:ext cx="12192000" cy="24384"/>
          </a:xfrm>
          <a:prstGeom prst="rect">
            <a:avLst/>
          </a:prstGeom>
          <a:solidFill>
            <a:srgbClr val="D5D0C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87680" y="6681216"/>
            <a:ext cx="609600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Orchestration Deep Dive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705600" y="6681216"/>
            <a:ext cx="499872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Kinfey Lo  ·  17 / 20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7680" y="426720"/>
            <a:ext cx="219456" cy="219456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853440" y="39014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533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Copilot Snippet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731520"/>
            <a:ext cx="112166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tool_definition.json — Let Copilot write JSON Schema</a:t>
            </a:r>
            <a:endParaRPr lang="en-US" sz="4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87680" y="1889760"/>
            <a:ext cx="2682240" cy="1584960"/>
          </a:xfrm>
          <a:prstGeom prst="rect">
            <a:avLst/>
          </a:prstGeom>
          <a:solidFill>
            <a:srgbClr val="FFFFFF"/>
          </a:solidFill>
          <a:ln w="1016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524000" y="2072640"/>
            <a:ext cx="609600" cy="60960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1524000" y="2072640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487680" y="2743200"/>
            <a:ext cx="268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733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function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609600" y="3084576"/>
            <a:ext cx="243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67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a Python/TS function signature in the IDE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413760" y="1889760"/>
            <a:ext cx="2682240" cy="1584960"/>
          </a:xfrm>
          <a:prstGeom prst="rect">
            <a:avLst/>
          </a:prstGeom>
          <a:solidFill>
            <a:srgbClr val="FFFFFF"/>
          </a:solidFill>
          <a:ln w="1016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450080" y="2072640"/>
            <a:ext cx="609600" cy="60960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450080" y="2072640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413760" y="2743200"/>
            <a:ext cx="268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733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the hint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535680" y="3084576"/>
            <a:ext cx="243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67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/* generate openclaw tool def */ comment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339840" y="1889760"/>
            <a:ext cx="2682240" cy="1584960"/>
          </a:xfrm>
          <a:prstGeom prst="rect">
            <a:avLst/>
          </a:prstGeom>
          <a:solidFill>
            <a:srgbClr val="FFFFFF"/>
          </a:solidFill>
          <a:ln w="1016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376160" y="2072640"/>
            <a:ext cx="609600" cy="60960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376160" y="2072640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339840" y="2743200"/>
            <a:ext cx="268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733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Proofread the schema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461760" y="3084576"/>
            <a:ext cx="243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67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auto-infers JSON Schema from type annotations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9265920" y="1889760"/>
            <a:ext cx="2682240" cy="1584960"/>
          </a:xfrm>
          <a:prstGeom prst="rect">
            <a:avLst/>
          </a:prstGeom>
          <a:solidFill>
            <a:srgbClr val="FFFFFF"/>
          </a:solidFill>
          <a:ln w="1016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10302240" y="2072640"/>
            <a:ext cx="609600" cy="60960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0302240" y="2072640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265920" y="2743200"/>
            <a:ext cx="268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733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sandbox fields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387840" y="3084576"/>
            <a:ext cx="243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67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add timeoutSec and sandbox: true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87680" y="3657600"/>
            <a:ext cx="112166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267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function  →  generated schema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87680" y="4023360"/>
            <a:ext cx="5486400" cy="2377440"/>
          </a:xfrm>
          <a:prstGeom prst="rect">
            <a:avLst/>
          </a:prstGeom>
          <a:solidFill>
            <a:srgbClr val="0B1424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87680" y="4023360"/>
            <a:ext cx="73152" cy="237744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07136" y="4145280"/>
            <a:ext cx="5145024" cy="213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467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run_pytest(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467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path: str,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467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marker: str | None = None,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467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timeout: int = 60,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467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-&gt; PytestResult: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467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'''run pytest in sandbox'''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467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...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217920" y="4023360"/>
            <a:ext cx="5486400" cy="2377440"/>
          </a:xfrm>
          <a:prstGeom prst="rect">
            <a:avLst/>
          </a:prstGeom>
          <a:solidFill>
            <a:srgbClr val="1A2B4D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217920" y="4023360"/>
            <a:ext cx="73152" cy="237744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437376" y="4145280"/>
            <a:ext cx="5145024" cy="213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"name": "run_pytest",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"inputSchema": {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"type": "object",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"properties": {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"path":   { "type": "string" },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"marker": { "type":["string","null"]},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"timeout":{ "type": "integer"} },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"required": ["path"] } }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0" y="6644640"/>
            <a:ext cx="12192000" cy="24384"/>
          </a:xfrm>
          <a:prstGeom prst="rect">
            <a:avLst/>
          </a:prstGeom>
          <a:solidFill>
            <a:srgbClr val="D5D0C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87680" y="6681216"/>
            <a:ext cx="609600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Orchestration Deep Dive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705600" y="6681216"/>
            <a:ext cx="499872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Kinfey Lo  ·  18 / 20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7680" y="426720"/>
            <a:ext cx="219456" cy="219456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853440" y="39014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533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 Injection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731520"/>
            <a:ext cx="112166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Copilot to generate reusable chain-of-thought templates</a:t>
            </a:r>
            <a:endParaRPr lang="en-US" sz="4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487680" y="1889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kern="0" spc="267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Meta-Prompt for Copilot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87680" y="2255520"/>
            <a:ext cx="5486400" cy="4145280"/>
          </a:xfrm>
          <a:prstGeom prst="rect">
            <a:avLst/>
          </a:prstGeom>
          <a:solidFill>
            <a:srgbClr val="0B1424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87680" y="2255520"/>
            <a:ext cx="73152" cy="414528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707136" y="2377440"/>
            <a:ext cx="5145024" cy="390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* Generate a Chain-of-Thought template for me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* Role: {{ role }}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* Input: {{ input_shape }}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* Output: {{ output_shape }}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* Required steps: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*   1) Restate the goal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*   2) List unknowns / assumptions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*   3) Decompose into ≤3 sub-tasks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*   4) Solve each (with verification)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*   5) Synthesize · Self-check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* Forbidden: jumping to the answer, skipping steps, implicit assumptions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*/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6339840" y="1889760"/>
            <a:ext cx="536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kern="0" spc="267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Generated Prompt Template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339840" y="2255520"/>
            <a:ext cx="5364480" cy="4145280"/>
          </a:xfrm>
          <a:prstGeom prst="rect">
            <a:avLst/>
          </a:prstGeom>
          <a:solidFill>
            <a:srgbClr val="1A2B4D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339840" y="2255520"/>
            <a:ext cx="73152" cy="414528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559296" y="2377440"/>
            <a:ext cx="5023104" cy="390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are {{role}}. Please think through these steps: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Restate the goal in one sentence.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List knowns / unknowns / assumptions.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Decompose into ≤ 3 sub-tasks.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Solve each in turn: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- Give a solution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- Give a verification method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- Annotate confidence (0-100)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Synthesize the conclusion · self-check contradictions.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any step has confidence &lt; 75 →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 the ask_user tool to verify — no guessing.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0" y="6644640"/>
            <a:ext cx="12192000" cy="24384"/>
          </a:xfrm>
          <a:prstGeom prst="rect">
            <a:avLst/>
          </a:prstGeom>
          <a:solidFill>
            <a:srgbClr val="D5D0C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87680" y="6681216"/>
            <a:ext cx="609600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Orchestration Deep Dive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705600" y="6681216"/>
            <a:ext cx="499872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Kinfey Lo  ·  19 / 20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048000" y="3048000"/>
            <a:ext cx="6096000" cy="6096000"/>
          </a:xfrm>
          <a:prstGeom prst="ellipse">
            <a:avLst/>
          </a:prstGeom>
          <a:ln w="1905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-2438400" y="3657600"/>
            <a:ext cx="4876800" cy="4876800"/>
          </a:xfrm>
          <a:prstGeom prst="ellipse">
            <a:avLst/>
          </a:prstGeom>
          <a:ln w="12700">
            <a:solidFill>
              <a:srgbClr val="D94A1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87680" y="426720"/>
            <a:ext cx="219456" cy="219456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853440" y="39014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533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487680" y="731520"/>
            <a:ext cx="112166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takeaways</a:t>
            </a:r>
            <a:endParaRPr lang="en-US" sz="4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389120" y="2072640"/>
            <a:ext cx="7315200" cy="914400"/>
          </a:xfrm>
          <a:prstGeom prst="rect">
            <a:avLst/>
          </a:prstGeom>
          <a:solidFill>
            <a:srgbClr val="1A2B4D"/>
          </a:solidFill>
          <a:ln w="1016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0" y="2194560"/>
            <a:ext cx="7315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933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5364480" y="2145792"/>
            <a:ext cx="62179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file IS the topology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364480" y="2560320"/>
            <a:ext cx="62179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B8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change routing, don't write code — edit agents.list[]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389120" y="3108960"/>
            <a:ext cx="7315200" cy="914400"/>
          </a:xfrm>
          <a:prstGeom prst="rect">
            <a:avLst/>
          </a:prstGeom>
          <a:solidFill>
            <a:srgbClr val="1A2B4D"/>
          </a:solidFill>
          <a:ln w="1016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72000" y="3230880"/>
            <a:ext cx="7315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933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364480" y="3182112"/>
            <a:ext cx="62179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is not a luxury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364480" y="3596640"/>
            <a:ext cx="62179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B8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On-by-default = secure-by-default, minimal blast radius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389120" y="4145280"/>
            <a:ext cx="7315200" cy="914400"/>
          </a:xfrm>
          <a:prstGeom prst="rect">
            <a:avLst/>
          </a:prstGeom>
          <a:solidFill>
            <a:srgbClr val="1A2B4D"/>
          </a:solidFill>
          <a:ln w="1016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572000" y="4267200"/>
            <a:ext cx="7315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933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364480" y="4218432"/>
            <a:ext cx="62179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is a schema engine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364480" y="4632960"/>
            <a:ext cx="62179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B8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comment anchors + type signatures so it writes trustworthy YAML/JSON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87680" y="5364480"/>
            <a:ext cx="11216640" cy="103632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31520" y="5425440"/>
            <a:ext cx="30480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31520" y="5913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docs.openclaw.ai  ·  github.com/zeynepyorulmaz/openclaw-orchestrator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924800" y="5425440"/>
            <a:ext cx="36576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Kinfey Lo · kinfeylo@microsoft.com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0" y="6644640"/>
            <a:ext cx="12192000" cy="2438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87680" y="6681216"/>
            <a:ext cx="609600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dirty="0">
                <a:solidFill>
                  <a:srgbClr val="B8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Orchestration Deep Dive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705600" y="6681216"/>
            <a:ext cx="499872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200" dirty="0">
                <a:solidFill>
                  <a:srgbClr val="B8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Kinfey Lo  ·  20 / 20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2250</Words>
  <Application>Microsoft Macintosh PowerPoint</Application>
  <PresentationFormat>Widescreen</PresentationFormat>
  <Paragraphs>508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Arial</vt:lpstr>
      <vt:lpstr>Calibri</vt:lpstr>
      <vt:lpstr>Consolas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Kinfey Lo</dc:creator>
  <cp:lastModifiedBy>Kinfey Lo</cp:lastModifiedBy>
  <cp:revision>2</cp:revision>
  <dcterms:created xsi:type="dcterms:W3CDTF">2026-05-06T05:20:36Z</dcterms:created>
  <dcterms:modified xsi:type="dcterms:W3CDTF">2026-05-06T05:21:24Z</dcterms:modified>
</cp:coreProperties>
</file>