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2"/>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4876ED-0896-B544-B073-2FA0A81B8B45}" type="datetimeFigureOut">
              <a:rPr lang="en-CN" smtClean="0"/>
              <a:t>2026/5/6</a:t>
            </a:fld>
            <a:endParaRPr lang="en-C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676FEB-60A7-E64A-AE16-91BF25A1E5F1}" type="slidenum">
              <a:rPr lang="en-CN" smtClean="0"/>
              <a:t>‹#›</a:t>
            </a:fld>
            <a:endParaRPr lang="en-CN"/>
          </a:p>
        </p:txBody>
      </p:sp>
    </p:spTree>
    <p:extLst>
      <p:ext uri="{BB962C8B-B14F-4D97-AF65-F5344CB8AC3E}">
        <p14:creationId xmlns:p14="http://schemas.microsoft.com/office/powerpoint/2010/main" val="2820242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7413626"/>
      </p:ext>
    </p:extLst>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41715653"/>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E1F"/>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228600" y="0"/>
            <a:ext cx="73152" cy="6858000"/>
          </a:xfrm>
          <a:prstGeom prst="rect">
            <a:avLst/>
          </a:prstGeom>
          <a:solidFill>
            <a:srgbClr val="00E5C7"/>
          </a:solid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822960" y="548640"/>
            <a:ext cx="54864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400" normalizeH="0" baseline="0" noProof="0" dirty="0">
                <a:ln>
                  <a:noFill/>
                </a:ln>
                <a:solidFill>
                  <a:srgbClr val="FF6B35"/>
                </a:solidFill>
                <a:effectLst/>
                <a:uLnTx/>
                <a:uFillTx/>
                <a:latin typeface="Calibri" pitchFamily="34" charset="0"/>
                <a:ea typeface="Calibri" pitchFamily="34" charset="-122"/>
                <a:cs typeface="Calibri" pitchFamily="34" charset="-120"/>
              </a:rPr>
              <a:t>◤ OpenClaw</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822960" y="914400"/>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300" normalizeH="0" baseline="0" noProof="0" dirty="0">
                <a:ln>
                  <a:noFill/>
                </a:ln>
                <a:solidFill>
                  <a:srgbClr val="8A93A6"/>
                </a:solidFill>
                <a:effectLst/>
                <a:uLnTx/>
                <a:uFillTx/>
                <a:latin typeface="Calibri" pitchFamily="34" charset="0"/>
                <a:ea typeface="Calibri" pitchFamily="34" charset="-122"/>
                <a:cs typeface="Calibri" pitchFamily="34" charset="-120"/>
              </a:rPr>
              <a:t>PROFESSIONAL SERIES  ·  VOL.07</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858000" y="640080"/>
            <a:ext cx="484632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A93A6"/>
                </a:solidFill>
                <a:effectLst/>
                <a:uLnTx/>
                <a:uFillTx/>
                <a:latin typeface="Consolas" pitchFamily="34" charset="0"/>
                <a:ea typeface="Consolas" pitchFamily="34" charset="-122"/>
                <a:cs typeface="Consolas" pitchFamily="34" charset="-120"/>
              </a:rPr>
              <a:t># COST_CONTROL.PRESENTATION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858000" y="914400"/>
            <a:ext cx="484632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E5C7"/>
                </a:solidFill>
                <a:effectLst/>
                <a:uLnTx/>
                <a:uFillTx/>
                <a:latin typeface="Consolas" pitchFamily="34" charset="0"/>
                <a:ea typeface="Consolas" pitchFamily="34" charset="-122"/>
                <a:cs typeface="Consolas" pitchFamily="34" charset="-120"/>
              </a:rPr>
              <a:t xml:space="preserve">v2026.05  </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822960" y="2103120"/>
            <a:ext cx="10515600" cy="11887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Token Economics</a:t>
            </a:r>
            <a:endParaRPr kumimoji="0" lang="en-US" sz="7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822960" y="3154680"/>
            <a:ext cx="10515600" cy="11887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and Consumption Control</a:t>
            </a:r>
            <a:endParaRPr kumimoji="0" lang="en-US" sz="7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822960" y="4434840"/>
            <a:ext cx="105156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OpenClaw precision-strike strategies in practice · Three lines of defense: compression, routing, circuit-break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822960" y="5486400"/>
            <a:ext cx="164592" cy="73152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1097280" y="5486400"/>
            <a:ext cx="32004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PROMPT COMPRESSION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1097280" y="5806440"/>
            <a:ext cx="32004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Structured extraction · Less redundancy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4572000" y="5486400"/>
            <a:ext cx="164592" cy="731520"/>
          </a:xfrm>
          <a:prstGeom prst="rect">
            <a:avLst/>
          </a:prstGeom>
          <a:solidFill>
            <a:srgbClr val="00E5C7"/>
          </a:solid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4846320" y="5486400"/>
            <a:ext cx="32004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ON-DEMAND ROUTING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4846320" y="5806440"/>
            <a:ext cx="32004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Multi-Endpoint · Token diet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8321040" y="5486400"/>
            <a:ext cx="164592" cy="731520"/>
          </a:xfrm>
          <a:prstGeom prst="rect">
            <a:avLst/>
          </a:prstGeom>
          <a:solidFill>
            <a:srgbClr val="FFC857"/>
          </a:solidFill>
          <a:ln w="12700">
            <a:solidFill>
              <a:srgbClr val="FFC8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8595360" y="5486400"/>
            <a:ext cx="32004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MONITORING &amp; BREAK</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8595360" y="5806440"/>
            <a:ext cx="32004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Threshold alerts · Auto-rollback</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822960" y="6537960"/>
            <a:ext cx="10515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500" normalizeH="0" baseline="0" noProof="0" dirty="0">
                <a:ln>
                  <a:noFill/>
                </a:ln>
                <a:solidFill>
                  <a:srgbClr val="8A93A6"/>
                </a:solidFill>
                <a:effectLst/>
                <a:uLnTx/>
                <a:uFillTx/>
                <a:latin typeface="Consolas" pitchFamily="34" charset="0"/>
                <a:ea typeface="Consolas" pitchFamily="34" charset="-122"/>
                <a:cs typeface="Consolas" pitchFamily="34" charset="-120"/>
              </a:rPr>
              <a:t>Kinfey</a:t>
            </a:r>
            <a:r>
              <a:rPr kumimoji="0" lang="zh-CN" altLang="en-US" sz="900" b="0" i="0" u="none" strike="noStrike" kern="0" cap="none" spc="500" normalizeH="0" baseline="0" noProof="0" dirty="0">
                <a:ln>
                  <a:noFill/>
                </a:ln>
                <a:solidFill>
                  <a:srgbClr val="8A93A6"/>
                </a:solidFill>
                <a:effectLst/>
                <a:uLnTx/>
                <a:uFillTx/>
                <a:latin typeface="Consolas" pitchFamily="34" charset="0"/>
                <a:ea typeface="Consolas" pitchFamily="34" charset="-122"/>
                <a:cs typeface="Consolas" pitchFamily="34" charset="-120"/>
              </a:rPr>
              <a:t xml:space="preserve"> </a:t>
            </a:r>
            <a:r>
              <a:rPr kumimoji="0" lang="en-US" altLang="zh-CN" sz="900" b="0" i="0" u="none" strike="noStrike" kern="0" cap="none" spc="500" normalizeH="0" baseline="0" noProof="0" dirty="0">
                <a:ln>
                  <a:noFill/>
                </a:ln>
                <a:solidFill>
                  <a:srgbClr val="8A93A6"/>
                </a:solidFill>
                <a:effectLst/>
                <a:uLnTx/>
                <a:uFillTx/>
                <a:latin typeface="Consolas" pitchFamily="34" charset="0"/>
                <a:ea typeface="Consolas" pitchFamily="34" charset="-122"/>
                <a:cs typeface="Consolas" pitchFamily="34" charset="-120"/>
              </a:rPr>
              <a:t>Lo</a:t>
            </a:r>
            <a:r>
              <a:rPr kumimoji="0" lang="zh-CN" altLang="en-US" sz="900" b="0" i="0" u="none" strike="noStrike" kern="0" cap="none" spc="500" normalizeH="0" baseline="0" noProof="0" dirty="0">
                <a:ln>
                  <a:noFill/>
                </a:ln>
                <a:solidFill>
                  <a:srgbClr val="8A93A6"/>
                </a:solidFill>
                <a:effectLst/>
                <a:uLnTx/>
                <a:uFillTx/>
                <a:latin typeface="Consolas" pitchFamily="34" charset="0"/>
                <a:ea typeface="Consolas" pitchFamily="34" charset="-122"/>
                <a:cs typeface="Consolas" pitchFamily="34" charset="-120"/>
              </a:rPr>
              <a:t xml:space="preserve"> </a:t>
            </a:r>
            <a:r>
              <a:rPr kumimoji="0" lang="en-US" altLang="zh-CN" sz="900" b="0" i="0" u="none" strike="noStrike" kern="0" cap="none" spc="500" normalizeH="0" baseline="0" noProof="0" dirty="0">
                <a:ln>
                  <a:noFill/>
                </a:ln>
                <a:solidFill>
                  <a:srgbClr val="8A93A6"/>
                </a:solidFill>
                <a:effectLst/>
                <a:uLnTx/>
                <a:uFillTx/>
                <a:latin typeface="Consolas" pitchFamily="34" charset="0"/>
                <a:ea typeface="Consolas" pitchFamily="34" charset="-122"/>
                <a:cs typeface="Consolas" pitchFamily="34" charset="-120"/>
              </a:rPr>
              <a:t>Microsoft</a:t>
            </a:r>
            <a:r>
              <a:rPr kumimoji="0" lang="zh-CN" altLang="en-US" sz="900" b="0" i="0" u="none" strike="noStrike" kern="0" cap="none" spc="500" normalizeH="0" baseline="0" noProof="0" dirty="0">
                <a:ln>
                  <a:noFill/>
                </a:ln>
                <a:solidFill>
                  <a:srgbClr val="8A93A6"/>
                </a:solidFill>
                <a:effectLst/>
                <a:uLnTx/>
                <a:uFillTx/>
                <a:latin typeface="Consolas" pitchFamily="34" charset="0"/>
                <a:ea typeface="Consolas" pitchFamily="34" charset="-122"/>
                <a:cs typeface="Consolas" pitchFamily="34" charset="-120"/>
              </a:rPr>
              <a:t xml:space="preserve"> </a:t>
            </a:r>
            <a:r>
              <a:rPr kumimoji="0" lang="en-US" altLang="zh-CN" sz="900" b="0" i="0" u="none" strike="noStrike" kern="0" cap="none" spc="500" normalizeH="0" baseline="0" noProof="0" dirty="0">
                <a:ln>
                  <a:noFill/>
                </a:ln>
                <a:solidFill>
                  <a:srgbClr val="8A93A6"/>
                </a:solidFill>
                <a:effectLst/>
                <a:uLnTx/>
                <a:uFillTx/>
                <a:latin typeface="Consolas" pitchFamily="34" charset="0"/>
                <a:ea typeface="Consolas" pitchFamily="34" charset="-122"/>
                <a:cs typeface="Consolas" pitchFamily="34" charset="-120"/>
              </a:rPr>
              <a:t>Senior</a:t>
            </a:r>
            <a:r>
              <a:rPr kumimoji="0" lang="zh-CN" altLang="en-US" sz="900" b="0" i="0" u="none" strike="noStrike" kern="0" cap="none" spc="500" normalizeH="0" baseline="0" noProof="0" dirty="0">
                <a:ln>
                  <a:noFill/>
                </a:ln>
                <a:solidFill>
                  <a:srgbClr val="8A93A6"/>
                </a:solidFill>
                <a:effectLst/>
                <a:uLnTx/>
                <a:uFillTx/>
                <a:latin typeface="Consolas" pitchFamily="34" charset="0"/>
                <a:ea typeface="Consolas" pitchFamily="34" charset="-122"/>
                <a:cs typeface="Consolas" pitchFamily="34" charset="-120"/>
              </a:rPr>
              <a:t xml:space="preserve"> </a:t>
            </a:r>
            <a:r>
              <a:rPr kumimoji="0" lang="en-US" altLang="zh-CN" sz="900" b="0" i="0" u="none" strike="noStrike" kern="0" cap="none" spc="500" normalizeH="0" baseline="0" noProof="0" dirty="0">
                <a:ln>
                  <a:noFill/>
                </a:ln>
                <a:solidFill>
                  <a:srgbClr val="8A93A6"/>
                </a:solidFill>
                <a:effectLst/>
                <a:uLnTx/>
                <a:uFillTx/>
                <a:latin typeface="Consolas" pitchFamily="34" charset="0"/>
                <a:ea typeface="Consolas" pitchFamily="34" charset="-122"/>
                <a:cs typeface="Consolas" pitchFamily="34" charset="-120"/>
              </a:rPr>
              <a:t>Cloud</a:t>
            </a:r>
            <a:r>
              <a:rPr kumimoji="0" lang="zh-CN" altLang="en-US" sz="900" b="0" i="0" u="none" strike="noStrike" kern="0" cap="none" spc="500" normalizeH="0" baseline="0" noProof="0" dirty="0">
                <a:ln>
                  <a:noFill/>
                </a:ln>
                <a:solidFill>
                  <a:srgbClr val="8A93A6"/>
                </a:solidFill>
                <a:effectLst/>
                <a:uLnTx/>
                <a:uFillTx/>
                <a:latin typeface="Consolas" pitchFamily="34" charset="0"/>
                <a:ea typeface="Consolas" pitchFamily="34" charset="-122"/>
                <a:cs typeface="Consolas" pitchFamily="34" charset="-120"/>
              </a:rPr>
              <a:t xml:space="preserve"> </a:t>
            </a:r>
            <a:r>
              <a:rPr kumimoji="0" lang="en-US" altLang="zh-CN" sz="900" b="0" i="0" u="none" strike="noStrike" kern="0" cap="none" spc="500" normalizeH="0" baseline="0" noProof="0" dirty="0">
                <a:ln>
                  <a:noFill/>
                </a:ln>
                <a:solidFill>
                  <a:srgbClr val="8A93A6"/>
                </a:solidFill>
                <a:effectLst/>
                <a:uLnTx/>
                <a:uFillTx/>
                <a:latin typeface="Consolas" pitchFamily="34" charset="0"/>
                <a:ea typeface="Consolas" pitchFamily="34" charset="-122"/>
                <a:cs typeface="Consolas" pitchFamily="34" charset="-120"/>
              </a:rPr>
              <a:t>Advocate</a:t>
            </a:r>
            <a:r>
              <a:rPr kumimoji="0" lang="zh-CN" altLang="en-US" sz="900" b="0" i="0" u="none" strike="noStrike" kern="0" cap="none" spc="500" normalizeH="0" baseline="0" noProof="0" dirty="0">
                <a:ln>
                  <a:noFill/>
                </a:ln>
                <a:solidFill>
                  <a:srgbClr val="8A93A6"/>
                </a:solidFill>
                <a:effectLst/>
                <a:uLnTx/>
                <a:uFillTx/>
                <a:latin typeface="Consolas" pitchFamily="34" charset="0"/>
                <a:ea typeface="Consolas" pitchFamily="34" charset="-122"/>
                <a:cs typeface="Consolas" pitchFamily="34" charset="-120"/>
              </a:rPr>
              <a:t xml:space="preserve"> </a:t>
            </a:r>
            <a:r>
              <a:rPr kumimoji="0" lang="en-US" sz="900" b="0" i="0" u="none" strike="noStrike" kern="0" cap="none" spc="500" normalizeH="0" baseline="0" noProof="0" dirty="0">
                <a:ln>
                  <a:noFill/>
                </a:ln>
                <a:solidFill>
                  <a:srgbClr val="8A93A6"/>
                </a:solidFill>
                <a:effectLst/>
                <a:uLnTx/>
                <a:uFillTx/>
                <a:latin typeface="Consolas" pitchFamily="34" charset="0"/>
                <a:ea typeface="Consolas" pitchFamily="34" charset="-122"/>
                <a:cs typeface="Consolas" pitchFamily="34" charset="-120"/>
              </a:rPr>
              <a:t>·   2026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E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411480"/>
            <a:ext cx="502920" cy="36576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57200" y="411480"/>
            <a:ext cx="50292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A0E1F"/>
                </a:solidFill>
                <a:effectLst/>
                <a:uLnTx/>
                <a:uFillTx/>
                <a:latin typeface="Calibri" pitchFamily="34" charset="0"/>
                <a:ea typeface="Calibri" pitchFamily="34" charset="-122"/>
                <a:cs typeface="Calibri" pitchFamily="34" charset="-120"/>
              </a:rPr>
              <a:t>00</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051560" y="411480"/>
            <a:ext cx="7315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FF6B35"/>
                </a:solidFill>
                <a:effectLst/>
                <a:uLnTx/>
                <a:uFillTx/>
                <a:latin typeface="Calibri" pitchFamily="34" charset="0"/>
                <a:ea typeface="Calibri" pitchFamily="34" charset="-122"/>
                <a:cs typeface="Calibri" pitchFamily="34" charset="-120"/>
              </a:rPr>
              <a:t>AGENDA  ·  Agenda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868680"/>
            <a:ext cx="1124712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Today's Agenda</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57200" y="1600200"/>
            <a:ext cx="112471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From background to deployment — four chapters to master Token cost governance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57200" y="2286000"/>
            <a:ext cx="11247120" cy="77724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457200" y="2286000"/>
            <a:ext cx="73152" cy="77724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777240" y="2286000"/>
            <a:ext cx="109728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01</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1920240" y="2377440"/>
            <a:ext cx="64008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Background &amp; Challenges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1920240" y="2697480"/>
            <a:ext cx="82296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Real-world out-of-control Token scenarios and cost structure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10789920" y="2286000"/>
            <a:ext cx="731520" cy="7772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457200" y="3246120"/>
            <a:ext cx="11247120" cy="77724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457200" y="3246120"/>
            <a:ext cx="73152" cy="777240"/>
          </a:xfrm>
          <a:prstGeom prst="rect">
            <a:avLst/>
          </a:prstGeom>
          <a:solidFill>
            <a:srgbClr val="00E5C7"/>
          </a:solid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777240" y="3246120"/>
            <a:ext cx="109728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E5C7"/>
                </a:solidFill>
                <a:effectLst/>
                <a:uLnTx/>
                <a:uFillTx/>
                <a:latin typeface="Calibri" pitchFamily="34" charset="0"/>
                <a:ea typeface="Calibri" pitchFamily="34" charset="-122"/>
                <a:cs typeface="Calibri" pitchFamily="34" charset="-120"/>
              </a:rPr>
              <a:t>02</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1920240" y="3337560"/>
            <a:ext cx="64008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Three Precision-Strike Strategies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1920240" y="3657600"/>
            <a:ext cx="82296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Prompt compression · On-demand routing · Monitor &amp; break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10789920" y="3246120"/>
            <a:ext cx="731520" cy="7772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E5C7"/>
                </a:solidFill>
                <a:effectLst/>
                <a:uLnTx/>
                <a:uFillTx/>
                <a:latin typeface="Calibri" pitchFamily="34" charset="0"/>
                <a:ea typeface="Calibri" pitchFamily="34" charset="-122"/>
                <a:cs typeface="Calibri" pitchFamily="34" charset="-120"/>
              </a:rPr>
              <a:t>→</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457200" y="4206240"/>
            <a:ext cx="11247120" cy="77724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457200" y="4206240"/>
            <a:ext cx="73152" cy="777240"/>
          </a:xfrm>
          <a:prstGeom prst="rect">
            <a:avLst/>
          </a:prstGeom>
          <a:solidFill>
            <a:srgbClr val="FFC857"/>
          </a:solidFill>
          <a:ln w="12700">
            <a:solidFill>
              <a:srgbClr val="FFC8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777240" y="4206240"/>
            <a:ext cx="109728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C857"/>
                </a:solidFill>
                <a:effectLst/>
                <a:uLnTx/>
                <a:uFillTx/>
                <a:latin typeface="Calibri" pitchFamily="34" charset="0"/>
                <a:ea typeface="Calibri" pitchFamily="34" charset="-122"/>
                <a:cs typeface="Calibri" pitchFamily="34" charset="-120"/>
              </a:rPr>
              <a:t>03</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1920240" y="4297680"/>
            <a:ext cx="64008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OpenClaw Engineering Practice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1920240" y="4617720"/>
            <a:ext cx="82296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Code-level Token meter and multi-Endpoint dispatching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10789920" y="4206240"/>
            <a:ext cx="731520" cy="7772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C857"/>
                </a:solidFill>
                <a:effectLst/>
                <a:uLnTx/>
                <a:uFillTx/>
                <a:latin typeface="Calibri" pitchFamily="34" charset="0"/>
                <a:ea typeface="Calibri" pitchFamily="34" charset="-122"/>
                <a:cs typeface="Calibri" pitchFamily="34" charset="-120"/>
              </a:rPr>
              <a:t>→</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457200" y="5166360"/>
            <a:ext cx="11247120" cy="77724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p:cNvSpPr/>
          <p:nvPr/>
        </p:nvSpPr>
        <p:spPr>
          <a:xfrm>
            <a:off x="457200" y="5166360"/>
            <a:ext cx="73152" cy="77724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p:nvPr/>
        </p:nvSpPr>
        <p:spPr>
          <a:xfrm>
            <a:off x="777240" y="5166360"/>
            <a:ext cx="109728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04</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1920240" y="5257800"/>
            <a:ext cx="64008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Results Review &amp; Action Checklist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1920240" y="5577840"/>
            <a:ext cx="82296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ROI data and 5 key steps for team adoption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10789920" y="5166360"/>
            <a:ext cx="731520" cy="7772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457200" y="6537960"/>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8A93A6"/>
                </a:solidFill>
                <a:effectLst/>
                <a:uLnTx/>
                <a:uFillTx/>
                <a:latin typeface="Calibri" pitchFamily="34" charset="0"/>
                <a:ea typeface="Calibri" pitchFamily="34" charset="-122"/>
                <a:cs typeface="Calibri" pitchFamily="34" charset="-120"/>
              </a:rPr>
              <a:t>OpenClaw  ·  Token Economics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10789920" y="6537960"/>
            <a:ext cx="9144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A93A6"/>
                </a:solidFill>
                <a:effectLst/>
                <a:uLnTx/>
                <a:uFillTx/>
                <a:latin typeface="Consolas" pitchFamily="34" charset="0"/>
                <a:ea typeface="Consolas" pitchFamily="34" charset="-122"/>
                <a:cs typeface="Consolas" pitchFamily="34" charset="-120"/>
              </a:rPr>
              <a:t>02 / 20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E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411480"/>
            <a:ext cx="502920" cy="36576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57200" y="411480"/>
            <a:ext cx="50292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A0E1F"/>
                </a:solidFill>
                <a:effectLst/>
                <a:uLnTx/>
                <a:uFillTx/>
                <a:latin typeface="Calibri" pitchFamily="34" charset="0"/>
                <a:ea typeface="Calibri" pitchFamily="34" charset="-122"/>
                <a:cs typeface="Calibri" pitchFamily="34" charset="-120"/>
              </a:rPr>
              <a:t>01</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051560" y="411480"/>
            <a:ext cx="7315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FF6B35"/>
                </a:solidFill>
                <a:effectLst/>
                <a:uLnTx/>
                <a:uFillTx/>
                <a:latin typeface="Calibri" pitchFamily="34" charset="0"/>
                <a:ea typeface="Calibri" pitchFamily="34" charset="-122"/>
                <a:cs typeface="Calibri" pitchFamily="34" charset="-120"/>
              </a:rPr>
              <a:t>BACKGROUND  ·  Background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868680"/>
            <a:ext cx="1124712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Why are Tokens the new "utilities"?</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57200" y="1600200"/>
            <a:ext cx="112471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In the LLM era, every inference call is a precisely metered charge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57200" y="2377440"/>
            <a:ext cx="3657600" cy="329184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457200" y="2377440"/>
            <a:ext cx="3657600" cy="109728"/>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640080" y="2697480"/>
            <a:ext cx="3291840" cy="1463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8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73%</a:t>
            </a:r>
            <a:endParaRPr kumimoji="0" lang="en-US" sz="8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731520" y="4297680"/>
            <a:ext cx="32004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project cost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731520" y="4709160"/>
            <a:ext cx="320040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Share of total AI app cost from Token call fees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4343400" y="2377440"/>
            <a:ext cx="3657600" cy="329184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4343400" y="2377440"/>
            <a:ext cx="3657600" cy="109728"/>
          </a:xfrm>
          <a:prstGeom prst="rect">
            <a:avLst/>
          </a:prstGeom>
          <a:solidFill>
            <a:srgbClr val="00E5C7"/>
          </a:solid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4526280" y="2697480"/>
            <a:ext cx="3291840" cy="1463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800" b="1" i="0" u="none" strike="noStrike" kern="1200" cap="none" spc="0" normalizeH="0" baseline="0" noProof="0" dirty="0">
                <a:ln>
                  <a:noFill/>
                </a:ln>
                <a:solidFill>
                  <a:srgbClr val="00E5C7"/>
                </a:solidFill>
                <a:effectLst/>
                <a:uLnTx/>
                <a:uFillTx/>
                <a:latin typeface="Calibri" pitchFamily="34" charset="0"/>
                <a:ea typeface="Calibri" pitchFamily="34" charset="-122"/>
                <a:cs typeface="Calibri" pitchFamily="34" charset="-120"/>
              </a:rPr>
              <a:t>5×</a:t>
            </a:r>
            <a:endParaRPr kumimoji="0" lang="en-US" sz="8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4617720" y="4297680"/>
            <a:ext cx="32004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Call volume growth</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4617720" y="4709160"/>
            <a:ext cx="320040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Doubling rate of enterprise LLM API calls over the last 12 months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8229600" y="2377440"/>
            <a:ext cx="3657600" cy="329184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8229600" y="2377440"/>
            <a:ext cx="3657600" cy="109728"/>
          </a:xfrm>
          <a:prstGeom prst="rect">
            <a:avLst/>
          </a:prstGeom>
          <a:solidFill>
            <a:srgbClr val="FFC857"/>
          </a:solidFill>
          <a:ln w="12700">
            <a:solidFill>
              <a:srgbClr val="FFC8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8412480" y="2697480"/>
            <a:ext cx="3291840" cy="1463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800" b="1" i="0" u="none" strike="noStrike" kern="1200" cap="none" spc="0" normalizeH="0" baseline="0" noProof="0" dirty="0">
                <a:ln>
                  <a:noFill/>
                </a:ln>
                <a:solidFill>
                  <a:srgbClr val="FFC857"/>
                </a:solidFill>
                <a:effectLst/>
                <a:uLnTx/>
                <a:uFillTx/>
                <a:latin typeface="Calibri" pitchFamily="34" charset="0"/>
                <a:ea typeface="Calibri" pitchFamily="34" charset="-122"/>
                <a:cs typeface="Calibri" pitchFamily="34" charset="-120"/>
              </a:rPr>
              <a:t>42%</a:t>
            </a:r>
            <a:endParaRPr kumimoji="0" lang="en-US" sz="8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8503920" y="4297680"/>
            <a:ext cx="32004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Optimizable redundancy</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8503920" y="4709160"/>
            <a:ext cx="320040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Share of invalid or duplicated context in a typical Prompt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457200" y="5943600"/>
            <a:ext cx="1124712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8A93A6"/>
                </a:solidFill>
                <a:effectLst/>
                <a:uLnTx/>
                <a:uFillTx/>
                <a:latin typeface="Consolas" pitchFamily="34" charset="0"/>
                <a:ea typeface="Consolas" pitchFamily="34" charset="-122"/>
                <a:cs typeface="Consolas" pitchFamily="34" charset="-120"/>
              </a:rPr>
              <a:t>Source: OpenClaw internal baseline + industry average (n=120 projects)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457200" y="6537960"/>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8A93A6"/>
                </a:solidFill>
                <a:effectLst/>
                <a:uLnTx/>
                <a:uFillTx/>
                <a:latin typeface="Calibri" pitchFamily="34" charset="0"/>
                <a:ea typeface="Calibri" pitchFamily="34" charset="-122"/>
                <a:cs typeface="Calibri" pitchFamily="34" charset="-120"/>
              </a:rPr>
              <a:t>OpenClaw  ·  Token Economics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10789920" y="6537960"/>
            <a:ext cx="9144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A93A6"/>
                </a:solidFill>
                <a:effectLst/>
                <a:uLnTx/>
                <a:uFillTx/>
                <a:latin typeface="Consolas" pitchFamily="34" charset="0"/>
                <a:ea typeface="Consolas" pitchFamily="34" charset="-122"/>
                <a:cs typeface="Consolas" pitchFamily="34" charset="-120"/>
              </a:rPr>
              <a:t>03 / 20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E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411480"/>
            <a:ext cx="502920" cy="36576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57200" y="411480"/>
            <a:ext cx="50292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A0E1F"/>
                </a:solidFill>
                <a:effectLst/>
                <a:uLnTx/>
                <a:uFillTx/>
                <a:latin typeface="Calibri" pitchFamily="34" charset="0"/>
                <a:ea typeface="Calibri" pitchFamily="34" charset="-122"/>
                <a:cs typeface="Calibri" pitchFamily="34" charset="-120"/>
              </a:rPr>
              <a:t>01</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051560" y="411480"/>
            <a:ext cx="7315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FF6B35"/>
                </a:solidFill>
                <a:effectLst/>
                <a:uLnTx/>
                <a:uFillTx/>
                <a:latin typeface="Calibri" pitchFamily="34" charset="0"/>
                <a:ea typeface="Calibri" pitchFamily="34" charset="-122"/>
                <a:cs typeface="Calibri" pitchFamily="34" charset="-120"/>
              </a:rPr>
              <a:t>PAIN POINTS  ·  Pain Points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868680"/>
            <a:ext cx="1124712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Three Typical Out-of-Control Scenarios</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57200" y="1600200"/>
            <a:ext cx="112471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The three most common Token bill assassins at quarterly reconciliation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57200" y="2377440"/>
            <a:ext cx="3657600" cy="356616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822960" y="2606040"/>
            <a:ext cx="640080" cy="640080"/>
          </a:xfrm>
          <a:prstGeom prst="ellipse">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822960" y="2606040"/>
            <a:ext cx="64008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A0E1F"/>
                </a:solidFill>
                <a:effectLst/>
                <a:uLnTx/>
                <a:uFillTx/>
                <a:latin typeface="Calibri" pitchFamily="34" charset="0"/>
                <a:ea typeface="Calibri" pitchFamily="34" charset="-122"/>
                <a:cs typeface="Calibri" pitchFamily="34" charset="-120"/>
              </a:rPr>
              <a:t>▲</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731520" y="3383280"/>
            <a:ext cx="3200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300" normalizeH="0" baseline="0" noProof="0" dirty="0">
                <a:ln>
                  <a:noFill/>
                </a:ln>
                <a:solidFill>
                  <a:srgbClr val="00E5C7"/>
                </a:solidFill>
                <a:effectLst/>
                <a:uLnTx/>
                <a:uFillTx/>
                <a:latin typeface="Consolas" pitchFamily="34" charset="0"/>
                <a:ea typeface="Consolas" pitchFamily="34" charset="-122"/>
                <a:cs typeface="Consolas" pitchFamily="34" charset="-120"/>
              </a:rPr>
              <a:t>PROMPT BLOAT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731520" y="3657600"/>
            <a:ext cx="32004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Context Bloat</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731520" y="4206240"/>
            <a:ext cx="3200400" cy="1554480"/>
          </a:xfrm>
          <a:prstGeom prst="rect">
            <a:avLst/>
          </a:prstGeom>
          <a:noFill/>
          <a:ln/>
        </p:spPr>
        <p:txBody>
          <a:bodyPr wrap="square"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Users stuff entire education backgrounds and full PDFs into every Prompt — single requests easily exceed 8K Tokens.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4343400" y="2377440"/>
            <a:ext cx="3657600" cy="356616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4709160" y="2606040"/>
            <a:ext cx="640080" cy="640080"/>
          </a:xfrm>
          <a:prstGeom prst="ellipse">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4709160" y="2606040"/>
            <a:ext cx="64008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A0E1F"/>
                </a:solidFill>
                <a:effectLst/>
                <a:uLnTx/>
                <a:uFillTx/>
                <a:latin typeface="Calibri" pitchFamily="34" charset="0"/>
                <a:ea typeface="Calibri" pitchFamily="34" charset="-122"/>
                <a:cs typeface="Calibri" pitchFamily="34" charset="-120"/>
              </a:rPr>
              <a:t>●</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4617720" y="3383280"/>
            <a:ext cx="3200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300" normalizeH="0" baseline="0" noProof="0" dirty="0">
                <a:ln>
                  <a:noFill/>
                </a:ln>
                <a:solidFill>
                  <a:srgbClr val="00E5C7"/>
                </a:solidFill>
                <a:effectLst/>
                <a:uLnTx/>
                <a:uFillTx/>
                <a:latin typeface="Consolas" pitchFamily="34" charset="0"/>
                <a:ea typeface="Consolas" pitchFamily="34" charset="-122"/>
                <a:cs typeface="Consolas" pitchFamily="34" charset="-120"/>
              </a:rPr>
              <a:t>OVER-MODEL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4617720" y="3657600"/>
            <a:ext cx="32004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Model Mismatch</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4617720" y="4206240"/>
            <a:ext cx="3200400" cy="1554480"/>
          </a:xfrm>
          <a:prstGeom prst="rect">
            <a:avLst/>
          </a:prstGeom>
          <a:noFill/>
          <a:ln/>
        </p:spPr>
        <p:txBody>
          <a:bodyPr wrap="square"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Even simple if-else logic calls GPT-4-class models — 30× the price of equivalent small models.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8229600" y="2377440"/>
            <a:ext cx="3657600" cy="356616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8595360" y="2606040"/>
            <a:ext cx="640080" cy="640080"/>
          </a:xfrm>
          <a:prstGeom prst="ellipse">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8595360" y="2606040"/>
            <a:ext cx="64008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A0E1F"/>
                </a:solidFill>
                <a:effectLst/>
                <a:uLnTx/>
                <a:uFillTx/>
                <a:latin typeface="Calibri" pitchFamily="34" charset="0"/>
                <a:ea typeface="Calibri" pitchFamily="34" charset="-122"/>
                <a:cs typeface="Calibri" pitchFamily="34" charset="-120"/>
              </a:rPr>
              <a:t>■</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8503920" y="3383280"/>
            <a:ext cx="3200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300" normalizeH="0" baseline="0" noProof="0" dirty="0">
                <a:ln>
                  <a:noFill/>
                </a:ln>
                <a:solidFill>
                  <a:srgbClr val="00E5C7"/>
                </a:solidFill>
                <a:effectLst/>
                <a:uLnTx/>
                <a:uFillTx/>
                <a:latin typeface="Consolas" pitchFamily="34" charset="0"/>
                <a:ea typeface="Consolas" pitchFamily="34" charset="-122"/>
                <a:cs typeface="Consolas" pitchFamily="34" charset="-120"/>
              </a:rPr>
              <a:t>RUNAWAY LOOP</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8503920" y="3657600"/>
            <a:ext cx="32004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Failure Retry</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8503920" y="4206240"/>
            <a:ext cx="3200400" cy="1554480"/>
          </a:xfrm>
          <a:prstGeom prst="rect">
            <a:avLst/>
          </a:prstGeom>
          <a:noFill/>
          <a:ln/>
        </p:spPr>
        <p:txBody>
          <a:bodyPr wrap="square"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Exception branches retry infinitely without circuit-breakers — one bug burns a full day's budget in 30 minutes.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457200" y="6537960"/>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8A93A6"/>
                </a:solidFill>
                <a:effectLst/>
                <a:uLnTx/>
                <a:uFillTx/>
                <a:latin typeface="Calibri" pitchFamily="34" charset="0"/>
                <a:ea typeface="Calibri" pitchFamily="34" charset="-122"/>
                <a:cs typeface="Calibri" pitchFamily="34" charset="-120"/>
              </a:rPr>
              <a:t>OpenClaw  ·  Token Economics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10789920" y="6537960"/>
            <a:ext cx="9144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A93A6"/>
                </a:solidFill>
                <a:effectLst/>
                <a:uLnTx/>
                <a:uFillTx/>
                <a:latin typeface="Consolas" pitchFamily="34" charset="0"/>
                <a:ea typeface="Consolas" pitchFamily="34" charset="-122"/>
                <a:cs typeface="Consolas" pitchFamily="34" charset="-120"/>
              </a:rPr>
              <a:t>04 / 20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411480"/>
            <a:ext cx="502920" cy="365760"/>
          </a:xfrm>
          <a:prstGeom prst="rect">
            <a:avLst/>
          </a:prstGeom>
          <a:solidFill>
            <a:srgbClr val="D9501F"/>
          </a:solidFill>
          <a:ln w="12700">
            <a:solidFill>
              <a:srgbClr val="D9501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57200" y="411480"/>
            <a:ext cx="50292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A0E1F"/>
                </a:solidFill>
                <a:effectLst/>
                <a:uLnTx/>
                <a:uFillTx/>
                <a:latin typeface="Calibri" pitchFamily="34" charset="0"/>
                <a:ea typeface="Calibri" pitchFamily="34" charset="-122"/>
                <a:cs typeface="Calibri" pitchFamily="34" charset="-120"/>
              </a:rPr>
              <a:t>01</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051560" y="411480"/>
            <a:ext cx="7315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D9501F"/>
                </a:solidFill>
                <a:effectLst/>
                <a:uLnTx/>
                <a:uFillTx/>
                <a:latin typeface="Calibri" pitchFamily="34" charset="0"/>
                <a:ea typeface="Calibri" pitchFamily="34" charset="-122"/>
                <a:cs typeface="Calibri" pitchFamily="34" charset="-120"/>
              </a:rPr>
              <a:t>COST STRUCTURE  ·  Cost Breakdown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868680"/>
            <a:ext cx="1124712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How a Token bill is calculated</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57200" y="1600200"/>
            <a:ext cx="112471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6478"/>
                </a:solidFill>
                <a:effectLst/>
                <a:uLnTx/>
                <a:uFillTx/>
                <a:latin typeface="Calibri" pitchFamily="34" charset="0"/>
                <a:ea typeface="Calibri" pitchFamily="34" charset="-122"/>
                <a:cs typeface="Calibri" pitchFamily="34" charset="-120"/>
              </a:rPr>
              <a:t>Decompose one agent call to see where every cent goes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2286000"/>
            <a:ext cx="54864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200" normalizeH="0" baseline="0" noProof="0" dirty="0">
                <a:ln>
                  <a:noFill/>
                </a:ln>
                <a:solidFill>
                  <a:srgbClr val="1A2138"/>
                </a:solidFill>
                <a:effectLst/>
                <a:uLnTx/>
                <a:uFillTx/>
                <a:latin typeface="Calibri" pitchFamily="34" charset="0"/>
                <a:ea typeface="Calibri" pitchFamily="34" charset="-122"/>
                <a:cs typeface="Calibri" pitchFamily="34" charset="-120"/>
              </a:rPr>
              <a:t>Typical call cost composition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2743200"/>
            <a:ext cx="4114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Context / Prompt input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0" y="2743200"/>
            <a:ext cx="73152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138"/>
                </a:solidFill>
                <a:effectLst/>
                <a:uLnTx/>
                <a:uFillTx/>
                <a:latin typeface="Consolas" pitchFamily="34" charset="0"/>
                <a:ea typeface="Consolas" pitchFamily="34" charset="-122"/>
                <a:cs typeface="Consolas" pitchFamily="34" charset="-120"/>
              </a:rPr>
              <a:t>58%</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57200" y="3035808"/>
            <a:ext cx="4846320" cy="164592"/>
          </a:xfrm>
          <a:prstGeom prst="rect">
            <a:avLst/>
          </a:prstGeom>
          <a:solidFill>
            <a:srgbClr val="E1E5EE"/>
          </a:solidFill>
          <a:ln w="12700">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457200" y="3035808"/>
            <a:ext cx="2810866" cy="16459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457200" y="3383280"/>
            <a:ext cx="4114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Model inference output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4572000" y="3383280"/>
            <a:ext cx="73152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138"/>
                </a:solidFill>
                <a:effectLst/>
                <a:uLnTx/>
                <a:uFillTx/>
                <a:latin typeface="Consolas" pitchFamily="34" charset="0"/>
                <a:ea typeface="Consolas" pitchFamily="34" charset="-122"/>
                <a:cs typeface="Consolas" pitchFamily="34" charset="-120"/>
              </a:rPr>
              <a:t>24%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457200" y="3675888"/>
            <a:ext cx="4846320" cy="164592"/>
          </a:xfrm>
          <a:prstGeom prst="rect">
            <a:avLst/>
          </a:prstGeom>
          <a:solidFill>
            <a:srgbClr val="E1E5EE"/>
          </a:solidFill>
          <a:ln w="12700">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457200" y="3675888"/>
            <a:ext cx="1163117" cy="164592"/>
          </a:xfrm>
          <a:prstGeom prst="rect">
            <a:avLst/>
          </a:prstGeom>
          <a:solidFill>
            <a:srgbClr val="00E5C7"/>
          </a:solid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457200" y="4023360"/>
            <a:ext cx="4114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Retry &amp; failed requests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4572000" y="4023360"/>
            <a:ext cx="73152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138"/>
                </a:solidFill>
                <a:effectLst/>
                <a:uLnTx/>
                <a:uFillTx/>
                <a:latin typeface="Consolas" pitchFamily="34" charset="0"/>
                <a:ea typeface="Consolas" pitchFamily="34" charset="-122"/>
                <a:cs typeface="Consolas" pitchFamily="34" charset="-120"/>
              </a:rPr>
              <a:t>12%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4315968"/>
            <a:ext cx="4846320" cy="164592"/>
          </a:xfrm>
          <a:prstGeom prst="rect">
            <a:avLst/>
          </a:prstGeom>
          <a:solidFill>
            <a:srgbClr val="E1E5EE"/>
          </a:solidFill>
          <a:ln w="12700">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457200" y="4315968"/>
            <a:ext cx="581558" cy="164592"/>
          </a:xfrm>
          <a:prstGeom prst="rect">
            <a:avLst/>
          </a:prstGeom>
          <a:solidFill>
            <a:srgbClr val="FF4757"/>
          </a:solidFill>
          <a:ln w="12700">
            <a:solidFill>
              <a:srgbClr val="FF47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4663440"/>
            <a:ext cx="4114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Embedding / Vectorization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4572000" y="4663440"/>
            <a:ext cx="73152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138"/>
                </a:solidFill>
                <a:effectLst/>
                <a:uLnTx/>
                <a:uFillTx/>
                <a:latin typeface="Consolas" pitchFamily="34" charset="0"/>
                <a:ea typeface="Consolas" pitchFamily="34" charset="-122"/>
                <a:cs typeface="Consolas" pitchFamily="34" charset="-120"/>
              </a:rPr>
              <a:t>6%</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457200" y="4956048"/>
            <a:ext cx="4846320" cy="164592"/>
          </a:xfrm>
          <a:prstGeom prst="rect">
            <a:avLst/>
          </a:prstGeom>
          <a:solidFill>
            <a:srgbClr val="E1E5EE"/>
          </a:solidFill>
          <a:ln w="12700">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457200" y="4956048"/>
            <a:ext cx="290779" cy="164592"/>
          </a:xfrm>
          <a:prstGeom prst="rect">
            <a:avLst/>
          </a:prstGeom>
          <a:solidFill>
            <a:srgbClr val="FFC857"/>
          </a:solidFill>
          <a:ln w="12700">
            <a:solidFill>
              <a:srgbClr val="FFC8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6217920" y="2286000"/>
            <a:ext cx="5486400" cy="3657600"/>
          </a:xfrm>
          <a:prstGeom prst="rect">
            <a:avLst/>
          </a:prstGeom>
          <a:solidFill>
            <a:srgbClr val="0A0E1F"/>
          </a:solidFill>
          <a:ln w="12700">
            <a:solidFill>
              <a:srgbClr val="0A0E1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p:cNvSpPr/>
          <p:nvPr/>
        </p:nvSpPr>
        <p:spPr>
          <a:xfrm>
            <a:off x="6217920" y="2286000"/>
            <a:ext cx="109728" cy="365760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6446520" y="2468880"/>
            <a:ext cx="50292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FF6B35"/>
                </a:solidFill>
                <a:effectLst/>
                <a:uLnTx/>
                <a:uFillTx/>
                <a:latin typeface="Consolas" pitchFamily="34" charset="0"/>
                <a:ea typeface="Consolas" pitchFamily="34" charset="-122"/>
                <a:cs typeface="Consolas" pitchFamily="34" charset="-120"/>
              </a:rPr>
              <a:t>INSIGHT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6446520" y="2743200"/>
            <a:ext cx="502920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$ 0.47</a:t>
            </a:r>
            <a:endParaRPr kumimoji="0" lang="en-US" sz="5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6446520" y="3703320"/>
            <a:ext cx="5029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Average cost per agent task</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6446520" y="4206240"/>
            <a:ext cx="5029200" cy="0"/>
          </a:xfrm>
          <a:prstGeom prst="line">
            <a:avLst/>
          </a:prstGeom>
          <a:noFill/>
          <a:ln w="1270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6446520" y="4389120"/>
            <a:ext cx="5029200" cy="1371600"/>
          </a:xfrm>
          <a:prstGeom prst="rect">
            <a:avLst/>
          </a:prstGeom>
          <a:noFill/>
          <a:ln/>
        </p:spPr>
        <p:txBody>
          <a:bodyPr wrap="square"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~70% is compressible input context and wasted retries — the attack surface for OpenClaw's three strategies.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457200" y="6537960"/>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5B6478"/>
                </a:solidFill>
                <a:effectLst/>
                <a:uLnTx/>
                <a:uFillTx/>
                <a:latin typeface="Calibri" pitchFamily="34" charset="0"/>
                <a:ea typeface="Calibri" pitchFamily="34" charset="-122"/>
                <a:cs typeface="Calibri" pitchFamily="34" charset="-120"/>
              </a:rPr>
              <a:t>OpenClaw  ·  Token Economics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10789920" y="6537960"/>
            <a:ext cx="9144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B6478"/>
                </a:solidFill>
                <a:effectLst/>
                <a:uLnTx/>
                <a:uFillTx/>
                <a:latin typeface="Consolas" pitchFamily="34" charset="0"/>
                <a:ea typeface="Consolas" pitchFamily="34" charset="-122"/>
                <a:cs typeface="Consolas" pitchFamily="34" charset="-120"/>
              </a:rPr>
              <a:t>05 / 20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E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411480"/>
            <a:ext cx="502920" cy="36576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57200" y="411480"/>
            <a:ext cx="50292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A0E1F"/>
                </a:solidFill>
                <a:effectLst/>
                <a:uLnTx/>
                <a:uFillTx/>
                <a:latin typeface="Calibri" pitchFamily="34" charset="0"/>
                <a:ea typeface="Calibri" pitchFamily="34" charset="-122"/>
                <a:cs typeface="Calibri" pitchFamily="34" charset="-120"/>
              </a:rPr>
              <a:t>02</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051560" y="411480"/>
            <a:ext cx="7315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FF6B35"/>
                </a:solidFill>
                <a:effectLst/>
                <a:uLnTx/>
                <a:uFillTx/>
                <a:latin typeface="Calibri" pitchFamily="34" charset="0"/>
                <a:ea typeface="Calibri" pitchFamily="34" charset="-122"/>
                <a:cs typeface="Calibri" pitchFamily="34" charset="-120"/>
              </a:rPr>
              <a:t>METHODOLOGY  ·  Methodology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868680"/>
            <a:ext cx="1124712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OpenClaw's Precision-Strike Philosophy</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57200" y="1600200"/>
            <a:ext cx="112471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No crude rate-limiting — instead, build observable, intervenable, rollback-able guardrails at every layer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57200" y="2468880"/>
            <a:ext cx="11247120" cy="1645920"/>
          </a:xfrm>
          <a:prstGeom prst="rect">
            <a:avLst/>
          </a:prstGeom>
          <a:solidFill>
            <a:srgbClr val="1B2240"/>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640080" y="2377440"/>
            <a:ext cx="73152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a:t>
            </a:r>
            <a:endParaRPr kumimoji="0" lang="en-US" sz="8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1463040" y="2697480"/>
            <a:ext cx="1005840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Tokens aren't a limit — they're a budget. Treat every call as a conscious expense,</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1463040" y="3246120"/>
            <a:ext cx="1005840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00E5C7"/>
                </a:solidFill>
                <a:effectLst/>
                <a:uLnTx/>
                <a:uFillTx/>
                <a:latin typeface="Calibri" pitchFamily="34" charset="0"/>
                <a:ea typeface="Calibri" pitchFamily="34" charset="-122"/>
                <a:cs typeface="Calibri" pitchFamily="34" charset="-120"/>
              </a:rPr>
              <a:t>not a free default operation.</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1463040" y="3794760"/>
            <a:ext cx="10058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300" normalizeH="0" baseline="0" noProof="0" dirty="0">
                <a:ln>
                  <a:noFill/>
                </a:ln>
                <a:solidFill>
                  <a:srgbClr val="8A93A6"/>
                </a:solidFill>
                <a:effectLst/>
                <a:uLnTx/>
                <a:uFillTx/>
                <a:latin typeface="Consolas" pitchFamily="34" charset="0"/>
                <a:ea typeface="Consolas" pitchFamily="34" charset="-122"/>
                <a:cs typeface="Consolas" pitchFamily="34" charset="-120"/>
              </a:rPr>
              <a:t>— OpenClaw  Engineering  Principles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457200" y="4526280"/>
            <a:ext cx="3657600" cy="141732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731520" y="4617720"/>
            <a:ext cx="9144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200" normalizeH="0" baseline="0" noProof="0" dirty="0">
                <a:ln>
                  <a:noFill/>
                </a:ln>
                <a:solidFill>
                  <a:srgbClr val="00E5C7"/>
                </a:solidFill>
                <a:effectLst/>
                <a:uLnTx/>
                <a:uFillTx/>
                <a:latin typeface="Consolas" pitchFamily="34" charset="0"/>
                <a:ea typeface="Consolas" pitchFamily="34" charset="-122"/>
                <a:cs typeface="Consolas" pitchFamily="34" charset="-120"/>
              </a:rPr>
              <a:t>01</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731520" y="4937760"/>
            <a:ext cx="32004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Observable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731520" y="5349240"/>
            <a:ext cx="320040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Every Token must be metered and traceable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4343400" y="4526280"/>
            <a:ext cx="3657600" cy="141732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4617720" y="4617720"/>
            <a:ext cx="9144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200" normalizeH="0" baseline="0" noProof="0" dirty="0">
                <a:ln>
                  <a:noFill/>
                </a:ln>
                <a:solidFill>
                  <a:srgbClr val="00E5C7"/>
                </a:solidFill>
                <a:effectLst/>
                <a:uLnTx/>
                <a:uFillTx/>
                <a:latin typeface="Consolas" pitchFamily="34" charset="0"/>
                <a:ea typeface="Consolas" pitchFamily="34" charset="-122"/>
                <a:cs typeface="Consolas" pitchFamily="34" charset="-120"/>
              </a:rPr>
              <a:t>02</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4617720" y="4937760"/>
            <a:ext cx="32004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Intervenable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4617720" y="5349240"/>
            <a:ext cx="320040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Inject strategy and compression logic before and after each call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8229600" y="4526280"/>
            <a:ext cx="3657600" cy="141732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8503920" y="4617720"/>
            <a:ext cx="9144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200" normalizeH="0" baseline="0" noProof="0" dirty="0">
                <a:ln>
                  <a:noFill/>
                </a:ln>
                <a:solidFill>
                  <a:srgbClr val="00E5C7"/>
                </a:solidFill>
                <a:effectLst/>
                <a:uLnTx/>
                <a:uFillTx/>
                <a:latin typeface="Consolas" pitchFamily="34" charset="0"/>
                <a:ea typeface="Consolas" pitchFamily="34" charset="-122"/>
                <a:cs typeface="Consolas" pitchFamily="34" charset="-120"/>
              </a:rPr>
              <a:t>03</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8503920" y="4937760"/>
            <a:ext cx="32004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Rollback-able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8503920" y="5349240"/>
            <a:ext cx="320040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Auto-break on per-task overrun — no downstream contamination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457200" y="6537960"/>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8A93A6"/>
                </a:solidFill>
                <a:effectLst/>
                <a:uLnTx/>
                <a:uFillTx/>
                <a:latin typeface="Calibri" pitchFamily="34" charset="0"/>
                <a:ea typeface="Calibri" pitchFamily="34" charset="-122"/>
                <a:cs typeface="Calibri" pitchFamily="34" charset="-120"/>
              </a:rPr>
              <a:t>OpenClaw  ·  Token Economics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10789920" y="6537960"/>
            <a:ext cx="9144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A93A6"/>
                </a:solidFill>
                <a:effectLst/>
                <a:uLnTx/>
                <a:uFillTx/>
                <a:latin typeface="Consolas" pitchFamily="34" charset="0"/>
                <a:ea typeface="Consolas" pitchFamily="34" charset="-122"/>
                <a:cs typeface="Consolas" pitchFamily="34" charset="-120"/>
              </a:rPr>
              <a:t>06 / 20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E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411480"/>
            <a:ext cx="502920" cy="36576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57200" y="411480"/>
            <a:ext cx="50292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A0E1F"/>
                </a:solidFill>
                <a:effectLst/>
                <a:uLnTx/>
                <a:uFillTx/>
                <a:latin typeface="Calibri" pitchFamily="34" charset="0"/>
                <a:ea typeface="Calibri" pitchFamily="34" charset="-122"/>
                <a:cs typeface="Calibri" pitchFamily="34" charset="-120"/>
              </a:rPr>
              <a:t>02</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051560" y="411480"/>
            <a:ext cx="7315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FF6B35"/>
                </a:solidFill>
                <a:effectLst/>
                <a:uLnTx/>
                <a:uFillTx/>
                <a:latin typeface="Calibri" pitchFamily="34" charset="0"/>
                <a:ea typeface="Calibri" pitchFamily="34" charset="-122"/>
                <a:cs typeface="Calibri" pitchFamily="34" charset="-120"/>
              </a:rPr>
              <a:t>STRATEGY OVERVIEW  ·  Strategy Overview</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868680"/>
            <a:ext cx="1124712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Three Precision-Strike Strategies</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57200" y="1600200"/>
            <a:ext cx="112471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From input to dispatch to runtime — build a multi-layered Token defense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57200" y="2377440"/>
            <a:ext cx="3657600" cy="374904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457200" y="2377440"/>
            <a:ext cx="3657600" cy="45720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377440"/>
            <a:ext cx="365760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0A0E1F"/>
                </a:solidFill>
                <a:effectLst/>
                <a:uLnTx/>
                <a:uFillTx/>
                <a:latin typeface="Consolas" pitchFamily="34" charset="0"/>
                <a:ea typeface="Consolas" pitchFamily="34" charset="-122"/>
                <a:cs typeface="Consolas" pitchFamily="34" charset="-120"/>
              </a:rPr>
              <a:t>INPUT  LAYER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731520" y="2971800"/>
            <a:ext cx="3200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300" normalizeH="0" baseline="0" noProof="0" dirty="0">
                <a:ln>
                  <a:noFill/>
                </a:ln>
                <a:solidFill>
                  <a:srgbClr val="FF6B35"/>
                </a:solidFill>
                <a:effectLst/>
                <a:uLnTx/>
                <a:uFillTx/>
                <a:latin typeface="Consolas" pitchFamily="34" charset="0"/>
                <a:ea typeface="Consolas" pitchFamily="34" charset="-122"/>
                <a:cs typeface="Consolas" pitchFamily="34" charset="-120"/>
              </a:rPr>
              <a:t>STRATEGY 01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731520" y="3246120"/>
            <a:ext cx="320040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Prompt Compression</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731520" y="3749040"/>
            <a:ext cx="32004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Compression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731520" y="4160520"/>
            <a:ext cx="3108960" cy="0"/>
          </a:xfrm>
          <a:prstGeom prst="line">
            <a:avLst/>
          </a:prstGeom>
          <a:noFill/>
          <a:ln w="1270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731520" y="4343400"/>
            <a:ext cx="3200400" cy="1645920"/>
          </a:xfrm>
          <a:prstGeom prst="rect">
            <a:avLst/>
          </a:prstGeom>
          <a:noFill/>
          <a:ln/>
        </p:spPr>
        <p:txBody>
          <a:bodyPr wrap="square"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Use Copilot to structure-extract verbose background materials, cutting context redundancy.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4343400" y="2377440"/>
            <a:ext cx="3657600" cy="374904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4343400" y="2377440"/>
            <a:ext cx="3657600" cy="457200"/>
          </a:xfrm>
          <a:prstGeom prst="rect">
            <a:avLst/>
          </a:prstGeom>
          <a:solidFill>
            <a:srgbClr val="00E5C7"/>
          </a:solid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4343400" y="2377440"/>
            <a:ext cx="365760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0A0E1F"/>
                </a:solidFill>
                <a:effectLst/>
                <a:uLnTx/>
                <a:uFillTx/>
                <a:latin typeface="Consolas" pitchFamily="34" charset="0"/>
                <a:ea typeface="Consolas" pitchFamily="34" charset="-122"/>
                <a:cs typeface="Consolas" pitchFamily="34" charset="-120"/>
              </a:rPr>
              <a:t>DISPATCH  LAYER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4617720" y="2971800"/>
            <a:ext cx="3200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300" normalizeH="0" baseline="0" noProof="0" dirty="0">
                <a:ln>
                  <a:noFill/>
                </a:ln>
                <a:solidFill>
                  <a:srgbClr val="00E5C7"/>
                </a:solidFill>
                <a:effectLst/>
                <a:uLnTx/>
                <a:uFillTx/>
                <a:latin typeface="Consolas" pitchFamily="34" charset="0"/>
                <a:ea typeface="Consolas" pitchFamily="34" charset="-122"/>
                <a:cs typeface="Consolas" pitchFamily="34" charset="-120"/>
              </a:rPr>
              <a:t>STRATEGY 02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4617720" y="3246120"/>
            <a:ext cx="320040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ON-DEMAND ROUTING</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617720" y="3749040"/>
            <a:ext cx="32004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Routing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617720" y="4160520"/>
            <a:ext cx="3108960" cy="0"/>
          </a:xfrm>
          <a:prstGeom prst="line">
            <a:avLst/>
          </a:prstGeom>
          <a:noFill/>
          <a:ln w="1270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4617720" y="4343400"/>
            <a:ext cx="3200400" cy="1645920"/>
          </a:xfrm>
          <a:prstGeom prst="rect">
            <a:avLst/>
          </a:prstGeom>
          <a:noFill/>
          <a:ln/>
        </p:spPr>
        <p:txBody>
          <a:bodyPr wrap="square"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OpenClaw configures multiple Model Endpoints — simple logic goes to small models for a "Token diet".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8229600" y="2377440"/>
            <a:ext cx="3657600" cy="374904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8229600" y="2377440"/>
            <a:ext cx="3657600" cy="457200"/>
          </a:xfrm>
          <a:prstGeom prst="rect">
            <a:avLst/>
          </a:prstGeom>
          <a:solidFill>
            <a:srgbClr val="FFC857"/>
          </a:solidFill>
          <a:ln w="12700">
            <a:solidFill>
              <a:srgbClr val="FFC8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8229600" y="2377440"/>
            <a:ext cx="365760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0A0E1F"/>
                </a:solidFill>
                <a:effectLst/>
                <a:uLnTx/>
                <a:uFillTx/>
                <a:latin typeface="Consolas" pitchFamily="34" charset="0"/>
                <a:ea typeface="Consolas" pitchFamily="34" charset="-122"/>
                <a:cs typeface="Consolas" pitchFamily="34" charset="-120"/>
              </a:rPr>
              <a:t>RUNTIME  LAYER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8503920" y="2971800"/>
            <a:ext cx="3200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300" normalizeH="0" baseline="0" noProof="0" dirty="0">
                <a:ln>
                  <a:noFill/>
                </a:ln>
                <a:solidFill>
                  <a:srgbClr val="FFC857"/>
                </a:solidFill>
                <a:effectLst/>
                <a:uLnTx/>
                <a:uFillTx/>
                <a:latin typeface="Consolas" pitchFamily="34" charset="0"/>
                <a:ea typeface="Consolas" pitchFamily="34" charset="-122"/>
                <a:cs typeface="Consolas" pitchFamily="34" charset="-120"/>
              </a:rPr>
              <a:t>STRATEGY 03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8503920" y="3246120"/>
            <a:ext cx="320040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Monitor &amp; Break</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8503920" y="3749040"/>
            <a:ext cx="32004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Circuit-Break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8503920" y="4160520"/>
            <a:ext cx="3108960" cy="0"/>
          </a:xfrm>
          <a:prstGeom prst="line">
            <a:avLst/>
          </a:prstGeom>
          <a:noFill/>
          <a:ln w="1270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8503920" y="4343400"/>
            <a:ext cx="3200400" cy="1645920"/>
          </a:xfrm>
          <a:prstGeom prst="rect">
            <a:avLst/>
          </a:prstGeom>
          <a:noFill/>
          <a:ln/>
        </p:spPr>
        <p:txBody>
          <a:bodyPr wrap="square"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 code-level Token meter triggers automatic rollback when a single task exceeds threshold.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457200" y="6537960"/>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8A93A6"/>
                </a:solidFill>
                <a:effectLst/>
                <a:uLnTx/>
                <a:uFillTx/>
                <a:latin typeface="Calibri" pitchFamily="34" charset="0"/>
                <a:ea typeface="Calibri" pitchFamily="34" charset="-122"/>
                <a:cs typeface="Calibri" pitchFamily="34" charset="-120"/>
              </a:rPr>
              <a:t>OpenClaw  ·  Token Economics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10789920" y="6537960"/>
            <a:ext cx="9144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A93A6"/>
                </a:solidFill>
                <a:effectLst/>
                <a:uLnTx/>
                <a:uFillTx/>
                <a:latin typeface="Consolas" pitchFamily="34" charset="0"/>
                <a:ea typeface="Consolas" pitchFamily="34" charset="-122"/>
                <a:cs typeface="Consolas" pitchFamily="34" charset="-120"/>
              </a:rPr>
              <a:t>07 / 20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E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411480"/>
            <a:ext cx="502920" cy="36576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57200" y="411480"/>
            <a:ext cx="50292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A0E1F"/>
                </a:solidFill>
                <a:effectLst/>
                <a:uLnTx/>
                <a:uFillTx/>
                <a:latin typeface="Calibri" pitchFamily="34" charset="0"/>
                <a:ea typeface="Calibri" pitchFamily="34" charset="-122"/>
                <a:cs typeface="Calibri" pitchFamily="34" charset="-120"/>
              </a:rPr>
              <a:t>03</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051560" y="411480"/>
            <a:ext cx="7315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FF6B35"/>
                </a:solidFill>
                <a:effectLst/>
                <a:uLnTx/>
                <a:uFillTx/>
                <a:latin typeface="Calibri" pitchFamily="34" charset="0"/>
                <a:ea typeface="Calibri" pitchFamily="34" charset="-122"/>
                <a:cs typeface="Calibri" pitchFamily="34" charset="-120"/>
              </a:rPr>
              <a:t>STRATEGY 01  ·  PROMPT COMPRESSION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868680"/>
            <a:ext cx="1124712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Strategy 1  ·  Prompt Compression</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57200" y="1600200"/>
            <a:ext cx="112471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Copilot compresses verbose background into structured fragments — cut invalid Tokens at the source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2377440"/>
            <a:ext cx="54864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300" normalizeH="0" baseline="0" noProof="0" dirty="0">
                <a:ln>
                  <a:noFill/>
                </a:ln>
                <a:solidFill>
                  <a:srgbClr val="00E5C7"/>
                </a:solidFill>
                <a:effectLst/>
                <a:uLnTx/>
                <a:uFillTx/>
                <a:latin typeface="Consolas" pitchFamily="34" charset="0"/>
                <a:ea typeface="Consolas" pitchFamily="34" charset="-122"/>
                <a:cs typeface="Consolas" pitchFamily="34" charset="-120"/>
              </a:rPr>
              <a:t>Core actions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457200" y="2880360"/>
            <a:ext cx="164592" cy="16459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777240" y="2788920"/>
            <a:ext cx="54864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Identify redundancy — long-tail text like education history, product manuals, contract templates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57200" y="3474720"/>
            <a:ext cx="164592" cy="16459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777240" y="3383280"/>
            <a:ext cx="54864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Structured extraction — Copilot → JSON/fields, drops natural-language fluff</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457200" y="4069080"/>
            <a:ext cx="164592" cy="16459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777240" y="3977640"/>
            <a:ext cx="54864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Dynamic injection — Prompt only carries the fields the task actually needs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457200" y="4663440"/>
            <a:ext cx="164592" cy="16459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777240" y="4572000"/>
            <a:ext cx="54864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Cache reuse — structured results for the same entity reused within 24h</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858000" y="2377440"/>
            <a:ext cx="48463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300" normalizeH="0" baseline="0" noProof="0" dirty="0">
                <a:ln>
                  <a:noFill/>
                </a:ln>
                <a:solidFill>
                  <a:srgbClr val="00E5C7"/>
                </a:solidFill>
                <a:effectLst/>
                <a:uLnTx/>
                <a:uFillTx/>
                <a:latin typeface="Consolas" pitchFamily="34" charset="0"/>
                <a:ea typeface="Consolas" pitchFamily="34" charset="-122"/>
                <a:cs typeface="Consolas" pitchFamily="34" charset="-120"/>
              </a:rPr>
              <a:t>Compression funnel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6858000" y="2834640"/>
            <a:ext cx="4846320" cy="594360"/>
          </a:xfrm>
          <a:prstGeom prst="rect">
            <a:avLst/>
          </a:prstGeom>
          <a:solidFill>
            <a:srgbClr val="1B2240"/>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6858000" y="2834640"/>
            <a:ext cx="2665476" cy="5943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Raw doc</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9281160" y="2834640"/>
            <a:ext cx="2423160" cy="5943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E5C7"/>
                </a:solidFill>
                <a:effectLst/>
                <a:uLnTx/>
                <a:uFillTx/>
                <a:latin typeface="Consolas" pitchFamily="34" charset="0"/>
                <a:ea typeface="Consolas" pitchFamily="34" charset="-122"/>
                <a:cs typeface="Consolas" pitchFamily="34" charset="-120"/>
              </a:rPr>
              <a:t>12,400 tokens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7269480" y="3520440"/>
            <a:ext cx="4023360" cy="59436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7269480" y="3520440"/>
            <a:ext cx="2212848" cy="5943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Copilot extract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9281160" y="3520440"/>
            <a:ext cx="2011680" cy="5943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E5C7"/>
                </a:solidFill>
                <a:effectLst/>
                <a:uLnTx/>
                <a:uFillTx/>
                <a:latin typeface="Consolas" pitchFamily="34" charset="0"/>
                <a:ea typeface="Consolas" pitchFamily="34" charset="-122"/>
                <a:cs typeface="Consolas" pitchFamily="34" charset="-120"/>
              </a:rPr>
              <a:t>3,200 tokens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7726680" y="4206240"/>
            <a:ext cx="3108960" cy="594360"/>
          </a:xfrm>
          <a:prstGeom prst="rect">
            <a:avLst/>
          </a:prstGeom>
          <a:solidFill>
            <a:srgbClr val="D9501F"/>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7726680" y="4206240"/>
            <a:ext cx="1709928" cy="5943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Field filtering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9281160" y="4206240"/>
            <a:ext cx="1554480" cy="5943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E5C7"/>
                </a:solidFill>
                <a:effectLst/>
                <a:uLnTx/>
                <a:uFillTx/>
                <a:latin typeface="Consolas" pitchFamily="34" charset="0"/>
                <a:ea typeface="Consolas" pitchFamily="34" charset="-122"/>
                <a:cs typeface="Consolas" pitchFamily="34" charset="-120"/>
              </a:rPr>
              <a:t>1,100 tokens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8183880" y="4892040"/>
            <a:ext cx="2194560" cy="594360"/>
          </a:xfrm>
          <a:prstGeom prst="rect">
            <a:avLst/>
          </a:prstGeom>
          <a:solidFill>
            <a:srgbClr val="FF6B35"/>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p:nvPr/>
        </p:nvSpPr>
        <p:spPr>
          <a:xfrm>
            <a:off x="8183880" y="4892040"/>
            <a:ext cx="1207008" cy="5943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Final Prompt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9281160" y="4892040"/>
            <a:ext cx="1097280" cy="5943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E5C7"/>
                </a:solidFill>
                <a:effectLst/>
                <a:uLnTx/>
                <a:uFillTx/>
                <a:latin typeface="Consolas" pitchFamily="34" charset="0"/>
                <a:ea typeface="Consolas" pitchFamily="34" charset="-122"/>
                <a:cs typeface="Consolas" pitchFamily="34" charset="-120"/>
              </a:rPr>
              <a:t>420 tokens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6858000" y="5623560"/>
            <a:ext cx="484632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  -96.6%</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457200" y="6537960"/>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8A93A6"/>
                </a:solidFill>
                <a:effectLst/>
                <a:uLnTx/>
                <a:uFillTx/>
                <a:latin typeface="Calibri" pitchFamily="34" charset="0"/>
                <a:ea typeface="Calibri" pitchFamily="34" charset="-122"/>
                <a:cs typeface="Calibri" pitchFamily="34" charset="-120"/>
              </a:rPr>
              <a:t>OpenClaw  ·  Token Economics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10789920" y="6537960"/>
            <a:ext cx="9144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A93A6"/>
                </a:solidFill>
                <a:effectLst/>
                <a:uLnTx/>
                <a:uFillTx/>
                <a:latin typeface="Consolas" pitchFamily="34" charset="0"/>
                <a:ea typeface="Consolas" pitchFamily="34" charset="-122"/>
                <a:cs typeface="Consolas" pitchFamily="34" charset="-120"/>
              </a:rPr>
              <a:t>08 / 20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411480"/>
            <a:ext cx="502920" cy="365760"/>
          </a:xfrm>
          <a:prstGeom prst="rect">
            <a:avLst/>
          </a:prstGeom>
          <a:solidFill>
            <a:srgbClr val="D9501F"/>
          </a:solidFill>
          <a:ln w="12700">
            <a:solidFill>
              <a:srgbClr val="D9501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57200" y="411480"/>
            <a:ext cx="50292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A0E1F"/>
                </a:solidFill>
                <a:effectLst/>
                <a:uLnTx/>
                <a:uFillTx/>
                <a:latin typeface="Calibri" pitchFamily="34" charset="0"/>
                <a:ea typeface="Calibri" pitchFamily="34" charset="-122"/>
                <a:cs typeface="Calibri" pitchFamily="34" charset="-120"/>
              </a:rPr>
              <a:t>03</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051560" y="411480"/>
            <a:ext cx="7315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D9501F"/>
                </a:solidFill>
                <a:effectLst/>
                <a:uLnTx/>
                <a:uFillTx/>
                <a:latin typeface="Calibri" pitchFamily="34" charset="0"/>
                <a:ea typeface="Calibri" pitchFamily="34" charset="-122"/>
                <a:cs typeface="Calibri" pitchFamily="34" charset="-120"/>
              </a:rPr>
              <a:t>STRATEGY 01  ·  WORKFLOW</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868680"/>
            <a:ext cx="1124712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Copilot Structured Extraction Workflow</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57200" y="1600200"/>
            <a:ext cx="112471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6478"/>
                </a:solidFill>
                <a:effectLst/>
                <a:uLnTx/>
                <a:uFillTx/>
                <a:latin typeface="Calibri" pitchFamily="34" charset="0"/>
                <a:ea typeface="Calibri" pitchFamily="34" charset="-122"/>
                <a:cs typeface="Calibri" pitchFamily="34" charset="-120"/>
              </a:rPr>
              <a:t>5 steps to turn unstructured material into Prompt-ready fields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57200" y="2468880"/>
            <a:ext cx="2194560" cy="1828800"/>
          </a:xfrm>
          <a:prstGeom prst="rect">
            <a:avLst/>
          </a:prstGeom>
          <a:solidFill>
            <a:srgbClr val="FFFFFF"/>
          </a:solidFill>
          <a:ln w="9525">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457200" y="2468880"/>
            <a:ext cx="2194560" cy="91440"/>
          </a:xfrm>
          <a:prstGeom prst="rect">
            <a:avLst/>
          </a:prstGeom>
          <a:solidFill>
            <a:srgbClr val="00B894"/>
          </a:solidFill>
          <a:ln w="12700">
            <a:solidFill>
              <a:srgbClr val="00B89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731520" y="2697480"/>
            <a:ext cx="640080" cy="640080"/>
          </a:xfrm>
          <a:prstGeom prst="ellipse">
            <a:avLst/>
          </a:prstGeom>
          <a:solidFill>
            <a:srgbClr val="0A0E1F"/>
          </a:solidFill>
          <a:ln w="12700">
            <a:solidFill>
              <a:srgbClr val="0A0E1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731520" y="2697480"/>
            <a:ext cx="64008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1</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40080" y="3429000"/>
            <a:ext cx="18288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Raw input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640080" y="3794760"/>
            <a:ext cx="18288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B6478"/>
                </a:solidFill>
                <a:effectLst/>
                <a:uLnTx/>
                <a:uFillTx/>
                <a:latin typeface="Calibri" pitchFamily="34" charset="0"/>
                <a:ea typeface="Calibri" pitchFamily="34" charset="-122"/>
                <a:cs typeface="Calibri" pitchFamily="34" charset="-120"/>
              </a:rPr>
              <a:t>PDF / Doc / web text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2651760" y="2468880"/>
            <a:ext cx="137160" cy="18288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2788920" y="2468880"/>
            <a:ext cx="2194560" cy="1828800"/>
          </a:xfrm>
          <a:prstGeom prst="rect">
            <a:avLst/>
          </a:prstGeom>
          <a:solidFill>
            <a:srgbClr val="FFFFFF"/>
          </a:solidFill>
          <a:ln w="9525">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2788920" y="2468880"/>
            <a:ext cx="2194560" cy="91440"/>
          </a:xfrm>
          <a:prstGeom prst="rect">
            <a:avLst/>
          </a:prstGeom>
          <a:solidFill>
            <a:srgbClr val="00B894"/>
          </a:solidFill>
          <a:ln w="12700">
            <a:solidFill>
              <a:srgbClr val="00B89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3063240" y="2697480"/>
            <a:ext cx="640080" cy="640080"/>
          </a:xfrm>
          <a:prstGeom prst="ellipse">
            <a:avLst/>
          </a:prstGeom>
          <a:solidFill>
            <a:srgbClr val="0A0E1F"/>
          </a:solidFill>
          <a:ln w="12700">
            <a:solidFill>
              <a:srgbClr val="0A0E1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3063240" y="2697480"/>
            <a:ext cx="64008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2</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2971800" y="3429000"/>
            <a:ext cx="18288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Schema definition</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2971800" y="3794760"/>
            <a:ext cx="18288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B6478"/>
                </a:solidFill>
                <a:effectLst/>
                <a:uLnTx/>
                <a:uFillTx/>
                <a:latin typeface="Calibri" pitchFamily="34" charset="0"/>
                <a:ea typeface="Calibri" pitchFamily="34" charset="-122"/>
                <a:cs typeface="Calibri" pitchFamily="34" charset="-120"/>
              </a:rPr>
              <a:t>Declare required fields (JSON)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983480" y="2468880"/>
            <a:ext cx="137160" cy="18288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5120640" y="2468880"/>
            <a:ext cx="2194560" cy="1828800"/>
          </a:xfrm>
          <a:prstGeom prst="rect">
            <a:avLst/>
          </a:prstGeom>
          <a:solidFill>
            <a:srgbClr val="FFFFFF"/>
          </a:solidFill>
          <a:ln w="9525">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5120640" y="2468880"/>
            <a:ext cx="2194560" cy="9144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5394960" y="2697480"/>
            <a:ext cx="640080" cy="640080"/>
          </a:xfrm>
          <a:prstGeom prst="ellipse">
            <a:avLst/>
          </a:prstGeom>
          <a:solidFill>
            <a:srgbClr val="0A0E1F"/>
          </a:solidFill>
          <a:ln w="12700">
            <a:solidFill>
              <a:srgbClr val="0A0E1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5394960" y="2697480"/>
            <a:ext cx="64008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3</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5303520" y="3429000"/>
            <a:ext cx="18288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Copilot extract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5303520" y="3794760"/>
            <a:ext cx="18288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B6478"/>
                </a:solidFill>
                <a:effectLst/>
                <a:uLnTx/>
                <a:uFillTx/>
                <a:latin typeface="Calibri" pitchFamily="34" charset="0"/>
                <a:ea typeface="Calibri" pitchFamily="34" charset="-122"/>
                <a:cs typeface="Calibri" pitchFamily="34" charset="-120"/>
              </a:rPr>
              <a:t>Invoke structured extraction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7315200" y="2468880"/>
            <a:ext cx="137160" cy="18288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7452360" y="2468880"/>
            <a:ext cx="2194560" cy="1828800"/>
          </a:xfrm>
          <a:prstGeom prst="rect">
            <a:avLst/>
          </a:prstGeom>
          <a:solidFill>
            <a:srgbClr val="FFFFFF"/>
          </a:solidFill>
          <a:ln w="9525">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p:cNvSpPr/>
          <p:nvPr/>
        </p:nvSpPr>
        <p:spPr>
          <a:xfrm>
            <a:off x="7452360" y="2468880"/>
            <a:ext cx="2194560" cy="91440"/>
          </a:xfrm>
          <a:prstGeom prst="rect">
            <a:avLst/>
          </a:prstGeom>
          <a:solidFill>
            <a:srgbClr val="00B894"/>
          </a:solidFill>
          <a:ln w="12700">
            <a:solidFill>
              <a:srgbClr val="00B89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p:cNvSpPr/>
          <p:nvPr/>
        </p:nvSpPr>
        <p:spPr>
          <a:xfrm>
            <a:off x="7726680" y="2697480"/>
            <a:ext cx="640080" cy="640080"/>
          </a:xfrm>
          <a:prstGeom prst="ellipse">
            <a:avLst/>
          </a:prstGeom>
          <a:solidFill>
            <a:srgbClr val="0A0E1F"/>
          </a:solidFill>
          <a:ln w="12700">
            <a:solidFill>
              <a:srgbClr val="0A0E1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7726680" y="2697480"/>
            <a:ext cx="64008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4</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7635240" y="3429000"/>
            <a:ext cx="18288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Field trimming</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7635240" y="3794760"/>
            <a:ext cx="18288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B6478"/>
                </a:solidFill>
                <a:effectLst/>
                <a:uLnTx/>
                <a:uFillTx/>
                <a:latin typeface="Calibri" pitchFamily="34" charset="0"/>
                <a:ea typeface="Calibri" pitchFamily="34" charset="-122"/>
                <a:cs typeface="Calibri" pitchFamily="34" charset="-120"/>
              </a:rPr>
              <a:t>Select essential fields per task</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p:nvPr/>
        </p:nvSpPr>
        <p:spPr>
          <a:xfrm>
            <a:off x="9646920" y="2468880"/>
            <a:ext cx="137160" cy="18288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4"/>
          <p:cNvSpPr/>
          <p:nvPr/>
        </p:nvSpPr>
        <p:spPr>
          <a:xfrm>
            <a:off x="9784080" y="2468880"/>
            <a:ext cx="2194560" cy="1828800"/>
          </a:xfrm>
          <a:prstGeom prst="rect">
            <a:avLst/>
          </a:prstGeom>
          <a:solidFill>
            <a:srgbClr val="FFFFFF"/>
          </a:solidFill>
          <a:ln w="9525">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p:cNvSpPr/>
          <p:nvPr/>
        </p:nvSpPr>
        <p:spPr>
          <a:xfrm>
            <a:off x="9784080" y="2468880"/>
            <a:ext cx="2194560" cy="91440"/>
          </a:xfrm>
          <a:prstGeom prst="rect">
            <a:avLst/>
          </a:prstGeom>
          <a:solidFill>
            <a:srgbClr val="00B894"/>
          </a:solidFill>
          <a:ln w="12700">
            <a:solidFill>
              <a:srgbClr val="00B89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p:cNvSpPr/>
          <p:nvPr/>
        </p:nvSpPr>
        <p:spPr>
          <a:xfrm>
            <a:off x="10058400" y="2697480"/>
            <a:ext cx="640080" cy="640080"/>
          </a:xfrm>
          <a:prstGeom prst="ellipse">
            <a:avLst/>
          </a:prstGeom>
          <a:solidFill>
            <a:srgbClr val="0A0E1F"/>
          </a:solidFill>
          <a:ln w="12700">
            <a:solidFill>
              <a:srgbClr val="0A0E1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7"/>
          <p:cNvSpPr/>
          <p:nvPr/>
        </p:nvSpPr>
        <p:spPr>
          <a:xfrm>
            <a:off x="10058400" y="2697480"/>
            <a:ext cx="64008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5</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9966960" y="3429000"/>
            <a:ext cx="18288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Inject Prompt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9"/>
          <p:cNvSpPr/>
          <p:nvPr/>
        </p:nvSpPr>
        <p:spPr>
          <a:xfrm>
            <a:off x="9966960" y="3794760"/>
            <a:ext cx="18288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B6478"/>
                </a:solidFill>
                <a:effectLst/>
                <a:uLnTx/>
                <a:uFillTx/>
                <a:latin typeface="Calibri" pitchFamily="34" charset="0"/>
                <a:ea typeface="Calibri" pitchFamily="34" charset="-122"/>
                <a:cs typeface="Calibri" pitchFamily="34" charset="-120"/>
              </a:rPr>
              <a:t>Assemble final request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40"/>
          <p:cNvSpPr/>
          <p:nvPr/>
        </p:nvSpPr>
        <p:spPr>
          <a:xfrm>
            <a:off x="457200" y="4617720"/>
            <a:ext cx="11247120" cy="1463040"/>
          </a:xfrm>
          <a:prstGeom prst="rect">
            <a:avLst/>
          </a:prstGeom>
          <a:solidFill>
            <a:srgbClr val="0A0E1F"/>
          </a:solidFill>
          <a:ln w="12700">
            <a:solidFill>
              <a:srgbClr val="0A0E1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41"/>
          <p:cNvSpPr/>
          <p:nvPr/>
        </p:nvSpPr>
        <p:spPr>
          <a:xfrm>
            <a:off x="731520" y="4709160"/>
            <a:ext cx="10515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A93A6"/>
                </a:solidFill>
                <a:effectLst/>
                <a:uLnTx/>
                <a:uFillTx/>
                <a:latin typeface="Consolas" pitchFamily="34" charset="0"/>
                <a:ea typeface="Consolas" pitchFamily="34" charset="-122"/>
                <a:cs typeface="Consolas" pitchFamily="34" charset="-120"/>
              </a:rPr>
              <a:t>// Copilot extract schema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2"/>
          <p:cNvSpPr/>
          <p:nvPr/>
        </p:nvSpPr>
        <p:spPr>
          <a:xfrm>
            <a:off x="731520" y="4983480"/>
            <a:ext cx="105156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E5C7"/>
                </a:solidFill>
                <a:effectLst/>
                <a:uLnTx/>
                <a:uFillTx/>
                <a:latin typeface="Consolas" pitchFamily="34" charset="0"/>
                <a:ea typeface="Consolas" pitchFamily="34" charset="-122"/>
                <a:cs typeface="Consolas" pitchFamily="34" charset="-120"/>
              </a:rPr>
              <a:t>{ "name": str, "degree": str, "school": str, "major": str, "year": int, "achievements": str[3] }</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43"/>
          <p:cNvSpPr/>
          <p:nvPr/>
        </p:nvSpPr>
        <p:spPr>
          <a:xfrm>
            <a:off x="731520" y="5440680"/>
            <a:ext cx="105156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Keep only the 6 task-relevant fields — remove 90% natural-language fluff</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Text 44"/>
          <p:cNvSpPr/>
          <p:nvPr/>
        </p:nvSpPr>
        <p:spPr>
          <a:xfrm>
            <a:off x="731520" y="5760720"/>
            <a:ext cx="10515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Schema-ized fields are reusable across tasks, avoiding redundant extraction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Text 45"/>
          <p:cNvSpPr/>
          <p:nvPr/>
        </p:nvSpPr>
        <p:spPr>
          <a:xfrm>
            <a:off x="457200" y="6537960"/>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5B6478"/>
                </a:solidFill>
                <a:effectLst/>
                <a:uLnTx/>
                <a:uFillTx/>
                <a:latin typeface="Calibri" pitchFamily="34" charset="0"/>
                <a:ea typeface="Calibri" pitchFamily="34" charset="-122"/>
                <a:cs typeface="Calibri" pitchFamily="34" charset="-120"/>
              </a:rPr>
              <a:t>OpenClaw  ·  Token Economics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Text 46"/>
          <p:cNvSpPr/>
          <p:nvPr/>
        </p:nvSpPr>
        <p:spPr>
          <a:xfrm>
            <a:off x="10789920" y="6537960"/>
            <a:ext cx="9144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B6478"/>
                </a:solidFill>
                <a:effectLst/>
                <a:uLnTx/>
                <a:uFillTx/>
                <a:latin typeface="Consolas" pitchFamily="34" charset="0"/>
                <a:ea typeface="Consolas" pitchFamily="34" charset="-122"/>
                <a:cs typeface="Consolas" pitchFamily="34" charset="-120"/>
              </a:rPr>
              <a:t>09 / 20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411480"/>
            <a:ext cx="502920" cy="365760"/>
          </a:xfrm>
          <a:prstGeom prst="rect">
            <a:avLst/>
          </a:prstGeom>
          <a:solidFill>
            <a:srgbClr val="D9501F"/>
          </a:solidFill>
          <a:ln w="12700">
            <a:solidFill>
              <a:srgbClr val="D9501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57200" y="411480"/>
            <a:ext cx="50292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A0E1F"/>
                </a:solidFill>
                <a:effectLst/>
                <a:uLnTx/>
                <a:uFillTx/>
                <a:latin typeface="Calibri" pitchFamily="34" charset="0"/>
                <a:ea typeface="Calibri" pitchFamily="34" charset="-122"/>
                <a:cs typeface="Calibri" pitchFamily="34" charset="-120"/>
              </a:rPr>
              <a:t>03</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051560" y="411480"/>
            <a:ext cx="7315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D9501F"/>
                </a:solidFill>
                <a:effectLst/>
                <a:uLnTx/>
                <a:uFillTx/>
                <a:latin typeface="Calibri" pitchFamily="34" charset="0"/>
                <a:ea typeface="Calibri" pitchFamily="34" charset="-122"/>
                <a:cs typeface="Calibri" pitchFamily="34" charset="-120"/>
              </a:rPr>
              <a:t>STRATEGY 01  ·  CASE STUDY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868680"/>
            <a:ext cx="1124712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Case Study  ·  Education Background Compression</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57200" y="1600200"/>
            <a:ext cx="112471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6478"/>
                </a:solidFill>
                <a:effectLst/>
                <a:uLnTx/>
                <a:uFillTx/>
                <a:latin typeface="Calibri" pitchFamily="34" charset="0"/>
                <a:ea typeface="Calibri" pitchFamily="34" charset="-122"/>
                <a:cs typeface="Calibri" pitchFamily="34" charset="-120"/>
              </a:rPr>
              <a:t>Recruiting scenario: real comparison from 2,800 → 180 tokens for a candidate resume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57200" y="2377440"/>
            <a:ext cx="5486400" cy="3840480"/>
          </a:xfrm>
          <a:prstGeom prst="rect">
            <a:avLst/>
          </a:prstGeom>
          <a:solidFill>
            <a:srgbClr val="FFFFFF"/>
          </a:solidFill>
          <a:ln w="9525">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457200" y="2377440"/>
            <a:ext cx="5486400" cy="457200"/>
          </a:xfrm>
          <a:prstGeom prst="rect">
            <a:avLst/>
          </a:prstGeom>
          <a:solidFill>
            <a:srgbClr val="FF4757"/>
          </a:solidFill>
          <a:ln w="12700">
            <a:solidFill>
              <a:srgbClr val="FF47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640080" y="2377440"/>
            <a:ext cx="51206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300" normalizeH="0" baseline="0" noProof="0" dirty="0">
                <a:ln>
                  <a:noFill/>
                </a:ln>
                <a:solidFill>
                  <a:srgbClr val="FFFFFF"/>
                </a:solidFill>
                <a:effectLst/>
                <a:uLnTx/>
                <a:uFillTx/>
                <a:latin typeface="Consolas" pitchFamily="34" charset="0"/>
                <a:ea typeface="Consolas" pitchFamily="34" charset="-122"/>
                <a:cs typeface="Consolas" pitchFamily="34" charset="-120"/>
              </a:rPr>
              <a:t>BEFORE  ·  Raw Prompt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640080" y="2377440"/>
            <a:ext cx="5120640" cy="45720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2,800 tokens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731520" y="3017520"/>
            <a:ext cx="5029200" cy="3017520"/>
          </a:xfrm>
          <a:prstGeom prst="rect">
            <a:avLst/>
          </a:prstGeom>
          <a:noFill/>
          <a:ln/>
        </p:spPr>
        <p:txBody>
          <a:bodyPr wrap="square"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5B6478"/>
                </a:solidFill>
                <a:effectLst/>
                <a:uLnTx/>
                <a:uFillTx/>
                <a:latin typeface="Calibri" pitchFamily="34" charset="0"/>
                <a:ea typeface="Calibri" pitchFamily="34" charset="-122"/>
                <a:cs typeface="Calibri" pitchFamily="34" charset="-120"/>
              </a:rPr>
              <a:t>"Zhang San enrolled in Tsinghua University's Department of Computer Science and Technology in September 2018, majoring in AI. He received the National Scholarship and won an Asia Regional Bronze in the ACM contest... (followed by 2,500 words of background narrative, club experience, award details, recommendation letter excerpts)"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217920" y="2377440"/>
            <a:ext cx="5486400" cy="3840480"/>
          </a:xfrm>
          <a:prstGeom prst="rect">
            <a:avLst/>
          </a:prstGeom>
          <a:solidFill>
            <a:srgbClr val="FFFFFF"/>
          </a:solidFill>
          <a:ln w="9525">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6217920" y="2377440"/>
            <a:ext cx="5486400" cy="457200"/>
          </a:xfrm>
          <a:prstGeom prst="rect">
            <a:avLst/>
          </a:prstGeom>
          <a:solidFill>
            <a:srgbClr val="00B894"/>
          </a:solidFill>
          <a:ln w="12700">
            <a:solidFill>
              <a:srgbClr val="00B89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6400800" y="2377440"/>
            <a:ext cx="51206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300" normalizeH="0" baseline="0" noProof="0" dirty="0">
                <a:ln>
                  <a:noFill/>
                </a:ln>
                <a:solidFill>
                  <a:srgbClr val="FFFFFF"/>
                </a:solidFill>
                <a:effectLst/>
                <a:uLnTx/>
                <a:uFillTx/>
                <a:latin typeface="Consolas" pitchFamily="34" charset="0"/>
                <a:ea typeface="Consolas" pitchFamily="34" charset="-122"/>
                <a:cs typeface="Consolas" pitchFamily="34" charset="-120"/>
              </a:rPr>
              <a:t>AFTER  ·  After Copilot extraction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400800" y="2377440"/>
            <a:ext cx="5120640" cy="45720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180 tokens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400800" y="2971800"/>
            <a:ext cx="5120640" cy="3108960"/>
          </a:xfrm>
          <a:prstGeom prst="rect">
            <a:avLst/>
          </a:prstGeom>
          <a:noFill/>
          <a:ln/>
        </p:spPr>
        <p:txBody>
          <a:bodyPr wrap="square"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138"/>
                </a:solidFill>
                <a:effectLst/>
                <a:uLnTx/>
                <a:uFillTx/>
                <a:latin typeface="Consolas" pitchFamily="34" charset="0"/>
                <a:ea typeface="Consolas" pitchFamily="34" charset="-122"/>
                <a:cs typeface="Consolas"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138"/>
                </a:solidFill>
                <a:effectLst/>
                <a:uLnTx/>
                <a:uFillTx/>
                <a:latin typeface="Consolas" pitchFamily="34" charset="0"/>
                <a:ea typeface="Consolas" pitchFamily="34" charset="-122"/>
                <a:cs typeface="Consolas" pitchFamily="34" charset="-120"/>
              </a:rPr>
              <a:t xml:space="preserve">  "name": "Zhang San",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138"/>
                </a:solidFill>
                <a:effectLst/>
                <a:uLnTx/>
                <a:uFillTx/>
                <a:latin typeface="Consolas" pitchFamily="34" charset="0"/>
                <a:ea typeface="Consolas" pitchFamily="34" charset="-122"/>
                <a:cs typeface="Consolas" pitchFamily="34" charset="-120"/>
              </a:rPr>
              <a:t xml:space="preserve">  "degree": "Bachelor",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138"/>
                </a:solidFill>
                <a:effectLst/>
                <a:uLnTx/>
                <a:uFillTx/>
                <a:latin typeface="Consolas" pitchFamily="34" charset="0"/>
                <a:ea typeface="Consolas" pitchFamily="34" charset="-122"/>
                <a:cs typeface="Consolas" pitchFamily="34" charset="-120"/>
              </a:rPr>
              <a:t xml:space="preserve">  "school": "Tsinghua University",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138"/>
                </a:solidFill>
                <a:effectLst/>
                <a:uLnTx/>
                <a:uFillTx/>
                <a:latin typeface="Consolas" pitchFamily="34" charset="0"/>
                <a:ea typeface="Consolas" pitchFamily="34" charset="-122"/>
                <a:cs typeface="Consolas" pitchFamily="34" charset="-120"/>
              </a:rPr>
              <a:t xml:space="preserve">  "major": "Computer Science · AI track",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138"/>
                </a:solidFill>
                <a:effectLst/>
                <a:uLnTx/>
                <a:uFillTx/>
                <a:latin typeface="Consolas" pitchFamily="34" charset="0"/>
                <a:ea typeface="Consolas" pitchFamily="34" charset="-122"/>
                <a:cs typeface="Consolas" pitchFamily="34" charset="-120"/>
              </a:rPr>
              <a:t xml:space="preserve">  "year": 2022,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138"/>
                </a:solidFill>
                <a:effectLst/>
                <a:uLnTx/>
                <a:uFillTx/>
                <a:latin typeface="Consolas" pitchFamily="34" charset="0"/>
                <a:ea typeface="Consolas" pitchFamily="34" charset="-122"/>
                <a:cs typeface="Consolas" pitchFamily="34" charset="-120"/>
              </a:rPr>
              <a:t xml:space="preserve">  "achievements": [</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138"/>
                </a:solidFill>
                <a:effectLst/>
                <a:uLnTx/>
                <a:uFillTx/>
                <a:latin typeface="Consolas" pitchFamily="34" charset="0"/>
                <a:ea typeface="Consolas" pitchFamily="34" charset="-122"/>
                <a:cs typeface="Consolas" pitchFamily="34" charset="-120"/>
              </a:rPr>
              <a:t xml:space="preserve">     "National Scholarship",</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138"/>
                </a:solidFill>
                <a:effectLst/>
                <a:uLnTx/>
                <a:uFillTx/>
                <a:latin typeface="Consolas" pitchFamily="34" charset="0"/>
                <a:ea typeface="Consolas" pitchFamily="34" charset="-122"/>
                <a:cs typeface="Consolas" pitchFamily="34" charset="-120"/>
              </a:rPr>
              <a:t xml:space="preserve">     "ACM Asia Regional Bronze"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138"/>
                </a:solidFill>
                <a:effectLst/>
                <a:uLnTx/>
                <a:uFillTx/>
                <a:latin typeface="Consolas" pitchFamily="34" charset="0"/>
                <a:ea typeface="Consolas" pitchFamily="34" charset="-122"/>
                <a:cs typeface="Consolas" pitchFamily="34" charset="-120"/>
              </a:rPr>
              <a:t xml:space="preserve">  ]</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138"/>
                </a:solidFill>
                <a:effectLst/>
                <a:uLnTx/>
                <a:uFillTx/>
                <a:latin typeface="Consolas" pitchFamily="34" charset="0"/>
                <a:ea typeface="Consolas" pitchFamily="34" charset="-122"/>
                <a:cs typeface="Consolas"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457200" y="6537960"/>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5B6478"/>
                </a:solidFill>
                <a:effectLst/>
                <a:uLnTx/>
                <a:uFillTx/>
                <a:latin typeface="Calibri" pitchFamily="34" charset="0"/>
                <a:ea typeface="Calibri" pitchFamily="34" charset="-122"/>
                <a:cs typeface="Calibri" pitchFamily="34" charset="-120"/>
              </a:rPr>
              <a:t>OpenClaw  ·  Token Economics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10789920" y="6537960"/>
            <a:ext cx="9144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B6478"/>
                </a:solidFill>
                <a:effectLst/>
                <a:uLnTx/>
                <a:uFillTx/>
                <a:latin typeface="Consolas" pitchFamily="34" charset="0"/>
                <a:ea typeface="Consolas" pitchFamily="34" charset="-122"/>
                <a:cs typeface="Consolas" pitchFamily="34" charset="-120"/>
              </a:rPr>
              <a:t>10 / 20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E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411480"/>
            <a:ext cx="502920" cy="36576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57200" y="411480"/>
            <a:ext cx="50292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A0E1F"/>
                </a:solidFill>
                <a:effectLst/>
                <a:uLnTx/>
                <a:uFillTx/>
                <a:latin typeface="Calibri" pitchFamily="34" charset="0"/>
                <a:ea typeface="Calibri" pitchFamily="34" charset="-122"/>
                <a:cs typeface="Calibri" pitchFamily="34" charset="-120"/>
              </a:rPr>
              <a:t>03</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051560" y="411480"/>
            <a:ext cx="7315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FF6B35"/>
                </a:solidFill>
                <a:effectLst/>
                <a:uLnTx/>
                <a:uFillTx/>
                <a:latin typeface="Calibri" pitchFamily="34" charset="0"/>
                <a:ea typeface="Calibri" pitchFamily="34" charset="-122"/>
                <a:cs typeface="Calibri" pitchFamily="34" charset="-120"/>
              </a:rPr>
              <a:t>STRATEGY 01  ·  RESULTS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868680"/>
            <a:ext cx="1124712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Real Results of Strategy 1</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57200" y="1600200"/>
            <a:ext cx="112471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12 production workflows over 2 weeks, all switched to Copilot structured injection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57200" y="2377440"/>
            <a:ext cx="5029200" cy="374904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457200" y="2377440"/>
            <a:ext cx="109728" cy="374904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777240" y="2606040"/>
            <a:ext cx="45720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300" normalizeH="0" baseline="0" noProof="0" dirty="0">
                <a:ln>
                  <a:noFill/>
                </a:ln>
                <a:solidFill>
                  <a:srgbClr val="FF6B35"/>
                </a:solidFill>
                <a:effectLst/>
                <a:uLnTx/>
                <a:uFillTx/>
                <a:latin typeface="Consolas" pitchFamily="34" charset="0"/>
                <a:ea typeface="Consolas" pitchFamily="34" charset="-122"/>
                <a:cs typeface="Consolas" pitchFamily="34" charset="-120"/>
              </a:rPr>
              <a:t>AVERAGE PROMPT REDUCTION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777240" y="2926080"/>
            <a:ext cx="4572000" cy="20116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-78%</a:t>
            </a:r>
            <a:endParaRPr kumimoji="0" lang="en-US" sz="16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777240" y="5120640"/>
            <a:ext cx="45720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Average Prompt size reduction across 12 workflows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777240" y="5486400"/>
            <a:ext cx="45720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E5C7"/>
                </a:solidFill>
                <a:effectLst/>
                <a:uLnTx/>
                <a:uFillTx/>
                <a:latin typeface="Calibri" pitchFamily="34" charset="0"/>
                <a:ea typeface="Calibri" pitchFamily="34" charset="-122"/>
                <a:cs typeface="Calibri" pitchFamily="34" charset="-120"/>
              </a:rPr>
              <a:t>Largest single-flow reduction: 96.6%</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5760720" y="2377440"/>
            <a:ext cx="5943600" cy="822960"/>
          </a:xfrm>
          <a:prstGeom prst="rect">
            <a:avLst/>
          </a:prstGeom>
          <a:solidFill>
            <a:srgbClr val="1B2240"/>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5943600" y="2377440"/>
            <a:ext cx="411480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Monthly Token bill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10058400" y="2377440"/>
            <a:ext cx="1463040" cy="82296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0E5C7"/>
                </a:solidFill>
                <a:effectLst/>
                <a:uLnTx/>
                <a:uFillTx/>
                <a:latin typeface="Calibri" pitchFamily="34" charset="0"/>
                <a:ea typeface="Calibri" pitchFamily="34" charset="-122"/>
                <a:cs typeface="Calibri" pitchFamily="34" charset="-120"/>
              </a:rPr>
              <a:t>↓ 64%</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5760720" y="3337560"/>
            <a:ext cx="5943600" cy="822960"/>
          </a:xfrm>
          <a:prstGeom prst="rect">
            <a:avLst/>
          </a:prstGeom>
          <a:solidFill>
            <a:srgbClr val="1B2240"/>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5943600" y="3337560"/>
            <a:ext cx="411480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Average response latency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10058400" y="3337560"/>
            <a:ext cx="1463040" cy="82296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0E5C7"/>
                </a:solidFill>
                <a:effectLst/>
                <a:uLnTx/>
                <a:uFillTx/>
                <a:latin typeface="Calibri" pitchFamily="34" charset="0"/>
                <a:ea typeface="Calibri" pitchFamily="34" charset="-122"/>
                <a:cs typeface="Calibri" pitchFamily="34" charset="-120"/>
              </a:rPr>
              <a:t>↓ 41%</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5760720" y="4297680"/>
            <a:ext cx="5943600" cy="822960"/>
          </a:xfrm>
          <a:prstGeom prst="rect">
            <a:avLst/>
          </a:prstGeom>
          <a:solidFill>
            <a:srgbClr val="1B2240"/>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5943600" y="4297680"/>
            <a:ext cx="411480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Cache hit rate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10058400" y="4297680"/>
            <a:ext cx="1463040" cy="82296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0E5C7"/>
                </a:solidFill>
                <a:effectLst/>
                <a:uLnTx/>
                <a:uFillTx/>
                <a:latin typeface="Calibri" pitchFamily="34" charset="0"/>
                <a:ea typeface="Calibri" pitchFamily="34" charset="-122"/>
                <a:cs typeface="Calibri" pitchFamily="34" charset="-120"/>
              </a:rPr>
              <a:t>↑ 3.2×</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5760720" y="5257800"/>
            <a:ext cx="5943600" cy="822960"/>
          </a:xfrm>
          <a:prstGeom prst="rect">
            <a:avLst/>
          </a:prstGeom>
          <a:solidFill>
            <a:srgbClr val="1B2240"/>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5943600" y="5257800"/>
            <a:ext cx="411480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Live first-response time (P95)</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10058400" y="5257800"/>
            <a:ext cx="1463040" cy="82296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0E5C7"/>
                </a:solidFill>
                <a:effectLst/>
                <a:uLnTx/>
                <a:uFillTx/>
                <a:latin typeface="Calibri" pitchFamily="34" charset="0"/>
                <a:ea typeface="Calibri" pitchFamily="34" charset="-122"/>
                <a:cs typeface="Calibri" pitchFamily="34" charset="-120"/>
              </a:rPr>
              <a:t>↓ 38%</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457200" y="6537960"/>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8A93A6"/>
                </a:solidFill>
                <a:effectLst/>
                <a:uLnTx/>
                <a:uFillTx/>
                <a:latin typeface="Calibri" pitchFamily="34" charset="0"/>
                <a:ea typeface="Calibri" pitchFamily="34" charset="-122"/>
                <a:cs typeface="Calibri" pitchFamily="34" charset="-120"/>
              </a:rPr>
              <a:t>OpenClaw  ·  Token Economics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10789920" y="6537960"/>
            <a:ext cx="9144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A93A6"/>
                </a:solidFill>
                <a:effectLst/>
                <a:uLnTx/>
                <a:uFillTx/>
                <a:latin typeface="Consolas" pitchFamily="34" charset="0"/>
                <a:ea typeface="Consolas" pitchFamily="34" charset="-122"/>
                <a:cs typeface="Consolas" pitchFamily="34" charset="-120"/>
              </a:rPr>
              <a:t>11 / 20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E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411480"/>
            <a:ext cx="502920" cy="36576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57200" y="411480"/>
            <a:ext cx="50292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A0E1F"/>
                </a:solidFill>
                <a:effectLst/>
                <a:uLnTx/>
                <a:uFillTx/>
                <a:latin typeface="Calibri" pitchFamily="34" charset="0"/>
                <a:ea typeface="Calibri" pitchFamily="34" charset="-122"/>
                <a:cs typeface="Calibri" pitchFamily="34" charset="-120"/>
              </a:rPr>
              <a:t>04</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051560" y="411480"/>
            <a:ext cx="7315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FF6B35"/>
                </a:solidFill>
                <a:effectLst/>
                <a:uLnTx/>
                <a:uFillTx/>
                <a:latin typeface="Calibri" pitchFamily="34" charset="0"/>
                <a:ea typeface="Calibri" pitchFamily="34" charset="-122"/>
                <a:cs typeface="Calibri" pitchFamily="34" charset="-120"/>
              </a:rPr>
              <a:t>STRATEGY 02  ·  On-Demand Routing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868680"/>
            <a:ext cx="1124712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Strategy 2  ·  On-Demand Routing</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57200" y="1600200"/>
            <a:ext cx="112471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Multi-Endpoint routing inside OpenClaw — "don't use a butcher's cleaver to kill a chicken"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2377440"/>
            <a:ext cx="54864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300" normalizeH="0" baseline="0" noProof="0" dirty="0">
                <a:ln>
                  <a:noFill/>
                </a:ln>
                <a:solidFill>
                  <a:srgbClr val="00E5C7"/>
                </a:solidFill>
                <a:effectLst/>
                <a:uLnTx/>
                <a:uFillTx/>
                <a:latin typeface="Consolas" pitchFamily="34" charset="0"/>
                <a:ea typeface="Consolas" pitchFamily="34" charset="-122"/>
                <a:cs typeface="Consolas" pitchFamily="34" charset="-120"/>
              </a:rPr>
              <a:t>Why a Token diet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457200" y="2788920"/>
            <a:ext cx="5486400" cy="82296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457200" y="2788920"/>
            <a:ext cx="73152" cy="822960"/>
          </a:xfrm>
          <a:prstGeom prst="rect">
            <a:avLst/>
          </a:prstGeom>
          <a:solidFill>
            <a:srgbClr val="00E5C7"/>
          </a:solid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731520" y="2880360"/>
            <a:ext cx="51206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Cost-sensitive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731520" y="3200400"/>
            <a:ext cx="512064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GPT-4 vs 7B small model: 30× price gap; simple classification doesn't need high-end models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457200" y="3749040"/>
            <a:ext cx="5486400" cy="82296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457200" y="3749040"/>
            <a:ext cx="73152" cy="822960"/>
          </a:xfrm>
          <a:prstGeom prst="rect">
            <a:avLst/>
          </a:prstGeom>
          <a:solidFill>
            <a:srgbClr val="00E5C7"/>
          </a:solid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731520" y="3840480"/>
            <a:ext cx="51206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Latency-sensitive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731520" y="4160520"/>
            <a:ext cx="512064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Local small models respond in 200ms; cloud large models average 1.8 seconds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457200" y="4709160"/>
            <a:ext cx="5486400" cy="82296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457200" y="4709160"/>
            <a:ext cx="73152" cy="822960"/>
          </a:xfrm>
          <a:prstGeom prst="rect">
            <a:avLst/>
          </a:prstGeom>
          <a:solidFill>
            <a:srgbClr val="00E5C7"/>
          </a:solid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731520" y="4800600"/>
            <a:ext cx="51206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Controllability</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731520" y="5120640"/>
            <a:ext cx="512064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Structured extraction, keyword matching, rule-based decisions can all run on small models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6400800" y="2377440"/>
            <a:ext cx="53035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300" normalizeH="0" baseline="0" noProof="0" dirty="0">
                <a:ln>
                  <a:noFill/>
                </a:ln>
                <a:solidFill>
                  <a:srgbClr val="00E5C7"/>
                </a:solidFill>
                <a:effectLst/>
                <a:uLnTx/>
                <a:uFillTx/>
                <a:latin typeface="Consolas" pitchFamily="34" charset="0"/>
                <a:ea typeface="Consolas" pitchFamily="34" charset="-122"/>
                <a:cs typeface="Consolas" pitchFamily="34" charset="-120"/>
              </a:rPr>
              <a:t>OpenClaw routing diagram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6400800" y="3200400"/>
            <a:ext cx="1463040" cy="914400"/>
          </a:xfrm>
          <a:prstGeom prst="ellipse">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6400800" y="3200400"/>
            <a:ext cx="1463040" cy="9144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A0E1F"/>
                </a:solidFill>
                <a:effectLst/>
                <a:uLnTx/>
                <a:uFillTx/>
                <a:latin typeface="Calibri" pitchFamily="34" charset="0"/>
                <a:ea typeface="Calibri" pitchFamily="34" charset="-122"/>
                <a:cs typeface="Calibri" pitchFamily="34" charset="-120"/>
              </a:rPr>
              <a:t>REQUEST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8229600" y="3200400"/>
            <a:ext cx="1463040" cy="914400"/>
          </a:xfrm>
          <a:prstGeom prst="rect">
            <a:avLst/>
          </a:prstGeom>
          <a:solidFill>
            <a:srgbClr val="1B2240"/>
          </a:solid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8229600" y="3200400"/>
            <a:ext cx="1463040" cy="9144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E5C7"/>
                </a:solidFill>
                <a:effectLst/>
                <a:uLnTx/>
                <a:uFillTx/>
                <a:latin typeface="Calibri" pitchFamily="34" charset="0"/>
                <a:ea typeface="Calibri" pitchFamily="34" charset="-122"/>
                <a:cs typeface="Calibri" pitchFamily="34" charset="-120"/>
              </a:rPr>
              <a:t>ROUTER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10058400" y="2468880"/>
            <a:ext cx="1645920" cy="822960"/>
          </a:xfrm>
          <a:prstGeom prst="rect">
            <a:avLst/>
          </a:prstGeom>
          <a:solidFill>
            <a:srgbClr val="141A2E"/>
          </a:solid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10058400" y="2560320"/>
            <a:ext cx="164592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SMALL  7B</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10058400" y="2880360"/>
            <a:ext cx="164592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E5C7"/>
                </a:solidFill>
                <a:effectLst/>
                <a:uLnTx/>
                <a:uFillTx/>
                <a:latin typeface="Consolas" pitchFamily="34" charset="0"/>
                <a:ea typeface="Consolas" pitchFamily="34" charset="-122"/>
                <a:cs typeface="Consolas" pitchFamily="34" charset="-120"/>
              </a:rPr>
              <a:t>$0.001 / 1K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10058400" y="3520440"/>
            <a:ext cx="1645920" cy="822960"/>
          </a:xfrm>
          <a:prstGeom prst="rect">
            <a:avLst/>
          </a:prstGeom>
          <a:solidFill>
            <a:srgbClr val="141A2E"/>
          </a:solidFill>
          <a:ln w="12700">
            <a:solidFill>
              <a:srgbClr val="FFC8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p:nvPr/>
        </p:nvSpPr>
        <p:spPr>
          <a:xfrm>
            <a:off x="10058400" y="3611880"/>
            <a:ext cx="164592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MID  70B</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10058400" y="3931920"/>
            <a:ext cx="164592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C857"/>
                </a:solidFill>
                <a:effectLst/>
                <a:uLnTx/>
                <a:uFillTx/>
                <a:latin typeface="Consolas" pitchFamily="34" charset="0"/>
                <a:ea typeface="Consolas" pitchFamily="34" charset="-122"/>
                <a:cs typeface="Consolas" pitchFamily="34" charset="-120"/>
              </a:rPr>
              <a:t>$0.012 / 1K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10058400" y="4572000"/>
            <a:ext cx="1645920" cy="822960"/>
          </a:xfrm>
          <a:prstGeom prst="rect">
            <a:avLst/>
          </a:prstGeom>
          <a:solidFill>
            <a:srgbClr val="141A2E"/>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1"/>
          <p:cNvSpPr/>
          <p:nvPr/>
        </p:nvSpPr>
        <p:spPr>
          <a:xfrm>
            <a:off x="10058400" y="4663440"/>
            <a:ext cx="164592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LARGE  GPT-4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10058400" y="4983480"/>
            <a:ext cx="164592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6B35"/>
                </a:solidFill>
                <a:effectLst/>
                <a:uLnTx/>
                <a:uFillTx/>
                <a:latin typeface="Consolas" pitchFamily="34" charset="0"/>
                <a:ea typeface="Consolas" pitchFamily="34" charset="-122"/>
                <a:cs typeface="Consolas" pitchFamily="34" charset="-120"/>
              </a:rPr>
              <a:t>$0.030 / 1K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p:nvPr/>
        </p:nvSpPr>
        <p:spPr>
          <a:xfrm>
            <a:off x="7863840" y="3200400"/>
            <a:ext cx="365760" cy="9144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E5C7"/>
                </a:solidFill>
                <a:effectLst/>
                <a:uLnTx/>
                <a:uFillTx/>
                <a:latin typeface="Calibri" pitchFamily="34" charset="0"/>
                <a:ea typeface="Calibri" pitchFamily="34" charset="-122"/>
                <a:cs typeface="Calibri" pitchFamily="34" charset="-120"/>
              </a:rPr>
              <a:t>→</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4"/>
          <p:cNvSpPr/>
          <p:nvPr/>
        </p:nvSpPr>
        <p:spPr>
          <a:xfrm>
            <a:off x="9692640" y="3657600"/>
            <a:ext cx="365760" cy="0"/>
          </a:xfrm>
          <a:prstGeom prst="line">
            <a:avLst/>
          </a:prstGeom>
          <a:no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p:cNvSpPr/>
          <p:nvPr/>
        </p:nvSpPr>
        <p:spPr>
          <a:xfrm>
            <a:off x="9692640" y="3657600"/>
            <a:ext cx="365760" cy="274320"/>
          </a:xfrm>
          <a:prstGeom prst="line">
            <a:avLst/>
          </a:prstGeom>
          <a:no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p:cNvSpPr/>
          <p:nvPr/>
        </p:nvSpPr>
        <p:spPr>
          <a:xfrm>
            <a:off x="9692640" y="3657600"/>
            <a:ext cx="365760" cy="1325880"/>
          </a:xfrm>
          <a:prstGeom prst="line">
            <a:avLst/>
          </a:prstGeom>
          <a:no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7"/>
          <p:cNvSpPr/>
          <p:nvPr/>
        </p:nvSpPr>
        <p:spPr>
          <a:xfrm>
            <a:off x="6400800" y="5532120"/>
            <a:ext cx="530352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Auto-route by complexity score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457200" y="6537960"/>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8A93A6"/>
                </a:solidFill>
                <a:effectLst/>
                <a:uLnTx/>
                <a:uFillTx/>
                <a:latin typeface="Calibri" pitchFamily="34" charset="0"/>
                <a:ea typeface="Calibri" pitchFamily="34" charset="-122"/>
                <a:cs typeface="Calibri" pitchFamily="34" charset="-120"/>
              </a:rPr>
              <a:t>OpenClaw  ·  Token Economics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9"/>
          <p:cNvSpPr/>
          <p:nvPr/>
        </p:nvSpPr>
        <p:spPr>
          <a:xfrm>
            <a:off x="10789920" y="6537960"/>
            <a:ext cx="9144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A93A6"/>
                </a:solidFill>
                <a:effectLst/>
                <a:uLnTx/>
                <a:uFillTx/>
                <a:latin typeface="Consolas" pitchFamily="34" charset="0"/>
                <a:ea typeface="Consolas" pitchFamily="34" charset="-122"/>
                <a:cs typeface="Consolas" pitchFamily="34" charset="-120"/>
              </a:rPr>
              <a:t>12 / 20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411480"/>
            <a:ext cx="502920" cy="365760"/>
          </a:xfrm>
          <a:prstGeom prst="rect">
            <a:avLst/>
          </a:prstGeom>
          <a:solidFill>
            <a:srgbClr val="D9501F"/>
          </a:solidFill>
          <a:ln w="12700">
            <a:solidFill>
              <a:srgbClr val="D9501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57200" y="411480"/>
            <a:ext cx="50292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A0E1F"/>
                </a:solidFill>
                <a:effectLst/>
                <a:uLnTx/>
                <a:uFillTx/>
                <a:latin typeface="Calibri" pitchFamily="34" charset="0"/>
                <a:ea typeface="Calibri" pitchFamily="34" charset="-122"/>
                <a:cs typeface="Calibri" pitchFamily="34" charset="-120"/>
              </a:rPr>
              <a:t>04</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051560" y="411480"/>
            <a:ext cx="7315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D9501F"/>
                </a:solidFill>
                <a:effectLst/>
                <a:uLnTx/>
                <a:uFillTx/>
                <a:latin typeface="Calibri" pitchFamily="34" charset="0"/>
                <a:ea typeface="Calibri" pitchFamily="34" charset="-122"/>
                <a:cs typeface="Calibri" pitchFamily="34" charset="-120"/>
              </a:rPr>
              <a:t>STRATEGY 02  ·  ENDPOINT MATRIX</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868680"/>
            <a:ext cx="1124712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Model Endpoint Configuration Matrix</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57200" y="1600200"/>
            <a:ext cx="112471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6478"/>
                </a:solidFill>
                <a:effectLst/>
                <a:uLnTx/>
                <a:uFillTx/>
                <a:latin typeface="Calibri" pitchFamily="34" charset="0"/>
                <a:ea typeface="Calibri" pitchFamily="34" charset="-122"/>
                <a:cs typeface="Calibri" pitchFamily="34" charset="-120"/>
              </a:rPr>
              <a:t>OpenClaw splits Endpoints into 4 tiers by task complexity — transparent pricing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57200" y="2468880"/>
            <a:ext cx="2377440" cy="548640"/>
          </a:xfrm>
          <a:prstGeom prst="rect">
            <a:avLst/>
          </a:prstGeom>
          <a:solidFill>
            <a:srgbClr val="0A0E1F"/>
          </a:solidFill>
          <a:ln w="12700">
            <a:solidFill>
              <a:srgbClr val="0A0E1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594360" y="2468880"/>
            <a:ext cx="210312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00" normalizeH="0" baseline="0" noProof="0" dirty="0">
                <a:ln>
                  <a:noFill/>
                </a:ln>
                <a:solidFill>
                  <a:srgbClr val="FFFFFF"/>
                </a:solidFill>
                <a:effectLst/>
                <a:uLnTx/>
                <a:uFillTx/>
                <a:latin typeface="Calibri" pitchFamily="34" charset="0"/>
                <a:ea typeface="Calibri" pitchFamily="34" charset="-122"/>
                <a:cs typeface="Calibri" pitchFamily="34" charset="-120"/>
              </a:rPr>
              <a:t>Task type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2834640" y="2468880"/>
            <a:ext cx="2377440" cy="548640"/>
          </a:xfrm>
          <a:prstGeom prst="rect">
            <a:avLst/>
          </a:prstGeom>
          <a:solidFill>
            <a:srgbClr val="0A0E1F"/>
          </a:solidFill>
          <a:ln w="12700">
            <a:solidFill>
              <a:srgbClr val="0A0E1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2971800" y="2468880"/>
            <a:ext cx="210312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00" normalizeH="0" baseline="0" noProof="0" dirty="0">
                <a:ln>
                  <a:noFill/>
                </a:ln>
                <a:solidFill>
                  <a:srgbClr val="FFFFFF"/>
                </a:solidFill>
                <a:effectLst/>
                <a:uLnTx/>
                <a:uFillTx/>
                <a:latin typeface="Calibri" pitchFamily="34" charset="0"/>
                <a:ea typeface="Calibri" pitchFamily="34" charset="-122"/>
                <a:cs typeface="Calibri" pitchFamily="34" charset="-120"/>
              </a:rPr>
              <a:t>Recommended Endpoint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5212080" y="2468880"/>
            <a:ext cx="2926080" cy="548640"/>
          </a:xfrm>
          <a:prstGeom prst="rect">
            <a:avLst/>
          </a:prstGeom>
          <a:solidFill>
            <a:srgbClr val="0A0E1F"/>
          </a:solidFill>
          <a:ln w="12700">
            <a:solidFill>
              <a:srgbClr val="0A0E1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5349240" y="2468880"/>
            <a:ext cx="265176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00" normalizeH="0" baseline="0" noProof="0" dirty="0">
                <a:ln>
                  <a:noFill/>
                </a:ln>
                <a:solidFill>
                  <a:srgbClr val="FFFFFF"/>
                </a:solidFill>
                <a:effectLst/>
                <a:uLnTx/>
                <a:uFillTx/>
                <a:latin typeface="Calibri" pitchFamily="34" charset="0"/>
                <a:ea typeface="Calibri" pitchFamily="34" charset="-122"/>
                <a:cs typeface="Calibri" pitchFamily="34" charset="-120"/>
              </a:rPr>
              <a:t>Example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8138160" y="2468880"/>
            <a:ext cx="1828800" cy="548640"/>
          </a:xfrm>
          <a:prstGeom prst="rect">
            <a:avLst/>
          </a:prstGeom>
          <a:solidFill>
            <a:srgbClr val="0A0E1F"/>
          </a:solidFill>
          <a:ln w="12700">
            <a:solidFill>
              <a:srgbClr val="0A0E1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8275320" y="2468880"/>
            <a:ext cx="155448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00" normalizeH="0" baseline="0" noProof="0" dirty="0">
                <a:ln>
                  <a:noFill/>
                </a:ln>
                <a:solidFill>
                  <a:srgbClr val="FFFFFF"/>
                </a:solidFill>
                <a:effectLst/>
                <a:uLnTx/>
                <a:uFillTx/>
                <a:latin typeface="Calibri" pitchFamily="34" charset="0"/>
                <a:ea typeface="Calibri" pitchFamily="34" charset="-122"/>
                <a:cs typeface="Calibri" pitchFamily="34" charset="-120"/>
              </a:rPr>
              <a:t>Price / 1K Token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9966960" y="2468880"/>
            <a:ext cx="1737360" cy="548640"/>
          </a:xfrm>
          <a:prstGeom prst="rect">
            <a:avLst/>
          </a:prstGeom>
          <a:solidFill>
            <a:srgbClr val="0A0E1F"/>
          </a:solidFill>
          <a:ln w="12700">
            <a:solidFill>
              <a:srgbClr val="0A0E1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10104120" y="2468880"/>
            <a:ext cx="146304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00" normalizeH="0" baseline="0" noProof="0" dirty="0">
                <a:ln>
                  <a:noFill/>
                </a:ln>
                <a:solidFill>
                  <a:srgbClr val="FFFFFF"/>
                </a:solidFill>
                <a:effectLst/>
                <a:uLnTx/>
                <a:uFillTx/>
                <a:latin typeface="Calibri" pitchFamily="34" charset="0"/>
                <a:ea typeface="Calibri" pitchFamily="34" charset="-122"/>
                <a:cs typeface="Calibri" pitchFamily="34" charset="-120"/>
              </a:rPr>
              <a:t>Budget share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457200" y="3017520"/>
            <a:ext cx="2377440" cy="594360"/>
          </a:xfrm>
          <a:prstGeom prst="rect">
            <a:avLst/>
          </a:prstGeom>
          <a:solidFill>
            <a:srgbClr val="FFFFFF"/>
          </a:solidFill>
          <a:ln w="6350">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594360" y="3017520"/>
            <a:ext cx="210312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Classification / routing decisions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2834640" y="3017520"/>
            <a:ext cx="2377440" cy="594360"/>
          </a:xfrm>
          <a:prstGeom prst="rect">
            <a:avLst/>
          </a:prstGeom>
          <a:solidFill>
            <a:srgbClr val="FFFFFF"/>
          </a:solidFill>
          <a:ln w="6350">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2971800" y="3017520"/>
            <a:ext cx="210312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D9501F"/>
                </a:solidFill>
                <a:effectLst/>
                <a:uLnTx/>
                <a:uFillTx/>
                <a:latin typeface="Calibri" pitchFamily="34" charset="0"/>
                <a:ea typeface="Calibri" pitchFamily="34" charset="-122"/>
                <a:cs typeface="Calibri" pitchFamily="34" charset="-120"/>
              </a:rPr>
              <a:t>Tiny  · 1.5B</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5212080" y="3017520"/>
            <a:ext cx="2926080" cy="594360"/>
          </a:xfrm>
          <a:prstGeom prst="rect">
            <a:avLst/>
          </a:prstGeom>
          <a:solidFill>
            <a:srgbClr val="FFFFFF"/>
          </a:solidFill>
          <a:ln w="6350">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5349240" y="3017520"/>
            <a:ext cx="265176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Intent recognition, profanity filtering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8138160" y="3017520"/>
            <a:ext cx="1828800" cy="594360"/>
          </a:xfrm>
          <a:prstGeom prst="rect">
            <a:avLst/>
          </a:prstGeom>
          <a:solidFill>
            <a:srgbClr val="FFFFFF"/>
          </a:solidFill>
          <a:ln w="6350">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8275320" y="3017520"/>
            <a:ext cx="155448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138"/>
                </a:solidFill>
                <a:effectLst/>
                <a:uLnTx/>
                <a:uFillTx/>
                <a:latin typeface="Consolas" pitchFamily="34" charset="0"/>
                <a:ea typeface="Consolas" pitchFamily="34" charset="-122"/>
                <a:cs typeface="Consolas" pitchFamily="34" charset="-120"/>
              </a:rPr>
              <a:t>$0.0004</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9966960" y="3017520"/>
            <a:ext cx="1737360" cy="594360"/>
          </a:xfrm>
          <a:prstGeom prst="rect">
            <a:avLst/>
          </a:prstGeom>
          <a:solidFill>
            <a:srgbClr val="FFFFFF"/>
          </a:solidFill>
          <a:ln w="6350">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10104120" y="3017520"/>
            <a:ext cx="146304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5%</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457200" y="3611880"/>
            <a:ext cx="2377440" cy="594360"/>
          </a:xfrm>
          <a:prstGeom prst="rect">
            <a:avLst/>
          </a:prstGeom>
          <a:solidFill>
            <a:srgbClr val="EEF1F7"/>
          </a:solidFill>
          <a:ln w="6350">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7"/>
          <p:cNvSpPr/>
          <p:nvPr/>
        </p:nvSpPr>
        <p:spPr>
          <a:xfrm>
            <a:off x="594360" y="3611880"/>
            <a:ext cx="210312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Structured extraction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2834640" y="3611880"/>
            <a:ext cx="2377440" cy="594360"/>
          </a:xfrm>
          <a:prstGeom prst="rect">
            <a:avLst/>
          </a:prstGeom>
          <a:solidFill>
            <a:srgbClr val="EEF1F7"/>
          </a:solidFill>
          <a:ln w="6350">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2971800" y="3611880"/>
            <a:ext cx="210312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D9501F"/>
                </a:solidFill>
                <a:effectLst/>
                <a:uLnTx/>
                <a:uFillTx/>
                <a:latin typeface="Calibri" pitchFamily="34" charset="0"/>
                <a:ea typeface="Calibri" pitchFamily="34" charset="-122"/>
                <a:cs typeface="Calibri" pitchFamily="34" charset="-120"/>
              </a:rPr>
              <a:t>Small · 7B</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5212080" y="3611880"/>
            <a:ext cx="2926080" cy="594360"/>
          </a:xfrm>
          <a:prstGeom prst="rect">
            <a:avLst/>
          </a:prstGeom>
          <a:solidFill>
            <a:srgbClr val="EEF1F7"/>
          </a:solidFill>
          <a:ln w="6350">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1"/>
          <p:cNvSpPr/>
          <p:nvPr/>
        </p:nvSpPr>
        <p:spPr>
          <a:xfrm>
            <a:off x="5349240" y="3611880"/>
            <a:ext cx="265176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Resume fields, contract clauses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2"/>
          <p:cNvSpPr/>
          <p:nvPr/>
        </p:nvSpPr>
        <p:spPr>
          <a:xfrm>
            <a:off x="8138160" y="3611880"/>
            <a:ext cx="1828800" cy="594360"/>
          </a:xfrm>
          <a:prstGeom prst="rect">
            <a:avLst/>
          </a:prstGeom>
          <a:solidFill>
            <a:srgbClr val="EEF1F7"/>
          </a:solidFill>
          <a:ln w="6350">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3"/>
          <p:cNvSpPr/>
          <p:nvPr/>
        </p:nvSpPr>
        <p:spPr>
          <a:xfrm>
            <a:off x="8275320" y="3611880"/>
            <a:ext cx="155448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138"/>
                </a:solidFill>
                <a:effectLst/>
                <a:uLnTx/>
                <a:uFillTx/>
                <a:latin typeface="Consolas" pitchFamily="34" charset="0"/>
                <a:ea typeface="Consolas" pitchFamily="34" charset="-122"/>
                <a:cs typeface="Consolas" pitchFamily="34" charset="-120"/>
              </a:rPr>
              <a:t>$0.0010</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4"/>
          <p:cNvSpPr/>
          <p:nvPr/>
        </p:nvSpPr>
        <p:spPr>
          <a:xfrm>
            <a:off x="9966960" y="3611880"/>
            <a:ext cx="1737360" cy="594360"/>
          </a:xfrm>
          <a:prstGeom prst="rect">
            <a:avLst/>
          </a:prstGeom>
          <a:solidFill>
            <a:srgbClr val="EEF1F7"/>
          </a:solidFill>
          <a:ln w="6350">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35"/>
          <p:cNvSpPr/>
          <p:nvPr/>
        </p:nvSpPr>
        <p:spPr>
          <a:xfrm>
            <a:off x="10104120" y="3611880"/>
            <a:ext cx="146304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20%</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Shape 36"/>
          <p:cNvSpPr/>
          <p:nvPr/>
        </p:nvSpPr>
        <p:spPr>
          <a:xfrm>
            <a:off x="457200" y="4206240"/>
            <a:ext cx="2377440" cy="594360"/>
          </a:xfrm>
          <a:prstGeom prst="rect">
            <a:avLst/>
          </a:prstGeom>
          <a:solidFill>
            <a:srgbClr val="FFFFFF"/>
          </a:solidFill>
          <a:ln w="6350">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7"/>
          <p:cNvSpPr/>
          <p:nvPr/>
        </p:nvSpPr>
        <p:spPr>
          <a:xfrm>
            <a:off x="594360" y="4206240"/>
            <a:ext cx="210312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Dialogue &amp; summary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8"/>
          <p:cNvSpPr/>
          <p:nvPr/>
        </p:nvSpPr>
        <p:spPr>
          <a:xfrm>
            <a:off x="2834640" y="4206240"/>
            <a:ext cx="2377440" cy="594360"/>
          </a:xfrm>
          <a:prstGeom prst="rect">
            <a:avLst/>
          </a:prstGeom>
          <a:solidFill>
            <a:srgbClr val="FFFFFF"/>
          </a:solidFill>
          <a:ln w="6350">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9"/>
          <p:cNvSpPr/>
          <p:nvPr/>
        </p:nvSpPr>
        <p:spPr>
          <a:xfrm>
            <a:off x="2971800" y="4206240"/>
            <a:ext cx="210312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D9501F"/>
                </a:solidFill>
                <a:effectLst/>
                <a:uLnTx/>
                <a:uFillTx/>
                <a:latin typeface="Calibri" pitchFamily="34" charset="0"/>
                <a:ea typeface="Calibri" pitchFamily="34" charset="-122"/>
                <a:cs typeface="Calibri" pitchFamily="34" charset="-120"/>
              </a:rPr>
              <a:t>Mid   · 70B</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40"/>
          <p:cNvSpPr/>
          <p:nvPr/>
        </p:nvSpPr>
        <p:spPr>
          <a:xfrm>
            <a:off x="5212080" y="4206240"/>
            <a:ext cx="2926080" cy="594360"/>
          </a:xfrm>
          <a:prstGeom prst="rect">
            <a:avLst/>
          </a:prstGeom>
          <a:solidFill>
            <a:srgbClr val="FFFFFF"/>
          </a:solidFill>
          <a:ln w="6350">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41"/>
          <p:cNvSpPr/>
          <p:nvPr/>
        </p:nvSpPr>
        <p:spPr>
          <a:xfrm>
            <a:off x="5349240" y="4206240"/>
            <a:ext cx="265176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Customer support dialogue, document summary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Shape 42"/>
          <p:cNvSpPr/>
          <p:nvPr/>
        </p:nvSpPr>
        <p:spPr>
          <a:xfrm>
            <a:off x="8138160" y="4206240"/>
            <a:ext cx="1828800" cy="594360"/>
          </a:xfrm>
          <a:prstGeom prst="rect">
            <a:avLst/>
          </a:prstGeom>
          <a:solidFill>
            <a:srgbClr val="FFFFFF"/>
          </a:solidFill>
          <a:ln w="6350">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Text 43"/>
          <p:cNvSpPr/>
          <p:nvPr/>
        </p:nvSpPr>
        <p:spPr>
          <a:xfrm>
            <a:off x="8275320" y="4206240"/>
            <a:ext cx="155448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138"/>
                </a:solidFill>
                <a:effectLst/>
                <a:uLnTx/>
                <a:uFillTx/>
                <a:latin typeface="Consolas" pitchFamily="34" charset="0"/>
                <a:ea typeface="Consolas" pitchFamily="34" charset="-122"/>
                <a:cs typeface="Consolas" pitchFamily="34" charset="-120"/>
              </a:rPr>
              <a:t>$0.0120</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Shape 44"/>
          <p:cNvSpPr/>
          <p:nvPr/>
        </p:nvSpPr>
        <p:spPr>
          <a:xfrm>
            <a:off x="9966960" y="4206240"/>
            <a:ext cx="1737360" cy="594360"/>
          </a:xfrm>
          <a:prstGeom prst="rect">
            <a:avLst/>
          </a:prstGeom>
          <a:solidFill>
            <a:srgbClr val="FFFFFF"/>
          </a:solidFill>
          <a:ln w="6350">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Text 45"/>
          <p:cNvSpPr/>
          <p:nvPr/>
        </p:nvSpPr>
        <p:spPr>
          <a:xfrm>
            <a:off x="10104120" y="4206240"/>
            <a:ext cx="146304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45%</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Shape 46"/>
          <p:cNvSpPr/>
          <p:nvPr/>
        </p:nvSpPr>
        <p:spPr>
          <a:xfrm>
            <a:off x="457200" y="4800600"/>
            <a:ext cx="2377440" cy="594360"/>
          </a:xfrm>
          <a:prstGeom prst="rect">
            <a:avLst/>
          </a:prstGeom>
          <a:solidFill>
            <a:srgbClr val="EEF1F7"/>
          </a:solidFill>
          <a:ln w="6350">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47"/>
          <p:cNvSpPr/>
          <p:nvPr/>
        </p:nvSpPr>
        <p:spPr>
          <a:xfrm>
            <a:off x="594360" y="4800600"/>
            <a:ext cx="210312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Complex reasoning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Shape 48"/>
          <p:cNvSpPr/>
          <p:nvPr/>
        </p:nvSpPr>
        <p:spPr>
          <a:xfrm>
            <a:off x="2834640" y="4800600"/>
            <a:ext cx="2377440" cy="594360"/>
          </a:xfrm>
          <a:prstGeom prst="rect">
            <a:avLst/>
          </a:prstGeom>
          <a:solidFill>
            <a:srgbClr val="EEF1F7"/>
          </a:solidFill>
          <a:ln w="6350">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Text 49"/>
          <p:cNvSpPr/>
          <p:nvPr/>
        </p:nvSpPr>
        <p:spPr>
          <a:xfrm>
            <a:off x="2971800" y="4800600"/>
            <a:ext cx="210312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D9501F"/>
                </a:solidFill>
                <a:effectLst/>
                <a:uLnTx/>
                <a:uFillTx/>
                <a:latin typeface="Calibri" pitchFamily="34" charset="0"/>
                <a:ea typeface="Calibri" pitchFamily="34" charset="-122"/>
                <a:cs typeface="Calibri" pitchFamily="34" charset="-120"/>
              </a:rPr>
              <a:t>Large · GPT-4 tier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Shape 50"/>
          <p:cNvSpPr/>
          <p:nvPr/>
        </p:nvSpPr>
        <p:spPr>
          <a:xfrm>
            <a:off x="5212080" y="4800600"/>
            <a:ext cx="2926080" cy="594360"/>
          </a:xfrm>
          <a:prstGeom prst="rect">
            <a:avLst/>
          </a:prstGeom>
          <a:solidFill>
            <a:srgbClr val="EEF1F7"/>
          </a:solidFill>
          <a:ln w="6350">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Text 51"/>
          <p:cNvSpPr/>
          <p:nvPr/>
        </p:nvSpPr>
        <p:spPr>
          <a:xfrm>
            <a:off x="5349240" y="4800600"/>
            <a:ext cx="265176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Multi-step code generation, Agent decisions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Shape 52"/>
          <p:cNvSpPr/>
          <p:nvPr/>
        </p:nvSpPr>
        <p:spPr>
          <a:xfrm>
            <a:off x="8138160" y="4800600"/>
            <a:ext cx="1828800" cy="594360"/>
          </a:xfrm>
          <a:prstGeom prst="rect">
            <a:avLst/>
          </a:prstGeom>
          <a:solidFill>
            <a:srgbClr val="EEF1F7"/>
          </a:solidFill>
          <a:ln w="6350">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53"/>
          <p:cNvSpPr/>
          <p:nvPr/>
        </p:nvSpPr>
        <p:spPr>
          <a:xfrm>
            <a:off x="8275320" y="4800600"/>
            <a:ext cx="155448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138"/>
                </a:solidFill>
                <a:effectLst/>
                <a:uLnTx/>
                <a:uFillTx/>
                <a:latin typeface="Consolas" pitchFamily="34" charset="0"/>
                <a:ea typeface="Consolas" pitchFamily="34" charset="-122"/>
                <a:cs typeface="Consolas" pitchFamily="34" charset="-120"/>
              </a:rPr>
              <a:t>$0.0300</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Shape 54"/>
          <p:cNvSpPr/>
          <p:nvPr/>
        </p:nvSpPr>
        <p:spPr>
          <a:xfrm>
            <a:off x="9966960" y="4800600"/>
            <a:ext cx="1737360" cy="594360"/>
          </a:xfrm>
          <a:prstGeom prst="rect">
            <a:avLst/>
          </a:prstGeom>
          <a:solidFill>
            <a:srgbClr val="EEF1F7"/>
          </a:solidFill>
          <a:ln w="6350">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Text 55"/>
          <p:cNvSpPr/>
          <p:nvPr/>
        </p:nvSpPr>
        <p:spPr>
          <a:xfrm>
            <a:off x="10104120" y="4800600"/>
            <a:ext cx="146304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30%</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Shape 56"/>
          <p:cNvSpPr/>
          <p:nvPr/>
        </p:nvSpPr>
        <p:spPr>
          <a:xfrm>
            <a:off x="457200" y="5532120"/>
            <a:ext cx="11247120" cy="548640"/>
          </a:xfrm>
          <a:prstGeom prst="rect">
            <a:avLst/>
          </a:prstGeom>
          <a:solidFill>
            <a:srgbClr val="0A0E1F"/>
          </a:solidFill>
          <a:ln w="12700">
            <a:solidFill>
              <a:srgbClr val="0A0E1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Text 57"/>
          <p:cNvSpPr/>
          <p:nvPr/>
        </p:nvSpPr>
        <p:spPr>
          <a:xfrm>
            <a:off x="640080" y="5532120"/>
            <a:ext cx="1097280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Rule: every Workflow must explicitly declare endpoint_tag — undeclared defaults to Tiny → forces developers to actively pick a tier.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 name="Text 58"/>
          <p:cNvSpPr/>
          <p:nvPr/>
        </p:nvSpPr>
        <p:spPr>
          <a:xfrm>
            <a:off x="457200" y="6537960"/>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5B6478"/>
                </a:solidFill>
                <a:effectLst/>
                <a:uLnTx/>
                <a:uFillTx/>
                <a:latin typeface="Calibri" pitchFamily="34" charset="0"/>
                <a:ea typeface="Calibri" pitchFamily="34" charset="-122"/>
                <a:cs typeface="Calibri" pitchFamily="34" charset="-120"/>
              </a:rPr>
              <a:t>OpenClaw  ·  Token Economics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Text 59"/>
          <p:cNvSpPr/>
          <p:nvPr/>
        </p:nvSpPr>
        <p:spPr>
          <a:xfrm>
            <a:off x="10789920" y="6537960"/>
            <a:ext cx="9144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B6478"/>
                </a:solidFill>
                <a:effectLst/>
                <a:uLnTx/>
                <a:uFillTx/>
                <a:latin typeface="Consolas" pitchFamily="34" charset="0"/>
                <a:ea typeface="Consolas" pitchFamily="34" charset="-122"/>
                <a:cs typeface="Consolas" pitchFamily="34" charset="-120"/>
              </a:rPr>
              <a:t>13 / 20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411480"/>
            <a:ext cx="502920" cy="365760"/>
          </a:xfrm>
          <a:prstGeom prst="rect">
            <a:avLst/>
          </a:prstGeom>
          <a:solidFill>
            <a:srgbClr val="D9501F"/>
          </a:solidFill>
          <a:ln w="12700">
            <a:solidFill>
              <a:srgbClr val="D9501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57200" y="411480"/>
            <a:ext cx="50292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A0E1F"/>
                </a:solidFill>
                <a:effectLst/>
                <a:uLnTx/>
                <a:uFillTx/>
                <a:latin typeface="Calibri" pitchFamily="34" charset="0"/>
                <a:ea typeface="Calibri" pitchFamily="34" charset="-122"/>
                <a:cs typeface="Calibri" pitchFamily="34" charset="-120"/>
              </a:rPr>
              <a:t>04</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051560" y="411480"/>
            <a:ext cx="7315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D9501F"/>
                </a:solidFill>
                <a:effectLst/>
                <a:uLnTx/>
                <a:uFillTx/>
                <a:latin typeface="Calibri" pitchFamily="34" charset="0"/>
                <a:ea typeface="Calibri" pitchFamily="34" charset="-122"/>
                <a:cs typeface="Calibri" pitchFamily="34" charset="-120"/>
              </a:rPr>
              <a:t>STRATEGY 02  ·  DECISION TREE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868680"/>
            <a:ext cx="1124712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Token Diet Decision Tree</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57200" y="1600200"/>
            <a:ext cx="112471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6478"/>
                </a:solidFill>
                <a:effectLst/>
                <a:uLnTx/>
                <a:uFillTx/>
                <a:latin typeface="Calibri" pitchFamily="34" charset="0"/>
                <a:ea typeface="Calibri" pitchFamily="34" charset="-122"/>
                <a:cs typeface="Calibri" pitchFamily="34" charset="-120"/>
              </a:rPr>
              <a:t>A 30-ms pre-call decision determines how many "calories" this request gets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846320" y="2377440"/>
            <a:ext cx="2468880" cy="731520"/>
          </a:xfrm>
          <a:prstGeom prst="roundRect">
            <a:avLst>
              <a:gd name="adj" fmla="val 6250"/>
            </a:avLst>
          </a:prstGeom>
          <a:solidFill>
            <a:srgbClr val="0A0E1F"/>
          </a:solidFill>
          <a:ln w="12700">
            <a:solidFill>
              <a:srgbClr val="0A0E1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4846320" y="2377440"/>
            <a:ext cx="2468880" cy="7315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INCOMING REQUEST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4846320" y="3383280"/>
            <a:ext cx="2468880" cy="64008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4846320" y="3383280"/>
            <a:ext cx="246888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A0E1F"/>
                </a:solidFill>
                <a:effectLst/>
                <a:uLnTx/>
                <a:uFillTx/>
                <a:latin typeface="Calibri" pitchFamily="34" charset="0"/>
                <a:ea typeface="Calibri" pitchFamily="34" charset="-122"/>
                <a:cs typeface="Calibri" pitchFamily="34" charset="-120"/>
              </a:rPr>
              <a:t>Prompt &lt; 500 tokens?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6080760" y="4023360"/>
            <a:ext cx="0" cy="365760"/>
          </a:xfrm>
          <a:prstGeom prst="line">
            <a:avLst/>
          </a:prstGeom>
          <a:noFill/>
          <a:ln w="1905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1188720" y="4434840"/>
            <a:ext cx="2926080" cy="868680"/>
          </a:xfrm>
          <a:prstGeom prst="rect">
            <a:avLst/>
          </a:prstGeom>
          <a:solidFill>
            <a:srgbClr val="00B894"/>
          </a:solidFill>
          <a:ln w="12700">
            <a:solidFill>
              <a:srgbClr val="00B89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1188720" y="4526280"/>
            <a:ext cx="292608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TINY / SMALL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188720" y="4892040"/>
            <a:ext cx="292608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A0E1F"/>
                </a:solidFill>
                <a:effectLst/>
                <a:uLnTx/>
                <a:uFillTx/>
                <a:latin typeface="Consolas" pitchFamily="34" charset="0"/>
                <a:ea typeface="Consolas" pitchFamily="34" charset="-122"/>
                <a:cs typeface="Consolas" pitchFamily="34" charset="-120"/>
              </a:rPr>
              <a:t>Classification / extraction scenarios  ·  $0.001/K</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3657600" y="4023360"/>
            <a:ext cx="5486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B894"/>
                </a:solidFill>
                <a:effectLst/>
                <a:uLnTx/>
                <a:uFillTx/>
                <a:latin typeface="Consolas" pitchFamily="34" charset="0"/>
                <a:ea typeface="Consolas" pitchFamily="34" charset="-122"/>
                <a:cs typeface="Consolas" pitchFamily="34" charset="-120"/>
              </a:rPr>
              <a:t>YES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6080760" y="4023360"/>
            <a:ext cx="2743200" cy="365760"/>
          </a:xfrm>
          <a:prstGeom prst="line">
            <a:avLst/>
          </a:prstGeom>
          <a:noFill/>
          <a:ln w="1905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7955280" y="4023360"/>
            <a:ext cx="5486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D9501F"/>
                </a:solidFill>
                <a:effectLst/>
                <a:uLnTx/>
                <a:uFillTx/>
                <a:latin typeface="Consolas" pitchFamily="34" charset="0"/>
                <a:ea typeface="Consolas" pitchFamily="34" charset="-122"/>
                <a:cs typeface="Consolas" pitchFamily="34" charset="-120"/>
              </a:rPr>
              <a:t>NO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7315200" y="4434840"/>
            <a:ext cx="2926080" cy="64008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7315200" y="4434840"/>
            <a:ext cx="292608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A0E1F"/>
                </a:solidFill>
                <a:effectLst/>
                <a:uLnTx/>
                <a:uFillTx/>
                <a:latin typeface="Calibri" pitchFamily="34" charset="0"/>
                <a:ea typeface="Calibri" pitchFamily="34" charset="-122"/>
                <a:cs typeface="Calibri" pitchFamily="34" charset="-120"/>
              </a:rPr>
              <a:t>Multi-step reasoning needed?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7315200" y="5074920"/>
            <a:ext cx="0" cy="365760"/>
          </a:xfrm>
          <a:prstGeom prst="line">
            <a:avLst/>
          </a:prstGeom>
          <a:noFill/>
          <a:ln w="1905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4846320" y="5486400"/>
            <a:ext cx="2468880" cy="777240"/>
          </a:xfrm>
          <a:prstGeom prst="rect">
            <a:avLst/>
          </a:prstGeom>
          <a:solidFill>
            <a:srgbClr val="FFC857"/>
          </a:solidFill>
          <a:ln w="12700">
            <a:solidFill>
              <a:srgbClr val="FFC8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4846320" y="5532120"/>
            <a:ext cx="246888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A0E1F"/>
                </a:solidFill>
                <a:effectLst/>
                <a:uLnTx/>
                <a:uFillTx/>
                <a:latin typeface="Calibri" pitchFamily="34" charset="0"/>
                <a:ea typeface="Calibri" pitchFamily="34" charset="-122"/>
                <a:cs typeface="Calibri" pitchFamily="34" charset="-120"/>
              </a:rPr>
              <a:t>→  MID  · 70B</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4846320" y="5852160"/>
            <a:ext cx="246888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A0E1F"/>
                </a:solidFill>
                <a:effectLst/>
                <a:uLnTx/>
                <a:uFillTx/>
                <a:latin typeface="Consolas" pitchFamily="34" charset="0"/>
                <a:ea typeface="Consolas" pitchFamily="34" charset="-122"/>
                <a:cs typeface="Consolas" pitchFamily="34" charset="-120"/>
              </a:rPr>
              <a:t>Dialogue / summary  ·  $0.012/K</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10241280" y="5074920"/>
            <a:ext cx="0" cy="365760"/>
          </a:xfrm>
          <a:prstGeom prst="line">
            <a:avLst/>
          </a:prstGeom>
          <a:noFill/>
          <a:ln w="1905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p:cNvSpPr/>
          <p:nvPr/>
        </p:nvSpPr>
        <p:spPr>
          <a:xfrm>
            <a:off x="8778240" y="5486400"/>
            <a:ext cx="2926080" cy="777240"/>
          </a:xfrm>
          <a:prstGeom prst="rect">
            <a:avLst/>
          </a:prstGeom>
          <a:solidFill>
            <a:srgbClr val="FF4757"/>
          </a:solidFill>
          <a:ln w="12700">
            <a:solidFill>
              <a:srgbClr val="FF47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8778240" y="5532120"/>
            <a:ext cx="292608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LARGE  · GPT-4</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8778240" y="5852160"/>
            <a:ext cx="292608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Agent / code  ·  $0.030/K</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6126480" y="5212080"/>
            <a:ext cx="5486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C857"/>
                </a:solidFill>
                <a:effectLst/>
                <a:uLnTx/>
                <a:uFillTx/>
                <a:latin typeface="Consolas" pitchFamily="34" charset="0"/>
                <a:ea typeface="Consolas" pitchFamily="34" charset="-122"/>
                <a:cs typeface="Consolas" pitchFamily="34" charset="-120"/>
              </a:rPr>
              <a:t>NO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10332720" y="5212080"/>
            <a:ext cx="5486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4757"/>
                </a:solidFill>
                <a:effectLst/>
                <a:uLnTx/>
                <a:uFillTx/>
                <a:latin typeface="Consolas" pitchFamily="34" charset="0"/>
                <a:ea typeface="Consolas" pitchFamily="34" charset="-122"/>
                <a:cs typeface="Consolas" pitchFamily="34" charset="-120"/>
              </a:rPr>
              <a:t>YES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p:cNvSpPr/>
          <p:nvPr/>
        </p:nvSpPr>
        <p:spPr>
          <a:xfrm>
            <a:off x="6080760" y="3108960"/>
            <a:ext cx="0" cy="274320"/>
          </a:xfrm>
          <a:prstGeom prst="line">
            <a:avLst/>
          </a:prstGeom>
          <a:noFill/>
          <a:ln w="19050">
            <a:solidFill>
              <a:srgbClr val="0A0E1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457200" y="6537960"/>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5B6478"/>
                </a:solidFill>
                <a:effectLst/>
                <a:uLnTx/>
                <a:uFillTx/>
                <a:latin typeface="Calibri" pitchFamily="34" charset="0"/>
                <a:ea typeface="Calibri" pitchFamily="34" charset="-122"/>
                <a:cs typeface="Calibri" pitchFamily="34" charset="-120"/>
              </a:rPr>
              <a:t>OpenClaw  ·  Token Economics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10789920" y="6537960"/>
            <a:ext cx="9144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B6478"/>
                </a:solidFill>
                <a:effectLst/>
                <a:uLnTx/>
                <a:uFillTx/>
                <a:latin typeface="Consolas" pitchFamily="34" charset="0"/>
                <a:ea typeface="Consolas" pitchFamily="34" charset="-122"/>
                <a:cs typeface="Consolas" pitchFamily="34" charset="-120"/>
              </a:rPr>
              <a:t>14 / 20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0E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411480"/>
            <a:ext cx="502920" cy="36576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57200" y="411480"/>
            <a:ext cx="50292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A0E1F"/>
                </a:solidFill>
                <a:effectLst/>
                <a:uLnTx/>
                <a:uFillTx/>
                <a:latin typeface="Calibri" pitchFamily="34" charset="0"/>
                <a:ea typeface="Calibri" pitchFamily="34" charset="-122"/>
                <a:cs typeface="Calibri" pitchFamily="34" charset="-120"/>
              </a:rPr>
              <a:t>04</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051560" y="411480"/>
            <a:ext cx="7315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FF6B35"/>
                </a:solidFill>
                <a:effectLst/>
                <a:uLnTx/>
                <a:uFillTx/>
                <a:latin typeface="Calibri" pitchFamily="34" charset="0"/>
                <a:ea typeface="Calibri" pitchFamily="34" charset="-122"/>
                <a:cs typeface="Calibri" pitchFamily="34" charset="-120"/>
              </a:rPr>
              <a:t>STRATEGY 02  ·  COST IMPACT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868680"/>
            <a:ext cx="1124712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Cost Curve from Token Diet</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57200" y="1600200"/>
            <a:ext cx="112471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Same workflow: default all-large-model vs OpenClaw smart routing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1371600" y="2743200"/>
            <a:ext cx="1371600" cy="3108960"/>
          </a:xfrm>
          <a:prstGeom prst="rect">
            <a:avLst/>
          </a:prstGeom>
          <a:solidFill>
            <a:srgbClr val="FF4757"/>
          </a:solidFill>
          <a:ln w="12700">
            <a:solidFill>
              <a:srgbClr val="FF47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914400" y="2240280"/>
            <a:ext cx="228600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4757"/>
                </a:solidFill>
                <a:effectLst/>
                <a:uLnTx/>
                <a:uFillTx/>
                <a:latin typeface="Calibri" pitchFamily="34" charset="0"/>
                <a:ea typeface="Calibri" pitchFamily="34" charset="-122"/>
                <a:cs typeface="Calibri" pitchFamily="34" charset="-120"/>
              </a:rPr>
              <a:t>$ 4,820</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914400" y="5943600"/>
            <a:ext cx="228600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Default · All large model</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3840480" y="4813690"/>
            <a:ext cx="1371600" cy="1038470"/>
          </a:xfrm>
          <a:prstGeom prst="rect">
            <a:avLst/>
          </a:prstGeom>
          <a:solidFill>
            <a:srgbClr val="00E5C7"/>
          </a:solid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3840480" y="2743200"/>
            <a:ext cx="1371600" cy="2070490"/>
          </a:xfrm>
          <a:prstGeom prst="rect">
            <a:avLst/>
          </a:prstGeom>
          <a:solidFill>
            <a:srgbClr val="1B2240"/>
          </a:solidFill>
          <a:ln w="12700">
            <a:solidFill>
              <a:srgbClr val="1B22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3383280" y="4310770"/>
            <a:ext cx="228600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E5C7"/>
                </a:solidFill>
                <a:effectLst/>
                <a:uLnTx/>
                <a:uFillTx/>
                <a:latin typeface="Calibri" pitchFamily="34" charset="0"/>
                <a:ea typeface="Calibri" pitchFamily="34" charset="-122"/>
                <a:cs typeface="Calibri" pitchFamily="34" charset="-120"/>
              </a:rPr>
              <a:t>$ 1,610</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3383280" y="5943600"/>
            <a:ext cx="228600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OpenClaw · Smart routing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731520" y="5852160"/>
            <a:ext cx="5029200" cy="0"/>
          </a:xfrm>
          <a:prstGeom prst="line">
            <a:avLst/>
          </a:prstGeom>
          <a:noFill/>
          <a:ln w="9525">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6858000" y="2377440"/>
            <a:ext cx="4846320" cy="374904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6858000" y="2377440"/>
            <a:ext cx="109728" cy="3749040"/>
          </a:xfrm>
          <a:prstGeom prst="rect">
            <a:avLst/>
          </a:prstGeom>
          <a:solidFill>
            <a:srgbClr val="00E5C7"/>
          </a:solid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7178040" y="2606040"/>
            <a:ext cx="45720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300" normalizeH="0" baseline="0" noProof="0" dirty="0">
                <a:ln>
                  <a:noFill/>
                </a:ln>
                <a:solidFill>
                  <a:srgbClr val="00E5C7"/>
                </a:solidFill>
                <a:effectLst/>
                <a:uLnTx/>
                <a:uFillTx/>
                <a:latin typeface="Consolas" pitchFamily="34" charset="0"/>
                <a:ea typeface="Consolas" pitchFamily="34" charset="-122"/>
                <a:cs typeface="Consolas" pitchFamily="34" charset="-120"/>
              </a:rPr>
              <a:t>MONTHLY  SAVING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7178040" y="2926080"/>
            <a:ext cx="4572000" cy="1645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-66.6%</a:t>
            </a:r>
            <a:endParaRPr kumimoji="0" lang="en-US" sz="8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7178040" y="4663440"/>
            <a:ext cx="429768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Monthly bill drops from $4,820 to $1,610</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7178040" y="5120640"/>
            <a:ext cx="4297680" cy="0"/>
          </a:xfrm>
          <a:prstGeom prst="line">
            <a:avLst/>
          </a:prstGeom>
          <a:noFill/>
          <a:ln w="1270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7178040" y="5349240"/>
            <a:ext cx="109728" cy="109728"/>
          </a:xfrm>
          <a:prstGeom prst="rect">
            <a:avLst/>
          </a:prstGeom>
          <a:solidFill>
            <a:srgbClr val="00E5C7"/>
          </a:solid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7360920" y="5285232"/>
            <a:ext cx="4114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62% traffic routed to Tiny / Small tiers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7178040" y="5623560"/>
            <a:ext cx="109728" cy="109728"/>
          </a:xfrm>
          <a:prstGeom prst="rect">
            <a:avLst/>
          </a:prstGeom>
          <a:solidFill>
            <a:srgbClr val="00E5C7"/>
          </a:solid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7360920" y="5559552"/>
            <a:ext cx="4114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Only 8% complex tasks stay on GPT-4 tier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7178040" y="5897880"/>
            <a:ext cx="109728" cy="109728"/>
          </a:xfrm>
          <a:prstGeom prst="rect">
            <a:avLst/>
          </a:prstGeom>
          <a:solidFill>
            <a:srgbClr val="00E5C7"/>
          </a:solid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7360920" y="5833872"/>
            <a:ext cx="4114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P95 latency drops 41% simultaneously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457200" y="6537960"/>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8A93A6"/>
                </a:solidFill>
                <a:effectLst/>
                <a:uLnTx/>
                <a:uFillTx/>
                <a:latin typeface="Calibri" pitchFamily="34" charset="0"/>
                <a:ea typeface="Calibri" pitchFamily="34" charset="-122"/>
                <a:cs typeface="Calibri" pitchFamily="34" charset="-120"/>
              </a:rPr>
              <a:t>OpenClaw  ·  Token Economics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10789920" y="6537960"/>
            <a:ext cx="9144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A93A6"/>
                </a:solidFill>
                <a:effectLst/>
                <a:uLnTx/>
                <a:uFillTx/>
                <a:latin typeface="Consolas" pitchFamily="34" charset="0"/>
                <a:ea typeface="Consolas" pitchFamily="34" charset="-122"/>
                <a:cs typeface="Consolas" pitchFamily="34" charset="-120"/>
              </a:rPr>
              <a:t>15 / 20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E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411480"/>
            <a:ext cx="502920" cy="36576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57200" y="411480"/>
            <a:ext cx="50292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A0E1F"/>
                </a:solidFill>
                <a:effectLst/>
                <a:uLnTx/>
                <a:uFillTx/>
                <a:latin typeface="Calibri" pitchFamily="34" charset="0"/>
                <a:ea typeface="Calibri" pitchFamily="34" charset="-122"/>
                <a:cs typeface="Calibri" pitchFamily="34" charset="-120"/>
              </a:rPr>
              <a:t>05</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051560" y="411480"/>
            <a:ext cx="7315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FF6B35"/>
                </a:solidFill>
                <a:effectLst/>
                <a:uLnTx/>
                <a:uFillTx/>
                <a:latin typeface="Calibri" pitchFamily="34" charset="0"/>
                <a:ea typeface="Calibri" pitchFamily="34" charset="-122"/>
                <a:cs typeface="Calibri" pitchFamily="34" charset="-120"/>
              </a:rPr>
              <a:t>STRATEGY 03  ·  CIRCUIT BREAKER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868680"/>
            <a:ext cx="1124712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Strategy 3  ·  Monitor &amp; Break</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57200" y="1600200"/>
            <a:ext cx="112471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Code-level Token meter · Threshold alerts · Auto-rollback</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57200" y="2377440"/>
            <a:ext cx="5486400" cy="374904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640080" y="2560320"/>
            <a:ext cx="51206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300" normalizeH="0" baseline="0" noProof="0" dirty="0">
                <a:ln>
                  <a:noFill/>
                </a:ln>
                <a:solidFill>
                  <a:srgbClr val="00E5C7"/>
                </a:solidFill>
                <a:effectLst/>
                <a:uLnTx/>
                <a:uFillTx/>
                <a:latin typeface="Consolas" pitchFamily="34" charset="0"/>
                <a:ea typeface="Consolas" pitchFamily="34" charset="-122"/>
                <a:cs typeface="Consolas" pitchFamily="34" charset="-120"/>
              </a:rPr>
              <a:t>LIVE  TOKEN  METER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640080" y="3017520"/>
            <a:ext cx="512064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Current task usage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640080" y="3291840"/>
            <a:ext cx="512064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8,420  /  10,000</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640080" y="3977640"/>
            <a:ext cx="5120640" cy="320040"/>
          </a:xfrm>
          <a:prstGeom prst="rect">
            <a:avLst/>
          </a:prstGeom>
          <a:solidFill>
            <a:srgbClr val="1B2240"/>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640080" y="3977640"/>
            <a:ext cx="4311579" cy="32004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4736592" y="3886200"/>
            <a:ext cx="0" cy="502920"/>
          </a:xfrm>
          <a:prstGeom prst="line">
            <a:avLst/>
          </a:prstGeom>
          <a:noFill/>
          <a:ln w="19050">
            <a:solidFill>
              <a:srgbClr val="FF47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4187952" y="4434840"/>
            <a:ext cx="1371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4757"/>
                </a:solidFill>
                <a:effectLst/>
                <a:uLnTx/>
                <a:uFillTx/>
                <a:latin typeface="Consolas" pitchFamily="34" charset="0"/>
                <a:ea typeface="Consolas" pitchFamily="34" charset="-122"/>
                <a:cs typeface="Consolas" pitchFamily="34" charset="-120"/>
              </a:rPr>
              <a:t>80% threshold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40080" y="4937760"/>
            <a:ext cx="914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A93A6"/>
                </a:solidFill>
                <a:effectLst/>
                <a:uLnTx/>
                <a:uFillTx/>
                <a:latin typeface="Consolas" pitchFamily="34" charset="0"/>
                <a:ea typeface="Consolas" pitchFamily="34" charset="-122"/>
                <a:cs typeface="Consolas" pitchFamily="34" charset="-120"/>
              </a:rPr>
              <a:t>Status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1554480" y="4937760"/>
            <a:ext cx="42062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WARN  ·  Approaching threshold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40080" y="5349240"/>
            <a:ext cx="914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A93A6"/>
                </a:solidFill>
                <a:effectLst/>
                <a:uLnTx/>
                <a:uFillTx/>
                <a:latin typeface="Consolas" pitchFamily="34" charset="0"/>
                <a:ea typeface="Consolas" pitchFamily="34" charset="-122"/>
                <a:cs typeface="Consolas" pitchFamily="34" charset="-120"/>
              </a:rPr>
              <a:t>Action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1554480" y="5349240"/>
            <a:ext cx="42062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E5C7"/>
                </a:solidFill>
                <a:effectLst/>
                <a:uLnTx/>
                <a:uFillTx/>
                <a:latin typeface="Calibri" pitchFamily="34" charset="0"/>
                <a:ea typeface="Calibri" pitchFamily="34" charset="-122"/>
                <a:cs typeface="Calibri" pitchFamily="34" charset="-120"/>
              </a:rPr>
              <a:t>Downgrade to Mid tier + abort downstream inference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640080" y="5760720"/>
            <a:ext cx="914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A93A6"/>
                </a:solidFill>
                <a:effectLst/>
                <a:uLnTx/>
                <a:uFillTx/>
                <a:latin typeface="Consolas" pitchFamily="34" charset="0"/>
                <a:ea typeface="Consolas" pitchFamily="34" charset="-122"/>
                <a:cs typeface="Consolas" pitchFamily="34" charset="-120"/>
              </a:rPr>
              <a:t>Rollback</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1554480" y="5760720"/>
            <a:ext cx="42062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E5C7"/>
                </a:solidFill>
                <a:effectLst/>
                <a:uLnTx/>
                <a:uFillTx/>
                <a:latin typeface="Calibri" pitchFamily="34" charset="0"/>
                <a:ea typeface="Calibri" pitchFamily="34" charset="-122"/>
                <a:cs typeface="Calibri" pitchFamily="34" charset="-120"/>
              </a:rPr>
              <a:t>Checkpoint @step3 in place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6400800" y="2377440"/>
            <a:ext cx="53035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300" normalizeH="0" baseline="0" noProof="0" dirty="0">
                <a:ln>
                  <a:noFill/>
                </a:ln>
                <a:solidFill>
                  <a:srgbClr val="00E5C7"/>
                </a:solidFill>
                <a:effectLst/>
                <a:uLnTx/>
                <a:uFillTx/>
                <a:latin typeface="Consolas" pitchFamily="34" charset="0"/>
                <a:ea typeface="Consolas" pitchFamily="34" charset="-122"/>
                <a:cs typeface="Consolas" pitchFamily="34" charset="-120"/>
              </a:rPr>
              <a:t>Three layers of circuit-break action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6400800" y="2834640"/>
            <a:ext cx="5303520" cy="91440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6400800" y="2834640"/>
            <a:ext cx="73152" cy="914400"/>
          </a:xfrm>
          <a:prstGeom prst="rect">
            <a:avLst/>
          </a:prstGeom>
          <a:solidFill>
            <a:srgbClr val="00E5C7"/>
          </a:solid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6675120" y="2926080"/>
            <a:ext cx="49377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Throttle  ·  Throttle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6675120" y="3291840"/>
            <a:ext cx="49377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After 60% threshold, lower concurrency and tighten gradually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6400800" y="3886200"/>
            <a:ext cx="5303520" cy="91440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p:cNvSpPr/>
          <p:nvPr/>
        </p:nvSpPr>
        <p:spPr>
          <a:xfrm>
            <a:off x="6400800" y="3886200"/>
            <a:ext cx="73152" cy="914400"/>
          </a:xfrm>
          <a:prstGeom prst="rect">
            <a:avLst/>
          </a:prstGeom>
          <a:solidFill>
            <a:srgbClr val="FFC857"/>
          </a:solidFill>
          <a:ln w="12700">
            <a:solidFill>
              <a:srgbClr val="FFC8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7"/>
          <p:cNvSpPr/>
          <p:nvPr/>
        </p:nvSpPr>
        <p:spPr>
          <a:xfrm>
            <a:off x="6675120" y="3977640"/>
            <a:ext cx="49377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Downgrade  ·  Downgrade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6675120" y="4343400"/>
            <a:ext cx="49377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After 80% threshold, force-route to smaller model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p:cNvSpPr/>
          <p:nvPr/>
        </p:nvSpPr>
        <p:spPr>
          <a:xfrm>
            <a:off x="6400800" y="4937760"/>
            <a:ext cx="5303520" cy="91440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p:cNvSpPr/>
          <p:nvPr/>
        </p:nvSpPr>
        <p:spPr>
          <a:xfrm>
            <a:off x="6400800" y="4937760"/>
            <a:ext cx="73152" cy="914400"/>
          </a:xfrm>
          <a:prstGeom prst="rect">
            <a:avLst/>
          </a:prstGeom>
          <a:solidFill>
            <a:srgbClr val="FF4757"/>
          </a:solidFill>
          <a:ln w="12700">
            <a:solidFill>
              <a:srgbClr val="FF47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1"/>
          <p:cNvSpPr/>
          <p:nvPr/>
        </p:nvSpPr>
        <p:spPr>
          <a:xfrm>
            <a:off x="6675120" y="5029200"/>
            <a:ext cx="49377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Rollback  ·  Rollback</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6675120" y="5394960"/>
            <a:ext cx="49377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After 100% threshold, abort task and replay snapshot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p:nvPr/>
        </p:nvSpPr>
        <p:spPr>
          <a:xfrm>
            <a:off x="457200" y="6537960"/>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8A93A6"/>
                </a:solidFill>
                <a:effectLst/>
                <a:uLnTx/>
                <a:uFillTx/>
                <a:latin typeface="Calibri" pitchFamily="34" charset="0"/>
                <a:ea typeface="Calibri" pitchFamily="34" charset="-122"/>
                <a:cs typeface="Calibri" pitchFamily="34" charset="-120"/>
              </a:rPr>
              <a:t>OpenClaw  ·  Token Economics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p:nvPr/>
        </p:nvSpPr>
        <p:spPr>
          <a:xfrm>
            <a:off x="10789920" y="6537960"/>
            <a:ext cx="9144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A93A6"/>
                </a:solidFill>
                <a:effectLst/>
                <a:uLnTx/>
                <a:uFillTx/>
                <a:latin typeface="Consolas" pitchFamily="34" charset="0"/>
                <a:ea typeface="Consolas" pitchFamily="34" charset="-122"/>
                <a:cs typeface="Consolas" pitchFamily="34" charset="-120"/>
              </a:rPr>
              <a:t>16 / 20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411480"/>
            <a:ext cx="502920" cy="365760"/>
          </a:xfrm>
          <a:prstGeom prst="rect">
            <a:avLst/>
          </a:prstGeom>
          <a:solidFill>
            <a:srgbClr val="D9501F"/>
          </a:solidFill>
          <a:ln w="12700">
            <a:solidFill>
              <a:srgbClr val="D9501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57200" y="411480"/>
            <a:ext cx="50292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A0E1F"/>
                </a:solidFill>
                <a:effectLst/>
                <a:uLnTx/>
                <a:uFillTx/>
                <a:latin typeface="Calibri" pitchFamily="34" charset="0"/>
                <a:ea typeface="Calibri" pitchFamily="34" charset="-122"/>
                <a:cs typeface="Calibri" pitchFamily="34" charset="-120"/>
              </a:rPr>
              <a:t>05</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051560" y="411480"/>
            <a:ext cx="7315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D9501F"/>
                </a:solidFill>
                <a:effectLst/>
                <a:uLnTx/>
                <a:uFillTx/>
                <a:latin typeface="Calibri" pitchFamily="34" charset="0"/>
                <a:ea typeface="Calibri" pitchFamily="34" charset="-122"/>
                <a:cs typeface="Calibri" pitchFamily="34" charset="-120"/>
              </a:rPr>
              <a:t>STRATEGY 03  ·  ARCHITECTURE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868680"/>
            <a:ext cx="1124712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Token Meter Architecture</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57200" y="1600200"/>
            <a:ext cx="112471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6478"/>
                </a:solidFill>
                <a:effectLst/>
                <a:uLnTx/>
                <a:uFillTx/>
                <a:latin typeface="Calibri" pitchFamily="34" charset="0"/>
                <a:ea typeface="Calibri" pitchFamily="34" charset="-122"/>
                <a:cs typeface="Calibri" pitchFamily="34" charset="-120"/>
              </a:rPr>
              <a:t>Non-intrusive code-level integration: decorator + middleware + sidecar metrics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57200" y="2377440"/>
            <a:ext cx="3657600" cy="3108960"/>
          </a:xfrm>
          <a:prstGeom prst="rect">
            <a:avLst/>
          </a:prstGeom>
          <a:solidFill>
            <a:srgbClr val="FFFFFF"/>
          </a:solidFill>
          <a:ln w="9525">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457200" y="2377440"/>
            <a:ext cx="3657600" cy="502920"/>
          </a:xfrm>
          <a:prstGeom prst="rect">
            <a:avLst/>
          </a:prstGeom>
          <a:solidFill>
            <a:srgbClr val="00B894"/>
          </a:solidFill>
          <a:ln w="12700">
            <a:solidFill>
              <a:srgbClr val="00B89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640080" y="2377440"/>
            <a:ext cx="329184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300" normalizeH="0" baseline="0" noProof="0" dirty="0">
                <a:ln>
                  <a:noFill/>
                </a:ln>
                <a:solidFill>
                  <a:srgbClr val="0A0E1F"/>
                </a:solidFill>
                <a:effectLst/>
                <a:uLnTx/>
                <a:uFillTx/>
                <a:latin typeface="Consolas" pitchFamily="34" charset="0"/>
                <a:ea typeface="Consolas" pitchFamily="34" charset="-122"/>
                <a:cs typeface="Consolas" pitchFamily="34" charset="-120"/>
              </a:rPr>
              <a:t>INTERCEPTOR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731520" y="3017520"/>
            <a:ext cx="310896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Request interception</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731520" y="3611880"/>
            <a:ext cx="3108960" cy="1463040"/>
          </a:xfrm>
          <a:prstGeom prst="rect">
            <a:avLst/>
          </a:prstGeom>
          <a:noFill/>
          <a:ln/>
        </p:spPr>
        <p:txBody>
          <a:bodyPr wrap="square"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B6478"/>
                </a:solidFill>
                <a:effectLst/>
                <a:uLnTx/>
                <a:uFillTx/>
                <a:latin typeface="Calibri" pitchFamily="34" charset="0"/>
                <a:ea typeface="Calibri" pitchFamily="34" charset="-122"/>
                <a:cs typeface="Calibri" pitchFamily="34" charset="-120"/>
              </a:rPr>
              <a:t>@token_meter decorator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B6478"/>
                </a:solidFill>
                <a:effectLst/>
                <a:uLnTx/>
                <a:uFillTx/>
                <a:latin typeface="Calibri" pitchFamily="34" charset="0"/>
                <a:ea typeface="Calibri" pitchFamily="34" charset="-122"/>
                <a:cs typeface="Calibri" pitchFamily="34" charset="-120"/>
              </a:rPr>
              <a:t>Attached to every LLM call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4297680" y="2377440"/>
            <a:ext cx="3657600" cy="3108960"/>
          </a:xfrm>
          <a:prstGeom prst="rect">
            <a:avLst/>
          </a:prstGeom>
          <a:solidFill>
            <a:srgbClr val="FFFFFF"/>
          </a:solidFill>
          <a:ln w="9525">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4297680" y="2377440"/>
            <a:ext cx="3657600" cy="50292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4480560" y="2377440"/>
            <a:ext cx="329184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300" normalizeH="0" baseline="0" noProof="0" dirty="0">
                <a:ln>
                  <a:noFill/>
                </a:ln>
                <a:solidFill>
                  <a:srgbClr val="0A0E1F"/>
                </a:solidFill>
                <a:effectLst/>
                <a:uLnTx/>
                <a:uFillTx/>
                <a:latin typeface="Consolas" pitchFamily="34" charset="0"/>
                <a:ea typeface="Consolas" pitchFamily="34" charset="-122"/>
                <a:cs typeface="Consolas" pitchFamily="34" charset="-120"/>
              </a:rPr>
              <a:t>COUNTER CORE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4572000" y="3017520"/>
            <a:ext cx="310896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Counter core</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4572000" y="3611880"/>
            <a:ext cx="3108960" cy="1463040"/>
          </a:xfrm>
          <a:prstGeom prst="rect">
            <a:avLst/>
          </a:prstGeom>
          <a:noFill/>
          <a:ln/>
        </p:spPr>
        <p:txBody>
          <a:bodyPr wrap="square"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B6478"/>
                </a:solidFill>
                <a:effectLst/>
                <a:uLnTx/>
                <a:uFillTx/>
                <a:latin typeface="Calibri" pitchFamily="34" charset="0"/>
                <a:ea typeface="Calibri" pitchFamily="34" charset="-122"/>
                <a:cs typeface="Calibri" pitchFamily="34" charset="-120"/>
              </a:rPr>
              <a:t>Account → evaluate threshold → trigger action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B6478"/>
                </a:solidFill>
                <a:effectLst/>
                <a:uLnTx/>
                <a:uFillTx/>
                <a:latin typeface="Calibri" pitchFamily="34" charset="0"/>
                <a:ea typeface="Calibri" pitchFamily="34" charset="-122"/>
                <a:cs typeface="Calibri" pitchFamily="34" charset="-120"/>
              </a:rPr>
              <a:t>Memory + Redis dual-write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8138160" y="2377440"/>
            <a:ext cx="3657600" cy="3108960"/>
          </a:xfrm>
          <a:prstGeom prst="rect">
            <a:avLst/>
          </a:prstGeom>
          <a:solidFill>
            <a:srgbClr val="FFFFFF"/>
          </a:solidFill>
          <a:ln w="9525">
            <a:solidFill>
              <a:srgbClr val="E1E5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8138160" y="2377440"/>
            <a:ext cx="3657600" cy="502920"/>
          </a:xfrm>
          <a:prstGeom prst="rect">
            <a:avLst/>
          </a:prstGeom>
          <a:solidFill>
            <a:srgbClr val="FFC857"/>
          </a:solidFill>
          <a:ln w="12700">
            <a:solidFill>
              <a:srgbClr val="FFC8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8321040" y="2377440"/>
            <a:ext cx="329184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300" normalizeH="0" baseline="0" noProof="0" dirty="0">
                <a:ln>
                  <a:noFill/>
                </a:ln>
                <a:solidFill>
                  <a:srgbClr val="0A0E1F"/>
                </a:solidFill>
                <a:effectLst/>
                <a:uLnTx/>
                <a:uFillTx/>
                <a:latin typeface="Consolas" pitchFamily="34" charset="0"/>
                <a:ea typeface="Consolas" pitchFamily="34" charset="-122"/>
                <a:cs typeface="Consolas" pitchFamily="34" charset="-120"/>
              </a:rPr>
              <a:t>ACTION HUB</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8412480" y="3017520"/>
            <a:ext cx="310896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A2138"/>
                </a:solidFill>
                <a:effectLst/>
                <a:uLnTx/>
                <a:uFillTx/>
                <a:latin typeface="Calibri" pitchFamily="34" charset="0"/>
                <a:ea typeface="Calibri" pitchFamily="34" charset="-122"/>
                <a:cs typeface="Calibri" pitchFamily="34" charset="-120"/>
              </a:rPr>
              <a:t>Action bus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8412480" y="3611880"/>
            <a:ext cx="3108960" cy="1463040"/>
          </a:xfrm>
          <a:prstGeom prst="rect">
            <a:avLst/>
          </a:prstGeom>
          <a:noFill/>
          <a:ln/>
        </p:spPr>
        <p:txBody>
          <a:bodyPr wrap="square"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B6478"/>
                </a:solidFill>
                <a:effectLst/>
                <a:uLnTx/>
                <a:uFillTx/>
                <a:latin typeface="Calibri" pitchFamily="34" charset="0"/>
                <a:ea typeface="Calibri" pitchFamily="34" charset="-122"/>
                <a:cs typeface="Calibri" pitchFamily="34" charset="-120"/>
              </a:rPr>
              <a:t>Throttle / Downgrade / Rollback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B6478"/>
                </a:solidFill>
                <a:effectLst/>
                <a:uLnTx/>
                <a:uFillTx/>
                <a:latin typeface="Calibri" pitchFamily="34" charset="0"/>
                <a:ea typeface="Calibri" pitchFamily="34" charset="-122"/>
                <a:cs typeface="Calibri" pitchFamily="34" charset="-120"/>
              </a:rPr>
              <a:t>Output to logs + Prometheus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4114800" y="2377440"/>
            <a:ext cx="182880" cy="31089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7955280" y="2377440"/>
            <a:ext cx="182880" cy="31089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457200" y="5623560"/>
            <a:ext cx="11247120" cy="502920"/>
          </a:xfrm>
          <a:prstGeom prst="rect">
            <a:avLst/>
          </a:prstGeom>
          <a:solidFill>
            <a:srgbClr val="0A0E1F"/>
          </a:solidFill>
          <a:ln w="12700">
            <a:solidFill>
              <a:srgbClr val="0A0E1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640080" y="5623560"/>
            <a:ext cx="640080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E5C7"/>
                </a:solidFill>
                <a:effectLst/>
                <a:uLnTx/>
                <a:uFillTx/>
                <a:latin typeface="Consolas" pitchFamily="34" charset="0"/>
                <a:ea typeface="Consolas" pitchFamily="34" charset="-122"/>
                <a:cs typeface="Consolas" pitchFamily="34" charset="-120"/>
              </a:rPr>
              <a:t>@token_meter(budget=10_000, on_exceed="rollback")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7040880" y="5623560"/>
            <a:ext cx="457200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def run_agent(task):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457200" y="6537960"/>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5B6478"/>
                </a:solidFill>
                <a:effectLst/>
                <a:uLnTx/>
                <a:uFillTx/>
                <a:latin typeface="Calibri" pitchFamily="34" charset="0"/>
                <a:ea typeface="Calibri" pitchFamily="34" charset="-122"/>
                <a:cs typeface="Calibri" pitchFamily="34" charset="-120"/>
              </a:rPr>
              <a:t>OpenClaw  ·  Token Economics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10789920" y="6537960"/>
            <a:ext cx="9144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B6478"/>
                </a:solidFill>
                <a:effectLst/>
                <a:uLnTx/>
                <a:uFillTx/>
                <a:latin typeface="Consolas" pitchFamily="34" charset="0"/>
                <a:ea typeface="Consolas" pitchFamily="34" charset="-122"/>
                <a:cs typeface="Consolas" pitchFamily="34" charset="-120"/>
              </a:rPr>
              <a:t>17 / 20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0E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411480"/>
            <a:ext cx="502920" cy="36576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57200" y="411480"/>
            <a:ext cx="50292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A0E1F"/>
                </a:solidFill>
                <a:effectLst/>
                <a:uLnTx/>
                <a:uFillTx/>
                <a:latin typeface="Calibri" pitchFamily="34" charset="0"/>
                <a:ea typeface="Calibri" pitchFamily="34" charset="-122"/>
                <a:cs typeface="Calibri" pitchFamily="34" charset="-120"/>
              </a:rPr>
              <a:t>05</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051560" y="411480"/>
            <a:ext cx="7315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FF6B35"/>
                </a:solidFill>
                <a:effectLst/>
                <a:uLnTx/>
                <a:uFillTx/>
                <a:latin typeface="Calibri" pitchFamily="34" charset="0"/>
                <a:ea typeface="Calibri" pitchFamily="34" charset="-122"/>
                <a:cs typeface="Calibri" pitchFamily="34" charset="-120"/>
              </a:rPr>
              <a:t>STRATEGY 03  ·  RUNTIME FLOW</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868680"/>
            <a:ext cx="1124712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Threshold Trigger &amp; Rollback Timeline</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57200" y="1600200"/>
            <a:ext cx="112471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From counting to rollback, millisecond response prevents a single task from "burning through" the budget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640080" y="3840480"/>
            <a:ext cx="10972800" cy="0"/>
          </a:xfrm>
          <a:prstGeom prst="line">
            <a:avLst/>
          </a:prstGeom>
          <a:noFill/>
          <a:ln w="1270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1143000" y="3657600"/>
            <a:ext cx="365760" cy="365760"/>
          </a:xfrm>
          <a:prstGeom prst="ellipse">
            <a:avLst/>
          </a:prstGeom>
          <a:solidFill>
            <a:srgbClr val="00E5C7"/>
          </a:solid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640080" y="3017520"/>
            <a:ext cx="219456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200" normalizeH="0" baseline="0" noProof="0" dirty="0">
                <a:ln>
                  <a:noFill/>
                </a:ln>
                <a:solidFill>
                  <a:srgbClr val="00E5C7"/>
                </a:solidFill>
                <a:effectLst/>
                <a:uLnTx/>
                <a:uFillTx/>
                <a:latin typeface="Consolas" pitchFamily="34" charset="0"/>
                <a:ea typeface="Consolas" pitchFamily="34" charset="-122"/>
                <a:cs typeface="Consolas" pitchFamily="34" charset="-120"/>
              </a:rPr>
              <a:t>T+0ms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640080" y="4160520"/>
            <a:ext cx="219456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Call start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48640" y="4526280"/>
            <a:ext cx="237744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Record baseline checkpoint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3337560" y="3657600"/>
            <a:ext cx="365760" cy="365760"/>
          </a:xfrm>
          <a:prstGeom prst="ellipse">
            <a:avLst/>
          </a:prstGeom>
          <a:solidFill>
            <a:srgbClr val="00E5C7"/>
          </a:solid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2834640" y="3017520"/>
            <a:ext cx="219456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200" normalizeH="0" baseline="0" noProof="0" dirty="0">
                <a:ln>
                  <a:noFill/>
                </a:ln>
                <a:solidFill>
                  <a:srgbClr val="00E5C7"/>
                </a:solidFill>
                <a:effectLst/>
                <a:uLnTx/>
                <a:uFillTx/>
                <a:latin typeface="Consolas" pitchFamily="34" charset="0"/>
                <a:ea typeface="Consolas" pitchFamily="34" charset="-122"/>
                <a:cs typeface="Consolas" pitchFamily="34" charset="-120"/>
              </a:rPr>
              <a:t>T+1.2s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2834640" y="4160520"/>
            <a:ext cx="219456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60% threshold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2743200" y="4526280"/>
            <a:ext cx="237744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Trigger Throttle — downstream rate limit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5532120" y="3657600"/>
            <a:ext cx="365760" cy="365760"/>
          </a:xfrm>
          <a:prstGeom prst="ellipse">
            <a:avLst/>
          </a:prstGeom>
          <a:solidFill>
            <a:srgbClr val="FFC857"/>
          </a:solidFill>
          <a:ln w="12700">
            <a:solidFill>
              <a:srgbClr val="FFC8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5029200" y="3017520"/>
            <a:ext cx="219456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200" normalizeH="0" baseline="0" noProof="0" dirty="0">
                <a:ln>
                  <a:noFill/>
                </a:ln>
                <a:solidFill>
                  <a:srgbClr val="FFC857"/>
                </a:solidFill>
                <a:effectLst/>
                <a:uLnTx/>
                <a:uFillTx/>
                <a:latin typeface="Consolas" pitchFamily="34" charset="0"/>
                <a:ea typeface="Consolas" pitchFamily="34" charset="-122"/>
                <a:cs typeface="Consolas" pitchFamily="34" charset="-120"/>
              </a:rPr>
              <a:t>T+2.8s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5029200" y="4160520"/>
            <a:ext cx="219456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80% threshold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4937760" y="4526280"/>
            <a:ext cx="237744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Downgrade to Mid tier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7726680" y="3657600"/>
            <a:ext cx="365760" cy="365760"/>
          </a:xfrm>
          <a:prstGeom prst="ellipse">
            <a:avLst/>
          </a:prstGeom>
          <a:solidFill>
            <a:srgbClr val="FF4757"/>
          </a:solidFill>
          <a:ln w="12700">
            <a:solidFill>
              <a:srgbClr val="FF47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7223760" y="3017520"/>
            <a:ext cx="219456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200" normalizeH="0" baseline="0" noProof="0" dirty="0">
                <a:ln>
                  <a:noFill/>
                </a:ln>
                <a:solidFill>
                  <a:srgbClr val="FF4757"/>
                </a:solidFill>
                <a:effectLst/>
                <a:uLnTx/>
                <a:uFillTx/>
                <a:latin typeface="Consolas" pitchFamily="34" charset="0"/>
                <a:ea typeface="Consolas" pitchFamily="34" charset="-122"/>
                <a:cs typeface="Consolas" pitchFamily="34" charset="-120"/>
              </a:rPr>
              <a:t>T+4.1s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7223760" y="4160520"/>
            <a:ext cx="219456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100% threshold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7132320" y="4526280"/>
            <a:ext cx="237744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Rollback: abort + replay snapshot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9921240" y="3657600"/>
            <a:ext cx="365760" cy="365760"/>
          </a:xfrm>
          <a:prstGeom prst="ellipse">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9418320" y="3017520"/>
            <a:ext cx="219456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200" normalizeH="0" baseline="0" noProof="0" dirty="0">
                <a:ln>
                  <a:noFill/>
                </a:ln>
                <a:solidFill>
                  <a:srgbClr val="FF6B35"/>
                </a:solidFill>
                <a:effectLst/>
                <a:uLnTx/>
                <a:uFillTx/>
                <a:latin typeface="Consolas" pitchFamily="34" charset="0"/>
                <a:ea typeface="Consolas" pitchFamily="34" charset="-122"/>
                <a:cs typeface="Consolas" pitchFamily="34" charset="-120"/>
              </a:rPr>
              <a:t>T+4.3s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9418320" y="4160520"/>
            <a:ext cx="219456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Notify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9326880" y="4526280"/>
            <a:ext cx="237744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PagerDuty + Slack alert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457200" y="5669280"/>
            <a:ext cx="11247120" cy="54864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p:cNvSpPr/>
          <p:nvPr/>
        </p:nvSpPr>
        <p:spPr>
          <a:xfrm>
            <a:off x="457200" y="5669280"/>
            <a:ext cx="73152" cy="54864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685800" y="5669280"/>
            <a:ext cx="1097280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After circuit-break triggers: this task is excluded from user-visible results, but the full event chain is written to Trace for post-mortem replay.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457200" y="6537960"/>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8A93A6"/>
                </a:solidFill>
                <a:effectLst/>
                <a:uLnTx/>
                <a:uFillTx/>
                <a:latin typeface="Calibri" pitchFamily="34" charset="0"/>
                <a:ea typeface="Calibri" pitchFamily="34" charset="-122"/>
                <a:cs typeface="Calibri" pitchFamily="34" charset="-120"/>
              </a:rPr>
              <a:t>OpenClaw  ·  Token Economics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10789920" y="6537960"/>
            <a:ext cx="9144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A93A6"/>
                </a:solidFill>
                <a:effectLst/>
                <a:uLnTx/>
                <a:uFillTx/>
                <a:latin typeface="Consolas" pitchFamily="34" charset="0"/>
                <a:ea typeface="Consolas" pitchFamily="34" charset="-122"/>
                <a:cs typeface="Consolas" pitchFamily="34" charset="-120"/>
              </a:rPr>
              <a:t>18 / 20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0E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411480"/>
            <a:ext cx="502920" cy="36576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57200" y="411480"/>
            <a:ext cx="50292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A0E1F"/>
                </a:solidFill>
                <a:effectLst/>
                <a:uLnTx/>
                <a:uFillTx/>
                <a:latin typeface="Calibri" pitchFamily="34" charset="0"/>
                <a:ea typeface="Calibri" pitchFamily="34" charset="-122"/>
                <a:cs typeface="Calibri" pitchFamily="34" charset="-120"/>
              </a:rPr>
              <a:t>06</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051560" y="411480"/>
            <a:ext cx="7315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FF6B35"/>
                </a:solidFill>
                <a:effectLst/>
                <a:uLnTx/>
                <a:uFillTx/>
                <a:latin typeface="Calibri" pitchFamily="34" charset="0"/>
                <a:ea typeface="Calibri" pitchFamily="34" charset="-122"/>
                <a:cs typeface="Calibri" pitchFamily="34" charset="-120"/>
              </a:rPr>
              <a:t>RESULTS  ·  Overall ROI</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868680"/>
            <a:ext cx="1124712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After All Three Strategies Combined</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57200" y="1600200"/>
            <a:ext cx="112471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8-week pilot, aggregate data across 23 production workflows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57200" y="2377440"/>
            <a:ext cx="5486400" cy="3749040"/>
          </a:xfrm>
          <a:prstGeom prst="rect">
            <a:avLst/>
          </a:prstGeom>
          <a:solidFill>
            <a:srgbClr val="1B2240"/>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457200" y="2377440"/>
            <a:ext cx="5486400" cy="109728"/>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640080" y="2606040"/>
            <a:ext cx="51206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300" normalizeH="0" baseline="0" noProof="0" dirty="0">
                <a:ln>
                  <a:noFill/>
                </a:ln>
                <a:solidFill>
                  <a:srgbClr val="FF6B35"/>
                </a:solidFill>
                <a:effectLst/>
                <a:uLnTx/>
                <a:uFillTx/>
                <a:latin typeface="Consolas" pitchFamily="34" charset="0"/>
                <a:ea typeface="Consolas" pitchFamily="34" charset="-122"/>
                <a:cs typeface="Consolas" pitchFamily="34" charset="-120"/>
              </a:rPr>
              <a:t>MONTHLY  TOKEN  SPEND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640080" y="2971800"/>
            <a:ext cx="5120640" cy="12801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$ 187K  →  $ 41K</a:t>
            </a:r>
            <a:endPar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40080" y="4297680"/>
            <a:ext cx="512064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0" b="1" i="0" u="none" strike="noStrike" kern="1200" cap="none" spc="0" normalizeH="0" baseline="0" noProof="0" dirty="0">
                <a:ln>
                  <a:noFill/>
                </a:ln>
                <a:solidFill>
                  <a:srgbClr val="00E5C7"/>
                </a:solidFill>
                <a:effectLst/>
                <a:uLnTx/>
                <a:uFillTx/>
                <a:latin typeface="Calibri" pitchFamily="34" charset="0"/>
                <a:ea typeface="Calibri" pitchFamily="34" charset="-122"/>
                <a:cs typeface="Calibri" pitchFamily="34" charset="-120"/>
              </a:rPr>
              <a:t>-78%</a:t>
            </a:r>
            <a:endParaRPr kumimoji="0" lang="en-US" sz="10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640080" y="5577840"/>
            <a:ext cx="51206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Migrated in 8 weeks · zero overtime · zero production incidents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6217920" y="2377440"/>
            <a:ext cx="2697480" cy="178308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6400800" y="2560320"/>
            <a:ext cx="2377440" cy="10058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000" b="1" i="0" u="none" strike="noStrike" kern="1200" cap="none" spc="0" normalizeH="0" baseline="0" noProof="0" dirty="0">
                <a:ln>
                  <a:noFill/>
                </a:ln>
                <a:solidFill>
                  <a:srgbClr val="00E5C7"/>
                </a:solidFill>
                <a:effectLst/>
                <a:uLnTx/>
                <a:uFillTx/>
                <a:latin typeface="Calibri" pitchFamily="34" charset="0"/>
                <a:ea typeface="Calibri" pitchFamily="34" charset="-122"/>
                <a:cs typeface="Calibri" pitchFamily="34" charset="-120"/>
              </a:rPr>
              <a:t>-78%</a:t>
            </a:r>
            <a:endParaRPr kumimoji="0" lang="en-US" sz="5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400800" y="3611880"/>
            <a:ext cx="23774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Monthly Token bill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9006840" y="2377440"/>
            <a:ext cx="2697480" cy="178308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9189720" y="2560320"/>
            <a:ext cx="2377440" cy="10058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000" b="1" i="0" u="none" strike="noStrike" kern="1200" cap="none" spc="0" normalizeH="0" baseline="0" noProof="0" dirty="0">
                <a:ln>
                  <a:noFill/>
                </a:ln>
                <a:solidFill>
                  <a:srgbClr val="00E5C7"/>
                </a:solidFill>
                <a:effectLst/>
                <a:uLnTx/>
                <a:uFillTx/>
                <a:latin typeface="Calibri" pitchFamily="34" charset="0"/>
                <a:ea typeface="Calibri" pitchFamily="34" charset="-122"/>
                <a:cs typeface="Calibri" pitchFamily="34" charset="-120"/>
              </a:rPr>
              <a:t>-41%</a:t>
            </a:r>
            <a:endParaRPr kumimoji="0" lang="en-US" sz="5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9189720" y="3611880"/>
            <a:ext cx="23774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P95 response latency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6217920" y="4251960"/>
            <a:ext cx="2697480" cy="178308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6400800" y="4434840"/>
            <a:ext cx="2377440" cy="10058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000" b="1" i="0" u="none" strike="noStrike" kern="1200" cap="none" spc="0" normalizeH="0" baseline="0" noProof="0" dirty="0">
                <a:ln>
                  <a:noFill/>
                </a:ln>
                <a:solidFill>
                  <a:srgbClr val="FFC857"/>
                </a:solidFill>
                <a:effectLst/>
                <a:uLnTx/>
                <a:uFillTx/>
                <a:latin typeface="Calibri" pitchFamily="34" charset="0"/>
                <a:ea typeface="Calibri" pitchFamily="34" charset="-122"/>
                <a:cs typeface="Calibri" pitchFamily="34" charset="-120"/>
              </a:rPr>
              <a:t>+3.2×</a:t>
            </a:r>
            <a:endParaRPr kumimoji="0" lang="en-US" sz="5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6400800" y="5486400"/>
            <a:ext cx="23774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Cache hit rate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9006840" y="4251960"/>
            <a:ext cx="2697480" cy="1783080"/>
          </a:xfrm>
          <a:prstGeom prst="rect">
            <a:avLst/>
          </a:prstGeom>
          <a:solidFill>
            <a:srgbClr val="141A2E"/>
          </a:solidFill>
          <a:ln w="635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9189720" y="4434840"/>
            <a:ext cx="2377440" cy="10058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0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0</a:t>
            </a:r>
            <a:endParaRPr kumimoji="0" lang="en-US" sz="5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9189720" y="5486400"/>
            <a:ext cx="23774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93A6"/>
                </a:solidFill>
                <a:effectLst/>
                <a:uLnTx/>
                <a:uFillTx/>
                <a:latin typeface="Calibri" pitchFamily="34" charset="0"/>
                <a:ea typeface="Calibri" pitchFamily="34" charset="-122"/>
                <a:cs typeface="Calibri" pitchFamily="34" charset="-120"/>
              </a:rPr>
              <a:t>Incidents from overruns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457200" y="6537960"/>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8A93A6"/>
                </a:solidFill>
                <a:effectLst/>
                <a:uLnTx/>
                <a:uFillTx/>
                <a:latin typeface="Calibri" pitchFamily="34" charset="0"/>
                <a:ea typeface="Calibri" pitchFamily="34" charset="-122"/>
                <a:cs typeface="Calibri" pitchFamily="34" charset="-120"/>
              </a:rPr>
              <a:t>OpenClaw  ·  Token Economics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10789920" y="6537960"/>
            <a:ext cx="9144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A93A6"/>
                </a:solidFill>
                <a:effectLst/>
                <a:uLnTx/>
                <a:uFillTx/>
                <a:latin typeface="Consolas" pitchFamily="34" charset="0"/>
                <a:ea typeface="Consolas" pitchFamily="34" charset="-122"/>
                <a:cs typeface="Consolas" pitchFamily="34" charset="-120"/>
              </a:rPr>
              <a:t>19 / 20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0E1F"/>
        </a:solidFill>
        <a:effectLst/>
      </p:bgPr>
    </p:bg>
    <p:spTree>
      <p:nvGrpSpPr>
        <p:cNvPr id="1" name=""/>
        <p:cNvGrpSpPr/>
        <p:nvPr/>
      </p:nvGrpSpPr>
      <p:grpSpPr>
        <a:xfrm>
          <a:off x="0" y="0"/>
          <a:ext cx="0" cy="0"/>
          <a:chOff x="0" y="0"/>
          <a:chExt cx="0" cy="0"/>
        </a:xfrm>
      </p:grpSpPr>
      <p:sp>
        <p:nvSpPr>
          <p:cNvPr id="2" name="Shape 0"/>
          <p:cNvSpPr/>
          <p:nvPr/>
        </p:nvSpPr>
        <p:spPr>
          <a:xfrm>
            <a:off x="11963095" y="0"/>
            <a:ext cx="228600" cy="6858000"/>
          </a:xfrm>
          <a:prstGeom prst="rect">
            <a:avLst/>
          </a:prstGeom>
          <a:solidFill>
            <a:srgbClr val="FF6B35"/>
          </a:solidFill>
          <a:ln w="12700">
            <a:solidFill>
              <a:srgbClr val="FF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1887200" y="0"/>
            <a:ext cx="73152" cy="6858000"/>
          </a:xfrm>
          <a:prstGeom prst="rect">
            <a:avLst/>
          </a:prstGeom>
          <a:solidFill>
            <a:srgbClr val="00E5C7"/>
          </a:solid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57200" y="548640"/>
            <a:ext cx="54864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400" normalizeH="0" baseline="0" noProof="0" dirty="0">
                <a:ln>
                  <a:noFill/>
                </a:ln>
                <a:solidFill>
                  <a:srgbClr val="FF6B35"/>
                </a:solidFill>
                <a:effectLst/>
                <a:uLnTx/>
                <a:uFillTx/>
                <a:latin typeface="Calibri" pitchFamily="34" charset="0"/>
                <a:ea typeface="Calibri" pitchFamily="34" charset="-122"/>
                <a:cs typeface="Calibri" pitchFamily="34" charset="-120"/>
              </a:rPr>
              <a:t>◤ OpenClaw</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457200" y="914400"/>
            <a:ext cx="73152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300" normalizeH="0" baseline="0" noProof="0" dirty="0">
                <a:ln>
                  <a:noFill/>
                </a:ln>
                <a:solidFill>
                  <a:srgbClr val="8A93A6"/>
                </a:solidFill>
                <a:effectLst/>
                <a:uLnTx/>
                <a:uFillTx/>
                <a:latin typeface="Consolas" pitchFamily="34" charset="0"/>
                <a:ea typeface="Consolas" pitchFamily="34" charset="-122"/>
                <a:cs typeface="Consolas" pitchFamily="34" charset="-120"/>
              </a:rPr>
              <a:t>CLOSING  ·  ACTION  CHECKLIST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1554480"/>
            <a:ext cx="1124712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Turn the strategy into</a:t>
            </a:r>
            <a:endParaRPr kumimoji="0" lang="en-US" sz="5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57200" y="2331720"/>
            <a:ext cx="1124712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6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5 things you can start next Monday</a:t>
            </a:r>
            <a:endParaRPr kumimoji="0" lang="en-US" sz="5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57200" y="3657600"/>
            <a:ext cx="274320" cy="274320"/>
          </a:xfrm>
          <a:prstGeom prst="rect">
            <a:avLst/>
          </a:prstGeom>
          <a:solidFill>
            <a:srgbClr val="0A0E1F"/>
          </a:solid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457200" y="3657600"/>
            <a:ext cx="27432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E5C7"/>
                </a:solidFill>
                <a:effectLst/>
                <a:uLnTx/>
                <a:uFillTx/>
                <a:latin typeface="Consolas" pitchFamily="34" charset="0"/>
                <a:ea typeface="Consolas" pitchFamily="34" charset="-122"/>
                <a:cs typeface="Consolas" pitchFamily="34" charset="-120"/>
              </a:rPr>
              <a:t>1</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868680" y="3630168"/>
            <a:ext cx="100584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Tag each Workflow with endpoint_tag — tighten default to Tiny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57200" y="4069080"/>
            <a:ext cx="274320" cy="274320"/>
          </a:xfrm>
          <a:prstGeom prst="rect">
            <a:avLst/>
          </a:prstGeom>
          <a:solidFill>
            <a:srgbClr val="0A0E1F"/>
          </a:solid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457200" y="4069080"/>
            <a:ext cx="27432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E5C7"/>
                </a:solidFill>
                <a:effectLst/>
                <a:uLnTx/>
                <a:uFillTx/>
                <a:latin typeface="Consolas" pitchFamily="34" charset="0"/>
                <a:ea typeface="Consolas" pitchFamily="34" charset="-122"/>
                <a:cs typeface="Consolas" pitchFamily="34" charset="-120"/>
              </a:rPr>
              <a:t>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868680" y="4041648"/>
            <a:ext cx="100584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Use Copilot to extract your 3 longest background docs into JSON Schema</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457200" y="4480560"/>
            <a:ext cx="274320" cy="274320"/>
          </a:xfrm>
          <a:prstGeom prst="rect">
            <a:avLst/>
          </a:prstGeom>
          <a:solidFill>
            <a:srgbClr val="0A0E1F"/>
          </a:solid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457200" y="4480560"/>
            <a:ext cx="27432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E5C7"/>
                </a:solidFill>
                <a:effectLst/>
                <a:uLnTx/>
                <a:uFillTx/>
                <a:latin typeface="Consolas" pitchFamily="34" charset="0"/>
                <a:ea typeface="Consolas" pitchFamily="34" charset="-122"/>
                <a:cs typeface="Consolas" pitchFamily="34" charset="-120"/>
              </a:rPr>
              <a:t>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868680" y="4453128"/>
            <a:ext cx="100584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Wrap LLM clients with the @token_meter decorator and budget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457200" y="4892040"/>
            <a:ext cx="274320" cy="274320"/>
          </a:xfrm>
          <a:prstGeom prst="rect">
            <a:avLst/>
          </a:prstGeom>
          <a:solidFill>
            <a:srgbClr val="0A0E1F"/>
          </a:solid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457200" y="4892040"/>
            <a:ext cx="27432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E5C7"/>
                </a:solidFill>
                <a:effectLst/>
                <a:uLnTx/>
                <a:uFillTx/>
                <a:latin typeface="Consolas" pitchFamily="34" charset="0"/>
                <a:ea typeface="Consolas" pitchFamily="34" charset="-122"/>
                <a:cs typeface="Consolas" pitchFamily="34" charset="-120"/>
              </a:rPr>
              <a:t>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868680" y="4864608"/>
            <a:ext cx="100584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Wire token_used / threshold / rollback metrics into Prometheus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457200" y="5303520"/>
            <a:ext cx="274320" cy="274320"/>
          </a:xfrm>
          <a:prstGeom prst="rect">
            <a:avLst/>
          </a:prstGeom>
          <a:solidFill>
            <a:srgbClr val="0A0E1F"/>
          </a:solidFill>
          <a:ln w="12700">
            <a:solidFill>
              <a:srgbClr val="00E5C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03520"/>
            <a:ext cx="27432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E5C7"/>
                </a:solidFill>
                <a:effectLst/>
                <a:uLnTx/>
                <a:uFillTx/>
                <a:latin typeface="Consolas" pitchFamily="34" charset="0"/>
                <a:ea typeface="Consolas" pitchFamily="34" charset="-122"/>
                <a:cs typeface="Consolas" pitchFamily="34" charset="-120"/>
              </a:rPr>
              <a:t>5</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868680" y="5276088"/>
            <a:ext cx="100584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Weekly cost review: P95 Tokens &amp; unit price by Workflow</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457200" y="5943600"/>
            <a:ext cx="11247120" cy="0"/>
          </a:xfrm>
          <a:prstGeom prst="line">
            <a:avLst/>
          </a:prstGeom>
          <a:noFill/>
          <a:ln w="12700">
            <a:solidFill>
              <a:srgbClr val="2A325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457200" y="6126480"/>
            <a:ext cx="54864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Thank You  ·  Thank You</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5943600" y="6263640"/>
            <a:ext cx="576072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300" normalizeH="0" baseline="0" noProof="0" dirty="0">
                <a:ln>
                  <a:noFill/>
                </a:ln>
                <a:solidFill>
                  <a:srgbClr val="8A93A6"/>
                </a:solidFill>
                <a:effectLst/>
                <a:uLnTx/>
                <a:uFillTx/>
                <a:latin typeface="Consolas" pitchFamily="34" charset="0"/>
                <a:ea typeface="Consolas" pitchFamily="34" charset="-122"/>
                <a:cs typeface="Consolas" pitchFamily="34" charset="-120"/>
              </a:rPr>
              <a:t>OpenClaw  AI  Infra  ·  cost-control@openclaw.ai</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1367</Words>
  <Application>Microsoft Macintosh PowerPoint</Application>
  <PresentationFormat>Widescreen</PresentationFormat>
  <Paragraphs>431</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Arial</vt:lpstr>
      <vt:lpstr>Calibri</vt:lpstr>
      <vt:lpstr>Consolas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Kinfey Lo</dc:creator>
  <cp:lastModifiedBy>Kinfey Lo</cp:lastModifiedBy>
  <cp:revision>2</cp:revision>
  <dcterms:created xsi:type="dcterms:W3CDTF">2026-05-06T05:21:32Z</dcterms:created>
  <dcterms:modified xsi:type="dcterms:W3CDTF">2026-05-06T05:28:13Z</dcterms:modified>
</cp:coreProperties>
</file>