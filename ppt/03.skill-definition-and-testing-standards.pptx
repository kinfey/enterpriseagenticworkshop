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0545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5665"/>
            <a:ext cx="3200400" cy="5143500"/>
          </a:xfrm>
          <a:prstGeom prst="rect">
            <a:avLst/>
          </a:prstGeom>
          <a:solidFill>
            <a:srgbClr val="11162E"/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6576" cy="51435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201168" cy="2011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713232" y="457200"/>
            <a:ext cx="64008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868680" y="4206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工程白皮书  ·  V1.0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定义</a:t>
            </a:r>
            <a:endParaRPr lang="en-US" sz="4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与测试标准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Coding Agent 的原子能力 ——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以及保证其稳定可靠的测试方法。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640" y="1645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讲述人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6364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6364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</a:t>
            </a:r>
            <a:r>
              <a:rPr lang="zh-CN" alt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Senior</a:t>
            </a:r>
            <a:r>
              <a:rPr lang="zh-CN" alt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</a:t>
            </a:r>
            <a:r>
              <a:rPr lang="zh-CN" alt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Advocate</a:t>
            </a:r>
          </a:p>
        </p:txBody>
      </p:sp>
      <p:sp>
        <p:nvSpPr>
          <p:cNvPr id="13" name="Text 11"/>
          <p:cNvSpPr/>
          <p:nvPr/>
        </p:nvSpPr>
        <p:spPr>
          <a:xfrm>
            <a:off x="6263640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6364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5 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3611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构建者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与开发工具工程师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457200" y="49834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DOC-ID  /  SKL-STD-2026-001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" cy="1645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54864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713232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645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定义与测试标准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0" y="4901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工程笔记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960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本场要讲的内容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457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365760" y="2240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051560" y="2258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的定义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58775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Coding Agent 语境下，什么是 Skill。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2240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349240" y="2258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结构与设计原则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258775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原子函数、契约、可测试性。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0815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051560" y="30998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为什么要测试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429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为何必须配独立的测试闭环。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63440" y="30815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349240" y="30998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Agent 模式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3429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用对抗 Agent 攻击业务 Agent 的边界。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392277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051560" y="39410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边缘测试集构建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42702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教育视频场景的 10 个边缘知识点。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63440" y="392277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349240" y="39410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格式一致性校验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49240" y="42702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跨次运行的脚本格式与结构稳定性。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" cy="1645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54864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713232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645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定义与测试标准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0" y="4901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工程笔记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82296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0" b="1" dirty="0">
                <a:solidFill>
                  <a:srgbClr val="11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0" dirty="0"/>
          </a:p>
        </p:txBody>
      </p:sp>
      <p:sp>
        <p:nvSpPr>
          <p:cNvPr id="12" name="Shape 10"/>
          <p:cNvSpPr/>
          <p:nvPr/>
        </p:nvSpPr>
        <p:spPr>
          <a:xfrm>
            <a:off x="4023360" y="1874520"/>
            <a:ext cx="45720" cy="13716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425196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51960" y="212140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Skill？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251960" y="30175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Coding Agent 范式中，Skill 是能力的最小单元 —— 命名清晰、职责单一、可独立验证。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" cy="1645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54864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713232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645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定义与测试标准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0" y="4901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工程笔记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960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是什么？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457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4206240" cy="246888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365760" y="2194560"/>
            <a:ext cx="54864" cy="24688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59436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6517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是 Agent 可调用的原子化函数 —— 完成一件定义清晰的事情，输入与输出均有契约。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4160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kern="0" spc="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职责单一  ·  命名规范  ·  版本化  ·  可独立测试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194560"/>
            <a:ext cx="4023360" cy="2468880"/>
          </a:xfrm>
          <a:prstGeom prst="rect">
            <a:avLst/>
          </a:prstGeom>
          <a:solidFill>
            <a:srgbClr val="060819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4892040" y="2331720"/>
            <a:ext cx="118872" cy="118872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Shape 19"/>
          <p:cNvSpPr/>
          <p:nvPr/>
        </p:nvSpPr>
        <p:spPr>
          <a:xfrm>
            <a:off x="5074920" y="2331720"/>
            <a:ext cx="118872" cy="11887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5257800" y="2331720"/>
            <a:ext cx="118872" cy="118872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5486400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skill.spec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26974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00" dirty="0">
                <a:solidFill>
                  <a:srgbClr val="B8C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generate_ffmpeg_script
</a:t>
            </a:r>
            <a:r>
              <a:rPr lang="en-US" sz="11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100" dirty="0">
                <a:solidFill>
                  <a:srgbClr val="B8C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{ source, target_format, bitrate }
</a:t>
            </a:r>
            <a:r>
              <a:rPr lang="en-US" sz="11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r>
              <a:rPr lang="en-US" sz="1100" dirty="0">
                <a:solidFill>
                  <a:srgbClr val="B8C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shell_script  </a:t>
            </a: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(deterministic)
</a:t>
            </a:r>
            <a:r>
              <a:rPr lang="en-US" sz="11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side_effects</a:t>
            </a:r>
            <a:r>
              <a:rPr lang="en-US" sz="1100" dirty="0">
                <a:solidFill>
                  <a:srgbClr val="B8C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none
</a:t>
            </a:r>
            <a:r>
              <a:rPr lang="en-US" sz="11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</a:t>
            </a:r>
            <a:r>
              <a:rPr lang="en-US" sz="1100" dirty="0">
                <a:solidFill>
                  <a:srgbClr val="B8C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1.2.0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" cy="1645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54864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713232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645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定义与测试标准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0" y="4901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工程笔记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DISTINCTION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960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Skill、Tool、Agent 三者关系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457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2697480" cy="21945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365760" y="2194560"/>
            <a:ext cx="2697480" cy="73152"/>
          </a:xfrm>
          <a:prstGeom prst="rect">
            <a:avLst/>
          </a:prstGeom>
          <a:solidFill>
            <a:srgbClr val="6E7896"/>
          </a:solidFill>
          <a:ln w="12700">
            <a:solidFill>
              <a:srgbClr val="6E789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59436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底层能力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94360" y="3246120"/>
            <a:ext cx="365760" cy="36576"/>
          </a:xfrm>
          <a:prstGeom prst="rect">
            <a:avLst/>
          </a:prstGeom>
          <a:solidFill>
            <a:srgbClr val="6E7896"/>
          </a:solidFill>
          <a:ln w="12700">
            <a:solidFill>
              <a:srgbClr val="6E789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59436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最底层的绑定，例如 HTTP 调用、Shell 执行、文件读取。无状态，不知意图。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194560"/>
            <a:ext cx="2697480" cy="21945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Shape 19"/>
          <p:cNvSpPr/>
          <p:nvPr/>
        </p:nvSpPr>
        <p:spPr>
          <a:xfrm>
            <a:off x="3246120" y="2194560"/>
            <a:ext cx="269748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347472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原子函数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474720" y="3246120"/>
            <a:ext cx="36576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347472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一个具名、契约清晰的动作；组合若干 Tool 完成一个明确的意图。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194560"/>
            <a:ext cx="2697480" cy="21945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Shape 25"/>
          <p:cNvSpPr/>
          <p:nvPr/>
        </p:nvSpPr>
        <p:spPr>
          <a:xfrm>
            <a:off x="6126480" y="2194560"/>
            <a:ext cx="269748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635508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调度者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355080" y="3246120"/>
            <a:ext cx="36576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635508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做决策、规划、循环重试，决定何时调用哪个 Skill。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处在 Tool 与 Agent 之间 —— 是「最小但可独立测试」的能力单位。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" cy="1645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54864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713232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645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定义与测试标准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0" y="4901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工程笔记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ANATOMY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960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Skill 由什么组成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457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2679192" cy="1143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548640" y="2286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23134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715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类型化输入、类型化输出、副作用声明。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27832" y="2148840"/>
            <a:ext cx="2679192" cy="1143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3410712" y="2286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096512" y="23134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10712" y="2715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纯函数或工具组合，不含调度逻辑。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89904" y="2148840"/>
            <a:ext cx="2679192" cy="1143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6272784" y="2286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58584" y="23134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前置条件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72784" y="2715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调用前必须为真的状态。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429000"/>
            <a:ext cx="2679192" cy="1143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548640" y="3566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34440" y="35935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后置条件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39959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成功执行后调用方可依赖的结果。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27832" y="3429000"/>
            <a:ext cx="2679192" cy="1143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3410712" y="3566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096512" y="35935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失败模式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10712" y="39959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明确的错误分类：可恢复 vs 致命。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89904" y="3429000"/>
            <a:ext cx="2679192" cy="1143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5" name="Text 33"/>
          <p:cNvSpPr/>
          <p:nvPr/>
        </p:nvSpPr>
        <p:spPr>
          <a:xfrm>
            <a:off x="6272784" y="3566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58584" y="35935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72784" y="39959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Skill 同源同版本，是发布门禁。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" cy="1645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54864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713232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645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定义与测试标准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0" y="4901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工程笔记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PRINCIPLES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960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的五条设计原则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457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8412480" cy="41148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365760" y="2148840"/>
            <a:ext cx="4572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548640" y="2221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65960" y="2221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71800" y="2221992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只做一件事。如果描述里出现「并且」，就拆开。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651760"/>
            <a:ext cx="8412480" cy="41148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365760" y="2651760"/>
            <a:ext cx="4572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548640" y="2724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65960" y="27249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71800" y="2724912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相同输入产出相同输出；随机性必须显式化为参数。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154680"/>
            <a:ext cx="8412480" cy="41148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Shape 23"/>
          <p:cNvSpPr/>
          <p:nvPr/>
        </p:nvSpPr>
        <p:spPr>
          <a:xfrm>
            <a:off x="365760" y="3154680"/>
            <a:ext cx="4572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548640" y="3227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65960" y="3227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71800" y="3227832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输入输出皆类型化，契约即真相。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657600"/>
            <a:ext cx="8412480" cy="41148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Shape 28"/>
          <p:cNvSpPr/>
          <p:nvPr/>
        </p:nvSpPr>
        <p:spPr>
          <a:xfrm>
            <a:off x="365760" y="3657600"/>
            <a:ext cx="4572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548640" y="3730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965960" y="3730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可度量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971800" y="3730752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延迟、成本、副作用都落在文档化的边界内。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160520"/>
            <a:ext cx="8412480" cy="41148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5" name="Shape 33"/>
          <p:cNvSpPr/>
          <p:nvPr/>
        </p:nvSpPr>
        <p:spPr>
          <a:xfrm>
            <a:off x="365760" y="4160520"/>
            <a:ext cx="4572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6" name="Text 34"/>
          <p:cNvSpPr/>
          <p:nvPr/>
        </p:nvSpPr>
        <p:spPr>
          <a:xfrm>
            <a:off x="548640" y="4233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965960" y="4233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971800" y="4233672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结构化输出轨迹：输入、决策、输出、失败原因。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" cy="1645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54864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713232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645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定义与测试标准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0" y="4901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工程笔记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 SKILL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960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范例：generate_ffmpeg_script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457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4023360" cy="246888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54864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函数签名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606040"/>
            <a:ext cx="3657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source_path: str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target_format: enum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bitrate_kbps: int?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resolution: 'hd'|'sd'?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shell_script: str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est_runtime_sec: int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194560"/>
            <a:ext cx="4206240" cy="2468880"/>
          </a:xfrm>
          <a:prstGeom prst="rect">
            <a:avLst/>
          </a:prstGeom>
          <a:solidFill>
            <a:srgbClr val="11162E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475488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契约约束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65176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纯函数 —— 不写文件系统。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输出为单行 ffmpeg 命令字符串。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不使用管道；命令始终单行可重放。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对路径加引号，处理空格与中文。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不支持的目标格式抛出 InvalidFormat。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码率低于 64 kbps 抛出 BitrateOutOfRange。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" cy="1645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54864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713232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645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定义与测试标准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0" y="4901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工程笔记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CATALOG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960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 Skill，相同的形态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457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4114800" cy="73152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365760" y="2148840"/>
            <a:ext cx="777240" cy="731520"/>
          </a:xfrm>
          <a:prstGeom prst="rect">
            <a:avLst/>
          </a:prstGeom>
          <a:solidFill>
            <a:srgbClr val="11162E"/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365760" y="2395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22585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generate_ffmpeg_script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2542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shell 脚本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148840"/>
            <a:ext cx="4114800" cy="73152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4663440" y="2148840"/>
            <a:ext cx="777240" cy="731520"/>
          </a:xfrm>
          <a:prstGeom prst="rect">
            <a:avLst/>
          </a:prstGeom>
          <a:solidFill>
            <a:srgbClr val="11162E"/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4663440" y="2395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22585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extract_pdf_tables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2542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json 数组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4114800" cy="73152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Shape 23"/>
          <p:cNvSpPr/>
          <p:nvPr/>
        </p:nvSpPr>
        <p:spPr>
          <a:xfrm>
            <a:off x="365760" y="3017520"/>
            <a:ext cx="777240" cy="731520"/>
          </a:xfrm>
          <a:prstGeom prst="rect">
            <a:avLst/>
          </a:prstGeom>
          <a:solidFill>
            <a:srgbClr val="11162E"/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365760" y="32644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80160" y="3127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build_sql_query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80160" y="3410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sql 字符串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017520"/>
            <a:ext cx="4114800" cy="73152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Shape 28"/>
          <p:cNvSpPr/>
          <p:nvPr/>
        </p:nvSpPr>
        <p:spPr>
          <a:xfrm>
            <a:off x="4663440" y="3017520"/>
            <a:ext cx="777240" cy="731520"/>
          </a:xfrm>
          <a:prstGeom prst="rect">
            <a:avLst/>
          </a:prstGeom>
          <a:solidFill>
            <a:srgbClr val="11162E"/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4663440" y="32644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3127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render_chart_spec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77840" y="3410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vega-lite json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3886200"/>
            <a:ext cx="4114800" cy="73152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5" name="Shape 33"/>
          <p:cNvSpPr/>
          <p:nvPr/>
        </p:nvSpPr>
        <p:spPr>
          <a:xfrm>
            <a:off x="365760" y="3886200"/>
            <a:ext cx="777240" cy="731520"/>
          </a:xfrm>
          <a:prstGeom prst="rect">
            <a:avLst/>
          </a:prstGeom>
          <a:solidFill>
            <a:srgbClr val="11162E"/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6" name="Text 34"/>
          <p:cNvSpPr/>
          <p:nvPr/>
        </p:nvSpPr>
        <p:spPr>
          <a:xfrm>
            <a:off x="365760" y="41330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280160" y="3995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lint_python_snippet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280160" y="4279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诊断对象数组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63440" y="3886200"/>
            <a:ext cx="4114800" cy="73152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Shape 38"/>
          <p:cNvSpPr/>
          <p:nvPr/>
        </p:nvSpPr>
        <p:spPr>
          <a:xfrm>
            <a:off x="4663440" y="3886200"/>
            <a:ext cx="777240" cy="731520"/>
          </a:xfrm>
          <a:prstGeom prst="rect">
            <a:avLst/>
          </a:prstGeom>
          <a:solidFill>
            <a:srgbClr val="11162E"/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1" name="Text 39"/>
          <p:cNvSpPr/>
          <p:nvPr/>
        </p:nvSpPr>
        <p:spPr>
          <a:xfrm>
            <a:off x="4663440" y="41330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77840" y="3995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summarise_transcript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577840" y="4279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结构化 markdown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" cy="1645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54864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713232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645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定义与测试标准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0" y="4901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工程笔记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82296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0" b="1" dirty="0">
                <a:solidFill>
                  <a:srgbClr val="11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0" dirty="0"/>
          </a:p>
        </p:txBody>
      </p:sp>
      <p:sp>
        <p:nvSpPr>
          <p:cNvPr id="12" name="Shape 10"/>
          <p:cNvSpPr/>
          <p:nvPr/>
        </p:nvSpPr>
        <p:spPr>
          <a:xfrm>
            <a:off x="4023360" y="1874520"/>
            <a:ext cx="45720" cy="13716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425196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51960" y="212140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 Skill 测评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251960" y="30175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的可靠性取决于边界测试。我们需要的是「攻击者」，而不是「检查员」。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" cy="1645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54864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713232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645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定义与测试标准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0" y="4901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工程笔记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PROBLEM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960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测试为什么难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457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8412480" cy="50292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365760" y="2194560"/>
            <a:ext cx="45720" cy="50292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594360" y="224942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输入组合爆炸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224942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自由参数维度叠加，单元测试只能覆盖人能想到的样本。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788920"/>
            <a:ext cx="8412480" cy="50292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365760" y="2788920"/>
            <a:ext cx="45720" cy="50292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594360" y="28437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隐含假设漂移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284378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驱动的 Skill 暗含提示词与模型版本的隐性约束。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383280"/>
            <a:ext cx="8412480" cy="50292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Shape 21"/>
          <p:cNvSpPr/>
          <p:nvPr/>
        </p:nvSpPr>
        <p:spPr>
          <a:xfrm>
            <a:off x="365760" y="3383280"/>
            <a:ext cx="45720" cy="50292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594360" y="343814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格式悄悄走样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71800" y="343814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功能用例通过的同时，输出结构可能逐版本悄悄变形。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977640"/>
            <a:ext cx="8412480" cy="50292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Shape 25"/>
          <p:cNvSpPr/>
          <p:nvPr/>
        </p:nvSpPr>
        <p:spPr>
          <a:xfrm>
            <a:off x="365760" y="3977640"/>
            <a:ext cx="45720" cy="50292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594360" y="403250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无人工兜底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971800" y="403250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自主调用 Skill，运行时没有人在回路里拦下错误。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" cy="1645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54864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713232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645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定义与测试标准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0" y="4901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工程笔记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PATTERN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960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Agent 模式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457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841248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365760" y="2194560"/>
            <a:ext cx="54864" cy="6400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640080" y="2286000"/>
            <a:ext cx="8092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编写一个对抗式的「测试 Agent」，专门用于攻击业务 Agent 的边界情况。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4023360" cy="1691640"/>
          </a:xfrm>
          <a:prstGeom prst="rect">
            <a:avLst/>
          </a:prstGeom>
          <a:solidFill>
            <a:srgbClr val="11162E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4023360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54864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 Agent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456432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持有被验证的 Skill。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把每个请求都当作生产流量来响应。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返回符合契约的类型化输出。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4023360" cy="1691640"/>
          </a:xfrm>
          <a:prstGeom prst="rect">
            <a:avLst/>
          </a:prstGeom>
          <a:solidFill>
            <a:srgbClr val="11162E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4754880" y="3017520"/>
            <a:ext cx="402336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493776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Agent（攻击者）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456432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依据策略库构造探测性输入。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对照契约与格式校验输出。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记录每次失败及可复现的种子。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" cy="1645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54864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713232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645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定义与测试标准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0" y="4901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工程笔记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960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Agent 的工作闭环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457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1554480" cy="1143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1554480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502920" y="2606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880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选择策略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2186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选定攻击模式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29384" y="3040380"/>
            <a:ext cx="128016" cy="0"/>
          </a:xfrm>
          <a:prstGeom prst="line">
            <a:avLst/>
          </a:prstGeom>
          <a:noFill/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2066544" y="2468880"/>
            <a:ext cx="1554480" cy="1143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Shape 19"/>
          <p:cNvSpPr/>
          <p:nvPr/>
        </p:nvSpPr>
        <p:spPr>
          <a:xfrm>
            <a:off x="2066544" y="2468880"/>
            <a:ext cx="1554480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2203704" y="2606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03704" y="2880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构造输入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03704" y="32186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合成测试样本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30168" y="3040380"/>
            <a:ext cx="128016" cy="0"/>
          </a:xfrm>
          <a:prstGeom prst="line">
            <a:avLst/>
          </a:prstGeom>
          <a:noFill/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Shape 24"/>
          <p:cNvSpPr/>
          <p:nvPr/>
        </p:nvSpPr>
        <p:spPr>
          <a:xfrm>
            <a:off x="3767328" y="2468880"/>
            <a:ext cx="1554480" cy="1143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Shape 25"/>
          <p:cNvSpPr/>
          <p:nvPr/>
        </p:nvSpPr>
        <p:spPr>
          <a:xfrm>
            <a:off x="3767328" y="2468880"/>
            <a:ext cx="1554480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3904488" y="2606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04488" y="2880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Skill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904488" y="32186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向业务 Agent 发起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30952" y="3040380"/>
            <a:ext cx="128016" cy="0"/>
          </a:xfrm>
          <a:prstGeom prst="line">
            <a:avLst/>
          </a:prstGeom>
          <a:noFill/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2" name="Shape 30"/>
          <p:cNvSpPr/>
          <p:nvPr/>
        </p:nvSpPr>
        <p:spPr>
          <a:xfrm>
            <a:off x="5468112" y="2468880"/>
            <a:ext cx="1554480" cy="1143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3" name="Shape 31"/>
          <p:cNvSpPr/>
          <p:nvPr/>
        </p:nvSpPr>
        <p:spPr>
          <a:xfrm>
            <a:off x="5468112" y="2468880"/>
            <a:ext cx="1554480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5605272" y="2606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05272" y="2880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校验输出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05272" y="32186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 + 格式检查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031736" y="3040380"/>
            <a:ext cx="128016" cy="0"/>
          </a:xfrm>
          <a:prstGeom prst="line">
            <a:avLst/>
          </a:prstGeom>
          <a:noFill/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Shape 36"/>
          <p:cNvSpPr/>
          <p:nvPr/>
        </p:nvSpPr>
        <p:spPr>
          <a:xfrm>
            <a:off x="7168896" y="2468880"/>
            <a:ext cx="1554480" cy="1143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9" name="Shape 37"/>
          <p:cNvSpPr/>
          <p:nvPr/>
        </p:nvSpPr>
        <p:spPr>
          <a:xfrm>
            <a:off x="7168896" y="2468880"/>
            <a:ext cx="1554480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Text 38"/>
          <p:cNvSpPr/>
          <p:nvPr/>
        </p:nvSpPr>
        <p:spPr>
          <a:xfrm>
            <a:off x="7306056" y="2606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06056" y="2880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记录评分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306056" y="32186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落库并打分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412480" y="3703320"/>
            <a:ext cx="0" cy="457200"/>
          </a:xfrm>
          <a:prstGeom prst="line">
            <a:avLst/>
          </a:prstGeom>
          <a:noFill/>
          <a:ln w="12700">
            <a:solidFill>
              <a:srgbClr val="FF6B35"/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44" name="Shape 42"/>
          <p:cNvSpPr/>
          <p:nvPr/>
        </p:nvSpPr>
        <p:spPr>
          <a:xfrm>
            <a:off x="457200" y="4160520"/>
            <a:ext cx="7955280" cy="0"/>
          </a:xfrm>
          <a:prstGeom prst="line">
            <a:avLst/>
          </a:prstGeom>
          <a:noFill/>
          <a:ln w="12700">
            <a:solidFill>
              <a:srgbClr val="FF6B35"/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45" name="Shape 43"/>
          <p:cNvSpPr/>
          <p:nvPr/>
        </p:nvSpPr>
        <p:spPr>
          <a:xfrm>
            <a:off x="457200" y="3703320"/>
            <a:ext cx="0" cy="457200"/>
          </a:xfrm>
          <a:prstGeom prst="line">
            <a:avLst/>
          </a:prstGeom>
          <a:noFill/>
          <a:ln w="12700">
            <a:solidFill>
              <a:srgbClr val="FF6B35"/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46" name="Text 44"/>
          <p:cNvSpPr/>
          <p:nvPr/>
        </p:nvSpPr>
        <p:spPr>
          <a:xfrm>
            <a:off x="274320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失败用例反哺下一轮策略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" cy="1645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54864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713232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645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定义与测试标准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0" y="4901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工程笔记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ATTACK LIBRARY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960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Agent 的攻击策略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457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2679192" cy="109728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548640" y="2331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907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极小、极大、空、超长、Unicode 边缘字符。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27832" y="2194560"/>
            <a:ext cx="2679192" cy="109728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3410712" y="2331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10712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输入变异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10712" y="2907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字段交换、丢失、重复，模糊化打散参数。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89904" y="2194560"/>
            <a:ext cx="2679192" cy="109728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6272784" y="2331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72784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对抗提示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72784" y="2907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诱导 Skill 偏离契约的恶意意图输入。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429000"/>
            <a:ext cx="2679192" cy="109728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548640" y="3566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确定性重放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142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同一输入连跑 N 次，输出必须逐字节一致。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27832" y="3429000"/>
            <a:ext cx="2679192" cy="109728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3410712" y="3566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10712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跨语言/编码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10712" y="4142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 ASCII 文件名、RTL 文本、奇怪编码。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89904" y="3429000"/>
            <a:ext cx="2679192" cy="109728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5" name="Text 33"/>
          <p:cNvSpPr/>
          <p:nvPr/>
        </p:nvSpPr>
        <p:spPr>
          <a:xfrm>
            <a:off x="6272784" y="3566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72784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压力包络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72784" y="4142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超长输入、深层嵌套、时间与成本探测。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" cy="1645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54864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713232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645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定义与测试标准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0" y="4901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工程笔记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960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如何建立 Skill 测试集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457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4023360" cy="246888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54864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测试集原则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6517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精挑而非随机 —— 每条用例都验证一个假设。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短小、快速、可重复。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格式校验依赖冻结的 golden 输出。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Skill 同源同版本管理。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发布门禁：必须 100% 通过。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194560"/>
            <a:ext cx="4206240" cy="2468880"/>
          </a:xfrm>
          <a:prstGeom prst="rect">
            <a:avLst/>
          </a:prstGeom>
          <a:solidFill>
            <a:srgbClr val="11162E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475488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推荐用例配比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正常路径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2761488"/>
            <a:ext cx="1691640" cy="164592"/>
          </a:xfrm>
          <a:prstGeom prst="rect">
            <a:avLst/>
          </a:prstGeom>
          <a:solidFill>
            <a:srgbClr val="2A3158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Shape 19"/>
          <p:cNvSpPr/>
          <p:nvPr/>
        </p:nvSpPr>
        <p:spPr>
          <a:xfrm>
            <a:off x="6446520" y="2761488"/>
            <a:ext cx="1691640" cy="16459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8183880" y="26974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边界用例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46520" y="3127248"/>
            <a:ext cx="1691640" cy="164592"/>
          </a:xfrm>
          <a:prstGeom prst="rect">
            <a:avLst/>
          </a:prstGeom>
          <a:solidFill>
            <a:srgbClr val="2A3158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Shape 23"/>
          <p:cNvSpPr/>
          <p:nvPr/>
        </p:nvSpPr>
        <p:spPr>
          <a:xfrm>
            <a:off x="6446520" y="3127248"/>
            <a:ext cx="1691640" cy="1645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8183880" y="3063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对抗用例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3493008"/>
            <a:ext cx="1691640" cy="164592"/>
          </a:xfrm>
          <a:prstGeom prst="rect">
            <a:avLst/>
          </a:prstGeom>
          <a:solidFill>
            <a:srgbClr val="2A3158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Shape 27"/>
          <p:cNvSpPr/>
          <p:nvPr/>
        </p:nvSpPr>
        <p:spPr>
          <a:xfrm>
            <a:off x="6446520" y="3493008"/>
            <a:ext cx="1127760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8183880" y="34290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3794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确定性回放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46520" y="3858768"/>
            <a:ext cx="1691640" cy="164592"/>
          </a:xfrm>
          <a:prstGeom prst="rect">
            <a:avLst/>
          </a:prstGeom>
          <a:solidFill>
            <a:srgbClr val="2A3158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3" name="Shape 31"/>
          <p:cNvSpPr/>
          <p:nvPr/>
        </p:nvSpPr>
        <p:spPr>
          <a:xfrm>
            <a:off x="6446520" y="3858768"/>
            <a:ext cx="563880" cy="16459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8183880" y="37947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 / 编码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46520" y="4224528"/>
            <a:ext cx="1691640" cy="164592"/>
          </a:xfrm>
          <a:prstGeom prst="rect">
            <a:avLst/>
          </a:prstGeom>
          <a:solidFill>
            <a:srgbClr val="2A3158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7" name="Shape 35"/>
          <p:cNvSpPr/>
          <p:nvPr/>
        </p:nvSpPr>
        <p:spPr>
          <a:xfrm>
            <a:off x="6446520" y="4224528"/>
            <a:ext cx="563880" cy="164592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Text 36"/>
          <p:cNvSpPr/>
          <p:nvPr/>
        </p:nvSpPr>
        <p:spPr>
          <a:xfrm>
            <a:off x="8183880" y="4160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" cy="1645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54864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713232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645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定义与测试标准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0" y="4901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工程笔记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960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案例：教育视频脚本 Skill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457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4023360" cy="246888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365760" y="2194560"/>
            <a:ext cx="54864" cy="24688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59436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场景说明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65176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将一个知识点转换为 60 秒教育视频脚本的 Skill。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61188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输出必须遵循固定结构：钩子 → 讲解 → 例子 → 总结，每段都带时间戳。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194560"/>
            <a:ext cx="4206240" cy="2468880"/>
          </a:xfrm>
          <a:prstGeom prst="rect">
            <a:avLst/>
          </a:prstGeom>
          <a:solidFill>
            <a:srgbClr val="060819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475488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SCHEMA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60604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r>
              <a:rPr lang="en-US" sz="11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topic: 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string,
</a:t>
            </a:r>
            <a:r>
              <a:rPr lang="en-US" sz="11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duration_sec: </a:t>
            </a: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60,
</a:t>
            </a:r>
            <a:r>
              <a:rPr lang="en-US" sz="11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sections: [
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name: </a:t>
            </a:r>
            <a:r>
              <a:rPr lang="en-US" sz="11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hook,        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t: 0,  text },
    { name: </a:t>
            </a:r>
            <a:r>
              <a:rPr lang="en-US" sz="11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explanation, 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t: 8,  text },
    { name: </a:t>
            </a:r>
            <a:r>
              <a:rPr lang="en-US" sz="11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example,     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t: 30, text },
    { name: </a:t>
            </a:r>
            <a:r>
              <a:rPr lang="en-US" sz="11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recap,       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t: 50, text }
</a:t>
            </a:r>
            <a:r>
              <a:rPr lang="en-US" sz="11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" cy="1645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54864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713232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645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定义与测试标准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0" y="4901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工程笔记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 SET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960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 10 个边缘知识点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457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365760" y="2103120"/>
            <a:ext cx="8412480" cy="246888"/>
          </a:xfrm>
          <a:prstGeom prst="rect">
            <a:avLst/>
          </a:prstGeom>
          <a:solidFill>
            <a:srgbClr val="11162E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438912" y="213969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41832" y="213969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36392" y="213969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33872" y="213969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测试目的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350008"/>
            <a:ext cx="8412480" cy="246888"/>
          </a:xfrm>
          <a:prstGeom prst="rect">
            <a:avLst/>
          </a:prstGeom>
          <a:solidFill>
            <a:srgbClr val="11162E">
              <a:alpha val="50000"/>
            </a:srgbClr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438912" y="235000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41832" y="235000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单符号主题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36392" y="2350008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圆周率 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33872" y="235000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极短输入也要填满 schema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" y="259689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41832" y="259689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空知识点输入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136392" y="259689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（空白）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33872" y="259689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必须以 InvalidTopic 拒绝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843784"/>
            <a:ext cx="8412480" cy="246888"/>
          </a:xfrm>
          <a:prstGeom prst="rect">
            <a:avLst/>
          </a:prstGeom>
          <a:solidFill>
            <a:srgbClr val="11162E">
              <a:alpha val="50000"/>
            </a:srgbClr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438912" y="284378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41832" y="2843784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歧义术语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136392" y="284378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集合（数学/CS）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33872" y="2843784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必须先消歧再生成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8912" y="309067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41832" y="309067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高度专业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136392" y="309067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黎曼 zeta 函数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33872" y="309067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保持适合普通受众的难度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337560"/>
            <a:ext cx="8412480" cy="246888"/>
          </a:xfrm>
          <a:prstGeom prst="rect">
            <a:avLst/>
          </a:prstGeom>
          <a:solidFill>
            <a:srgbClr val="11162E">
              <a:alpha val="50000"/>
            </a:srgbClr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Text 36"/>
          <p:cNvSpPr/>
          <p:nvPr/>
        </p:nvSpPr>
        <p:spPr>
          <a:xfrm>
            <a:off x="438912" y="333756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41832" y="333756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跨学科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136392" y="333756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视觉的生物物理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833872" y="333756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段落间不允许漂题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38912" y="358444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41832" y="358444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非拉丁文输入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136392" y="3584448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中文「线性代数」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833872" y="358444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输出语言必须与输入一致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831336"/>
            <a:ext cx="8412480" cy="246888"/>
          </a:xfrm>
          <a:prstGeom prst="rect">
            <a:avLst/>
          </a:prstGeom>
          <a:solidFill>
            <a:srgbClr val="11162E">
              <a:alpha val="50000"/>
            </a:srgbClr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7" name="Text 45"/>
          <p:cNvSpPr/>
          <p:nvPr/>
        </p:nvSpPr>
        <p:spPr>
          <a:xfrm>
            <a:off x="438912" y="383133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41832" y="383133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过时事实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136392" y="383133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冥王星是行星吗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833872" y="383133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需提示已更新的科学共识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38912" y="407822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41832" y="4078224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敏感话题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136392" y="407822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伦理权衡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833872" y="4078224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需保持中立框架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65760" y="4325112"/>
            <a:ext cx="8412480" cy="246888"/>
          </a:xfrm>
          <a:prstGeom prst="rect">
            <a:avLst/>
          </a:prstGeom>
          <a:solidFill>
            <a:srgbClr val="11162E">
              <a:alpha val="50000"/>
            </a:srgbClr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6" name="Text 54"/>
          <p:cNvSpPr/>
          <p:nvPr/>
        </p:nvSpPr>
        <p:spPr>
          <a:xfrm>
            <a:off x="438912" y="432511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41832" y="432511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数字密集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136392" y="432511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斐波那契 mod 素数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833872" y="432511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不允许编造数值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38912" y="457200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41832" y="457200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过程类知识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3136392" y="457200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DNS 如何解析域名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833872" y="457200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严格保留步骤顺序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" cy="1645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54864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713232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645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定义与测试标准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0" y="4901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工程笔记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960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输出格式一致性校验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457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8412480" cy="5486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365760" y="2194560"/>
            <a:ext cx="54864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640080" y="2286000"/>
            <a:ext cx="8092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相同输入 → 相同结构。跨多次运行、跨模型、跨提示词版本。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4114800" cy="86868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548640" y="29900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2990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校验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2644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严格符合冻结的 schema，不允许多键或缺键。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880360"/>
            <a:ext cx="4114800" cy="86868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4846320" y="29900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32120" y="2990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顺序校验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32644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段落必须按契约顺序出现，不允许重排。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4114800" cy="86868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548640" y="39502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4440" y="39502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篇幅校验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42245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每段文本以朗读速率落入声明的时间预算内。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840480"/>
            <a:ext cx="4114800" cy="86868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4846320" y="39502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32120" y="39502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差异校验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32120" y="42245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多次调用同一输入，结构化输出必须完全相同。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" cy="1645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54864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713232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门禁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645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定义与测试标准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0" y="4901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工程笔记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960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评分与发布门禁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457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2679192" cy="109728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365760" y="2286000"/>
            <a:ext cx="2679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65760" y="2926080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通过率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27832" y="2194560"/>
            <a:ext cx="2679192" cy="109728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3227832" y="2286000"/>
            <a:ext cx="2679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227832" y="2926080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边缘用例通过率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9904" y="2194560"/>
            <a:ext cx="2679192" cy="109728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6089904" y="2286000"/>
            <a:ext cx="2679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089904" y="2926080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次回放结构差异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520440"/>
            <a:ext cx="8412480" cy="1143000"/>
          </a:xfrm>
          <a:prstGeom prst="rect">
            <a:avLst/>
          </a:prstGeom>
          <a:solidFill>
            <a:srgbClr val="11162E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548640" y="3611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发布门禁流程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977640"/>
            <a:ext cx="1463040" cy="50292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548640" y="40233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 Skill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11680" y="4023360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176272" y="3977640"/>
            <a:ext cx="1463040" cy="50292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2176272" y="40233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运行测试 Agent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39312" y="4023360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803904" y="3977640"/>
            <a:ext cx="1463040" cy="50292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3803904" y="40233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复盘失败用例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66944" y="4023360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431536" y="3977640"/>
            <a:ext cx="1463040" cy="50292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5" name="Text 33"/>
          <p:cNvSpPr/>
          <p:nvPr/>
        </p:nvSpPr>
        <p:spPr>
          <a:xfrm>
            <a:off x="5431536" y="40233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 golden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94576" y="4023360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059168" y="3977640"/>
            <a:ext cx="1463040" cy="50292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Text 36"/>
          <p:cNvSpPr/>
          <p:nvPr/>
        </p:nvSpPr>
        <p:spPr>
          <a:xfrm>
            <a:off x="7059168" y="40233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发布上线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" cy="1645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54864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713232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645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定义与测试标准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0" y="4901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工程笔记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960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做得小  ·  测得狠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365760" y="1783080"/>
            <a:ext cx="457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4114800" cy="10058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548640" y="2286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2313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是原子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7157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一个名字、一份契约、一件事；带「并且」就该拆。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148840"/>
            <a:ext cx="4114800" cy="10058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4846320" y="2286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32120" y="2313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契约即真相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7157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输入、输出、副作用、失败模式都要显式声明。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291840"/>
            <a:ext cx="4114800" cy="10058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548640" y="3429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3456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Agent 测 Agent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38587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对抗式 Agent 找到人类作者忽略的边界。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291840"/>
            <a:ext cx="4114800" cy="10058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4846320" y="3429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32120" y="3456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锁住格式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46320" y="38587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schema、golden、差异校验，三道门禁守住每次发布。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617720"/>
            <a:ext cx="9144000" cy="228600"/>
          </a:xfrm>
          <a:prstGeom prst="rect">
            <a:avLst/>
          </a:prstGeom>
          <a:solidFill>
            <a:srgbClr val="11162E"/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365760" y="4636008"/>
            <a:ext cx="8412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OPENCLAW  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efa4170-0d19-0005-0001-bc88714345d2}" enabled="1" method="Privileged" siteId="{717acbfa-5ca9-4725-ae98-de0406a99e1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1187</Words>
  <Application>Microsoft Macintosh PowerPoint</Application>
  <PresentationFormat>On-screen Show (16:9)</PresentationFormat>
  <Paragraphs>432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Microsoft YaHei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 定义与测试标准</dc:title>
  <dc:subject>PptxGenJS Presentation</dc:subject>
  <dc:creator>OpenClaw</dc:creator>
  <cp:lastModifiedBy>kinfeylo (BAMI)</cp:lastModifiedBy>
  <cp:revision>4</cp:revision>
  <dcterms:created xsi:type="dcterms:W3CDTF">2026-05-05T11:57:34Z</dcterms:created>
  <dcterms:modified xsi:type="dcterms:W3CDTF">2026-05-06T00:12:14Z</dcterms:modified>
</cp:coreProperties>
</file>